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emf" ContentType="image/x-emf"/>
  <Default Extension="png" ContentType="image/png"/>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63.xml" ContentType="application/vnd.openxmlformats-officedocument.drawingml.chart+xml"/>
  <Override PartName="/ppt/charts/chart64.xml" ContentType="application/vnd.openxmlformats-officedocument.drawingml.chart+xml"/>
  <Override PartName="/ppt/charts/chart65.xml" ContentType="application/vnd.openxmlformats-officedocument.drawingml.chart+xml"/>
  <Override PartName="/ppt/charts/chart6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2.7-->
<p:presentation xmlns:r="http://schemas.openxmlformats.org/officeDocument/2006/relationships" xmlns:a="http://schemas.openxmlformats.org/drawingml/2006/main" xmlns:p="http://schemas.openxmlformats.org/presentationml/2006/main" saveSubsetFonts="1">
  <p:sldMasterIdLst>
    <p:sldMasterId id="2147483648" r:id="rId1"/>
  </p:sldMasterIdLst>
  <p:sldIdLst>
    <p:sldId id="258" r:id="rId2"/>
    <p:sldId id="260" r:id="rId3"/>
    <p:sldId id="262" r:id="rId4"/>
    <p:sldId id="264" r:id="rId5"/>
    <p:sldId id="266" r:id="rId6"/>
    <p:sldId id="268" r:id="rId7"/>
    <p:sldId id="270" r:id="rId8"/>
    <p:sldId id="272" r:id="rId9"/>
    <p:sldId id="274" r:id="rId10"/>
    <p:sldId id="276" r:id="rId11"/>
    <p:sldId id="278" r:id="rId12"/>
    <p:sldId id="280" r:id="rId13"/>
    <p:sldId id="282" r:id="rId14"/>
    <p:sldId id="284" r:id="rId15"/>
    <p:sldId id="286" r:id="rId16"/>
    <p:sldId id="288" r:id="rId17"/>
    <p:sldId id="290" r:id="rId18"/>
    <p:sldId id="292" r:id="rId19"/>
    <p:sldId id="294" r:id="rId20"/>
    <p:sldId id="296" r:id="rId21"/>
    <p:sldId id="298" r:id="rId22"/>
    <p:sldId id="300" r:id="rId23"/>
    <p:sldId id="302" r:id="rId24"/>
    <p:sldId id="304" r:id="rId25"/>
    <p:sldId id="306" r:id="rId26"/>
    <p:sldId id="308" r:id="rId27"/>
    <p:sldId id="310" r:id="rId28"/>
    <p:sldId id="312" r:id="rId29"/>
    <p:sldId id="314" r:id="rId30"/>
    <p:sldId id="316" r:id="rId31"/>
    <p:sldId id="318" r:id="rId32"/>
    <p:sldId id="320" r:id="rId33"/>
    <p:sldId id="322" r:id="rId34"/>
    <p:sldId id="324" r:id="rId35"/>
    <p:sldId id="326" r:id="rId36"/>
    <p:sldId id="328" r:id="rId37"/>
    <p:sldId id="330" r:id="rId38"/>
    <p:sldId id="332" r:id="rId39"/>
    <p:sldId id="334" r:id="rId40"/>
    <p:sldId id="336" r:id="rId41"/>
    <p:sldId id="338" r:id="rId42"/>
    <p:sldId id="340" r:id="rId43"/>
    <p:sldId id="342" r:id="rId44"/>
    <p:sldId id="344" r:id="rId45"/>
    <p:sldId id="346" r:id="rId46"/>
    <p:sldId id="348" r:id="rId47"/>
    <p:sldId id="350" r:id="rId48"/>
    <p:sldId id="352" r:id="rId49"/>
    <p:sldId id="354" r:id="rId50"/>
    <p:sldId id="356" r:id="rId51"/>
    <p:sldId id="358" r:id="rId52"/>
    <p:sldId id="360" r:id="rId53"/>
    <p:sldId id="362" r:id="rId54"/>
    <p:sldId id="364" r:id="rId55"/>
    <p:sldId id="366" r:id="rId56"/>
    <p:sldId id="368" r:id="rId57"/>
    <p:sldId id="370" r:id="rId58"/>
    <p:sldId id="372" r:id="rId59"/>
    <p:sldId id="374" r:id="rId60"/>
    <p:sldId id="376" r:id="rId61"/>
    <p:sldId id="378" r:id="rId62"/>
    <p:sldId id="380" r:id="rId63"/>
    <p:sldId id="382" r:id="rId64"/>
    <p:sldId id="384" r:id="rId65"/>
    <p:sldId id="386" r:id="rId66"/>
    <p:sldId id="388" r:id="rId67"/>
    <p:sldId id="390" r:id="rId68"/>
    <p:sldId id="392" r:id="rId69"/>
    <p:sldId id="394" r:id="rId70"/>
    <p:sldId id="396" r:id="rId71"/>
    <p:sldId id="398" r:id="rId72"/>
    <p:sldId id="400" r:id="rId73"/>
    <p:sldId id="402" r:id="rId74"/>
    <p:sldId id="404" r:id="rId75"/>
    <p:sldId id="406" r:id="rId76"/>
    <p:sldId id="408" r:id="rId77"/>
    <p:sldId id="410" r:id="rId78"/>
    <p:sldId id="412" r:id="rId79"/>
    <p:sldId id="414" r:id="rId80"/>
    <p:sldId id="416" r:id="rId81"/>
  </p:sldIdLst>
  <p:sldSz cx="12192120" cy="6858000"/>
  <p:notesSz cx="6858000" cy="9144000"/>
  <p:custDataLst>
    <p:tags r:id="rId8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 Type="http://schemas.openxmlformats.org/officeDocument/2006/relationships/slide" Target="slides/slide1.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 Type="http://schemas.openxmlformats.org/officeDocument/2006/relationships/slide" Target="slides/slide2.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 Type="http://schemas.openxmlformats.org/officeDocument/2006/relationships/slide" Target="slides/slide3.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 Type="http://schemas.openxmlformats.org/officeDocument/2006/relationships/slide" Target="slides/slide4.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 Type="http://schemas.openxmlformats.org/officeDocument/2006/relationships/slide" Target="slides/slide5.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 Type="http://schemas.openxmlformats.org/officeDocument/2006/relationships/slide" Target="slides/slide6.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 Type="http://schemas.openxmlformats.org/officeDocument/2006/relationships/slide" Target="slides/slide7.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tags" Target="tags/tag1.xml" /><Relationship Id="rId83" Type="http://schemas.openxmlformats.org/officeDocument/2006/relationships/presProps" Target="presProps.xml" /><Relationship Id="rId84" Type="http://schemas.openxmlformats.org/officeDocument/2006/relationships/viewProps" Target="viewProps.xml" /><Relationship Id="rId85" Type="http://schemas.openxmlformats.org/officeDocument/2006/relationships/theme" Target="theme/theme1.xml" /><Relationship Id="rId86" Type="http://schemas.openxmlformats.org/officeDocument/2006/relationships/tableStyles" Target="tableStyles.xml" /><Relationship Id="rId9" Type="http://schemas.openxmlformats.org/officeDocument/2006/relationships/slide" Target="slides/slide8.xml" /></Relationships>
</file>

<file path=ppt/charts/_rels/chart1.xml.rels>&#65279;<?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_rels/chart2.xml.rels>&#65279;<?xml version="1.0" encoding="utf-8" standalone="yes"?><Relationships xmlns="http://schemas.openxmlformats.org/package/2006/relationships"><Relationship Id="rId1" Type="http://schemas.openxmlformats.org/officeDocument/2006/relationships/package" Target="../embeddings/Microsoft_Excel_Worksheet2.xlsx" /></Relationships>
</file>

<file path=ppt/charts/_rels/chart3.xml.rels>&#65279;<?xml version="1.0" encoding="utf-8" standalone="yes"?><Relationships xmlns="http://schemas.openxmlformats.org/package/2006/relationships"><Relationship Id="rId1" Type="http://schemas.openxmlformats.org/officeDocument/2006/relationships/package" Target="../embeddings/Microsoft_Excel_Worksheet4.xlsx" /></Relationships>
</file>

<file path=ppt/charts/_rels/chart4.xml.rels>&#65279;<?xml version="1.0" encoding="utf-8" standalone="yes"?><Relationships xmlns="http://schemas.openxmlformats.org/package/2006/relationships"><Relationship Id="rId1" Type="http://schemas.openxmlformats.org/officeDocument/2006/relationships/package" Target="../embeddings/Microsoft_Excel_Worksheet6.xlsx" /></Relationships>
</file>

<file path=ppt/charts/_rels/chart5.xml.rels>&#65279;<?xml version="1.0" encoding="utf-8" standalone="yes"?><Relationships xmlns="http://schemas.openxmlformats.org/package/2006/relationships"><Relationship Id="rId1" Type="http://schemas.openxmlformats.org/officeDocument/2006/relationships/package" Target="../embeddings/Microsoft_Excel_Worksheet8.xlsx" /></Relationships>
</file>

<file path=ppt/charts/_rels/chart6.xml.rels>&#65279;<?xml version="1.0" encoding="utf-8" standalone="yes"?><Relationships xmlns="http://schemas.openxmlformats.org/package/2006/relationships"><Relationship Id="rId1" Type="http://schemas.openxmlformats.org/officeDocument/2006/relationships/package" Target="../embeddings/Microsoft_Excel_Worksheet10.xlsx" /></Relationships>
</file>

<file path=ppt/charts/_rels/chart7.xml.rels>&#65279;<?xml version="1.0" encoding="utf-8" standalone="yes"?><Relationships xmlns="http://schemas.openxmlformats.org/package/2006/relationships"><Relationship Id="rId1" Type="http://schemas.openxmlformats.org/officeDocument/2006/relationships/package" Target="../embeddings/Microsoft_Excel_Worksheet11.xlsx" /></Relationships>
</file>

<file path=ppt/charts/_rels/chart8.xml.rels>&#65279;<?xml version="1.0" encoding="utf-8" standalone="yes"?><Relationships xmlns="http://schemas.openxmlformats.org/package/2006/relationships"><Relationship Id="rId1" Type="http://schemas.openxmlformats.org/officeDocument/2006/relationships/package" Target="../embeddings/Microsoft_Excel_Worksheet12.xlsx" /></Relationships>
</file>

<file path=ppt/charts/_rels/chart9.xml.rels>&#65279;<?xml version="1.0" encoding="utf-8" standalone="yes"?><Relationships xmlns="http://schemas.openxmlformats.org/package/2006/relationships"><Relationship Id="rId1" Type="http://schemas.openxmlformats.org/officeDocument/2006/relationships/package" Target="../embeddings/Microsoft_Excel_Worksheet14.xlsx" /></Relationships>
</file>

<file path=ppt/charts/_rels/chart10.xml.rels>&#65279;<?xml version="1.0" encoding="utf-8" standalone="yes"?><Relationships xmlns="http://schemas.openxmlformats.org/package/2006/relationships"><Relationship Id="rId1" Type="http://schemas.openxmlformats.org/officeDocument/2006/relationships/package" Target="../embeddings/Microsoft_Excel_Worksheet16.xlsx" /></Relationships>
</file>

<file path=ppt/charts/_rels/chart11.xml.rels>&#65279;<?xml version="1.0" encoding="utf-8" standalone="yes"?><Relationships xmlns="http://schemas.openxmlformats.org/package/2006/relationships"><Relationship Id="rId1" Type="http://schemas.openxmlformats.org/officeDocument/2006/relationships/package" Target="../embeddings/Microsoft_Excel_Worksheet17.xlsx" /></Relationships>
</file>

<file path=ppt/charts/_rels/chart12.xml.rels>&#65279;<?xml version="1.0" encoding="utf-8" standalone="yes"?><Relationships xmlns="http://schemas.openxmlformats.org/package/2006/relationships"><Relationship Id="rId1" Type="http://schemas.openxmlformats.org/officeDocument/2006/relationships/package" Target="../embeddings/Microsoft_Excel_Worksheet18.xlsx" /></Relationships>
</file>

<file path=ppt/charts/_rels/chart13.xml.rels>&#65279;<?xml version="1.0" encoding="utf-8" standalone="yes"?><Relationships xmlns="http://schemas.openxmlformats.org/package/2006/relationships"><Relationship Id="rId1" Type="http://schemas.openxmlformats.org/officeDocument/2006/relationships/package" Target="../embeddings/Microsoft_Excel_Worksheet19.xlsx" /></Relationships>
</file>

<file path=ppt/charts/_rels/chart14.xml.rels>&#65279;<?xml version="1.0" encoding="utf-8" standalone="yes"?><Relationships xmlns="http://schemas.openxmlformats.org/package/2006/relationships"><Relationship Id="rId1" Type="http://schemas.openxmlformats.org/officeDocument/2006/relationships/package" Target="../embeddings/Microsoft_Excel_Worksheet20.xlsx" /></Relationships>
</file>

<file path=ppt/charts/_rels/chart15.xml.rels>&#65279;<?xml version="1.0" encoding="utf-8" standalone="yes"?><Relationships xmlns="http://schemas.openxmlformats.org/package/2006/relationships"><Relationship Id="rId1" Type="http://schemas.openxmlformats.org/officeDocument/2006/relationships/package" Target="../embeddings/Microsoft_Excel_Worksheet21.xlsx" /></Relationships>
</file>

<file path=ppt/charts/_rels/chart16.xml.rels>&#65279;<?xml version="1.0" encoding="utf-8" standalone="yes"?><Relationships xmlns="http://schemas.openxmlformats.org/package/2006/relationships"><Relationship Id="rId1" Type="http://schemas.openxmlformats.org/officeDocument/2006/relationships/package" Target="../embeddings/Microsoft_Excel_Worksheet22.xlsx" /></Relationships>
</file>

<file path=ppt/charts/_rels/chart17.xml.rels>&#65279;<?xml version="1.0" encoding="utf-8" standalone="yes"?><Relationships xmlns="http://schemas.openxmlformats.org/package/2006/relationships"><Relationship Id="rId1" Type="http://schemas.openxmlformats.org/officeDocument/2006/relationships/package" Target="../embeddings/Microsoft_Excel_Worksheet23.xlsx" /></Relationships>
</file>

<file path=ppt/charts/_rels/chart18.xml.rels>&#65279;<?xml version="1.0" encoding="utf-8" standalone="yes"?><Relationships xmlns="http://schemas.openxmlformats.org/package/2006/relationships"><Relationship Id="rId1" Type="http://schemas.openxmlformats.org/officeDocument/2006/relationships/package" Target="../embeddings/Microsoft_Excel_Worksheet24.xlsx" /></Relationships>
</file>

<file path=ppt/charts/_rels/chart19.xml.rels>&#65279;<?xml version="1.0" encoding="utf-8" standalone="yes"?><Relationships xmlns="http://schemas.openxmlformats.org/package/2006/relationships"><Relationship Id="rId1" Type="http://schemas.openxmlformats.org/officeDocument/2006/relationships/package" Target="../embeddings/Microsoft_Excel_Worksheet25.xlsx" /></Relationships>
</file>

<file path=ppt/charts/_rels/chart20.xml.rels>&#65279;<?xml version="1.0" encoding="utf-8" standalone="yes"?><Relationships xmlns="http://schemas.openxmlformats.org/package/2006/relationships"><Relationship Id="rId1" Type="http://schemas.openxmlformats.org/officeDocument/2006/relationships/package" Target="../embeddings/Microsoft_Excel_Worksheet26.xlsx" /></Relationships>
</file>

<file path=ppt/charts/_rels/chart21.xml.rels>&#65279;<?xml version="1.0" encoding="utf-8" standalone="yes"?><Relationships xmlns="http://schemas.openxmlformats.org/package/2006/relationships"><Relationship Id="rId1" Type="http://schemas.openxmlformats.org/officeDocument/2006/relationships/package" Target="../embeddings/Microsoft_Excel_Worksheet27.xlsx" /></Relationships>
</file>

<file path=ppt/charts/_rels/chart22.xml.rels>&#65279;<?xml version="1.0" encoding="utf-8" standalone="yes"?><Relationships xmlns="http://schemas.openxmlformats.org/package/2006/relationships"><Relationship Id="rId1" Type="http://schemas.openxmlformats.org/officeDocument/2006/relationships/package" Target="../embeddings/Microsoft_Excel_Worksheet28.xlsx" /></Relationships>
</file>

<file path=ppt/charts/_rels/chart23.xml.rels>&#65279;<?xml version="1.0" encoding="utf-8" standalone="yes"?><Relationships xmlns="http://schemas.openxmlformats.org/package/2006/relationships"><Relationship Id="rId1" Type="http://schemas.openxmlformats.org/officeDocument/2006/relationships/package" Target="../embeddings/Microsoft_Excel_Worksheet29.xlsx" /></Relationships>
</file>

<file path=ppt/charts/_rels/chart24.xml.rels>&#65279;<?xml version="1.0" encoding="utf-8" standalone="yes"?><Relationships xmlns="http://schemas.openxmlformats.org/package/2006/relationships"><Relationship Id="rId1" Type="http://schemas.openxmlformats.org/officeDocument/2006/relationships/package" Target="../embeddings/Microsoft_Excel_Worksheet30.xlsx" /></Relationships>
</file>

<file path=ppt/charts/_rels/chart25.xml.rels>&#65279;<?xml version="1.0" encoding="utf-8" standalone="yes"?><Relationships xmlns="http://schemas.openxmlformats.org/package/2006/relationships"><Relationship Id="rId1" Type="http://schemas.openxmlformats.org/officeDocument/2006/relationships/package" Target="../embeddings/Microsoft_Excel_Worksheet31.xlsx" /></Relationships>
</file>

<file path=ppt/charts/_rels/chart26.xml.rels>&#65279;<?xml version="1.0" encoding="utf-8" standalone="yes"?><Relationships xmlns="http://schemas.openxmlformats.org/package/2006/relationships"><Relationship Id="rId1" Type="http://schemas.openxmlformats.org/officeDocument/2006/relationships/package" Target="../embeddings/Microsoft_Excel_Worksheet32.xlsx" /></Relationships>
</file>

<file path=ppt/charts/_rels/chart27.xml.rels>&#65279;<?xml version="1.0" encoding="utf-8" standalone="yes"?><Relationships xmlns="http://schemas.openxmlformats.org/package/2006/relationships"><Relationship Id="rId1" Type="http://schemas.openxmlformats.org/officeDocument/2006/relationships/package" Target="../embeddings/Microsoft_Excel_Worksheet34.xlsx" /></Relationships>
</file>

<file path=ppt/charts/_rels/chart28.xml.rels>&#65279;<?xml version="1.0" encoding="utf-8" standalone="yes"?><Relationships xmlns="http://schemas.openxmlformats.org/package/2006/relationships"><Relationship Id="rId1" Type="http://schemas.openxmlformats.org/officeDocument/2006/relationships/package" Target="../embeddings/Microsoft_Excel_Worksheet35.xlsx" /></Relationships>
</file>

<file path=ppt/charts/_rels/chart29.xml.rels>&#65279;<?xml version="1.0" encoding="utf-8" standalone="yes"?><Relationships xmlns="http://schemas.openxmlformats.org/package/2006/relationships"><Relationship Id="rId1" Type="http://schemas.openxmlformats.org/officeDocument/2006/relationships/package" Target="../embeddings/Microsoft_Excel_Worksheet36.xlsx" /></Relationships>
</file>

<file path=ppt/charts/_rels/chart30.xml.rels>&#65279;<?xml version="1.0" encoding="utf-8" standalone="yes"?><Relationships xmlns="http://schemas.openxmlformats.org/package/2006/relationships"><Relationship Id="rId1" Type="http://schemas.openxmlformats.org/officeDocument/2006/relationships/package" Target="../embeddings/Microsoft_Excel_Worksheet37.xlsx" /></Relationships>
</file>

<file path=ppt/charts/_rels/chart31.xml.rels>&#65279;<?xml version="1.0" encoding="utf-8" standalone="yes"?><Relationships xmlns="http://schemas.openxmlformats.org/package/2006/relationships"><Relationship Id="rId1" Type="http://schemas.openxmlformats.org/officeDocument/2006/relationships/package" Target="../embeddings/Microsoft_Excel_Worksheet38.xlsx" /></Relationships>
</file>

<file path=ppt/charts/_rels/chart32.xml.rels>&#65279;<?xml version="1.0" encoding="utf-8" standalone="yes"?><Relationships xmlns="http://schemas.openxmlformats.org/package/2006/relationships"><Relationship Id="rId1" Type="http://schemas.openxmlformats.org/officeDocument/2006/relationships/package" Target="../embeddings/Microsoft_Excel_Worksheet40.xlsx" /></Relationships>
</file>

<file path=ppt/charts/_rels/chart33.xml.rels>&#65279;<?xml version="1.0" encoding="utf-8" standalone="yes"?><Relationships xmlns="http://schemas.openxmlformats.org/package/2006/relationships"><Relationship Id="rId1" Type="http://schemas.openxmlformats.org/officeDocument/2006/relationships/package" Target="../embeddings/Microsoft_Excel_Worksheet41.xlsx" /></Relationships>
</file>

<file path=ppt/charts/_rels/chart34.xml.rels>&#65279;<?xml version="1.0" encoding="utf-8" standalone="yes"?><Relationships xmlns="http://schemas.openxmlformats.org/package/2006/relationships"><Relationship Id="rId1" Type="http://schemas.openxmlformats.org/officeDocument/2006/relationships/package" Target="../embeddings/Microsoft_Excel_Worksheet42.xlsx" /></Relationships>
</file>

<file path=ppt/charts/_rels/chart35.xml.rels>&#65279;<?xml version="1.0" encoding="utf-8" standalone="yes"?><Relationships xmlns="http://schemas.openxmlformats.org/package/2006/relationships"><Relationship Id="rId1" Type="http://schemas.openxmlformats.org/officeDocument/2006/relationships/package" Target="../embeddings/Microsoft_Excel_Worksheet44.xlsx" /></Relationships>
</file>

<file path=ppt/charts/_rels/chart36.xml.rels>&#65279;<?xml version="1.0" encoding="utf-8" standalone="yes"?><Relationships xmlns="http://schemas.openxmlformats.org/package/2006/relationships"><Relationship Id="rId1" Type="http://schemas.openxmlformats.org/officeDocument/2006/relationships/package" Target="../embeddings/Microsoft_Excel_Worksheet45.xlsx" /></Relationships>
</file>

<file path=ppt/charts/_rels/chart37.xml.rels>&#65279;<?xml version="1.0" encoding="utf-8" standalone="yes"?><Relationships xmlns="http://schemas.openxmlformats.org/package/2006/relationships"><Relationship Id="rId1" Type="http://schemas.openxmlformats.org/officeDocument/2006/relationships/package" Target="../embeddings/Microsoft_Excel_Worksheet46.xlsx" /></Relationships>
</file>

<file path=ppt/charts/_rels/chart38.xml.rels>&#65279;<?xml version="1.0" encoding="utf-8" standalone="yes"?><Relationships xmlns="http://schemas.openxmlformats.org/package/2006/relationships"><Relationship Id="rId1" Type="http://schemas.openxmlformats.org/officeDocument/2006/relationships/package" Target="../embeddings/Microsoft_Excel_Worksheet47.xlsx" /></Relationships>
</file>

<file path=ppt/charts/_rels/chart39.xml.rels>&#65279;<?xml version="1.0" encoding="utf-8" standalone="yes"?><Relationships xmlns="http://schemas.openxmlformats.org/package/2006/relationships"><Relationship Id="rId1" Type="http://schemas.openxmlformats.org/officeDocument/2006/relationships/package" Target="../embeddings/Microsoft_Excel_Worksheet48.xlsx" /></Relationships>
</file>

<file path=ppt/charts/_rels/chart40.xml.rels>&#65279;<?xml version="1.0" encoding="utf-8" standalone="yes"?><Relationships xmlns="http://schemas.openxmlformats.org/package/2006/relationships"><Relationship Id="rId1" Type="http://schemas.openxmlformats.org/officeDocument/2006/relationships/package" Target="../embeddings/Microsoft_Excel_Worksheet49.xlsx" /></Relationships>
</file>

<file path=ppt/charts/_rels/chart41.xml.rels>&#65279;<?xml version="1.0" encoding="utf-8" standalone="yes"?><Relationships xmlns="http://schemas.openxmlformats.org/package/2006/relationships"><Relationship Id="rId1" Type="http://schemas.openxmlformats.org/officeDocument/2006/relationships/package" Target="../embeddings/Microsoft_Excel_Worksheet50.xlsx" /></Relationships>
</file>

<file path=ppt/charts/_rels/chart42.xml.rels>&#65279;<?xml version="1.0" encoding="utf-8" standalone="yes"?><Relationships xmlns="http://schemas.openxmlformats.org/package/2006/relationships"><Relationship Id="rId1" Type="http://schemas.openxmlformats.org/officeDocument/2006/relationships/package" Target="../embeddings/Microsoft_Excel_Worksheet51.xlsx" /></Relationships>
</file>

<file path=ppt/charts/_rels/chart43.xml.rels>&#65279;<?xml version="1.0" encoding="utf-8" standalone="yes"?><Relationships xmlns="http://schemas.openxmlformats.org/package/2006/relationships"><Relationship Id="rId1" Type="http://schemas.openxmlformats.org/officeDocument/2006/relationships/package" Target="../embeddings/Microsoft_Excel_Worksheet52.xlsx" /></Relationships>
</file>

<file path=ppt/charts/_rels/chart44.xml.rels>&#65279;<?xml version="1.0" encoding="utf-8" standalone="yes"?><Relationships xmlns="http://schemas.openxmlformats.org/package/2006/relationships"><Relationship Id="rId1" Type="http://schemas.openxmlformats.org/officeDocument/2006/relationships/package" Target="../embeddings/Microsoft_Excel_Worksheet53.xlsx" /></Relationships>
</file>

<file path=ppt/charts/_rels/chart45.xml.rels>&#65279;<?xml version="1.0" encoding="utf-8" standalone="yes"?><Relationships xmlns="http://schemas.openxmlformats.org/package/2006/relationships"><Relationship Id="rId1" Type="http://schemas.openxmlformats.org/officeDocument/2006/relationships/package" Target="../embeddings/Microsoft_Excel_Worksheet54.xlsx" /></Relationships>
</file>

<file path=ppt/charts/_rels/chart46.xml.rels>&#65279;<?xml version="1.0" encoding="utf-8" standalone="yes"?><Relationships xmlns="http://schemas.openxmlformats.org/package/2006/relationships"><Relationship Id="rId1" Type="http://schemas.openxmlformats.org/officeDocument/2006/relationships/package" Target="../embeddings/Microsoft_Excel_Worksheet55.xlsx" /></Relationships>
</file>

<file path=ppt/charts/_rels/chart47.xml.rels>&#65279;<?xml version="1.0" encoding="utf-8" standalone="yes"?><Relationships xmlns="http://schemas.openxmlformats.org/package/2006/relationships"><Relationship Id="rId1" Type="http://schemas.openxmlformats.org/officeDocument/2006/relationships/package" Target="../embeddings/Microsoft_Excel_Worksheet56.xlsx" /></Relationships>
</file>

<file path=ppt/charts/_rels/chart48.xml.rels>&#65279;<?xml version="1.0" encoding="utf-8" standalone="yes"?><Relationships xmlns="http://schemas.openxmlformats.org/package/2006/relationships"><Relationship Id="rId1" Type="http://schemas.openxmlformats.org/officeDocument/2006/relationships/package" Target="../embeddings/Microsoft_Excel_Worksheet57.xlsx" /></Relationships>
</file>

<file path=ppt/charts/_rels/chart49.xml.rels>&#65279;<?xml version="1.0" encoding="utf-8" standalone="yes"?><Relationships xmlns="http://schemas.openxmlformats.org/package/2006/relationships"><Relationship Id="rId1" Type="http://schemas.openxmlformats.org/officeDocument/2006/relationships/package" Target="../embeddings/Microsoft_Excel_Worksheet58.xlsx" /></Relationships>
</file>

<file path=ppt/charts/_rels/chart50.xml.rels>&#65279;<?xml version="1.0" encoding="utf-8" standalone="yes"?><Relationships xmlns="http://schemas.openxmlformats.org/package/2006/relationships"><Relationship Id="rId1" Type="http://schemas.openxmlformats.org/officeDocument/2006/relationships/package" Target="../embeddings/Microsoft_Excel_Worksheet59.xlsx" /></Relationships>
</file>

<file path=ppt/charts/_rels/chart51.xml.rels>&#65279;<?xml version="1.0" encoding="utf-8" standalone="yes"?><Relationships xmlns="http://schemas.openxmlformats.org/package/2006/relationships"><Relationship Id="rId1" Type="http://schemas.openxmlformats.org/officeDocument/2006/relationships/package" Target="../embeddings/Microsoft_Excel_Worksheet60.xlsx" /></Relationships>
</file>

<file path=ppt/charts/_rels/chart52.xml.rels>&#65279;<?xml version="1.0" encoding="utf-8" standalone="yes"?><Relationships xmlns="http://schemas.openxmlformats.org/package/2006/relationships"><Relationship Id="rId1" Type="http://schemas.openxmlformats.org/officeDocument/2006/relationships/package" Target="../embeddings/Microsoft_Excel_Worksheet61.xlsx" /></Relationships>
</file>

<file path=ppt/charts/_rels/chart53.xml.rels>&#65279;<?xml version="1.0" encoding="utf-8" standalone="yes"?><Relationships xmlns="http://schemas.openxmlformats.org/package/2006/relationships"><Relationship Id="rId1" Type="http://schemas.openxmlformats.org/officeDocument/2006/relationships/package" Target="../embeddings/Microsoft_Excel_Worksheet62.xlsx" /></Relationships>
</file>

<file path=ppt/charts/_rels/chart54.xml.rels>&#65279;<?xml version="1.0" encoding="utf-8" standalone="yes"?><Relationships xmlns="http://schemas.openxmlformats.org/package/2006/relationships"><Relationship Id="rId1" Type="http://schemas.openxmlformats.org/officeDocument/2006/relationships/package" Target="../embeddings/Microsoft_Excel_Worksheet63.xlsx" /></Relationships>
</file>

<file path=ppt/charts/_rels/chart55.xml.rels>&#65279;<?xml version="1.0" encoding="utf-8" standalone="yes"?><Relationships xmlns="http://schemas.openxmlformats.org/package/2006/relationships"><Relationship Id="rId1" Type="http://schemas.openxmlformats.org/officeDocument/2006/relationships/package" Target="../embeddings/Microsoft_Excel_Worksheet64.xlsx" /></Relationships>
</file>

<file path=ppt/charts/_rels/chart56.xml.rels>&#65279;<?xml version="1.0" encoding="utf-8" standalone="yes"?><Relationships xmlns="http://schemas.openxmlformats.org/package/2006/relationships"><Relationship Id="rId1" Type="http://schemas.openxmlformats.org/officeDocument/2006/relationships/package" Target="../embeddings/Microsoft_Excel_Worksheet65.xlsx" /></Relationships>
</file>

<file path=ppt/charts/_rels/chart57.xml.rels>&#65279;<?xml version="1.0" encoding="utf-8" standalone="yes"?><Relationships xmlns="http://schemas.openxmlformats.org/package/2006/relationships"><Relationship Id="rId1" Type="http://schemas.openxmlformats.org/officeDocument/2006/relationships/package" Target="../embeddings/Microsoft_Excel_Worksheet66.xlsx" /></Relationships>
</file>

<file path=ppt/charts/_rels/chart58.xml.rels>&#65279;<?xml version="1.0" encoding="utf-8" standalone="yes"?><Relationships xmlns="http://schemas.openxmlformats.org/package/2006/relationships"><Relationship Id="rId1" Type="http://schemas.openxmlformats.org/officeDocument/2006/relationships/package" Target="../embeddings/Microsoft_Excel_Worksheet67.xlsx" /></Relationships>
</file>

<file path=ppt/charts/_rels/chart59.xml.rels>&#65279;<?xml version="1.0" encoding="utf-8" standalone="yes"?><Relationships xmlns="http://schemas.openxmlformats.org/package/2006/relationships"><Relationship Id="rId1" Type="http://schemas.openxmlformats.org/officeDocument/2006/relationships/package" Target="../embeddings/Microsoft_Excel_Worksheet68.xlsx" /></Relationships>
</file>

<file path=ppt/charts/_rels/chart60.xml.rels>&#65279;<?xml version="1.0" encoding="utf-8" standalone="yes"?><Relationships xmlns="http://schemas.openxmlformats.org/package/2006/relationships"><Relationship Id="rId1" Type="http://schemas.openxmlformats.org/officeDocument/2006/relationships/package" Target="../embeddings/Microsoft_Excel_Worksheet69.xlsx" /></Relationships>
</file>

<file path=ppt/charts/_rels/chart61.xml.rels>&#65279;<?xml version="1.0" encoding="utf-8" standalone="yes"?><Relationships xmlns="http://schemas.openxmlformats.org/package/2006/relationships"><Relationship Id="rId1" Type="http://schemas.openxmlformats.org/officeDocument/2006/relationships/package" Target="../embeddings/Microsoft_Excel_Worksheet70.xlsx" /></Relationships>
</file>

<file path=ppt/charts/_rels/chart62.xml.rels>&#65279;<?xml version="1.0" encoding="utf-8" standalone="yes"?><Relationships xmlns="http://schemas.openxmlformats.org/package/2006/relationships"><Relationship Id="rId1" Type="http://schemas.openxmlformats.org/officeDocument/2006/relationships/package" Target="../embeddings/Microsoft_Excel_Worksheet71.xlsx" /></Relationships>
</file>

<file path=ppt/charts/_rels/chart63.xml.rels>&#65279;<?xml version="1.0" encoding="utf-8" standalone="yes"?><Relationships xmlns="http://schemas.openxmlformats.org/package/2006/relationships"><Relationship Id="rId1" Type="http://schemas.openxmlformats.org/officeDocument/2006/relationships/package" Target="../embeddings/Microsoft_Excel_Worksheet73.xlsx" /></Relationships>
</file>

<file path=ppt/charts/_rels/chart64.xml.rels>&#65279;<?xml version="1.0" encoding="utf-8" standalone="yes"?><Relationships xmlns="http://schemas.openxmlformats.org/package/2006/relationships"><Relationship Id="rId1" Type="http://schemas.openxmlformats.org/officeDocument/2006/relationships/package" Target="../embeddings/Microsoft_Excel_Worksheet74.xlsx" /></Relationships>
</file>

<file path=ppt/charts/_rels/chart65.xml.rels>&#65279;<?xml version="1.0" encoding="utf-8" standalone="yes"?><Relationships xmlns="http://schemas.openxmlformats.org/package/2006/relationships"><Relationship Id="rId1" Type="http://schemas.openxmlformats.org/officeDocument/2006/relationships/package" Target="../embeddings/Microsoft_Excel_Worksheet75.xlsx" /></Relationships>
</file>

<file path=ppt/charts/_rels/chart66.xml.rels>&#65279;<?xml version="1.0" encoding="utf-8" standalone="yes"?><Relationships xmlns="http://schemas.openxmlformats.org/package/2006/relationships"><Relationship Id="rId1" Type="http://schemas.openxmlformats.org/officeDocument/2006/relationships/package" Target="../embeddings/Microsoft_Excel_Worksheet77.xlsx" /></Relationships>
</file>

<file path=ppt/charts/chart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Sheet1!$A$2:$A$3</c:f>
              <c:strCache>
                <c:ptCount val="2"/>
                <c:pt idx="0">
                  <c:v>Internet users</c:v>
                </c:pt>
                <c:pt idx="1">
                  <c:v>Social media users</c:v>
                </c:pt>
              </c:strCache>
            </c:strRef>
          </c:cat>
          <c:val>
            <c:numRef>
              <c:f>Sheet1!$B$2:$B$3</c:f>
              <c:numCache>
                <c:ptCount val="2"/>
                <c:pt idx="0">
                  <c:v>5.16</c:v>
                </c:pt>
                <c:pt idx="1">
                  <c:v>4.76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users in billions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Northern Europe</c:v>
                </c:pt>
                <c:pt idx="1">
                  <c:v>Western Europe</c:v>
                </c:pt>
                <c:pt idx="2">
                  <c:v>Northern America</c:v>
                </c:pt>
                <c:pt idx="3">
                  <c:v>Southern Europe</c:v>
                </c:pt>
                <c:pt idx="4">
                  <c:v>Eastern Europe</c:v>
                </c:pt>
                <c:pt idx="5">
                  <c:v>Southern America</c:v>
                </c:pt>
                <c:pt idx="6">
                  <c:v>Oceania</c:v>
                </c:pt>
                <c:pt idx="7">
                  <c:v>South-Eastern Asia</c:v>
                </c:pt>
                <c:pt idx="8">
                  <c:v>Western Asia</c:v>
                </c:pt>
                <c:pt idx="9">
                  <c:v>Central America</c:v>
                </c:pt>
                <c:pt idx="10">
                  <c:v>Eastern Asia</c:v>
                </c:pt>
                <c:pt idx="11">
                  <c:v>Central Asia</c:v>
                </c:pt>
                <c:pt idx="12">
                  <c:v>Southern Africa</c:v>
                </c:pt>
                <c:pt idx="13">
                  <c:v>Caribbean</c:v>
                </c:pt>
                <c:pt idx="14">
                  <c:v>Northern Africa</c:v>
                </c:pt>
              </c:strCache>
            </c:strRef>
          </c:cat>
          <c:val>
            <c:numRef>
              <c:f>Sheet1!$B$2:$B$16</c:f>
              <c:numCache>
                <c:ptCount val="15"/>
                <c:pt idx="0">
                  <c:v>0.974</c:v>
                </c:pt>
                <c:pt idx="1">
                  <c:v>0.935</c:v>
                </c:pt>
                <c:pt idx="2">
                  <c:v>0.92</c:v>
                </c:pt>
                <c:pt idx="3">
                  <c:v>0.884</c:v>
                </c:pt>
                <c:pt idx="4">
                  <c:v>0.869</c:v>
                </c:pt>
                <c:pt idx="5">
                  <c:v>0.806</c:v>
                </c:pt>
                <c:pt idx="6">
                  <c:v>0.794</c:v>
                </c:pt>
                <c:pt idx="7">
                  <c:v>0.756</c:v>
                </c:pt>
                <c:pt idx="8">
                  <c:v>0.753</c:v>
                </c:pt>
                <c:pt idx="9">
                  <c:v>0.749</c:v>
                </c:pt>
                <c:pt idx="10">
                  <c:v>0.743</c:v>
                </c:pt>
                <c:pt idx="11">
                  <c:v>0.725</c:v>
                </c:pt>
                <c:pt idx="12">
                  <c:v>0.706</c:v>
                </c:pt>
                <c:pt idx="13">
                  <c:v>0.684</c:v>
                </c:pt>
                <c:pt idx="14">
                  <c:v>0.659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Pt>
            <c:idx val="11"/>
            <c:invertIfNegative val="0"/>
            <c:spPr>
              <a:solidFill>
                <a:srgbClr val="C0C0C0"/>
              </a:solidFill>
            </c:spPr>
          </c:dPt>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Northern Europe</c:v>
                </c:pt>
                <c:pt idx="1">
                  <c:v>Western Europe</c:v>
                </c:pt>
                <c:pt idx="2">
                  <c:v>Southern Europe</c:v>
                </c:pt>
                <c:pt idx="3">
                  <c:v>Northern America</c:v>
                </c:pt>
                <c:pt idx="4">
                  <c:v>Eastern Asia</c:v>
                </c:pt>
                <c:pt idx="5">
                  <c:v>Southern America</c:v>
                </c:pt>
                <c:pt idx="6">
                  <c:v>Eastern Europe</c:v>
                </c:pt>
                <c:pt idx="7">
                  <c:v>Central America</c:v>
                </c:pt>
                <c:pt idx="8">
                  <c:v>Southeastern Asia</c:v>
                </c:pt>
                <c:pt idx="9">
                  <c:v>Western Asia</c:v>
                </c:pt>
                <c:pt idx="10">
                  <c:v>Oceania</c:v>
                </c:pt>
                <c:pt idx="11">
                  <c:v>Global</c:v>
                </c:pt>
                <c:pt idx="12">
                  <c:v>Caribbean</c:v>
                </c:pt>
                <c:pt idx="13">
                  <c:v>Northern Africa</c:v>
                </c:pt>
                <c:pt idx="14">
                  <c:v>Southern Africa</c:v>
                </c:pt>
              </c:strCache>
            </c:strRef>
          </c:cat>
          <c:val>
            <c:numRef>
              <c:f>Sheet1!$B$2:$B$16</c:f>
              <c:numCache>
                <c:ptCount val="15"/>
                <c:pt idx="0">
                  <c:v>0.836</c:v>
                </c:pt>
                <c:pt idx="1">
                  <c:v>0.833</c:v>
                </c:pt>
                <c:pt idx="2">
                  <c:v>0.767</c:v>
                </c:pt>
                <c:pt idx="3">
                  <c:v>0.739</c:v>
                </c:pt>
                <c:pt idx="4">
                  <c:v>0.72</c:v>
                </c:pt>
                <c:pt idx="5">
                  <c:v>0.713</c:v>
                </c:pt>
                <c:pt idx="6">
                  <c:v>0.705</c:v>
                </c:pt>
                <c:pt idx="7">
                  <c:v>0.675</c:v>
                </c:pt>
                <c:pt idx="8">
                  <c:v>0.637</c:v>
                </c:pt>
                <c:pt idx="9">
                  <c:v>0.636</c:v>
                </c:pt>
                <c:pt idx="10">
                  <c:v>0.62</c:v>
                </c:pt>
                <c:pt idx="11">
                  <c:v>0.594</c:v>
                </c:pt>
                <c:pt idx="12">
                  <c:v>0.506</c:v>
                </c:pt>
                <c:pt idx="13">
                  <c:v>0.488</c:v>
                </c:pt>
                <c:pt idx="14">
                  <c:v>0.413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2021</c:v>
                </c:pt>
              </c:strCache>
            </c:strRef>
          </c:tx>
          <c:spPr>
            <a:solidFill>
              <a:srgbClr val="BABABA"/>
            </a:solidFill>
            <a:ln>
              <a:solidFill>
                <a:srgbClr val="BABABA"/>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Sheet1!$A$2:$A$15</c:f>
              <c:strCache>
                <c:ptCount val="14"/>
                <c:pt idx="0">
                  <c:v>European Union (EU-27)</c:v>
                </c:pt>
                <c:pt idx="1">
                  <c:v>Malta</c:v>
                </c:pt>
                <c:pt idx="2">
                  <c:v>Norway</c:v>
                </c:pt>
                <c:pt idx="3">
                  <c:v>Sweden</c:v>
                </c:pt>
                <c:pt idx="4">
                  <c:v>Netherlands</c:v>
                </c:pt>
                <c:pt idx="5">
                  <c:v>Denmark</c:v>
                </c:pt>
                <c:pt idx="6">
                  <c:v>Cyprus</c:v>
                </c:pt>
                <c:pt idx="7">
                  <c:v>Finland</c:v>
                </c:pt>
                <c:pt idx="8">
                  <c:v>Belgium*</c:v>
                </c:pt>
                <c:pt idx="9">
                  <c:v>Luxembourg</c:v>
                </c:pt>
                <c:pt idx="10">
                  <c:v>Ireland</c:v>
                </c:pt>
                <c:pt idx="11">
                  <c:v>Austria</c:v>
                </c:pt>
                <c:pt idx="12">
                  <c:v>Spain</c:v>
                </c:pt>
                <c:pt idx="13">
                  <c:v>France*</c:v>
                </c:pt>
              </c:strCache>
            </c:strRef>
          </c:cat>
          <c:val>
            <c:numRef>
              <c:f>Sheet1!$B$2:$B$15</c:f>
              <c:numCache>
                <c:ptCount val="14"/>
                <c:pt idx="0">
                  <c:v>0.56</c:v>
                </c:pt>
                <c:pt idx="1">
                  <c:v>0.84</c:v>
                </c:pt>
                <c:pt idx="2">
                  <c:v>0.84</c:v>
                </c:pt>
                <c:pt idx="3">
                  <c:v>0.78</c:v>
                </c:pt>
                <c:pt idx="4">
                  <c:v>0.78</c:v>
                </c:pt>
                <c:pt idx="5">
                  <c:v>0.76</c:v>
                </c:pt>
                <c:pt idx="6">
                  <c:v>0.76</c:v>
                </c:pt>
                <c:pt idx="7">
                  <c:v>0.76</c:v>
                </c:pt>
                <c:pt idx="8">
                  <c:v>0.74</c:v>
                </c:pt>
                <c:pt idx="9">
                  <c:v>0.67</c:v>
                </c:pt>
                <c:pt idx="10">
                  <c:v>0.63</c:v>
                </c:pt>
                <c:pt idx="11">
                  <c:v>0.62</c:v>
                </c:pt>
                <c:pt idx="12">
                  <c:v>0.6</c:v>
                </c:pt>
                <c:pt idx="13">
                  <c:v>0.6</c:v>
                </c:pt>
              </c:numCache>
            </c:numRef>
          </c:val>
        </c:ser>
        <c:ser>
          <c:idx val="1"/>
          <c:order val="1"/>
          <c:tx>
            <c:strRef>
              <c:f>Sheet1!$C$1</c:f>
              <c:strCache>
                <c:ptCount val="1"/>
                <c:pt idx="0">
                  <c:v>2019</c:v>
                </c:pt>
              </c:strCache>
            </c:strRef>
          </c:tx>
          <c:spPr>
            <a:solidFill>
              <a:srgbClr val="0F283E"/>
            </a:solidFill>
            <a:ln>
              <a:solidFill>
                <a:srgbClr val="0F283E"/>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Sheet1!$A$2:$A$15</c:f>
              <c:strCache>
                <c:ptCount val="14"/>
                <c:pt idx="0">
                  <c:v>European Union (EU-27)</c:v>
                </c:pt>
                <c:pt idx="1">
                  <c:v>Malta</c:v>
                </c:pt>
                <c:pt idx="2">
                  <c:v>Norway</c:v>
                </c:pt>
                <c:pt idx="3">
                  <c:v>Sweden</c:v>
                </c:pt>
                <c:pt idx="4">
                  <c:v>Netherlands</c:v>
                </c:pt>
                <c:pt idx="5">
                  <c:v>Denmark</c:v>
                </c:pt>
                <c:pt idx="6">
                  <c:v>Cyprus</c:v>
                </c:pt>
                <c:pt idx="7">
                  <c:v>Finland</c:v>
                </c:pt>
                <c:pt idx="8">
                  <c:v>Belgium*</c:v>
                </c:pt>
                <c:pt idx="9">
                  <c:v>Luxembourg</c:v>
                </c:pt>
                <c:pt idx="10">
                  <c:v>Ireland</c:v>
                </c:pt>
                <c:pt idx="11">
                  <c:v>Austria</c:v>
                </c:pt>
                <c:pt idx="12">
                  <c:v>Spain</c:v>
                </c:pt>
                <c:pt idx="13">
                  <c:v>France*</c:v>
                </c:pt>
              </c:strCache>
            </c:strRef>
          </c:cat>
          <c:val>
            <c:numRef>
              <c:f>Sheet1!$C$2:$C$15</c:f>
              <c:numCache>
                <c:ptCount val="14"/>
                <c:pt idx="0">
                  <c:v>0.48</c:v>
                </c:pt>
                <c:pt idx="1">
                  <c:v>0.83</c:v>
                </c:pt>
                <c:pt idx="2">
                  <c:v>0.76</c:v>
                </c:pt>
                <c:pt idx="3">
                  <c:v>0.69</c:v>
                </c:pt>
                <c:pt idx="4">
                  <c:v>0.73</c:v>
                </c:pt>
                <c:pt idx="5">
                  <c:v>0.73</c:v>
                </c:pt>
                <c:pt idx="6">
                  <c:v>0.71</c:v>
                </c:pt>
                <c:pt idx="7">
                  <c:v>0.69</c:v>
                </c:pt>
                <c:pt idx="8">
                  <c:v>0.7</c:v>
                </c:pt>
                <c:pt idx="9">
                  <c:v>0.6</c:v>
                </c:pt>
                <c:pt idx="10">
                  <c:v>0.7</c:v>
                </c:pt>
                <c:pt idx="11">
                  <c:v>0.55</c:v>
                </c:pt>
                <c:pt idx="12">
                  <c:v>0.51</c:v>
                </c:pt>
                <c:pt idx="13">
                  <c:v>0.49</c:v>
                </c:pt>
              </c:numCache>
            </c:numRef>
          </c:val>
        </c:ser>
        <c:ser>
          <c:idx val="2"/>
          <c:order val="2"/>
          <c:tx>
            <c:strRef>
              <c:f>Sheet1!$D$1</c:f>
              <c:strCache>
                <c:ptCount val="1"/>
                <c:pt idx="0">
                  <c:v>2014</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Sheet1!$A$2:$A$15</c:f>
              <c:strCache>
                <c:ptCount val="14"/>
                <c:pt idx="0">
                  <c:v>European Union (EU-27)</c:v>
                </c:pt>
                <c:pt idx="1">
                  <c:v>Malta</c:v>
                </c:pt>
                <c:pt idx="2">
                  <c:v>Norway</c:v>
                </c:pt>
                <c:pt idx="3">
                  <c:v>Sweden</c:v>
                </c:pt>
                <c:pt idx="4">
                  <c:v>Netherlands</c:v>
                </c:pt>
                <c:pt idx="5">
                  <c:v>Denmark</c:v>
                </c:pt>
                <c:pt idx="6">
                  <c:v>Cyprus</c:v>
                </c:pt>
                <c:pt idx="7">
                  <c:v>Finland</c:v>
                </c:pt>
                <c:pt idx="8">
                  <c:v>Belgium*</c:v>
                </c:pt>
                <c:pt idx="9">
                  <c:v>Luxembourg</c:v>
                </c:pt>
                <c:pt idx="10">
                  <c:v>Ireland</c:v>
                </c:pt>
                <c:pt idx="11">
                  <c:v>Austria</c:v>
                </c:pt>
                <c:pt idx="12">
                  <c:v>Spain</c:v>
                </c:pt>
                <c:pt idx="13">
                  <c:v>France*</c:v>
                </c:pt>
              </c:strCache>
            </c:strRef>
          </c:cat>
          <c:val>
            <c:numRef>
              <c:f>Sheet1!$D$2:$D$15</c:f>
              <c:numCache>
                <c:ptCount val="14"/>
                <c:pt idx="0">
                  <c:v>0.31</c:v>
                </c:pt>
                <c:pt idx="1">
                  <c:v>0.64</c:v>
                </c:pt>
                <c:pt idx="2">
                  <c:v>0.51</c:v>
                </c:pt>
                <c:pt idx="3">
                  <c:v>0.45</c:v>
                </c:pt>
                <c:pt idx="4">
                  <c:v>0.53</c:v>
                </c:pt>
                <c:pt idx="5">
                  <c:v>0.46</c:v>
                </c:pt>
                <c:pt idx="6">
                  <c:v>0.51</c:v>
                </c:pt>
                <c:pt idx="7">
                  <c:v>0.43</c:v>
                </c:pt>
                <c:pt idx="8">
                  <c:v>0.42</c:v>
                </c:pt>
                <c:pt idx="9">
                  <c:v>0.31</c:v>
                </c:pt>
                <c:pt idx="10">
                  <c:v>0.58</c:v>
                </c:pt>
                <c:pt idx="11">
                  <c:v>0.36</c:v>
                </c:pt>
                <c:pt idx="12">
                  <c:v>0.34</c:v>
                </c:pt>
                <c:pt idx="13">
                  <c:v>0.28</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Column3</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Latvia</c:v>
                </c:pt>
                <c:pt idx="1">
                  <c:v>Russia</c:v>
                </c:pt>
                <c:pt idx="2">
                  <c:v>Estonia</c:v>
                </c:pt>
                <c:pt idx="3">
                  <c:v>North Macedonia</c:v>
                </c:pt>
                <c:pt idx="4">
                  <c:v>Hungary</c:v>
                </c:pt>
                <c:pt idx="5">
                  <c:v>Montenegro</c:v>
                </c:pt>
                <c:pt idx="6">
                  <c:v>Slovakia</c:v>
                </c:pt>
                <c:pt idx="7">
                  <c:v>Romania</c:v>
                </c:pt>
                <c:pt idx="8">
                  <c:v>Lithuania</c:v>
                </c:pt>
                <c:pt idx="9">
                  <c:v>Croatia</c:v>
                </c:pt>
                <c:pt idx="10">
                  <c:v>Serbia</c:v>
                </c:pt>
                <c:pt idx="11">
                  <c:v>Czechia</c:v>
                </c:pt>
                <c:pt idx="12">
                  <c:v>Poland</c:v>
                </c:pt>
                <c:pt idx="13">
                  <c:v>Slovenia</c:v>
                </c:pt>
                <c:pt idx="14">
                  <c:v>Albania</c:v>
                </c:pt>
              </c:strCache>
            </c:strRef>
          </c:cat>
          <c:val>
            <c:numRef>
              <c:f>Sheet1!$B$2:$B$16</c:f>
              <c:numCache>
                <c:ptCount val="15"/>
                <c:pt idx="0">
                  <c:v>0.86</c:v>
                </c:pt>
                <c:pt idx="1">
                  <c:v>0.79</c:v>
                </c:pt>
                <c:pt idx="2">
                  <c:v>0.78</c:v>
                </c:pt>
                <c:pt idx="3">
                  <c:v>0.78</c:v>
                </c:pt>
                <c:pt idx="4">
                  <c:v>0.78</c:v>
                </c:pt>
                <c:pt idx="5">
                  <c:v>0.78</c:v>
                </c:pt>
                <c:pt idx="6">
                  <c:v>0.77</c:v>
                </c:pt>
                <c:pt idx="7">
                  <c:v>0.77</c:v>
                </c:pt>
                <c:pt idx="8">
                  <c:v>0.76</c:v>
                </c:pt>
                <c:pt idx="9">
                  <c:v>0.76</c:v>
                </c:pt>
                <c:pt idx="10">
                  <c:v>0.75</c:v>
                </c:pt>
                <c:pt idx="11">
                  <c:v>0.74</c:v>
                </c:pt>
                <c:pt idx="12">
                  <c:v>0.74</c:v>
                </c:pt>
                <c:pt idx="13">
                  <c:v>0.71</c:v>
                </c:pt>
                <c:pt idx="14">
                  <c:v>0.7</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Facebook</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Sheet1!$A$2:$A$12</c:f>
              <c:strCache>
                <c:ptCount val="11"/>
                <c:pt idx="0">
                  <c:v>2017</c:v>
                </c:pt>
                <c:pt idx="1">
                  <c:v>2018</c:v>
                </c:pt>
                <c:pt idx="2">
                  <c:v>2019</c:v>
                </c:pt>
                <c:pt idx="3">
                  <c:v>2020</c:v>
                </c:pt>
                <c:pt idx="4">
                  <c:v>2021</c:v>
                </c:pt>
                <c:pt idx="5">
                  <c:v>2022</c:v>
                </c:pt>
                <c:pt idx="6">
                  <c:v>2023*</c:v>
                </c:pt>
                <c:pt idx="7">
                  <c:v>2024*</c:v>
                </c:pt>
                <c:pt idx="8">
                  <c:v>2025*</c:v>
                </c:pt>
                <c:pt idx="9">
                  <c:v>2026*</c:v>
                </c:pt>
                <c:pt idx="10">
                  <c:v>2027*</c:v>
                </c:pt>
              </c:strCache>
            </c:strRef>
          </c:cat>
          <c:val>
            <c:numRef>
              <c:f>Sheet1!$B$2:$B$12</c:f>
              <c:numCache>
                <c:ptCount val="11"/>
                <c:pt idx="0">
                  <c:v>323.67</c:v>
                </c:pt>
                <c:pt idx="1">
                  <c:v>344.93</c:v>
                </c:pt>
                <c:pt idx="2">
                  <c:v>362.1</c:v>
                </c:pt>
                <c:pt idx="3">
                  <c:v>463.72</c:v>
                </c:pt>
                <c:pt idx="4">
                  <c:v>511.48</c:v>
                </c:pt>
                <c:pt idx="5">
                  <c:v>456.95</c:v>
                </c:pt>
                <c:pt idx="6">
                  <c:v>462.58</c:v>
                </c:pt>
                <c:pt idx="7">
                  <c:v>467.49</c:v>
                </c:pt>
                <c:pt idx="8">
                  <c:v>471.86</c:v>
                </c:pt>
                <c:pt idx="9">
                  <c:v>475.75</c:v>
                </c:pt>
                <c:pt idx="10">
                  <c:v>479.2</c:v>
                </c:pt>
              </c:numCache>
            </c:numRef>
          </c:val>
          <c:smooth val="0"/>
        </c:ser>
        <c:ser>
          <c:idx val="1"/>
          <c:order val="1"/>
          <c:tx>
            <c:strRef>
              <c:f>Sheet1!$C$1</c:f>
              <c:strCache>
                <c:ptCount val="1"/>
                <c:pt idx="0">
                  <c:v>Instagram</c:v>
                </c:pt>
              </c:strCache>
            </c:strRef>
          </c:tx>
          <c:spPr>
            <a:ln>
              <a:solidFill>
                <a:srgbClr val="0F283E"/>
              </a:solidFill>
            </a:ln>
          </c:spPr>
          <c:marker>
            <c:symbol val="circle"/>
            <c:spPr>
              <a:solidFill>
                <a:srgbClr val="0F283E"/>
              </a:solidFill>
              <a:ln>
                <a:solidFill>
                  <a:srgbClr val="0F283E"/>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Sheet1!$A$2:$A$12</c:f>
              <c:strCache>
                <c:ptCount val="11"/>
                <c:pt idx="0">
                  <c:v>2017</c:v>
                </c:pt>
                <c:pt idx="1">
                  <c:v>2018</c:v>
                </c:pt>
                <c:pt idx="2">
                  <c:v>2019</c:v>
                </c:pt>
                <c:pt idx="3">
                  <c:v>2020</c:v>
                </c:pt>
                <c:pt idx="4">
                  <c:v>2021</c:v>
                </c:pt>
                <c:pt idx="5">
                  <c:v>2022</c:v>
                </c:pt>
                <c:pt idx="6">
                  <c:v>2023*</c:v>
                </c:pt>
                <c:pt idx="7">
                  <c:v>2024*</c:v>
                </c:pt>
                <c:pt idx="8">
                  <c:v>2025*</c:v>
                </c:pt>
                <c:pt idx="9">
                  <c:v>2026*</c:v>
                </c:pt>
                <c:pt idx="10">
                  <c:v>2027*</c:v>
                </c:pt>
              </c:strCache>
            </c:strRef>
          </c:cat>
          <c:val>
            <c:numRef>
              <c:f>Sheet1!$C$2:$C$12</c:f>
              <c:numCache>
                <c:ptCount val="11"/>
                <c:pt idx="0">
                  <c:v>158.35</c:v>
                </c:pt>
                <c:pt idx="1">
                  <c:v>206.04</c:v>
                </c:pt>
                <c:pt idx="2">
                  <c:v>242.88</c:v>
                </c:pt>
                <c:pt idx="3">
                  <c:v>290.71</c:v>
                </c:pt>
                <c:pt idx="4">
                  <c:v>317.48</c:v>
                </c:pt>
                <c:pt idx="5">
                  <c:v>281.3</c:v>
                </c:pt>
                <c:pt idx="6">
                  <c:v>293.93</c:v>
                </c:pt>
                <c:pt idx="7">
                  <c:v>303.53</c:v>
                </c:pt>
                <c:pt idx="8">
                  <c:v>310.88</c:v>
                </c:pt>
                <c:pt idx="9">
                  <c:v>316.57</c:v>
                </c:pt>
                <c:pt idx="10">
                  <c:v>321.05</c:v>
                </c:pt>
              </c:numCache>
            </c:numRef>
          </c:val>
          <c:smooth val="0"/>
        </c:ser>
        <c:ser>
          <c:idx val="2"/>
          <c:order val="2"/>
          <c:tx>
            <c:strRef>
              <c:f>Sheet1!$D$1</c:f>
              <c:strCache>
                <c:ptCount val="1"/>
                <c:pt idx="0">
                  <c:v>LinkedIn</c:v>
                </c:pt>
              </c:strCache>
            </c:strRef>
          </c:tx>
          <c:spPr>
            <a:ln>
              <a:solidFill>
                <a:srgbClr val="BABABA"/>
              </a:solidFill>
            </a:ln>
          </c:spPr>
          <c:marker>
            <c:symbol val="circle"/>
            <c:spPr>
              <a:solidFill>
                <a:srgbClr val="BABABA"/>
              </a:solidFill>
              <a:ln>
                <a:solidFill>
                  <a:srgbClr val="BABABA"/>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Sheet1!$A$2:$A$12</c:f>
              <c:strCache>
                <c:ptCount val="11"/>
                <c:pt idx="0">
                  <c:v>2017</c:v>
                </c:pt>
                <c:pt idx="1">
                  <c:v>2018</c:v>
                </c:pt>
                <c:pt idx="2">
                  <c:v>2019</c:v>
                </c:pt>
                <c:pt idx="3">
                  <c:v>2020</c:v>
                </c:pt>
                <c:pt idx="4">
                  <c:v>2021</c:v>
                </c:pt>
                <c:pt idx="5">
                  <c:v>2022</c:v>
                </c:pt>
                <c:pt idx="6">
                  <c:v>2023*</c:v>
                </c:pt>
                <c:pt idx="7">
                  <c:v>2024*</c:v>
                </c:pt>
                <c:pt idx="8">
                  <c:v>2025*</c:v>
                </c:pt>
                <c:pt idx="9">
                  <c:v>2026*</c:v>
                </c:pt>
                <c:pt idx="10">
                  <c:v>2027*</c:v>
                </c:pt>
              </c:strCache>
            </c:strRef>
          </c:cat>
          <c:val>
            <c:numRef>
              <c:f>Sheet1!$D$2:$D$12</c:f>
              <c:numCache>
                <c:ptCount val="11"/>
                <c:pt idx="0">
                  <c:v>80.42</c:v>
                </c:pt>
                <c:pt idx="1">
                  <c:v>94.62</c:v>
                </c:pt>
                <c:pt idx="2">
                  <c:v>107.16</c:v>
                </c:pt>
                <c:pt idx="3">
                  <c:v>146.43</c:v>
                </c:pt>
                <c:pt idx="4">
                  <c:v>163.21</c:v>
                </c:pt>
                <c:pt idx="5">
                  <c:v>174.07</c:v>
                </c:pt>
                <c:pt idx="6">
                  <c:v>180.61</c:v>
                </c:pt>
                <c:pt idx="7">
                  <c:v>184.9</c:v>
                </c:pt>
                <c:pt idx="8">
                  <c:v>187.94</c:v>
                </c:pt>
                <c:pt idx="9">
                  <c:v>190.23</c:v>
                </c:pt>
                <c:pt idx="10">
                  <c:v>192.06</c:v>
                </c:pt>
              </c:numCache>
            </c:numRef>
          </c:val>
          <c:smooth val="0"/>
        </c:ser>
        <c:ser>
          <c:idx val="3"/>
          <c:order val="3"/>
          <c:tx>
            <c:strRef>
              <c:f>Sheet1!$E$1</c:f>
              <c:strCache>
                <c:ptCount val="1"/>
                <c:pt idx="0">
                  <c:v>Pinterest</c:v>
                </c:pt>
              </c:strCache>
            </c:strRef>
          </c:tx>
          <c:spPr>
            <a:ln>
              <a:solidFill>
                <a:srgbClr val="A60B0B"/>
              </a:solidFill>
            </a:ln>
          </c:spPr>
          <c:marker>
            <c:symbol val="circle"/>
            <c:spPr>
              <a:solidFill>
                <a:srgbClr val="A60B0B"/>
              </a:solidFill>
              <a:ln>
                <a:solidFill>
                  <a:srgbClr val="A60B0B"/>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Sheet1!$A$2:$A$12</c:f>
              <c:strCache>
                <c:ptCount val="11"/>
                <c:pt idx="0">
                  <c:v>2017</c:v>
                </c:pt>
                <c:pt idx="1">
                  <c:v>2018</c:v>
                </c:pt>
                <c:pt idx="2">
                  <c:v>2019</c:v>
                </c:pt>
                <c:pt idx="3">
                  <c:v>2020</c:v>
                </c:pt>
                <c:pt idx="4">
                  <c:v>2021</c:v>
                </c:pt>
                <c:pt idx="5">
                  <c:v>2022</c:v>
                </c:pt>
                <c:pt idx="6">
                  <c:v>2023*</c:v>
                </c:pt>
                <c:pt idx="7">
                  <c:v>2024*</c:v>
                </c:pt>
                <c:pt idx="8">
                  <c:v>2025*</c:v>
                </c:pt>
                <c:pt idx="9">
                  <c:v>2026*</c:v>
                </c:pt>
                <c:pt idx="10">
                  <c:v>2027*</c:v>
                </c:pt>
              </c:strCache>
            </c:strRef>
          </c:cat>
          <c:val>
            <c:numRef>
              <c:f>Sheet1!$E$2:$E$12</c:f>
              <c:numCache>
                <c:ptCount val="11"/>
                <c:pt idx="0">
                  <c:v>45.97</c:v>
                </c:pt>
                <c:pt idx="1">
                  <c:v>62.4</c:v>
                </c:pt>
                <c:pt idx="2">
                  <c:v>82.3</c:v>
                </c:pt>
                <c:pt idx="3">
                  <c:v>107.86</c:v>
                </c:pt>
                <c:pt idx="4">
                  <c:v>117.86</c:v>
                </c:pt>
                <c:pt idx="5">
                  <c:v>120.54</c:v>
                </c:pt>
                <c:pt idx="6">
                  <c:v>122.13</c:v>
                </c:pt>
                <c:pt idx="7">
                  <c:v>123.28</c:v>
                </c:pt>
                <c:pt idx="8">
                  <c:v>124.16</c:v>
                </c:pt>
                <c:pt idx="9">
                  <c:v>124.87</c:v>
                </c:pt>
                <c:pt idx="10">
                  <c:v>125.43</c:v>
                </c:pt>
              </c:numCache>
            </c:numRef>
          </c:val>
          <c:smooth val="0"/>
        </c:ser>
        <c:ser>
          <c:idx val="4"/>
          <c:order val="4"/>
          <c:tx>
            <c:strRef>
              <c:f>Sheet1!$F$1</c:f>
              <c:strCache>
                <c:ptCount val="1"/>
                <c:pt idx="0">
                  <c:v>Reddit</c:v>
                </c:pt>
              </c:strCache>
            </c:strRef>
          </c:tx>
          <c:spPr>
            <a:ln>
              <a:solidFill>
                <a:srgbClr val="87BC24"/>
              </a:solidFill>
            </a:ln>
          </c:spPr>
          <c:marker>
            <c:symbol val="circle"/>
            <c:spPr>
              <a:solidFill>
                <a:srgbClr val="87BC24"/>
              </a:solidFill>
              <a:ln>
                <a:solidFill>
                  <a:srgbClr val="87BC24"/>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Sheet1!$A$2:$A$12</c:f>
              <c:strCache>
                <c:ptCount val="11"/>
                <c:pt idx="0">
                  <c:v>2017</c:v>
                </c:pt>
                <c:pt idx="1">
                  <c:v>2018</c:v>
                </c:pt>
                <c:pt idx="2">
                  <c:v>2019</c:v>
                </c:pt>
                <c:pt idx="3">
                  <c:v>2020</c:v>
                </c:pt>
                <c:pt idx="4">
                  <c:v>2021</c:v>
                </c:pt>
                <c:pt idx="5">
                  <c:v>2022</c:v>
                </c:pt>
                <c:pt idx="6">
                  <c:v>2023*</c:v>
                </c:pt>
                <c:pt idx="7">
                  <c:v>2024*</c:v>
                </c:pt>
                <c:pt idx="8">
                  <c:v>2025*</c:v>
                </c:pt>
                <c:pt idx="9">
                  <c:v>2026*</c:v>
                </c:pt>
                <c:pt idx="10">
                  <c:v>2027*</c:v>
                </c:pt>
              </c:strCache>
            </c:strRef>
          </c:cat>
          <c:val>
            <c:numRef>
              <c:f>Sheet1!$F$2:$F$12</c:f>
              <c:numCache>
                <c:ptCount val="11"/>
                <c:pt idx="0">
                  <c:v>58.16</c:v>
                </c:pt>
                <c:pt idx="1">
                  <c:v>75.28</c:v>
                </c:pt>
                <c:pt idx="2">
                  <c:v>96.38</c:v>
                </c:pt>
                <c:pt idx="3">
                  <c:v>114.78</c:v>
                </c:pt>
                <c:pt idx="4">
                  <c:v>132.64</c:v>
                </c:pt>
                <c:pt idx="5">
                  <c:v>143.44</c:v>
                </c:pt>
                <c:pt idx="6">
                  <c:v>149.94</c:v>
                </c:pt>
                <c:pt idx="7">
                  <c:v>153.82</c:v>
                </c:pt>
                <c:pt idx="8">
                  <c:v>156.24</c:v>
                </c:pt>
                <c:pt idx="9">
                  <c:v>157.84</c:v>
                </c:pt>
                <c:pt idx="10">
                  <c:v>158.96</c:v>
                </c:pt>
              </c:numCache>
            </c:numRef>
          </c:val>
          <c:smooth val="0"/>
        </c:ser>
        <c:ser>
          <c:idx val="5"/>
          <c:order val="5"/>
          <c:tx>
            <c:strRef>
              <c:f>Sheet1!$G$1</c:f>
              <c:strCache>
                <c:ptCount val="1"/>
                <c:pt idx="0">
                  <c:v>Snapchat</c:v>
                </c:pt>
              </c:strCache>
            </c:strRef>
          </c:tx>
          <c:spPr>
            <a:ln>
              <a:solidFill>
                <a:srgbClr val="EBB523"/>
              </a:solidFill>
            </a:ln>
          </c:spPr>
          <c:marker>
            <c:symbol val="circle"/>
            <c:spPr>
              <a:solidFill>
                <a:srgbClr val="EBB523"/>
              </a:solidFill>
              <a:ln>
                <a:solidFill>
                  <a:srgbClr val="EBB523"/>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Sheet1!$A$2:$A$12</c:f>
              <c:strCache>
                <c:ptCount val="11"/>
                <c:pt idx="0">
                  <c:v>2017</c:v>
                </c:pt>
                <c:pt idx="1">
                  <c:v>2018</c:v>
                </c:pt>
                <c:pt idx="2">
                  <c:v>2019</c:v>
                </c:pt>
                <c:pt idx="3">
                  <c:v>2020</c:v>
                </c:pt>
                <c:pt idx="4">
                  <c:v>2021</c:v>
                </c:pt>
                <c:pt idx="5">
                  <c:v>2022</c:v>
                </c:pt>
                <c:pt idx="6">
                  <c:v>2023*</c:v>
                </c:pt>
                <c:pt idx="7">
                  <c:v>2024*</c:v>
                </c:pt>
                <c:pt idx="8">
                  <c:v>2025*</c:v>
                </c:pt>
                <c:pt idx="9">
                  <c:v>2026*</c:v>
                </c:pt>
                <c:pt idx="10">
                  <c:v>2027*</c:v>
                </c:pt>
              </c:strCache>
            </c:strRef>
          </c:cat>
          <c:val>
            <c:numRef>
              <c:f>Sheet1!$G$2:$G$12</c:f>
              <c:numCache>
                <c:ptCount val="11"/>
                <c:pt idx="0">
                  <c:v>65.65</c:v>
                </c:pt>
                <c:pt idx="1">
                  <c:v>77.22</c:v>
                </c:pt>
                <c:pt idx="2">
                  <c:v>101.26</c:v>
                </c:pt>
                <c:pt idx="3">
                  <c:v>107.94</c:v>
                </c:pt>
                <c:pt idx="4">
                  <c:v>114.83</c:v>
                </c:pt>
                <c:pt idx="5">
                  <c:v>119.39</c:v>
                </c:pt>
                <c:pt idx="6">
                  <c:v>122.39</c:v>
                </c:pt>
                <c:pt idx="7">
                  <c:v>124.39</c:v>
                </c:pt>
                <c:pt idx="8">
                  <c:v>125.78</c:v>
                </c:pt>
                <c:pt idx="9">
                  <c:v>126.81</c:v>
                </c:pt>
                <c:pt idx="10">
                  <c:v>127.6</c:v>
                </c:pt>
              </c:numCache>
            </c:numRef>
          </c:val>
          <c:smooth val="0"/>
        </c:ser>
        <c:ser>
          <c:idx val="6"/>
          <c:order val="6"/>
          <c:tx>
            <c:strRef>
              <c:f>Sheet1!$H$1</c:f>
              <c:strCache>
                <c:ptCount val="1"/>
                <c:pt idx="0">
                  <c:v>TikTok</c:v>
                </c:pt>
              </c:strCache>
            </c:strRef>
          </c:tx>
          <c:spPr>
            <a:ln>
              <a:solidFill>
                <a:srgbClr val="5D2B76"/>
              </a:solidFill>
            </a:ln>
          </c:spPr>
          <c:marker>
            <c:symbol val="circle"/>
            <c:spPr>
              <a:solidFill>
                <a:srgbClr val="5D2B76"/>
              </a:solidFill>
              <a:ln>
                <a:solidFill>
                  <a:srgbClr val="5D2B76"/>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Sheet1!$A$2:$A$12</c:f>
              <c:strCache>
                <c:ptCount val="11"/>
                <c:pt idx="0">
                  <c:v>2017</c:v>
                </c:pt>
                <c:pt idx="1">
                  <c:v>2018</c:v>
                </c:pt>
                <c:pt idx="2">
                  <c:v>2019</c:v>
                </c:pt>
                <c:pt idx="3">
                  <c:v>2020</c:v>
                </c:pt>
                <c:pt idx="4">
                  <c:v>2021</c:v>
                </c:pt>
                <c:pt idx="5">
                  <c:v>2022</c:v>
                </c:pt>
                <c:pt idx="6">
                  <c:v>2023*</c:v>
                </c:pt>
                <c:pt idx="7">
                  <c:v>2024*</c:v>
                </c:pt>
                <c:pt idx="8">
                  <c:v>2025*</c:v>
                </c:pt>
                <c:pt idx="9">
                  <c:v>2026*</c:v>
                </c:pt>
                <c:pt idx="10">
                  <c:v>2027*</c:v>
                </c:pt>
              </c:strCache>
            </c:strRef>
          </c:cat>
          <c:val>
            <c:numRef>
              <c:f>Sheet1!$H$2:$H$12</c:f>
              <c:numCache>
                <c:ptCount val="11"/>
                <c:pt idx="0">
                  <c:v>12.55</c:v>
                </c:pt>
                <c:pt idx="1">
                  <c:v>19.41</c:v>
                </c:pt>
                <c:pt idx="2">
                  <c:v>52.37</c:v>
                </c:pt>
                <c:pt idx="3">
                  <c:v>123.86</c:v>
                </c:pt>
                <c:pt idx="4">
                  <c:v>181.45</c:v>
                </c:pt>
                <c:pt idx="5">
                  <c:v>227.81</c:v>
                </c:pt>
                <c:pt idx="6">
                  <c:v>253.46</c:v>
                </c:pt>
                <c:pt idx="7">
                  <c:v>267.17</c:v>
                </c:pt>
                <c:pt idx="8">
                  <c:v>274.56</c:v>
                </c:pt>
                <c:pt idx="9">
                  <c:v>278.93</c:v>
                </c:pt>
                <c:pt idx="10">
                  <c:v>281.82</c:v>
                </c:pt>
              </c:numCache>
            </c:numRef>
          </c:val>
          <c:smooth val="0"/>
        </c:ser>
        <c:ser>
          <c:idx val="7"/>
          <c:order val="7"/>
          <c:tx>
            <c:strRef>
              <c:f>Sheet1!$I$1</c:f>
              <c:strCache>
                <c:ptCount val="1"/>
                <c:pt idx="0">
                  <c:v>Tumblr</c:v>
                </c:pt>
              </c:strCache>
            </c:strRef>
          </c:tx>
          <c:spPr>
            <a:ln>
              <a:solidFill>
                <a:srgbClr val="C271DA"/>
              </a:solidFill>
            </a:ln>
          </c:spPr>
          <c:marker>
            <c:symbol val="circle"/>
            <c:spPr>
              <a:solidFill>
                <a:srgbClr val="C271DA"/>
              </a:solidFill>
              <a:ln>
                <a:solidFill>
                  <a:srgbClr val="C271DA"/>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Sheet1!$A$2:$A$12</c:f>
              <c:strCache>
                <c:ptCount val="11"/>
                <c:pt idx="0">
                  <c:v>2017</c:v>
                </c:pt>
                <c:pt idx="1">
                  <c:v>2018</c:v>
                </c:pt>
                <c:pt idx="2">
                  <c:v>2019</c:v>
                </c:pt>
                <c:pt idx="3">
                  <c:v>2020</c:v>
                </c:pt>
                <c:pt idx="4">
                  <c:v>2021</c:v>
                </c:pt>
                <c:pt idx="5">
                  <c:v>2022</c:v>
                </c:pt>
                <c:pt idx="6">
                  <c:v>2023*</c:v>
                </c:pt>
                <c:pt idx="7">
                  <c:v>2024*</c:v>
                </c:pt>
                <c:pt idx="8">
                  <c:v>2025*</c:v>
                </c:pt>
                <c:pt idx="9">
                  <c:v>2026*</c:v>
                </c:pt>
                <c:pt idx="10">
                  <c:v>2027*</c:v>
                </c:pt>
              </c:strCache>
            </c:strRef>
          </c:cat>
          <c:val>
            <c:numRef>
              <c:f>Sheet1!$I$2:$I$12</c:f>
              <c:numCache>
                <c:ptCount val="11"/>
                <c:pt idx="0">
                  <c:v>24.35</c:v>
                </c:pt>
                <c:pt idx="1">
                  <c:v>19.79</c:v>
                </c:pt>
                <c:pt idx="2">
                  <c:v>15.54</c:v>
                </c:pt>
                <c:pt idx="3">
                  <c:v>12.35</c:v>
                </c:pt>
                <c:pt idx="4">
                  <c:v>10.05</c:v>
                </c:pt>
                <c:pt idx="5">
                  <c:v>9.2</c:v>
                </c:pt>
                <c:pt idx="6">
                  <c:v>8.96</c:v>
                </c:pt>
                <c:pt idx="7">
                  <c:v>8.95</c:v>
                </c:pt>
                <c:pt idx="8">
                  <c:v>9</c:v>
                </c:pt>
                <c:pt idx="9">
                  <c:v>9.07</c:v>
                </c:pt>
                <c:pt idx="10">
                  <c:v>9.14</c:v>
                </c:pt>
              </c:numCache>
            </c:numRef>
          </c:val>
          <c:smooth val="0"/>
        </c:ser>
        <c:ser>
          <c:idx val="8"/>
          <c:order val="8"/>
          <c:tx>
            <c:strRef>
              <c:f>Sheet1!$J$1</c:f>
              <c:strCache>
                <c:ptCount val="1"/>
                <c:pt idx="0">
                  <c:v>Twitter</c:v>
                </c:pt>
              </c:strCache>
            </c:strRef>
          </c:tx>
          <c:spPr>
            <a:ln>
              <a:solidFill>
                <a:srgbClr val="76A5E3"/>
              </a:solidFill>
            </a:ln>
          </c:spPr>
          <c:marker>
            <c:symbol val="circle"/>
            <c:spPr>
              <a:solidFill>
                <a:srgbClr val="76A5E3"/>
              </a:solidFill>
              <a:ln>
                <a:solidFill>
                  <a:srgbClr val="76A5E3"/>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Sheet1!$A$2:$A$12</c:f>
              <c:strCache>
                <c:ptCount val="11"/>
                <c:pt idx="0">
                  <c:v>2017</c:v>
                </c:pt>
                <c:pt idx="1">
                  <c:v>2018</c:v>
                </c:pt>
                <c:pt idx="2">
                  <c:v>2019</c:v>
                </c:pt>
                <c:pt idx="3">
                  <c:v>2020</c:v>
                </c:pt>
                <c:pt idx="4">
                  <c:v>2021</c:v>
                </c:pt>
                <c:pt idx="5">
                  <c:v>2022</c:v>
                </c:pt>
                <c:pt idx="6">
                  <c:v>2023*</c:v>
                </c:pt>
                <c:pt idx="7">
                  <c:v>2024*</c:v>
                </c:pt>
                <c:pt idx="8">
                  <c:v>2025*</c:v>
                </c:pt>
                <c:pt idx="9">
                  <c:v>2026*</c:v>
                </c:pt>
                <c:pt idx="10">
                  <c:v>2027*</c:v>
                </c:pt>
              </c:strCache>
            </c:strRef>
          </c:cat>
          <c:val>
            <c:numRef>
              <c:f>Sheet1!$J$2:$J$12</c:f>
              <c:numCache>
                <c:ptCount val="11"/>
                <c:pt idx="0">
                  <c:v>73.64</c:v>
                </c:pt>
                <c:pt idx="1">
                  <c:v>69.7</c:v>
                </c:pt>
                <c:pt idx="2">
                  <c:v>70.5</c:v>
                </c:pt>
                <c:pt idx="3">
                  <c:v>78.87</c:v>
                </c:pt>
                <c:pt idx="4">
                  <c:v>84.8</c:v>
                </c:pt>
                <c:pt idx="5">
                  <c:v>84.63</c:v>
                </c:pt>
                <c:pt idx="6">
                  <c:v>87.89</c:v>
                </c:pt>
                <c:pt idx="7">
                  <c:v>90.25</c:v>
                </c:pt>
                <c:pt idx="8">
                  <c:v>92</c:v>
                </c:pt>
                <c:pt idx="9">
                  <c:v>93.32</c:v>
                </c:pt>
                <c:pt idx="10">
                  <c:v>94.35</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users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800" smtId="4294967295"/>
      </a:pPr>
      <a:endParaRPr sz="800" smtId="4294967295"/>
    </a:p>
  </c:txPr>
  <c:externalData r:id="rId1"/>
</c:chartSpace>
</file>

<file path=ppt/charts/chart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Sheet1!$A$2:$A$9</c:f>
              <c:strCache>
                <c:ptCount val="8"/>
                <c:pt idx="0">
                  <c:v>Facebook</c:v>
                </c:pt>
                <c:pt idx="1">
                  <c:v>Instagram</c:v>
                </c:pt>
                <c:pt idx="2">
                  <c:v>Twitter</c:v>
                </c:pt>
                <c:pt idx="3">
                  <c:v>Pinterest</c:v>
                </c:pt>
                <c:pt idx="4">
                  <c:v>YouTube</c:v>
                </c:pt>
                <c:pt idx="5">
                  <c:v>Reddit</c:v>
                </c:pt>
                <c:pt idx="6">
                  <c:v>LinkedIn</c:v>
                </c:pt>
                <c:pt idx="7">
                  <c:v>Tumblr</c:v>
                </c:pt>
              </c:strCache>
            </c:strRef>
          </c:cat>
          <c:val>
            <c:numRef>
              <c:f>Sheet1!$B$2:$B$9</c:f>
              <c:numCache>
                <c:ptCount val="8"/>
                <c:pt idx="0">
                  <c:v>0.7807</c:v>
                </c:pt>
                <c:pt idx="1">
                  <c:v>0.0847</c:v>
                </c:pt>
                <c:pt idx="2">
                  <c:v>0.0564</c:v>
                </c:pt>
                <c:pt idx="3">
                  <c:v>0.0428</c:v>
                </c:pt>
                <c:pt idx="4">
                  <c:v>0.0166</c:v>
                </c:pt>
                <c:pt idx="5">
                  <c:v>0.0074</c:v>
                </c:pt>
                <c:pt idx="6">
                  <c:v>0.004</c:v>
                </c:pt>
                <c:pt idx="7">
                  <c:v>0.0039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2021</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Russia</c:v>
                </c:pt>
                <c:pt idx="1">
                  <c:v>Germany</c:v>
                </c:pt>
                <c:pt idx="2">
                  <c:v>United Kingdom (UK)</c:v>
                </c:pt>
                <c:pt idx="3">
                  <c:v>France</c:v>
                </c:pt>
                <c:pt idx="4">
                  <c:v>Italy</c:v>
                </c:pt>
                <c:pt idx="5">
                  <c:v>Spain</c:v>
                </c:pt>
                <c:pt idx="6">
                  <c:v>Poland</c:v>
                </c:pt>
                <c:pt idx="7">
                  <c:v>Ukraine</c:v>
                </c:pt>
                <c:pt idx="8">
                  <c:v>Netherlands</c:v>
                </c:pt>
                <c:pt idx="9">
                  <c:v>Romania</c:v>
                </c:pt>
                <c:pt idx="10">
                  <c:v>Belgium</c:v>
                </c:pt>
                <c:pt idx="11">
                  <c:v>Sweden</c:v>
                </c:pt>
                <c:pt idx="12">
                  <c:v>Portugal</c:v>
                </c:pt>
                <c:pt idx="13">
                  <c:v>Greece</c:v>
                </c:pt>
                <c:pt idx="14">
                  <c:v>Czech Republic</c:v>
                </c:pt>
              </c:strCache>
            </c:strRef>
          </c:cat>
          <c:val>
            <c:numRef>
              <c:f>Sheet1!$B$2:$B$16</c:f>
              <c:numCache>
                <c:ptCount val="15"/>
                <c:pt idx="0">
                  <c:v>99</c:v>
                </c:pt>
                <c:pt idx="1">
                  <c:v>66</c:v>
                </c:pt>
                <c:pt idx="2">
                  <c:v>53</c:v>
                </c:pt>
                <c:pt idx="3">
                  <c:v>49.6</c:v>
                </c:pt>
                <c:pt idx="4">
                  <c:v>41</c:v>
                </c:pt>
                <c:pt idx="5">
                  <c:v>37.4</c:v>
                </c:pt>
                <c:pt idx="6">
                  <c:v>25.9</c:v>
                </c:pt>
                <c:pt idx="7">
                  <c:v>25.7</c:v>
                </c:pt>
                <c:pt idx="8">
                  <c:v>15.1</c:v>
                </c:pt>
                <c:pt idx="9">
                  <c:v>12</c:v>
                </c:pt>
                <c:pt idx="10">
                  <c:v>8.83</c:v>
                </c:pt>
                <c:pt idx="11">
                  <c:v>8.32</c:v>
                </c:pt>
                <c:pt idx="12">
                  <c:v>7.8</c:v>
                </c:pt>
                <c:pt idx="13">
                  <c:v>7.4</c:v>
                </c:pt>
                <c:pt idx="14">
                  <c:v>7.39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2021</c:v>
                </c:pt>
              </c:strCache>
            </c:strRef>
          </c:tx>
          <c:spPr>
            <a:solidFill>
              <a:srgbClr val="0F283E"/>
            </a:solidFill>
            <a:ln>
              <a:solidFill>
                <a:srgbClr val="0F283E"/>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Sheet1!$A$2:$A$15</c:f>
              <c:strCache>
                <c:ptCount val="14"/>
                <c:pt idx="0">
                  <c:v>Social Media</c:v>
                </c:pt>
                <c:pt idx="1">
                  <c:v>Entertainment</c:v>
                </c:pt>
                <c:pt idx="2">
                  <c:v>Services</c:v>
                </c:pt>
                <c:pt idx="3">
                  <c:v>Games</c:v>
                </c:pt>
                <c:pt idx="4">
                  <c:v>Retail</c:v>
                </c:pt>
                <c:pt idx="5">
                  <c:v>News/Information</c:v>
                </c:pt>
                <c:pt idx="6">
                  <c:v>Search/Navigation</c:v>
                </c:pt>
                <c:pt idx="7">
                  <c:v>Directories/Resources</c:v>
                </c:pt>
                <c:pt idx="8">
                  <c:v>Financial Services</c:v>
                </c:pt>
                <c:pt idx="9">
                  <c:v>Lifestyles</c:v>
                </c:pt>
                <c:pt idx="10">
                  <c:v>Sports</c:v>
                </c:pt>
                <c:pt idx="11">
                  <c:v>Travel</c:v>
                </c:pt>
                <c:pt idx="12">
                  <c:v>Technology</c:v>
                </c:pt>
                <c:pt idx="13">
                  <c:v>Family &amp; Youth</c:v>
                </c:pt>
              </c:strCache>
            </c:strRef>
          </c:cat>
          <c:val>
            <c:numRef>
              <c:f>Sheet1!$B$2:$B$15</c:f>
              <c:numCache>
                <c:ptCount val="14"/>
                <c:pt idx="0">
                  <c:v>0.26</c:v>
                </c:pt>
                <c:pt idx="1">
                  <c:v>0.22</c:v>
                </c:pt>
                <c:pt idx="2">
                  <c:v>0.13</c:v>
                </c:pt>
                <c:pt idx="3">
                  <c:v>0.087</c:v>
                </c:pt>
                <c:pt idx="4">
                  <c:v>0.044</c:v>
                </c:pt>
                <c:pt idx="5">
                  <c:v>0.046</c:v>
                </c:pt>
                <c:pt idx="6">
                  <c:v>0.025</c:v>
                </c:pt>
                <c:pt idx="7">
                  <c:v>0.014</c:v>
                </c:pt>
                <c:pt idx="8">
                  <c:v>0.014</c:v>
                </c:pt>
                <c:pt idx="9">
                  <c:v>0.009</c:v>
                </c:pt>
                <c:pt idx="10">
                  <c:v>0.01</c:v>
                </c:pt>
                <c:pt idx="11">
                  <c:v>0.005</c:v>
                </c:pt>
                <c:pt idx="12">
                  <c:v>0.006</c:v>
                </c:pt>
                <c:pt idx="13">
                  <c:v>0.004</c:v>
                </c:pt>
              </c:numCache>
            </c:numRef>
          </c:val>
        </c:ser>
        <c:ser>
          <c:idx val="1"/>
          <c:order val="1"/>
          <c:tx>
            <c:strRef>
              <c:f>Sheet1!$C$1</c:f>
              <c:strCache>
                <c:ptCount val="1"/>
                <c:pt idx="0">
                  <c:v>2020</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Sheet1!$A$2:$A$15</c:f>
              <c:strCache>
                <c:ptCount val="14"/>
                <c:pt idx="0">
                  <c:v>Social Media</c:v>
                </c:pt>
                <c:pt idx="1">
                  <c:v>Entertainment</c:v>
                </c:pt>
                <c:pt idx="2">
                  <c:v>Services</c:v>
                </c:pt>
                <c:pt idx="3">
                  <c:v>Games</c:v>
                </c:pt>
                <c:pt idx="4">
                  <c:v>Retail</c:v>
                </c:pt>
                <c:pt idx="5">
                  <c:v>News/Information</c:v>
                </c:pt>
                <c:pt idx="6">
                  <c:v>Search/Navigation</c:v>
                </c:pt>
                <c:pt idx="7">
                  <c:v>Directories/Resources</c:v>
                </c:pt>
                <c:pt idx="8">
                  <c:v>Financial Services</c:v>
                </c:pt>
                <c:pt idx="9">
                  <c:v>Lifestyles</c:v>
                </c:pt>
                <c:pt idx="10">
                  <c:v>Sports</c:v>
                </c:pt>
                <c:pt idx="11">
                  <c:v>Travel</c:v>
                </c:pt>
                <c:pt idx="12">
                  <c:v>Technology</c:v>
                </c:pt>
                <c:pt idx="13">
                  <c:v>Family &amp; Youth</c:v>
                </c:pt>
              </c:strCache>
            </c:strRef>
          </c:cat>
          <c:val>
            <c:numRef>
              <c:f>Sheet1!$C$2:$C$15</c:f>
              <c:numCache>
                <c:ptCount val="14"/>
                <c:pt idx="0">
                  <c:v>0.28</c:v>
                </c:pt>
                <c:pt idx="1">
                  <c:v>0.19</c:v>
                </c:pt>
                <c:pt idx="2">
                  <c:v>0.14</c:v>
                </c:pt>
                <c:pt idx="3">
                  <c:v>0.091</c:v>
                </c:pt>
                <c:pt idx="4">
                  <c:v>0.046</c:v>
                </c:pt>
                <c:pt idx="5">
                  <c:v>0.044</c:v>
                </c:pt>
                <c:pt idx="6">
                  <c:v>0.026</c:v>
                </c:pt>
                <c:pt idx="7">
                  <c:v>0.015</c:v>
                </c:pt>
                <c:pt idx="8">
                  <c:v>0.012</c:v>
                </c:pt>
                <c:pt idx="9">
                  <c:v>0.011</c:v>
                </c:pt>
                <c:pt idx="10">
                  <c:v>0.008</c:v>
                </c:pt>
                <c:pt idx="11">
                  <c:v>0.004</c:v>
                </c:pt>
                <c:pt idx="12">
                  <c:v>0.006</c:v>
                </c:pt>
                <c:pt idx="13">
                  <c:v>0.007</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1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Spalte1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Sheet1!$A$2:$A$10</c:f>
              <c:strCache>
                <c:ptCount val="9"/>
                <c:pt idx="0">
                  <c:v>Instant messengers (e.g. WhatsApp, Facebook Messenger, WeChat)</c:v>
                </c:pt>
                <c:pt idx="1">
                  <c:v>Social networks (e.g. Facebook)</c:v>
                </c:pt>
                <c:pt idx="2">
                  <c:v>Media sharing (e.g. Snapchat, Instagram, YouTube, Pinterest)</c:v>
                </c:pt>
                <c:pt idx="3">
                  <c:v>(Micro-)blogging (e.g. Twitter, Tumblr, WordPress)</c:v>
                </c:pt>
                <c:pt idx="4">
                  <c:v>Business networks (e.g. LinkedIn)</c:v>
                </c:pt>
                <c:pt idx="5">
                  <c:v>Consumer review networks (e.g. Yelp, TripAdvisor)</c:v>
                </c:pt>
                <c:pt idx="6">
                  <c:v>Discussion forums (e.g. Reddit, Quora)</c:v>
                </c:pt>
                <c:pt idx="7">
                  <c:v>I do not use social media regularly</c:v>
                </c:pt>
                <c:pt idx="8">
                  <c:v>Other</c:v>
                </c:pt>
              </c:strCache>
            </c:strRef>
          </c:cat>
          <c:val>
            <c:numRef>
              <c:f>Sheet1!$B$2:$B$10</c:f>
              <c:numCache>
                <c:ptCount val="9"/>
                <c:pt idx="0">
                  <c:v>0.72</c:v>
                </c:pt>
                <c:pt idx="1">
                  <c:v>0.68</c:v>
                </c:pt>
                <c:pt idx="2">
                  <c:v>0.6</c:v>
                </c:pt>
                <c:pt idx="3">
                  <c:v>0.28</c:v>
                </c:pt>
                <c:pt idx="4">
                  <c:v>0.2</c:v>
                </c:pt>
                <c:pt idx="5">
                  <c:v>0.2</c:v>
                </c:pt>
                <c:pt idx="6">
                  <c:v>0.17</c:v>
                </c:pt>
                <c:pt idx="7">
                  <c:v>0.05</c:v>
                </c:pt>
                <c:pt idx="8">
                  <c:v>0.02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0.79"/>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Sheet1!$A$2:$A$10</c:f>
              <c:strCache>
                <c:ptCount val="9"/>
                <c:pt idx="0">
                  <c:v>Instant messengers (e.g. WhatsApp, Facebook Messenger, WeChat)</c:v>
                </c:pt>
                <c:pt idx="1">
                  <c:v>Social networks (e.g. Facebook)</c:v>
                </c:pt>
                <c:pt idx="2">
                  <c:v>Media sharing (e.g. Snapchat, Instagram, YouTube, Pinterest)</c:v>
                </c:pt>
                <c:pt idx="3">
                  <c:v>(Micro-)blogging (e.g. Twitter, Tumblr, WordPress)</c:v>
                </c:pt>
                <c:pt idx="4">
                  <c:v>Business networks (e.g. LinkedIn)</c:v>
                </c:pt>
                <c:pt idx="5">
                  <c:v>Consumer review networks (e.g. Yelp, TripAdvisor)</c:v>
                </c:pt>
                <c:pt idx="6">
                  <c:v>Discussion forums (e.g. Reddit, Quora)</c:v>
                </c:pt>
                <c:pt idx="7">
                  <c:v>I do not use social media regularly</c:v>
                </c:pt>
                <c:pt idx="8">
                  <c:v>Other</c:v>
                </c:pt>
              </c:strCache>
            </c:strRef>
          </c:cat>
          <c:val>
            <c:numRef>
              <c:f>Sheet1!$B$2:$B$10</c:f>
              <c:numCache>
                <c:ptCount val="9"/>
                <c:pt idx="0">
                  <c:v>0.68</c:v>
                </c:pt>
                <c:pt idx="1">
                  <c:v>0.61</c:v>
                </c:pt>
                <c:pt idx="2">
                  <c:v>0.59</c:v>
                </c:pt>
                <c:pt idx="3">
                  <c:v>0.16</c:v>
                </c:pt>
                <c:pt idx="4">
                  <c:v>0.15</c:v>
                </c:pt>
                <c:pt idx="5">
                  <c:v>0.12</c:v>
                </c:pt>
                <c:pt idx="6">
                  <c:v>0.11</c:v>
                </c:pt>
                <c:pt idx="7">
                  <c:v>0.08</c:v>
                </c:pt>
                <c:pt idx="8">
                  <c:v>0.05</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0.743"/>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Spalte1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Sheet1!$A$2:$A$10</c:f>
              <c:strCache>
                <c:ptCount val="9"/>
                <c:pt idx="0">
                  <c:v>Social networks (e.g. Facebook)</c:v>
                </c:pt>
                <c:pt idx="1">
                  <c:v>Instant messengers (e.g. WhatsApp, Facebook Messenger, WeChat)</c:v>
                </c:pt>
                <c:pt idx="2">
                  <c:v>Media sharing (e.g. Snapchat, Instagram, YouTube, Pinterest)</c:v>
                </c:pt>
                <c:pt idx="3">
                  <c:v>Business networks (e.g. LinkedIn)</c:v>
                </c:pt>
                <c:pt idx="4">
                  <c:v>(Micro-)blogging (e.g. Twitter, Tumblr, WordPress)</c:v>
                </c:pt>
                <c:pt idx="5">
                  <c:v>Consumer review networks (e.g. Yelp, TripAdvisor)</c:v>
                </c:pt>
                <c:pt idx="6">
                  <c:v>Discussion forums (e.g. Reddit, Quora)</c:v>
                </c:pt>
                <c:pt idx="7">
                  <c:v>I do not use social media regularly</c:v>
                </c:pt>
                <c:pt idx="8">
                  <c:v>Other</c:v>
                </c:pt>
              </c:strCache>
            </c:strRef>
          </c:cat>
          <c:val>
            <c:numRef>
              <c:f>Sheet1!$B$2:$B$10</c:f>
              <c:numCache>
                <c:ptCount val="9"/>
                <c:pt idx="0">
                  <c:v>0.66</c:v>
                </c:pt>
                <c:pt idx="1">
                  <c:v>0.65</c:v>
                </c:pt>
                <c:pt idx="2">
                  <c:v>0.61</c:v>
                </c:pt>
                <c:pt idx="3">
                  <c:v>0.21</c:v>
                </c:pt>
                <c:pt idx="4">
                  <c:v>0.21</c:v>
                </c:pt>
                <c:pt idx="5">
                  <c:v>0.16</c:v>
                </c:pt>
                <c:pt idx="6">
                  <c:v>0.1</c:v>
                </c:pt>
                <c:pt idx="7">
                  <c:v>0.07</c:v>
                </c:pt>
                <c:pt idx="8">
                  <c:v>0.03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0.723"/>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Sheet1!$A$2:$A$10</c:f>
              <c:strCache>
                <c:ptCount val="9"/>
                <c:pt idx="0">
                  <c:v>Instant messengers (e.g. WhatsApp, Facebook Messenger, WeChat)</c:v>
                </c:pt>
                <c:pt idx="1">
                  <c:v>Social networks (e.g. Facebook)</c:v>
                </c:pt>
                <c:pt idx="2">
                  <c:v>Media sharing (e.g. Snapchat, Instagram, YouTube, Pinterest)</c:v>
                </c:pt>
                <c:pt idx="3">
                  <c:v>Consumer review networks (e.g. Yelp, TripAdvisor)</c:v>
                </c:pt>
                <c:pt idx="4">
                  <c:v>Business networks (e.g. LinkedIn)</c:v>
                </c:pt>
                <c:pt idx="5">
                  <c:v>(Micro-)blogging (e.g. Twitter, Tumblr, WordPress)</c:v>
                </c:pt>
                <c:pt idx="6">
                  <c:v>Discussion forums (e.g. Reddit, Quora)</c:v>
                </c:pt>
                <c:pt idx="7">
                  <c:v>I do not use social media regularly</c:v>
                </c:pt>
                <c:pt idx="8">
                  <c:v>Other</c:v>
                </c:pt>
              </c:strCache>
            </c:strRef>
          </c:cat>
          <c:val>
            <c:numRef>
              <c:f>Sheet1!$B$2:$B$10</c:f>
              <c:numCache>
                <c:ptCount val="9"/>
                <c:pt idx="0">
                  <c:v>0.83</c:v>
                </c:pt>
                <c:pt idx="1">
                  <c:v>0.73</c:v>
                </c:pt>
                <c:pt idx="2">
                  <c:v>0.65</c:v>
                </c:pt>
                <c:pt idx="3">
                  <c:v>0.31</c:v>
                </c:pt>
                <c:pt idx="4">
                  <c:v>0.24</c:v>
                </c:pt>
                <c:pt idx="5">
                  <c:v>0.2</c:v>
                </c:pt>
                <c:pt idx="6">
                  <c:v>0.11</c:v>
                </c:pt>
                <c:pt idx="7">
                  <c:v>0.03</c:v>
                </c:pt>
                <c:pt idx="8">
                  <c:v>0.03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1"/>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Sheet1!$A$2:$A$10</c:f>
              <c:strCache>
                <c:ptCount val="9"/>
                <c:pt idx="0">
                  <c:v>Instant messengers (e.g. WhatsApp, Facebook Messenger, WeChat)</c:v>
                </c:pt>
                <c:pt idx="1">
                  <c:v>Media sharing (e.g. Snapchat, Instagram, YouTube, Pinterest)</c:v>
                </c:pt>
                <c:pt idx="2">
                  <c:v>Social networks (e.g. Facebook)</c:v>
                </c:pt>
                <c:pt idx="3">
                  <c:v>(Micro-)blogging (e.g. Twitter, Tumblr, WordPress)</c:v>
                </c:pt>
                <c:pt idx="4">
                  <c:v>Business networks (e.g. LinkedIn)</c:v>
                </c:pt>
                <c:pt idx="5">
                  <c:v>Consumer review networks (e.g. Yelp, TripAdvisor)</c:v>
                </c:pt>
                <c:pt idx="6">
                  <c:v>Discussion forums (e.g. Reddit, Quora)</c:v>
                </c:pt>
                <c:pt idx="7">
                  <c:v>I do not use social media regularly</c:v>
                </c:pt>
                <c:pt idx="8">
                  <c:v>Other</c:v>
                </c:pt>
              </c:strCache>
            </c:strRef>
          </c:cat>
          <c:val>
            <c:numRef>
              <c:f>Sheet1!$B$2:$B$10</c:f>
              <c:numCache>
                <c:ptCount val="9"/>
                <c:pt idx="0">
                  <c:v>0.83</c:v>
                </c:pt>
                <c:pt idx="1">
                  <c:v>0.71</c:v>
                </c:pt>
                <c:pt idx="2">
                  <c:v>0.7</c:v>
                </c:pt>
                <c:pt idx="3">
                  <c:v>0.36</c:v>
                </c:pt>
                <c:pt idx="4">
                  <c:v>0.32</c:v>
                </c:pt>
                <c:pt idx="5">
                  <c:v>0.25</c:v>
                </c:pt>
                <c:pt idx="6">
                  <c:v>0.08</c:v>
                </c:pt>
                <c:pt idx="7">
                  <c:v>0.02</c:v>
                </c:pt>
                <c:pt idx="8">
                  <c:v>0.03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1"/>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Sheet1!$A$2:$A$13</c:f>
              <c:strCache>
                <c:ptCount val="12"/>
                <c:pt idx="0">
                  <c:v>Liked posts by other users</c:v>
                </c:pt>
                <c:pt idx="1">
                  <c:v>Sent private messages</c:v>
                </c:pt>
                <c:pt idx="2">
                  <c:v>Commented on posts</c:v>
                </c:pt>
                <c:pt idx="3">
                  <c:v>Followed people</c:v>
                </c:pt>
                <c:pt idx="4">
                  <c:v>Posted pictures / videos</c:v>
                </c:pt>
                <c:pt idx="5">
                  <c:v>Shared posts by other users</c:v>
                </c:pt>
                <c:pt idx="6">
                  <c:v>Posted texts / status updates</c:v>
                </c:pt>
                <c:pt idx="7">
                  <c:v>Liked company posts</c:v>
                </c:pt>
                <c:pt idx="8">
                  <c:v>Followed companies</c:v>
                </c:pt>
                <c:pt idx="9">
                  <c:v>Shared company posts</c:v>
                </c:pt>
                <c:pt idx="10">
                  <c:v>I have used social media only passively</c:v>
                </c:pt>
                <c:pt idx="11">
                  <c:v>I haven't used social media</c:v>
                </c:pt>
              </c:strCache>
            </c:strRef>
          </c:cat>
          <c:val>
            <c:numRef>
              <c:f>Sheet1!$B$2:$B$13</c:f>
              <c:numCache>
                <c:ptCount val="12"/>
                <c:pt idx="0">
                  <c:v>0.56</c:v>
                </c:pt>
                <c:pt idx="1">
                  <c:v>0.56</c:v>
                </c:pt>
                <c:pt idx="2">
                  <c:v>0.49</c:v>
                </c:pt>
                <c:pt idx="3">
                  <c:v>0.41</c:v>
                </c:pt>
                <c:pt idx="4">
                  <c:v>0.39</c:v>
                </c:pt>
                <c:pt idx="5">
                  <c:v>0.32</c:v>
                </c:pt>
                <c:pt idx="6">
                  <c:v>0.3</c:v>
                </c:pt>
                <c:pt idx="7">
                  <c:v>0.28</c:v>
                </c:pt>
                <c:pt idx="8">
                  <c:v>0.22</c:v>
                </c:pt>
                <c:pt idx="9">
                  <c:v>0.15</c:v>
                </c:pt>
                <c:pt idx="10">
                  <c:v>0.08</c:v>
                </c:pt>
                <c:pt idx="11">
                  <c:v>0.07</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0.609"/>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Sheet1!$A$2:$A$13</c:f>
              <c:strCache>
                <c:ptCount val="12"/>
                <c:pt idx="0">
                  <c:v>Sent private messages</c:v>
                </c:pt>
                <c:pt idx="1">
                  <c:v>Liked posts by other users</c:v>
                </c:pt>
                <c:pt idx="2">
                  <c:v>Commented on posts</c:v>
                </c:pt>
                <c:pt idx="3">
                  <c:v>Followed people</c:v>
                </c:pt>
                <c:pt idx="4">
                  <c:v>Posted pictures / videos</c:v>
                </c:pt>
                <c:pt idx="5">
                  <c:v>Posted texts / status updates</c:v>
                </c:pt>
                <c:pt idx="6">
                  <c:v>Shared posts by other users</c:v>
                </c:pt>
                <c:pt idx="7">
                  <c:v>Liked company posts</c:v>
                </c:pt>
                <c:pt idx="8">
                  <c:v>Followed companies</c:v>
                </c:pt>
                <c:pt idx="9">
                  <c:v>Shared company posts</c:v>
                </c:pt>
                <c:pt idx="10">
                  <c:v>I have used social media only passively</c:v>
                </c:pt>
                <c:pt idx="11">
                  <c:v>I haven't used social media</c:v>
                </c:pt>
              </c:strCache>
            </c:strRef>
          </c:cat>
          <c:val>
            <c:numRef>
              <c:f>Sheet1!$B$2:$B$13</c:f>
              <c:numCache>
                <c:ptCount val="12"/>
                <c:pt idx="0">
                  <c:v>0.56</c:v>
                </c:pt>
                <c:pt idx="1">
                  <c:v>0.43</c:v>
                </c:pt>
                <c:pt idx="2">
                  <c:v>0.41</c:v>
                </c:pt>
                <c:pt idx="3">
                  <c:v>0.4</c:v>
                </c:pt>
                <c:pt idx="4">
                  <c:v>0.36</c:v>
                </c:pt>
                <c:pt idx="5">
                  <c:v>0.3</c:v>
                </c:pt>
                <c:pt idx="6">
                  <c:v>0.27</c:v>
                </c:pt>
                <c:pt idx="7">
                  <c:v>0.19</c:v>
                </c:pt>
                <c:pt idx="8">
                  <c:v>0.16</c:v>
                </c:pt>
                <c:pt idx="9">
                  <c:v>0.1</c:v>
                </c:pt>
                <c:pt idx="10">
                  <c:v>0.11</c:v>
                </c:pt>
                <c:pt idx="11">
                  <c:v>0.08</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0.608"/>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Sheet1!$A$2:$A$13</c:f>
              <c:strCache>
                <c:ptCount val="12"/>
                <c:pt idx="0">
                  <c:v>Sent private messages</c:v>
                </c:pt>
                <c:pt idx="1">
                  <c:v>Liked posts by other users</c:v>
                </c:pt>
                <c:pt idx="2">
                  <c:v>Commented on posts</c:v>
                </c:pt>
                <c:pt idx="3">
                  <c:v>Followed people</c:v>
                </c:pt>
                <c:pt idx="4">
                  <c:v>Posted pictures / videos</c:v>
                </c:pt>
                <c:pt idx="5">
                  <c:v>Shared posts by other users</c:v>
                </c:pt>
                <c:pt idx="6">
                  <c:v>Liked company posts</c:v>
                </c:pt>
                <c:pt idx="7">
                  <c:v>Posted texts / status updates</c:v>
                </c:pt>
                <c:pt idx="8">
                  <c:v>Followed companies</c:v>
                </c:pt>
                <c:pt idx="9">
                  <c:v>Shared company posts</c:v>
                </c:pt>
                <c:pt idx="10">
                  <c:v>I have used social media only passively</c:v>
                </c:pt>
                <c:pt idx="11">
                  <c:v>I haven't used social media</c:v>
                </c:pt>
              </c:strCache>
            </c:strRef>
          </c:cat>
          <c:val>
            <c:numRef>
              <c:f>Sheet1!$B$2:$B$13</c:f>
              <c:numCache>
                <c:ptCount val="12"/>
                <c:pt idx="0">
                  <c:v>0.55</c:v>
                </c:pt>
                <c:pt idx="1">
                  <c:v>0.44</c:v>
                </c:pt>
                <c:pt idx="2">
                  <c:v>0.4</c:v>
                </c:pt>
                <c:pt idx="3">
                  <c:v>0.38</c:v>
                </c:pt>
                <c:pt idx="4">
                  <c:v>0.34</c:v>
                </c:pt>
                <c:pt idx="5">
                  <c:v>0.28</c:v>
                </c:pt>
                <c:pt idx="6">
                  <c:v>0.22</c:v>
                </c:pt>
                <c:pt idx="7">
                  <c:v>0.21</c:v>
                </c:pt>
                <c:pt idx="8">
                  <c:v>0.17</c:v>
                </c:pt>
                <c:pt idx="9">
                  <c:v>0.13</c:v>
                </c:pt>
                <c:pt idx="10">
                  <c:v>0.1</c:v>
                </c:pt>
                <c:pt idx="11">
                  <c:v>0.1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0.595"/>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Sheet1!$A$2:$A$13</c:f>
              <c:strCache>
                <c:ptCount val="12"/>
                <c:pt idx="0">
                  <c:v>Liked posts by other users</c:v>
                </c:pt>
                <c:pt idx="1">
                  <c:v>Sent private messages</c:v>
                </c:pt>
                <c:pt idx="2">
                  <c:v>Posted pictures / videos</c:v>
                </c:pt>
                <c:pt idx="3">
                  <c:v>Commented on posts</c:v>
                </c:pt>
                <c:pt idx="4">
                  <c:v>Followed people</c:v>
                </c:pt>
                <c:pt idx="5">
                  <c:v>Shared posts by other users</c:v>
                </c:pt>
                <c:pt idx="6">
                  <c:v>Liked company posts</c:v>
                </c:pt>
                <c:pt idx="7">
                  <c:v>Posted texts / status updates</c:v>
                </c:pt>
                <c:pt idx="8">
                  <c:v>Followed companies</c:v>
                </c:pt>
                <c:pt idx="9">
                  <c:v>Shared company posts</c:v>
                </c:pt>
                <c:pt idx="10">
                  <c:v>I have used social media only passively</c:v>
                </c:pt>
                <c:pt idx="11">
                  <c:v>I haven't used social media</c:v>
                </c:pt>
              </c:strCache>
            </c:strRef>
          </c:cat>
          <c:val>
            <c:numRef>
              <c:f>Sheet1!$B$2:$B$13</c:f>
              <c:numCache>
                <c:ptCount val="12"/>
                <c:pt idx="0">
                  <c:v>0.62</c:v>
                </c:pt>
                <c:pt idx="1">
                  <c:v>0.6</c:v>
                </c:pt>
                <c:pt idx="2">
                  <c:v>0.5</c:v>
                </c:pt>
                <c:pt idx="3">
                  <c:v>0.45</c:v>
                </c:pt>
                <c:pt idx="4">
                  <c:v>0.42</c:v>
                </c:pt>
                <c:pt idx="5">
                  <c:v>0.32</c:v>
                </c:pt>
                <c:pt idx="6">
                  <c:v>0.27</c:v>
                </c:pt>
                <c:pt idx="7">
                  <c:v>0.22</c:v>
                </c:pt>
                <c:pt idx="8">
                  <c:v>0.19</c:v>
                </c:pt>
                <c:pt idx="9">
                  <c:v>0.1</c:v>
                </c:pt>
                <c:pt idx="10">
                  <c:v>0.09</c:v>
                </c:pt>
                <c:pt idx="11">
                  <c:v>0.05</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0.677"/>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Sheet1!$A$2:$A$13</c:f>
              <c:strCache>
                <c:ptCount val="12"/>
                <c:pt idx="0">
                  <c:v>Sent private messages</c:v>
                </c:pt>
                <c:pt idx="1">
                  <c:v>Liked posts by other users</c:v>
                </c:pt>
                <c:pt idx="2">
                  <c:v>Followed people</c:v>
                </c:pt>
                <c:pt idx="3">
                  <c:v>Posted pictures / videos</c:v>
                </c:pt>
                <c:pt idx="4">
                  <c:v>Commented on posts</c:v>
                </c:pt>
                <c:pt idx="5">
                  <c:v>Shared posts by other users</c:v>
                </c:pt>
                <c:pt idx="6">
                  <c:v>Liked company posts</c:v>
                </c:pt>
                <c:pt idx="7">
                  <c:v>Posted texts / status updates</c:v>
                </c:pt>
                <c:pt idx="8">
                  <c:v>Followed companies</c:v>
                </c:pt>
                <c:pt idx="9">
                  <c:v>Shared company posts</c:v>
                </c:pt>
                <c:pt idx="10">
                  <c:v>I have used social media only passively</c:v>
                </c:pt>
                <c:pt idx="11">
                  <c:v>I haven't used social media</c:v>
                </c:pt>
              </c:strCache>
            </c:strRef>
          </c:cat>
          <c:val>
            <c:numRef>
              <c:f>Sheet1!$B$2:$B$13</c:f>
              <c:numCache>
                <c:ptCount val="12"/>
                <c:pt idx="0">
                  <c:v>0.59</c:v>
                </c:pt>
                <c:pt idx="1">
                  <c:v>0.58</c:v>
                </c:pt>
                <c:pt idx="2">
                  <c:v>0.52</c:v>
                </c:pt>
                <c:pt idx="3">
                  <c:v>0.47</c:v>
                </c:pt>
                <c:pt idx="4">
                  <c:v>0.45</c:v>
                </c:pt>
                <c:pt idx="5">
                  <c:v>0.37</c:v>
                </c:pt>
                <c:pt idx="6">
                  <c:v>0.32</c:v>
                </c:pt>
                <c:pt idx="7">
                  <c:v>0.27</c:v>
                </c:pt>
                <c:pt idx="8">
                  <c:v>0.22</c:v>
                </c:pt>
                <c:pt idx="9">
                  <c:v>0.16</c:v>
                </c:pt>
                <c:pt idx="10">
                  <c:v>0.1</c:v>
                </c:pt>
                <c:pt idx="11">
                  <c:v>0.05</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0.644"/>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Keeping in touch with friends and family</c:v>
                </c:pt>
                <c:pt idx="1">
                  <c:v>Filling spare time</c:v>
                </c:pt>
                <c:pt idx="2">
                  <c:v>Reading news stories</c:v>
                </c:pt>
                <c:pt idx="3">
                  <c:v>Finding inspiration for things to do and buy</c:v>
                </c:pt>
                <c:pt idx="4">
                  <c:v>Seeing what's being talked about</c:v>
                </c:pt>
                <c:pt idx="5">
                  <c:v>Finding content (e.g. videos)</c:v>
                </c:pt>
                <c:pt idx="6">
                  <c:v>Posting about your life</c:v>
                </c:pt>
                <c:pt idx="7">
                  <c:v>Finding like-minded communities</c:v>
                </c:pt>
                <c:pt idx="8">
                  <c:v>Sharing and discussing opinions</c:v>
                </c:pt>
                <c:pt idx="9">
                  <c:v>Watching or following sports</c:v>
                </c:pt>
                <c:pt idx="10">
                  <c:v>Seeing content from brands</c:v>
                </c:pt>
                <c:pt idx="11">
                  <c:v>Avoiding missing out on things (FOMO)</c:v>
                </c:pt>
                <c:pt idx="12">
                  <c:v>Finding products to purchase</c:v>
                </c:pt>
                <c:pt idx="13">
                  <c:v>Following celebrities or influencers</c:v>
                </c:pt>
                <c:pt idx="14">
                  <c:v>Watching live streams</c:v>
                </c:pt>
              </c:strCache>
            </c:strRef>
          </c:cat>
          <c:val>
            <c:numRef>
              <c:f>Sheet1!$B$2:$B$16</c:f>
              <c:numCache>
                <c:ptCount val="15"/>
                <c:pt idx="0">
                  <c:v>0.531</c:v>
                </c:pt>
                <c:pt idx="1">
                  <c:v>0.367</c:v>
                </c:pt>
                <c:pt idx="2">
                  <c:v>0.268</c:v>
                </c:pt>
                <c:pt idx="3">
                  <c:v>0.222</c:v>
                </c:pt>
                <c:pt idx="4">
                  <c:v>0.221</c:v>
                </c:pt>
                <c:pt idx="5">
                  <c:v>0.217</c:v>
                </c:pt>
                <c:pt idx="6">
                  <c:v>0.187</c:v>
                </c:pt>
                <c:pt idx="7">
                  <c:v>0.178</c:v>
                </c:pt>
                <c:pt idx="8">
                  <c:v>0.164</c:v>
                </c:pt>
                <c:pt idx="9">
                  <c:v>0.163</c:v>
                </c:pt>
                <c:pt idx="10">
                  <c:v>0.16</c:v>
                </c:pt>
                <c:pt idx="11">
                  <c:v>0.159</c:v>
                </c:pt>
                <c:pt idx="12">
                  <c:v>0.152</c:v>
                </c:pt>
                <c:pt idx="13">
                  <c:v>0.15</c:v>
                </c:pt>
                <c:pt idx="14">
                  <c:v>0.145</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0.5696"/>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Keeping in touch with friends and family</c:v>
                </c:pt>
                <c:pt idx="1">
                  <c:v>Reading news stories</c:v>
                </c:pt>
                <c:pt idx="2">
                  <c:v>Filling spare time</c:v>
                </c:pt>
                <c:pt idx="3">
                  <c:v>Finding content (e.g. videos)</c:v>
                </c:pt>
                <c:pt idx="4">
                  <c:v>Find inspiration for things to do and buy</c:v>
                </c:pt>
                <c:pt idx="5">
                  <c:v>Finding products to purchase</c:v>
                </c:pt>
                <c:pt idx="6">
                  <c:v>Seeing what's being talked about</c:v>
                </c:pt>
                <c:pt idx="7">
                  <c:v>Finding like-minded communities</c:v>
                </c:pt>
                <c:pt idx="8">
                  <c:v>Making new contacts</c:v>
                </c:pt>
                <c:pt idx="9">
                  <c:v>Sharing and discussing opinions</c:v>
                </c:pt>
                <c:pt idx="10">
                  <c:v>Posting about your life</c:v>
                </c:pt>
                <c:pt idx="11">
                  <c:v>Avoiding missing out (FOMO)</c:v>
                </c:pt>
                <c:pt idx="12">
                  <c:v>Following celebrities and influencers</c:v>
                </c:pt>
                <c:pt idx="13">
                  <c:v>Watching for following sports</c:v>
                </c:pt>
                <c:pt idx="14">
                  <c:v>Seeing content from brands</c:v>
                </c:pt>
              </c:strCache>
            </c:strRef>
          </c:cat>
          <c:val>
            <c:numRef>
              <c:f>Sheet1!$B$2:$B$16</c:f>
              <c:numCache>
                <c:ptCount val="15"/>
                <c:pt idx="0">
                  <c:v>0.457</c:v>
                </c:pt>
                <c:pt idx="1">
                  <c:v>0.379</c:v>
                </c:pt>
                <c:pt idx="2">
                  <c:v>0.316</c:v>
                </c:pt>
                <c:pt idx="3">
                  <c:v>0.262</c:v>
                </c:pt>
                <c:pt idx="4">
                  <c:v>0.245</c:v>
                </c:pt>
                <c:pt idx="5">
                  <c:v>0.191</c:v>
                </c:pt>
                <c:pt idx="6">
                  <c:v>0.189</c:v>
                </c:pt>
                <c:pt idx="7">
                  <c:v>0.186</c:v>
                </c:pt>
                <c:pt idx="8">
                  <c:v>0.179</c:v>
                </c:pt>
                <c:pt idx="9">
                  <c:v>0.175</c:v>
                </c:pt>
                <c:pt idx="10">
                  <c:v>0.159</c:v>
                </c:pt>
                <c:pt idx="11">
                  <c:v>0.154</c:v>
                </c:pt>
                <c:pt idx="12">
                  <c:v>0.149</c:v>
                </c:pt>
                <c:pt idx="13">
                  <c:v>0.141</c:v>
                </c:pt>
                <c:pt idx="14">
                  <c:v>0.125</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0.4902"/>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Keeping in touch with friends and family</c:v>
                </c:pt>
                <c:pt idx="1">
                  <c:v>Filling spare time</c:v>
                </c:pt>
                <c:pt idx="2">
                  <c:v>Reading news stories</c:v>
                </c:pt>
                <c:pt idx="3">
                  <c:v>Finding content</c:v>
                </c:pt>
                <c:pt idx="4">
                  <c:v>Sharing opinions</c:v>
                </c:pt>
                <c:pt idx="5">
                  <c:v>Looking for things to do or buy</c:v>
                </c:pt>
                <c:pt idx="6">
                  <c:v>Seeing what's being talked about</c:v>
                </c:pt>
                <c:pt idx="7">
                  <c:v>Finding like-minded people</c:v>
                </c:pt>
                <c:pt idx="8">
                  <c:v>Celebrities or influencers</c:v>
                </c:pt>
                <c:pt idx="9">
                  <c:v>Posting about your life</c:v>
                </c:pt>
                <c:pt idx="10">
                  <c:v>Making new contacts</c:v>
                </c:pt>
                <c:pt idx="11">
                  <c:v>Following sports</c:v>
                </c:pt>
                <c:pt idx="12">
                  <c:v>Finding products to purchase</c:v>
                </c:pt>
                <c:pt idx="13">
                  <c:v>Finding content from brands</c:v>
                </c:pt>
                <c:pt idx="14">
                  <c:v>Avoiding missing out on things (FOMO)</c:v>
                </c:pt>
              </c:strCache>
            </c:strRef>
          </c:cat>
          <c:val>
            <c:numRef>
              <c:f>Sheet1!$B$2:$B$16</c:f>
              <c:numCache>
                <c:ptCount val="15"/>
                <c:pt idx="0">
                  <c:v>0.541</c:v>
                </c:pt>
                <c:pt idx="1">
                  <c:v>0.419</c:v>
                </c:pt>
                <c:pt idx="2">
                  <c:v>0.298</c:v>
                </c:pt>
                <c:pt idx="3">
                  <c:v>0.224</c:v>
                </c:pt>
                <c:pt idx="4">
                  <c:v>0.216</c:v>
                </c:pt>
                <c:pt idx="5">
                  <c:v>0.214</c:v>
                </c:pt>
                <c:pt idx="6">
                  <c:v>0.199</c:v>
                </c:pt>
                <c:pt idx="7">
                  <c:v>0.178</c:v>
                </c:pt>
                <c:pt idx="8">
                  <c:v>0.158</c:v>
                </c:pt>
                <c:pt idx="9">
                  <c:v>0.157</c:v>
                </c:pt>
                <c:pt idx="10">
                  <c:v>0.151</c:v>
                </c:pt>
                <c:pt idx="11">
                  <c:v>0.149</c:v>
                </c:pt>
                <c:pt idx="12">
                  <c:v>0.142</c:v>
                </c:pt>
                <c:pt idx="13">
                  <c:v>0.14</c:v>
                </c:pt>
                <c:pt idx="14">
                  <c:v>0.117</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0.5834"/>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Reading news stories</c:v>
                </c:pt>
                <c:pt idx="1">
                  <c:v>Filling spare time</c:v>
                </c:pt>
                <c:pt idx="2">
                  <c:v>Keeping in touch with friends and family</c:v>
                </c:pt>
                <c:pt idx="3">
                  <c:v>Finding inspiration for things to do and buy</c:v>
                </c:pt>
                <c:pt idx="4">
                  <c:v>Finding content (e.g. video)</c:v>
                </c:pt>
                <c:pt idx="5">
                  <c:v>Finding products to purchase</c:v>
                </c:pt>
                <c:pt idx="6">
                  <c:v>Posting about your life</c:v>
                </c:pt>
                <c:pt idx="7">
                  <c:v>Finding like-minded communities</c:v>
                </c:pt>
                <c:pt idx="8">
                  <c:v>Seeing what's being talked about</c:v>
                </c:pt>
                <c:pt idx="9">
                  <c:v>Sharing and discussing opinions</c:v>
                </c:pt>
                <c:pt idx="10">
                  <c:v>Avoiding missing out (FOMO)</c:v>
                </c:pt>
                <c:pt idx="11">
                  <c:v>Whatching live streams</c:v>
                </c:pt>
                <c:pt idx="12">
                  <c:v>Following celebrities or influencers</c:v>
                </c:pt>
                <c:pt idx="13">
                  <c:v>Seeing content from brands</c:v>
                </c:pt>
                <c:pt idx="14">
                  <c:v>Whatching or following sports</c:v>
                </c:pt>
              </c:strCache>
            </c:strRef>
          </c:cat>
          <c:val>
            <c:numRef>
              <c:f>Sheet1!$B$2:$B$16</c:f>
              <c:numCache>
                <c:ptCount val="15"/>
                <c:pt idx="0">
                  <c:v>0.48</c:v>
                </c:pt>
                <c:pt idx="1">
                  <c:v>0.468</c:v>
                </c:pt>
                <c:pt idx="2">
                  <c:v>0.461</c:v>
                </c:pt>
                <c:pt idx="3">
                  <c:v>0.298</c:v>
                </c:pt>
                <c:pt idx="4">
                  <c:v>0.283</c:v>
                </c:pt>
                <c:pt idx="5">
                  <c:v>0.208</c:v>
                </c:pt>
                <c:pt idx="6">
                  <c:v>0.2</c:v>
                </c:pt>
                <c:pt idx="7">
                  <c:v>0.199</c:v>
                </c:pt>
                <c:pt idx="8">
                  <c:v>0.199</c:v>
                </c:pt>
                <c:pt idx="9">
                  <c:v>0.188</c:v>
                </c:pt>
                <c:pt idx="10">
                  <c:v>0.186</c:v>
                </c:pt>
                <c:pt idx="11">
                  <c:v>0.165</c:v>
                </c:pt>
                <c:pt idx="12">
                  <c:v>0.165</c:v>
                </c:pt>
                <c:pt idx="13">
                  <c:v>0.16</c:v>
                </c:pt>
                <c:pt idx="14">
                  <c:v>0.149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Keeping in touch with friends and family</c:v>
                </c:pt>
                <c:pt idx="1">
                  <c:v>Filling spare time</c:v>
                </c:pt>
                <c:pt idx="2">
                  <c:v>Reading news stories</c:v>
                </c:pt>
                <c:pt idx="3">
                  <c:v>Finding content</c:v>
                </c:pt>
                <c:pt idx="4">
                  <c:v>Looking for things to do or buy</c:v>
                </c:pt>
                <c:pt idx="5">
                  <c:v>Seeing what's being talked about</c:v>
                </c:pt>
                <c:pt idx="6">
                  <c:v>Finding like-minded people</c:v>
                </c:pt>
                <c:pt idx="7">
                  <c:v>Finding products to purchase</c:v>
                </c:pt>
                <c:pt idx="8">
                  <c:v>Finding content from brands</c:v>
                </c:pt>
                <c:pt idx="9">
                  <c:v>Sharing opinions</c:v>
                </c:pt>
                <c:pt idx="10">
                  <c:v>Celebrities or influencers</c:v>
                </c:pt>
                <c:pt idx="11">
                  <c:v>Making new contacts</c:v>
                </c:pt>
                <c:pt idx="12">
                  <c:v>Following sports</c:v>
                </c:pt>
                <c:pt idx="13">
                  <c:v>Posting about your life</c:v>
                </c:pt>
                <c:pt idx="14">
                  <c:v>Live streams</c:v>
                </c:pt>
              </c:strCache>
            </c:strRef>
          </c:cat>
          <c:val>
            <c:numRef>
              <c:f>Sheet1!$B$2:$B$16</c:f>
              <c:numCache>
                <c:ptCount val="15"/>
                <c:pt idx="0">
                  <c:v>0.512</c:v>
                </c:pt>
                <c:pt idx="1">
                  <c:v>0.455</c:v>
                </c:pt>
                <c:pt idx="2">
                  <c:v>0.432</c:v>
                </c:pt>
                <c:pt idx="3">
                  <c:v>0.308</c:v>
                </c:pt>
                <c:pt idx="4">
                  <c:v>0.29</c:v>
                </c:pt>
                <c:pt idx="5">
                  <c:v>0.267</c:v>
                </c:pt>
                <c:pt idx="6">
                  <c:v>0.233</c:v>
                </c:pt>
                <c:pt idx="7">
                  <c:v>0.221</c:v>
                </c:pt>
                <c:pt idx="8">
                  <c:v>0.206</c:v>
                </c:pt>
                <c:pt idx="9">
                  <c:v>0.198</c:v>
                </c:pt>
                <c:pt idx="10">
                  <c:v>0.176</c:v>
                </c:pt>
                <c:pt idx="11">
                  <c:v>0.176</c:v>
                </c:pt>
                <c:pt idx="12">
                  <c:v>0.176</c:v>
                </c:pt>
                <c:pt idx="13">
                  <c:v>0.162</c:v>
                </c:pt>
                <c:pt idx="14">
                  <c:v>0.15</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Sheet1!$A$2:$A$4</c:f>
              <c:strCache>
                <c:ptCount val="3"/>
                <c:pt idx="0">
                  <c:v>Cooking meals that are trending on social media</c:v>
                </c:pt>
                <c:pt idx="1">
                  <c:v>Posting photos of food on social media</c:v>
                </c:pt>
                <c:pt idx="2">
                  <c:v>Finding recipes on social media</c:v>
                </c:pt>
              </c:strCache>
            </c:strRef>
          </c:cat>
          <c:val>
            <c:numRef>
              <c:f>Sheet1!$B$2:$B$4</c:f>
              <c:numCache>
                <c:ptCount val="3"/>
                <c:pt idx="0">
                  <c:v>0.56</c:v>
                </c:pt>
                <c:pt idx="1">
                  <c:v>0.47</c:v>
                </c:pt>
                <c:pt idx="2">
                  <c:v>0.29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stacked"/>
        <c:varyColors val="0"/>
        <c:ser>
          <c:idx val="0"/>
          <c:order val="0"/>
          <c:tx>
            <c:strRef>
              <c:f>Sheet1!$B$1</c:f>
              <c:strCache>
                <c:ptCount val="1"/>
                <c:pt idx="0">
                  <c:v>Using same/less</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7"/>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8"/>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9"/>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Sheet1!$A$2:$A$15</c:f>
              <c:strCache>
                <c:ptCount val="14"/>
                <c:pt idx="0">
                  <c:v>Online streaming</c:v>
                </c:pt>
                <c:pt idx="1">
                  <c:v>Social media</c:v>
                </c:pt>
                <c:pt idx="2">
                  <c:v>Cooked regularly for myself/my family</c:v>
                </c:pt>
                <c:pt idx="3">
                  <c:v>Video chat: personal</c:v>
                </c:pt>
                <c:pt idx="4">
                  <c:v>Watching e-sports</c:v>
                </c:pt>
                <c:pt idx="5">
                  <c:v>Tiktok</c:v>
                </c:pt>
                <c:pt idx="6">
                  <c:v>Personal care/grooming at home</c:v>
                </c:pt>
                <c:pt idx="7">
                  <c:v>Videoconferencing: professional</c:v>
                </c:pt>
                <c:pt idx="8">
                  <c:v>Playing online games</c:v>
                </c:pt>
                <c:pt idx="9">
                  <c:v>Remote learning: myself</c:v>
                </c:pt>
                <c:pt idx="10">
                  <c:v>Online fitness</c:v>
                </c:pt>
                <c:pt idx="11">
                  <c:v>Wellness app</c:v>
                </c:pt>
                <c:pt idx="12">
                  <c:v>Remote learning: my children</c:v>
                </c:pt>
                <c:pt idx="13">
                  <c:v>Telemedicine: physical</c:v>
                </c:pt>
              </c:strCache>
            </c:strRef>
          </c:cat>
          <c:val>
            <c:numRef>
              <c:f>Sheet1!$B$2:$B$15</c:f>
              <c:numCache>
                <c:ptCount val="14"/>
                <c:pt idx="0">
                  <c:v>0.15</c:v>
                </c:pt>
                <c:pt idx="1">
                  <c:v>0.25</c:v>
                </c:pt>
                <c:pt idx="2">
                  <c:v>0.22</c:v>
                </c:pt>
                <c:pt idx="3">
                  <c:v>0.02</c:v>
                </c:pt>
                <c:pt idx="4">
                  <c:v>0.07</c:v>
                </c:pt>
                <c:pt idx="5">
                  <c:v>0.05</c:v>
                </c:pt>
                <c:pt idx="6">
                  <c:v>0.08</c:v>
                </c:pt>
                <c:pt idx="7">
                  <c:v>0.01</c:v>
                </c:pt>
                <c:pt idx="8">
                  <c:v>0.07</c:v>
                </c:pt>
                <c:pt idx="9">
                  <c:v>0.02</c:v>
                </c:pt>
                <c:pt idx="10">
                  <c:v>0.02</c:v>
                </c:pt>
                <c:pt idx="11">
                  <c:v>0.02</c:v>
                </c:pt>
                <c:pt idx="12">
                  <c:v>0.01</c:v>
                </c:pt>
                <c:pt idx="13">
                  <c:v>0.01</c:v>
                </c:pt>
              </c:numCache>
            </c:numRef>
          </c:val>
        </c:ser>
        <c:ser>
          <c:idx val="1"/>
          <c:order val="1"/>
          <c:tx>
            <c:strRef>
              <c:f>Sheet1!$C$1</c:f>
              <c:strCache>
                <c:ptCount val="1"/>
                <c:pt idx="0">
                  <c:v>Using more</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7"/>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8"/>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9"/>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Sheet1!$A$2:$A$15</c:f>
              <c:strCache>
                <c:ptCount val="14"/>
                <c:pt idx="0">
                  <c:v>Online streaming</c:v>
                </c:pt>
                <c:pt idx="1">
                  <c:v>Social media</c:v>
                </c:pt>
                <c:pt idx="2">
                  <c:v>Cooked regularly for myself/my family</c:v>
                </c:pt>
                <c:pt idx="3">
                  <c:v>Video chat: personal</c:v>
                </c:pt>
                <c:pt idx="4">
                  <c:v>Watching e-sports</c:v>
                </c:pt>
                <c:pt idx="5">
                  <c:v>Tiktok</c:v>
                </c:pt>
                <c:pt idx="6">
                  <c:v>Personal care/grooming at home</c:v>
                </c:pt>
                <c:pt idx="7">
                  <c:v>Videoconferencing: professional</c:v>
                </c:pt>
                <c:pt idx="8">
                  <c:v>Playing online games</c:v>
                </c:pt>
                <c:pt idx="9">
                  <c:v>Remote learning: myself</c:v>
                </c:pt>
                <c:pt idx="10">
                  <c:v>Online fitness</c:v>
                </c:pt>
                <c:pt idx="11">
                  <c:v>Wellness app</c:v>
                </c:pt>
                <c:pt idx="12">
                  <c:v>Remote learning: my children</c:v>
                </c:pt>
                <c:pt idx="13">
                  <c:v>Telemedicine: physical</c:v>
                </c:pt>
              </c:strCache>
            </c:strRef>
          </c:cat>
          <c:val>
            <c:numRef>
              <c:f>Sheet1!$C$2:$C$15</c:f>
              <c:numCache>
                <c:ptCount val="14"/>
                <c:pt idx="0">
                  <c:v>0.41</c:v>
                </c:pt>
                <c:pt idx="1">
                  <c:v>0.35</c:v>
                </c:pt>
                <c:pt idx="2">
                  <c:v>0.31</c:v>
                </c:pt>
                <c:pt idx="3">
                  <c:v>0.14</c:v>
                </c:pt>
                <c:pt idx="4">
                  <c:v>0.12</c:v>
                </c:pt>
                <c:pt idx="5">
                  <c:v>0.12</c:v>
                </c:pt>
                <c:pt idx="6">
                  <c:v>0.12</c:v>
                </c:pt>
                <c:pt idx="7">
                  <c:v>0.11</c:v>
                </c:pt>
                <c:pt idx="8">
                  <c:v>0.11</c:v>
                </c:pt>
                <c:pt idx="9">
                  <c:v>0.06</c:v>
                </c:pt>
                <c:pt idx="10">
                  <c:v>0.06</c:v>
                </c:pt>
                <c:pt idx="11">
                  <c:v>0.05</c:v>
                </c:pt>
                <c:pt idx="12">
                  <c:v>0.05</c:v>
                </c:pt>
                <c:pt idx="13">
                  <c:v>0.03</c:v>
                </c:pt>
              </c:numCache>
            </c:numRef>
          </c:val>
        </c:ser>
        <c:ser>
          <c:idx val="2"/>
          <c:order val="2"/>
          <c:tx>
            <c:strRef>
              <c:f>Sheet1!$D$1</c:f>
              <c:strCache>
                <c:ptCount val="1"/>
                <c:pt idx="0">
                  <c:v>Just started using</c:v>
                </c:pt>
              </c:strCache>
            </c:strRef>
          </c:tx>
          <c:spPr>
            <a:solidFill>
              <a:srgbClr val="BABABA"/>
            </a:solidFill>
            <a:ln>
              <a:solidFill>
                <a:srgbClr val="BABABA"/>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6"/>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7"/>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8"/>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9"/>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Sheet1!$A$2:$A$15</c:f>
              <c:strCache>
                <c:ptCount val="14"/>
                <c:pt idx="0">
                  <c:v>Online streaming</c:v>
                </c:pt>
                <c:pt idx="1">
                  <c:v>Social media</c:v>
                </c:pt>
                <c:pt idx="2">
                  <c:v>Cooked regularly for myself/my family</c:v>
                </c:pt>
                <c:pt idx="3">
                  <c:v>Video chat: personal</c:v>
                </c:pt>
                <c:pt idx="4">
                  <c:v>Watching e-sports</c:v>
                </c:pt>
                <c:pt idx="5">
                  <c:v>Tiktok</c:v>
                </c:pt>
                <c:pt idx="6">
                  <c:v>Personal care/grooming at home</c:v>
                </c:pt>
                <c:pt idx="7">
                  <c:v>Videoconferencing: professional</c:v>
                </c:pt>
                <c:pt idx="8">
                  <c:v>Playing online games</c:v>
                </c:pt>
                <c:pt idx="9">
                  <c:v>Remote learning: myself</c:v>
                </c:pt>
                <c:pt idx="10">
                  <c:v>Online fitness</c:v>
                </c:pt>
                <c:pt idx="11">
                  <c:v>Wellness app</c:v>
                </c:pt>
                <c:pt idx="12">
                  <c:v>Remote learning: my children</c:v>
                </c:pt>
                <c:pt idx="13">
                  <c:v>Telemedicine: physical</c:v>
                </c:pt>
              </c:strCache>
            </c:strRef>
          </c:cat>
          <c:val>
            <c:numRef>
              <c:f>Sheet1!$D$2:$D$15</c:f>
              <c:numCache>
                <c:ptCount val="14"/>
                <c:pt idx="0">
                  <c:v>0.05</c:v>
                </c:pt>
                <c:pt idx="1">
                  <c:v>0.02</c:v>
                </c:pt>
                <c:pt idx="2">
                  <c:v>0.04</c:v>
                </c:pt>
                <c:pt idx="3">
                  <c:v>0.08</c:v>
                </c:pt>
                <c:pt idx="4">
                  <c:v>0.01</c:v>
                </c:pt>
                <c:pt idx="5">
                  <c:v>0.07</c:v>
                </c:pt>
                <c:pt idx="6">
                  <c:v>0.07</c:v>
                </c:pt>
                <c:pt idx="7">
                  <c:v>0.11</c:v>
                </c:pt>
                <c:pt idx="8">
                  <c:v>0.02</c:v>
                </c:pt>
                <c:pt idx="9">
                  <c:v>0.06</c:v>
                </c:pt>
                <c:pt idx="10">
                  <c:v>0.05</c:v>
                </c:pt>
                <c:pt idx="11">
                  <c:v>0.04</c:v>
                </c:pt>
                <c:pt idx="12">
                  <c:v>0.07</c:v>
                </c:pt>
                <c:pt idx="13">
                  <c:v>0.03</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Sheet1!$A$2:$A$5</c:f>
              <c:strCache>
                <c:ptCount val="4"/>
                <c:pt idx="0">
                  <c:v>Use voice assistants (e.g. Siri, Google assistant) to find information each week</c:v>
                </c:pt>
                <c:pt idx="1">
                  <c:v>Visit social networks to look for information about brands and products</c:v>
                </c:pt>
                <c:pt idx="2">
                  <c:v>Use image recognition tools (e.g. Google Lens, Pinterest Lens) on mobile each month</c:v>
                </c:pt>
                <c:pt idx="3">
                  <c:v>Use online tools to translate text into different languages each week</c:v>
                </c:pt>
              </c:strCache>
            </c:strRef>
          </c:cat>
          <c:val>
            <c:numRef>
              <c:f>Sheet1!$B$2:$B$5</c:f>
              <c:numCache>
                <c:ptCount val="4"/>
                <c:pt idx="0">
                  <c:v>0.371</c:v>
                </c:pt>
                <c:pt idx="1">
                  <c:v>0.31</c:v>
                </c:pt>
                <c:pt idx="2">
                  <c:v>0.236</c:v>
                </c:pt>
                <c:pt idx="3">
                  <c:v>0.29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Friends, family and people you know</c:v>
                </c:pt>
                <c:pt idx="1">
                  <c:v>Bands, singers and musicians</c:v>
                </c:pt>
                <c:pt idx="2">
                  <c:v>Entertainment and memes</c:v>
                </c:pt>
                <c:pt idx="3">
                  <c:v>Actors, comedians and performers</c:v>
                </c:pt>
                <c:pt idx="4">
                  <c:v>Influencers and experts</c:v>
                </c:pt>
                <c:pt idx="5">
                  <c:v>Restaurants, chefs and foodies</c:v>
                </c:pt>
                <c:pt idx="6">
                  <c:v>Brands you buy from</c:v>
                </c:pt>
                <c:pt idx="7">
                  <c:v>Work-related contacts</c:v>
                </c:pt>
                <c:pt idx="8">
                  <c:v>Sports people and teams</c:v>
                </c:pt>
                <c:pt idx="9">
                  <c:v>TV showes or channels</c:v>
                </c:pt>
                <c:pt idx="10">
                  <c:v>Brands you're researching</c:v>
                </c:pt>
                <c:pt idx="11">
                  <c:v>Journalists or news companies</c:v>
                </c:pt>
                <c:pt idx="12">
                  <c:v>Publications you read</c:v>
                </c:pt>
                <c:pt idx="13">
                  <c:v>Work-related companies</c:v>
                </c:pt>
                <c:pt idx="14">
                  <c:v>Beauty experts</c:v>
                </c:pt>
              </c:strCache>
            </c:strRef>
          </c:cat>
          <c:val>
            <c:numRef>
              <c:f>Sheet1!$B$2:$B$16</c:f>
              <c:numCache>
                <c:ptCount val="15"/>
                <c:pt idx="0">
                  <c:v>0.599</c:v>
                </c:pt>
                <c:pt idx="1">
                  <c:v>0.33</c:v>
                </c:pt>
                <c:pt idx="2">
                  <c:v>0.285</c:v>
                </c:pt>
                <c:pt idx="3">
                  <c:v>0.279</c:v>
                </c:pt>
                <c:pt idx="4">
                  <c:v>0.251</c:v>
                </c:pt>
                <c:pt idx="5">
                  <c:v>0.247</c:v>
                </c:pt>
                <c:pt idx="6">
                  <c:v>0.244</c:v>
                </c:pt>
                <c:pt idx="7">
                  <c:v>0.217</c:v>
                </c:pt>
                <c:pt idx="8">
                  <c:v>0.216</c:v>
                </c:pt>
                <c:pt idx="9">
                  <c:v>0.213</c:v>
                </c:pt>
                <c:pt idx="10">
                  <c:v>0.206</c:v>
                </c:pt>
                <c:pt idx="11">
                  <c:v>0.193</c:v>
                </c:pt>
                <c:pt idx="12">
                  <c:v>0.192</c:v>
                </c:pt>
                <c:pt idx="13">
                  <c:v>0.177</c:v>
                </c:pt>
                <c:pt idx="14">
                  <c:v>0.155</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data</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Sheet1!$A$2:$A$12</c:f>
              <c:numCache>
                <c:formatCode>General</c:formatCode>
                <c:ptCount val="11"/>
                <c:pt idx="0">
                  <c:v>2017</c:v>
                </c:pt>
                <c:pt idx="1">
                  <c:v>2018</c:v>
                </c:pt>
                <c:pt idx="2">
                  <c:v>2019</c:v>
                </c:pt>
                <c:pt idx="3">
                  <c:v>2020</c:v>
                </c:pt>
                <c:pt idx="4">
                  <c:v>2021</c:v>
                </c:pt>
                <c:pt idx="5">
                  <c:v>2022</c:v>
                </c:pt>
                <c:pt idx="6">
                  <c:v>2023</c:v>
                </c:pt>
                <c:pt idx="7">
                  <c:v>2024</c:v>
                </c:pt>
                <c:pt idx="8">
                  <c:v>2025</c:v>
                </c:pt>
                <c:pt idx="9">
                  <c:v>2026</c:v>
                </c:pt>
                <c:pt idx="10">
                  <c:v>2027</c:v>
                </c:pt>
              </c:numCache>
            </c:numRef>
          </c:cat>
          <c:val>
            <c:numRef>
              <c:f>Sheet1!$B$2:$B$12</c:f>
              <c:numCache>
                <c:ptCount val="11"/>
                <c:pt idx="0">
                  <c:v>1581.57</c:v>
                </c:pt>
                <c:pt idx="1">
                  <c:v>1795.37</c:v>
                </c:pt>
                <c:pt idx="2">
                  <c:v>1994.52</c:v>
                </c:pt>
                <c:pt idx="3">
                  <c:v>2368.92</c:v>
                </c:pt>
                <c:pt idx="4">
                  <c:v>2561.64</c:v>
                </c:pt>
                <c:pt idx="5">
                  <c:v>2605.87</c:v>
                </c:pt>
                <c:pt idx="6">
                  <c:v>2722.05</c:v>
                </c:pt>
                <c:pt idx="7">
                  <c:v>2829.72</c:v>
                </c:pt>
                <c:pt idx="8">
                  <c:v>2930.28</c:v>
                </c:pt>
                <c:pt idx="9">
                  <c:v>3024.56</c:v>
                </c:pt>
                <c:pt idx="10">
                  <c:v>3113.01</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100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users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Pt>
            <c:idx val="5"/>
            <c:invertIfNegative val="0"/>
            <c:spPr>
              <a:solidFill>
                <a:srgbClr val="C0C0C0"/>
              </a:solidFill>
            </c:spPr>
          </c:dPt>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Sheet1!$A$2:$A$9</c:f>
              <c:strCache>
                <c:ptCount val="8"/>
                <c:pt idx="0">
                  <c:v>North America</c:v>
                </c:pt>
                <c:pt idx="1">
                  <c:v>Latin America / Caribbean</c:v>
                </c:pt>
                <c:pt idx="2">
                  <c:v>Europe</c:v>
                </c:pt>
                <c:pt idx="3">
                  <c:v>Oceania / Australia</c:v>
                </c:pt>
                <c:pt idx="4">
                  <c:v>Middle East</c:v>
                </c:pt>
                <c:pt idx="5">
                  <c:v>Worldwide</c:v>
                </c:pt>
                <c:pt idx="6">
                  <c:v>Asia*</c:v>
                </c:pt>
                <c:pt idx="7">
                  <c:v>Africa</c:v>
                </c:pt>
              </c:strCache>
            </c:strRef>
          </c:cat>
          <c:val>
            <c:numRef>
              <c:f>Sheet1!$B$2:$B$9</c:f>
              <c:numCache>
                <c:ptCount val="8"/>
                <c:pt idx="0">
                  <c:v>0.823</c:v>
                </c:pt>
                <c:pt idx="1">
                  <c:v>0.778</c:v>
                </c:pt>
                <c:pt idx="2">
                  <c:v>0.676</c:v>
                </c:pt>
                <c:pt idx="3">
                  <c:v>0.656</c:v>
                </c:pt>
                <c:pt idx="4">
                  <c:v>0.573</c:v>
                </c:pt>
                <c:pt idx="5">
                  <c:v>0.398</c:v>
                </c:pt>
                <c:pt idx="6">
                  <c:v>0.248</c:v>
                </c:pt>
                <c:pt idx="7">
                  <c:v>0.2083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Russia</c:v>
                </c:pt>
                <c:pt idx="1">
                  <c:v>Turkey</c:v>
                </c:pt>
                <c:pt idx="2">
                  <c:v>United Kingdom</c:v>
                </c:pt>
                <c:pt idx="3">
                  <c:v>Germany</c:v>
                </c:pt>
                <c:pt idx="4">
                  <c:v>France</c:v>
                </c:pt>
                <c:pt idx="5">
                  <c:v>Italy</c:v>
                </c:pt>
                <c:pt idx="6">
                  <c:v>Spain</c:v>
                </c:pt>
                <c:pt idx="7">
                  <c:v>Ukraine</c:v>
                </c:pt>
                <c:pt idx="8">
                  <c:v>Poland</c:v>
                </c:pt>
                <c:pt idx="9">
                  <c:v>Netherlands</c:v>
                </c:pt>
                <c:pt idx="10">
                  <c:v>Romania</c:v>
                </c:pt>
                <c:pt idx="11">
                  <c:v>Belgium</c:v>
                </c:pt>
                <c:pt idx="12">
                  <c:v>Sweden</c:v>
                </c:pt>
                <c:pt idx="13">
                  <c:v>Portugal</c:v>
                </c:pt>
                <c:pt idx="14">
                  <c:v>Greece</c:v>
                </c:pt>
              </c:strCache>
            </c:strRef>
          </c:cat>
          <c:val>
            <c:numRef>
              <c:f>Sheet1!$B$2:$B$16</c:f>
              <c:numCache>
                <c:ptCount val="15"/>
                <c:pt idx="0">
                  <c:v>61.13</c:v>
                </c:pt>
                <c:pt idx="1">
                  <c:v>57.88</c:v>
                </c:pt>
                <c:pt idx="2">
                  <c:v>46.58</c:v>
                </c:pt>
                <c:pt idx="3">
                  <c:v>43.09</c:v>
                </c:pt>
                <c:pt idx="4">
                  <c:v>41.32</c:v>
                </c:pt>
                <c:pt idx="5">
                  <c:v>38.42</c:v>
                </c:pt>
                <c:pt idx="6">
                  <c:v>31.87</c:v>
                </c:pt>
                <c:pt idx="7">
                  <c:v>24.6</c:v>
                </c:pt>
                <c:pt idx="8">
                  <c:v>21.76</c:v>
                </c:pt>
                <c:pt idx="9">
                  <c:v>11.83</c:v>
                </c:pt>
                <c:pt idx="10">
                  <c:v>11.57</c:v>
                </c:pt>
                <c:pt idx="11">
                  <c:v>7.83</c:v>
                </c:pt>
                <c:pt idx="12">
                  <c:v>7.4</c:v>
                </c:pt>
                <c:pt idx="13">
                  <c:v>7</c:v>
                </c:pt>
                <c:pt idx="14">
                  <c:v>6.68</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Sheet1!$A$2:$A$42</c:f>
              <c:strCache>
                <c:ptCount val="41"/>
                <c:pt idx="0">
                  <c:v>Q4 2012</c:v>
                </c:pt>
                <c:pt idx="1">
                  <c:v>Q1 2013</c:v>
                </c:pt>
                <c:pt idx="2">
                  <c:v>Q2 2013</c:v>
                </c:pt>
                <c:pt idx="3">
                  <c:v>Q3 2013</c:v>
                </c:pt>
                <c:pt idx="4">
                  <c:v>Q4 2013</c:v>
                </c:pt>
                <c:pt idx="5">
                  <c:v>Q1 2014</c:v>
                </c:pt>
                <c:pt idx="6">
                  <c:v>Q2 2014</c:v>
                </c:pt>
                <c:pt idx="7">
                  <c:v>Q3 2014</c:v>
                </c:pt>
                <c:pt idx="8">
                  <c:v>Q4 2014</c:v>
                </c:pt>
                <c:pt idx="9">
                  <c:v>Q1 2015</c:v>
                </c:pt>
                <c:pt idx="10">
                  <c:v>Q2 2015</c:v>
                </c:pt>
                <c:pt idx="11">
                  <c:v>Q3 2015</c:v>
                </c:pt>
                <c:pt idx="12">
                  <c:v>Q4 2015</c:v>
                </c:pt>
                <c:pt idx="13">
                  <c:v>Q1 2016</c:v>
                </c:pt>
                <c:pt idx="14">
                  <c:v>Q2 2016</c:v>
                </c:pt>
                <c:pt idx="15">
                  <c:v>Q3 2016</c:v>
                </c:pt>
                <c:pt idx="16">
                  <c:v>Q4 2016</c:v>
                </c:pt>
                <c:pt idx="17">
                  <c:v>Q1 2017</c:v>
                </c:pt>
                <c:pt idx="18">
                  <c:v>Q2 2017</c:v>
                </c:pt>
                <c:pt idx="19">
                  <c:v>Q3 2017</c:v>
                </c:pt>
                <c:pt idx="20">
                  <c:v>Q4 2017</c:v>
                </c:pt>
                <c:pt idx="21">
                  <c:v>Q1 2018</c:v>
                </c:pt>
                <c:pt idx="22">
                  <c:v>Q2 2018</c:v>
                </c:pt>
                <c:pt idx="23">
                  <c:v>Q3 2018</c:v>
                </c:pt>
                <c:pt idx="24">
                  <c:v>Q4 2018</c:v>
                </c:pt>
                <c:pt idx="25">
                  <c:v>Q1 2019</c:v>
                </c:pt>
                <c:pt idx="26">
                  <c:v>Q2 2019</c:v>
                </c:pt>
                <c:pt idx="27">
                  <c:v>Q3 2019</c:v>
                </c:pt>
                <c:pt idx="28">
                  <c:v>Q4 2019</c:v>
                </c:pt>
                <c:pt idx="29">
                  <c:v>Q1 2020</c:v>
                </c:pt>
                <c:pt idx="30">
                  <c:v>Q2 2020</c:v>
                </c:pt>
                <c:pt idx="31">
                  <c:v>Q3 2020</c:v>
                </c:pt>
                <c:pt idx="32">
                  <c:v>Q4 2020</c:v>
                </c:pt>
                <c:pt idx="33">
                  <c:v>Q1 2021</c:v>
                </c:pt>
                <c:pt idx="34">
                  <c:v>Q2 2021</c:v>
                </c:pt>
                <c:pt idx="35">
                  <c:v>Q3 2021</c:v>
                </c:pt>
                <c:pt idx="36">
                  <c:v>Q4 2021</c:v>
                </c:pt>
                <c:pt idx="37">
                  <c:v>Q1 2022</c:v>
                </c:pt>
                <c:pt idx="38">
                  <c:v>Q2 2022</c:v>
                </c:pt>
                <c:pt idx="39">
                  <c:v>Q3 2022</c:v>
                </c:pt>
                <c:pt idx="40">
                  <c:v>Q4 2022</c:v>
                </c:pt>
              </c:strCache>
            </c:strRef>
          </c:cat>
          <c:val>
            <c:numRef>
              <c:f>Sheet1!$B$2:$B$42</c:f>
              <c:numCache>
                <c:ptCount val="41"/>
                <c:pt idx="0">
                  <c:v>261</c:v>
                </c:pt>
                <c:pt idx="1">
                  <c:v>269</c:v>
                </c:pt>
                <c:pt idx="2">
                  <c:v>272</c:v>
                </c:pt>
                <c:pt idx="3">
                  <c:v>276</c:v>
                </c:pt>
                <c:pt idx="4">
                  <c:v>282</c:v>
                </c:pt>
                <c:pt idx="5">
                  <c:v>289</c:v>
                </c:pt>
                <c:pt idx="6">
                  <c:v>292</c:v>
                </c:pt>
                <c:pt idx="7">
                  <c:v>296</c:v>
                </c:pt>
                <c:pt idx="8">
                  <c:v>301</c:v>
                </c:pt>
                <c:pt idx="9">
                  <c:v>307</c:v>
                </c:pt>
                <c:pt idx="10">
                  <c:v>311</c:v>
                </c:pt>
                <c:pt idx="11">
                  <c:v>315</c:v>
                </c:pt>
                <c:pt idx="12">
                  <c:v>323</c:v>
                </c:pt>
                <c:pt idx="13">
                  <c:v>333</c:v>
                </c:pt>
                <c:pt idx="14">
                  <c:v>338</c:v>
                </c:pt>
                <c:pt idx="15">
                  <c:v>342</c:v>
                </c:pt>
                <c:pt idx="16">
                  <c:v>349</c:v>
                </c:pt>
                <c:pt idx="17">
                  <c:v>354</c:v>
                </c:pt>
                <c:pt idx="18">
                  <c:v>360</c:v>
                </c:pt>
                <c:pt idx="19">
                  <c:v>364</c:v>
                </c:pt>
                <c:pt idx="20">
                  <c:v>370</c:v>
                </c:pt>
                <c:pt idx="21">
                  <c:v>377</c:v>
                </c:pt>
                <c:pt idx="22">
                  <c:v>376</c:v>
                </c:pt>
                <c:pt idx="23">
                  <c:v>375</c:v>
                </c:pt>
                <c:pt idx="24">
                  <c:v>381</c:v>
                </c:pt>
                <c:pt idx="25">
                  <c:v>384</c:v>
                </c:pt>
                <c:pt idx="26">
                  <c:v>385</c:v>
                </c:pt>
                <c:pt idx="27">
                  <c:v>387</c:v>
                </c:pt>
                <c:pt idx="28">
                  <c:v>394</c:v>
                </c:pt>
                <c:pt idx="29">
                  <c:v>406</c:v>
                </c:pt>
                <c:pt idx="30">
                  <c:v>410</c:v>
                </c:pt>
                <c:pt idx="31">
                  <c:v>413</c:v>
                </c:pt>
                <c:pt idx="32">
                  <c:v>419</c:v>
                </c:pt>
                <c:pt idx="33">
                  <c:v>423</c:v>
                </c:pt>
                <c:pt idx="34">
                  <c:v>420</c:v>
                </c:pt>
                <c:pt idx="35">
                  <c:v>423</c:v>
                </c:pt>
                <c:pt idx="36">
                  <c:v>427</c:v>
                </c:pt>
                <c:pt idx="37">
                  <c:v>418</c:v>
                </c:pt>
                <c:pt idx="38">
                  <c:v>407</c:v>
                </c:pt>
                <c:pt idx="39">
                  <c:v>408</c:v>
                </c:pt>
                <c:pt idx="40">
                  <c:v>407</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20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monthly active users (MAU)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Sheet1!$A$2:$A$42</c:f>
              <c:strCache>
                <c:ptCount val="41"/>
                <c:pt idx="0">
                  <c:v>Q4 2012</c:v>
                </c:pt>
                <c:pt idx="1">
                  <c:v>Q1 2013</c:v>
                </c:pt>
                <c:pt idx="2">
                  <c:v>Q2 2013</c:v>
                </c:pt>
                <c:pt idx="3">
                  <c:v>Q3 2013</c:v>
                </c:pt>
                <c:pt idx="4">
                  <c:v>Q4 2013</c:v>
                </c:pt>
                <c:pt idx="5">
                  <c:v>Q1 2014</c:v>
                </c:pt>
                <c:pt idx="6">
                  <c:v>Q2 2014</c:v>
                </c:pt>
                <c:pt idx="7">
                  <c:v>Q3 2014</c:v>
                </c:pt>
                <c:pt idx="8">
                  <c:v>Q4 2014</c:v>
                </c:pt>
                <c:pt idx="9">
                  <c:v>Q1 2015</c:v>
                </c:pt>
                <c:pt idx="10">
                  <c:v>Q2 2015</c:v>
                </c:pt>
                <c:pt idx="11">
                  <c:v>Q3 2015</c:v>
                </c:pt>
                <c:pt idx="12">
                  <c:v>Q4 2015</c:v>
                </c:pt>
                <c:pt idx="13">
                  <c:v>Q1 2016</c:v>
                </c:pt>
                <c:pt idx="14">
                  <c:v>Q2 2016</c:v>
                </c:pt>
                <c:pt idx="15">
                  <c:v>Q3 2016</c:v>
                </c:pt>
                <c:pt idx="16">
                  <c:v>Q4 2016</c:v>
                </c:pt>
                <c:pt idx="17">
                  <c:v>Q1 2017</c:v>
                </c:pt>
                <c:pt idx="18">
                  <c:v>Q2 2017</c:v>
                </c:pt>
                <c:pt idx="19">
                  <c:v>Q3 2017</c:v>
                </c:pt>
                <c:pt idx="20">
                  <c:v>Q4 2017</c:v>
                </c:pt>
                <c:pt idx="21">
                  <c:v>Q1 2018</c:v>
                </c:pt>
                <c:pt idx="22">
                  <c:v>Q2 2018</c:v>
                </c:pt>
                <c:pt idx="23">
                  <c:v>Q3 2018</c:v>
                </c:pt>
                <c:pt idx="24">
                  <c:v>Q4 2018</c:v>
                </c:pt>
                <c:pt idx="25">
                  <c:v>Q1 2019</c:v>
                </c:pt>
                <c:pt idx="26">
                  <c:v>Q2 2019</c:v>
                </c:pt>
                <c:pt idx="27">
                  <c:v>Q3 2019</c:v>
                </c:pt>
                <c:pt idx="28">
                  <c:v>Q4 2019</c:v>
                </c:pt>
                <c:pt idx="29">
                  <c:v>Q1 2020</c:v>
                </c:pt>
                <c:pt idx="30">
                  <c:v>Q2 2020</c:v>
                </c:pt>
                <c:pt idx="31">
                  <c:v>Q3 2020</c:v>
                </c:pt>
                <c:pt idx="32">
                  <c:v>Q4 2020</c:v>
                </c:pt>
                <c:pt idx="33">
                  <c:v>Q1 2021</c:v>
                </c:pt>
                <c:pt idx="34">
                  <c:v>Q2 2021</c:v>
                </c:pt>
                <c:pt idx="35">
                  <c:v>Q3 2021</c:v>
                </c:pt>
                <c:pt idx="36">
                  <c:v>Q4 2021</c:v>
                </c:pt>
                <c:pt idx="37">
                  <c:v>Q1 2022</c:v>
                </c:pt>
                <c:pt idx="38">
                  <c:v>Q2 2022</c:v>
                </c:pt>
                <c:pt idx="39">
                  <c:v>Q3 2022</c:v>
                </c:pt>
                <c:pt idx="40">
                  <c:v>Q4 2022</c:v>
                </c:pt>
              </c:strCache>
            </c:strRef>
          </c:cat>
          <c:val>
            <c:numRef>
              <c:f>Sheet1!$B$2:$B$42</c:f>
              <c:numCache>
                <c:ptCount val="41"/>
                <c:pt idx="0">
                  <c:v>169</c:v>
                </c:pt>
                <c:pt idx="1">
                  <c:v>179</c:v>
                </c:pt>
                <c:pt idx="2">
                  <c:v>182</c:v>
                </c:pt>
                <c:pt idx="3">
                  <c:v>188</c:v>
                </c:pt>
                <c:pt idx="4">
                  <c:v>195</c:v>
                </c:pt>
                <c:pt idx="5">
                  <c:v>203</c:v>
                </c:pt>
                <c:pt idx="6">
                  <c:v>206</c:v>
                </c:pt>
                <c:pt idx="7">
                  <c:v>212</c:v>
                </c:pt>
                <c:pt idx="8">
                  <c:v>217</c:v>
                </c:pt>
                <c:pt idx="9">
                  <c:v>225</c:v>
                </c:pt>
                <c:pt idx="10">
                  <c:v>228</c:v>
                </c:pt>
                <c:pt idx="11">
                  <c:v>233</c:v>
                </c:pt>
                <c:pt idx="12">
                  <c:v>240</c:v>
                </c:pt>
                <c:pt idx="13">
                  <c:v>249</c:v>
                </c:pt>
                <c:pt idx="14">
                  <c:v>252</c:v>
                </c:pt>
                <c:pt idx="15">
                  <c:v>256</c:v>
                </c:pt>
                <c:pt idx="16">
                  <c:v>262</c:v>
                </c:pt>
                <c:pt idx="17">
                  <c:v>267</c:v>
                </c:pt>
                <c:pt idx="18">
                  <c:v>271</c:v>
                </c:pt>
                <c:pt idx="19">
                  <c:v>274</c:v>
                </c:pt>
                <c:pt idx="20">
                  <c:v>277</c:v>
                </c:pt>
                <c:pt idx="21">
                  <c:v>282</c:v>
                </c:pt>
                <c:pt idx="22">
                  <c:v>279</c:v>
                </c:pt>
                <c:pt idx="23">
                  <c:v>278</c:v>
                </c:pt>
                <c:pt idx="24">
                  <c:v>282</c:v>
                </c:pt>
                <c:pt idx="25">
                  <c:v>286</c:v>
                </c:pt>
                <c:pt idx="26">
                  <c:v>286</c:v>
                </c:pt>
                <c:pt idx="27">
                  <c:v>288</c:v>
                </c:pt>
                <c:pt idx="28">
                  <c:v>294</c:v>
                </c:pt>
                <c:pt idx="29">
                  <c:v>305</c:v>
                </c:pt>
                <c:pt idx="30">
                  <c:v>305</c:v>
                </c:pt>
                <c:pt idx="31">
                  <c:v>305</c:v>
                </c:pt>
                <c:pt idx="32">
                  <c:v>308</c:v>
                </c:pt>
                <c:pt idx="33">
                  <c:v>309</c:v>
                </c:pt>
                <c:pt idx="34">
                  <c:v>307</c:v>
                </c:pt>
                <c:pt idx="35">
                  <c:v>308</c:v>
                </c:pt>
                <c:pt idx="36">
                  <c:v>309</c:v>
                </c:pt>
                <c:pt idx="37">
                  <c:v>307</c:v>
                </c:pt>
                <c:pt idx="38">
                  <c:v>303</c:v>
                </c:pt>
                <c:pt idx="39">
                  <c:v>303</c:v>
                </c:pt>
                <c:pt idx="40">
                  <c:v>304</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daily active users (DAU)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Advertising revenue</c:v>
                </c:pt>
              </c:strCache>
            </c:strRef>
          </c:tx>
          <c:spPr>
            <a:ln>
              <a:solidFill>
                <a:srgbClr val="2875DD"/>
              </a:solidFill>
            </a:ln>
          </c:spPr>
          <c:marker>
            <c:symbol val="circle"/>
            <c:spPr>
              <a:solidFill>
                <a:srgbClr val="2875DD"/>
              </a:solidFill>
              <a:ln>
                <a:solidFill>
                  <a:srgbClr val="2875DD"/>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Sheet1!$A$2:$A$48</c:f>
              <c:strCache>
                <c:ptCount val="47"/>
                <c:pt idx="0">
                  <c:v>Q1 '10</c:v>
                </c:pt>
                <c:pt idx="1">
                  <c:v>Q2 '10</c:v>
                </c:pt>
                <c:pt idx="2">
                  <c:v>Q3 '10</c:v>
                </c:pt>
                <c:pt idx="3">
                  <c:v>Q4 '10</c:v>
                </c:pt>
                <c:pt idx="4">
                  <c:v>Q1 '11</c:v>
                </c:pt>
                <c:pt idx="5">
                  <c:v>Q2 '11</c:v>
                </c:pt>
                <c:pt idx="6">
                  <c:v>Q3 '11</c:v>
                </c:pt>
                <c:pt idx="7">
                  <c:v>Q4 '11</c:v>
                </c:pt>
                <c:pt idx="8">
                  <c:v>Q1 '12</c:v>
                </c:pt>
                <c:pt idx="9">
                  <c:v>Q2 '12</c:v>
                </c:pt>
                <c:pt idx="10">
                  <c:v>Q3 '12</c:v>
                </c:pt>
                <c:pt idx="11">
                  <c:v>Q4 '12</c:v>
                </c:pt>
                <c:pt idx="12">
                  <c:v>Q1 '13</c:v>
                </c:pt>
                <c:pt idx="13">
                  <c:v>Q2 '13</c:v>
                </c:pt>
                <c:pt idx="14">
                  <c:v>Q3 '13</c:v>
                </c:pt>
                <c:pt idx="15">
                  <c:v>Q4 '13</c:v>
                </c:pt>
                <c:pt idx="16">
                  <c:v>Q1 '14</c:v>
                </c:pt>
                <c:pt idx="17">
                  <c:v>Q2 '14</c:v>
                </c:pt>
                <c:pt idx="18">
                  <c:v>Q3 '14</c:v>
                </c:pt>
                <c:pt idx="19">
                  <c:v>Q4 '14</c:v>
                </c:pt>
                <c:pt idx="20">
                  <c:v>Q1 '15</c:v>
                </c:pt>
                <c:pt idx="21">
                  <c:v>Q2 '15</c:v>
                </c:pt>
                <c:pt idx="22">
                  <c:v>Q3 '15</c:v>
                </c:pt>
                <c:pt idx="23">
                  <c:v>Q4 '15</c:v>
                </c:pt>
                <c:pt idx="24">
                  <c:v>Q1 '16</c:v>
                </c:pt>
                <c:pt idx="25">
                  <c:v>Q2 '16</c:v>
                </c:pt>
                <c:pt idx="26">
                  <c:v>Q3 '16</c:v>
                </c:pt>
                <c:pt idx="27">
                  <c:v>Q4 '16</c:v>
                </c:pt>
                <c:pt idx="28">
                  <c:v>Q1 '17</c:v>
                </c:pt>
                <c:pt idx="29">
                  <c:v>Q2 '17</c:v>
                </c:pt>
                <c:pt idx="30">
                  <c:v>Q3 '17</c:v>
                </c:pt>
                <c:pt idx="31">
                  <c:v>Q4 '17</c:v>
                </c:pt>
                <c:pt idx="32">
                  <c:v>Q1 '18</c:v>
                </c:pt>
                <c:pt idx="33">
                  <c:v>Q2 '18</c:v>
                </c:pt>
                <c:pt idx="34">
                  <c:v>Q3 '18</c:v>
                </c:pt>
                <c:pt idx="35">
                  <c:v>Q4 '18</c:v>
                </c:pt>
                <c:pt idx="36">
                  <c:v>Q1 '19</c:v>
                </c:pt>
                <c:pt idx="37">
                  <c:v>Q2 '19</c:v>
                </c:pt>
                <c:pt idx="38">
                  <c:v>Q3 '19</c:v>
                </c:pt>
                <c:pt idx="39">
                  <c:v>Q4 '19</c:v>
                </c:pt>
                <c:pt idx="40">
                  <c:v>Q1 '20</c:v>
                </c:pt>
                <c:pt idx="41">
                  <c:v>Q2 '20</c:v>
                </c:pt>
                <c:pt idx="42">
                  <c:v>Q3 '20</c:v>
                </c:pt>
                <c:pt idx="43">
                  <c:v>Q4 '20</c:v>
                </c:pt>
                <c:pt idx="44">
                  <c:v>Q1 '21</c:v>
                </c:pt>
                <c:pt idx="45">
                  <c:v>Q2 '21</c:v>
                </c:pt>
                <c:pt idx="46">
                  <c:v>Q3 '21</c:v>
                </c:pt>
              </c:strCache>
            </c:strRef>
          </c:cat>
          <c:val>
            <c:numRef>
              <c:f>Sheet1!$B$2:$B$48</c:f>
              <c:numCache>
                <c:ptCount val="47"/>
                <c:pt idx="0">
                  <c:v>96</c:v>
                </c:pt>
                <c:pt idx="1">
                  <c:v>128</c:v>
                </c:pt>
                <c:pt idx="2">
                  <c:v>130</c:v>
                </c:pt>
                <c:pt idx="3">
                  <c:v>201</c:v>
                </c:pt>
                <c:pt idx="4">
                  <c:v>206</c:v>
                </c:pt>
                <c:pt idx="5">
                  <c:v>245</c:v>
                </c:pt>
                <c:pt idx="6">
                  <c:v>245</c:v>
                </c:pt>
                <c:pt idx="7">
                  <c:v>306</c:v>
                </c:pt>
                <c:pt idx="8">
                  <c:v>274</c:v>
                </c:pt>
                <c:pt idx="9">
                  <c:v>294</c:v>
                </c:pt>
                <c:pt idx="10">
                  <c:v>295</c:v>
                </c:pt>
                <c:pt idx="11">
                  <c:v>374</c:v>
                </c:pt>
                <c:pt idx="12">
                  <c:v>367</c:v>
                </c:pt>
                <c:pt idx="13">
                  <c:v>451</c:v>
                </c:pt>
                <c:pt idx="14">
                  <c:v>482</c:v>
                </c:pt>
                <c:pt idx="15">
                  <c:v>658</c:v>
                </c:pt>
                <c:pt idx="16">
                  <c:v>631</c:v>
                </c:pt>
                <c:pt idx="17">
                  <c:v>757</c:v>
                </c:pt>
                <c:pt idx="18">
                  <c:v>783</c:v>
                </c:pt>
                <c:pt idx="19">
                  <c:v>960</c:v>
                </c:pt>
                <c:pt idx="20">
                  <c:v>855</c:v>
                </c:pt>
                <c:pt idx="21">
                  <c:v>987</c:v>
                </c:pt>
                <c:pt idx="22">
                  <c:v>1041</c:v>
                </c:pt>
                <c:pt idx="23">
                  <c:v>1413</c:v>
                </c:pt>
                <c:pt idx="24">
                  <c:v>1270</c:v>
                </c:pt>
                <c:pt idx="25">
                  <c:v>1545</c:v>
                </c:pt>
                <c:pt idx="26">
                  <c:v>1563</c:v>
                </c:pt>
                <c:pt idx="27">
                  <c:v>2025</c:v>
                </c:pt>
                <c:pt idx="28">
                  <c:v>1869</c:v>
                </c:pt>
                <c:pt idx="29">
                  <c:v>2209</c:v>
                </c:pt>
                <c:pt idx="30">
                  <c:v>2434</c:v>
                </c:pt>
                <c:pt idx="31">
                  <c:v>3196</c:v>
                </c:pt>
                <c:pt idx="32">
                  <c:v>2992</c:v>
                </c:pt>
                <c:pt idx="33">
                  <c:v>3247</c:v>
                </c:pt>
                <c:pt idx="34">
                  <c:v>3266</c:v>
                </c:pt>
                <c:pt idx="35">
                  <c:v>4087</c:v>
                </c:pt>
                <c:pt idx="36">
                  <c:v>3609</c:v>
                </c:pt>
                <c:pt idx="37">
                  <c:v>4043</c:v>
                </c:pt>
                <c:pt idx="38">
                  <c:v>4057</c:v>
                </c:pt>
                <c:pt idx="39">
                  <c:v>5071</c:v>
                </c:pt>
                <c:pt idx="40">
                  <c:v>4171</c:v>
                </c:pt>
                <c:pt idx="41">
                  <c:v>4411</c:v>
                </c:pt>
                <c:pt idx="42">
                  <c:v>5051</c:v>
                </c:pt>
                <c:pt idx="43">
                  <c:v>6822</c:v>
                </c:pt>
                <c:pt idx="44">
                  <c:v>6373</c:v>
                </c:pt>
                <c:pt idx="45">
                  <c:v>7205</c:v>
                </c:pt>
                <c:pt idx="46">
                  <c:v>6821</c:v>
                </c:pt>
              </c:numCache>
            </c:numRef>
          </c:val>
          <c:smooth val="0"/>
        </c:ser>
        <c:ser>
          <c:idx val="1"/>
          <c:order val="1"/>
          <c:tx>
            <c:strRef>
              <c:f>Sheet1!$C$1</c:f>
              <c:strCache>
                <c:ptCount val="1"/>
                <c:pt idx="0">
                  <c:v>Other revenue</c:v>
                </c:pt>
              </c:strCache>
            </c:strRef>
          </c:tx>
          <c:spPr>
            <a:ln>
              <a:solidFill>
                <a:srgbClr val="0F283E"/>
              </a:solidFill>
            </a:ln>
          </c:spPr>
          <c:marker>
            <c:symbol val="circle"/>
            <c:spPr>
              <a:solidFill>
                <a:srgbClr val="0F283E"/>
              </a:solidFill>
              <a:ln>
                <a:solidFill>
                  <a:srgbClr val="0F283E"/>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Sheet1!$A$2:$A$48</c:f>
              <c:strCache>
                <c:ptCount val="47"/>
                <c:pt idx="0">
                  <c:v>Q1 '10</c:v>
                </c:pt>
                <c:pt idx="1">
                  <c:v>Q2 '10</c:v>
                </c:pt>
                <c:pt idx="2">
                  <c:v>Q3 '10</c:v>
                </c:pt>
                <c:pt idx="3">
                  <c:v>Q4 '10</c:v>
                </c:pt>
                <c:pt idx="4">
                  <c:v>Q1 '11</c:v>
                </c:pt>
                <c:pt idx="5">
                  <c:v>Q2 '11</c:v>
                </c:pt>
                <c:pt idx="6">
                  <c:v>Q3 '11</c:v>
                </c:pt>
                <c:pt idx="7">
                  <c:v>Q4 '11</c:v>
                </c:pt>
                <c:pt idx="8">
                  <c:v>Q1 '12</c:v>
                </c:pt>
                <c:pt idx="9">
                  <c:v>Q2 '12</c:v>
                </c:pt>
                <c:pt idx="10">
                  <c:v>Q3 '12</c:v>
                </c:pt>
                <c:pt idx="11">
                  <c:v>Q4 '12</c:v>
                </c:pt>
                <c:pt idx="12">
                  <c:v>Q1 '13</c:v>
                </c:pt>
                <c:pt idx="13">
                  <c:v>Q2 '13</c:v>
                </c:pt>
                <c:pt idx="14">
                  <c:v>Q3 '13</c:v>
                </c:pt>
                <c:pt idx="15">
                  <c:v>Q4 '13</c:v>
                </c:pt>
                <c:pt idx="16">
                  <c:v>Q1 '14</c:v>
                </c:pt>
                <c:pt idx="17">
                  <c:v>Q2 '14</c:v>
                </c:pt>
                <c:pt idx="18">
                  <c:v>Q3 '14</c:v>
                </c:pt>
                <c:pt idx="19">
                  <c:v>Q4 '14</c:v>
                </c:pt>
                <c:pt idx="20">
                  <c:v>Q1 '15</c:v>
                </c:pt>
                <c:pt idx="21">
                  <c:v>Q2 '15</c:v>
                </c:pt>
                <c:pt idx="22">
                  <c:v>Q3 '15</c:v>
                </c:pt>
                <c:pt idx="23">
                  <c:v>Q4 '15</c:v>
                </c:pt>
                <c:pt idx="24">
                  <c:v>Q1 '16</c:v>
                </c:pt>
                <c:pt idx="25">
                  <c:v>Q2 '16</c:v>
                </c:pt>
                <c:pt idx="26">
                  <c:v>Q3 '16</c:v>
                </c:pt>
                <c:pt idx="27">
                  <c:v>Q4 '16</c:v>
                </c:pt>
                <c:pt idx="28">
                  <c:v>Q1 '17</c:v>
                </c:pt>
                <c:pt idx="29">
                  <c:v>Q2 '17</c:v>
                </c:pt>
                <c:pt idx="30">
                  <c:v>Q3 '17</c:v>
                </c:pt>
                <c:pt idx="31">
                  <c:v>Q4 '17</c:v>
                </c:pt>
                <c:pt idx="32">
                  <c:v>Q1 '18</c:v>
                </c:pt>
                <c:pt idx="33">
                  <c:v>Q2 '18</c:v>
                </c:pt>
                <c:pt idx="34">
                  <c:v>Q3 '18</c:v>
                </c:pt>
                <c:pt idx="35">
                  <c:v>Q4 '18</c:v>
                </c:pt>
                <c:pt idx="36">
                  <c:v>Q1 '19</c:v>
                </c:pt>
                <c:pt idx="37">
                  <c:v>Q2 '19</c:v>
                </c:pt>
                <c:pt idx="38">
                  <c:v>Q3 '19</c:v>
                </c:pt>
                <c:pt idx="39">
                  <c:v>Q4 '19</c:v>
                </c:pt>
                <c:pt idx="40">
                  <c:v>Q1 '20</c:v>
                </c:pt>
                <c:pt idx="41">
                  <c:v>Q2 '20</c:v>
                </c:pt>
                <c:pt idx="42">
                  <c:v>Q3 '20</c:v>
                </c:pt>
                <c:pt idx="43">
                  <c:v>Q4 '20</c:v>
                </c:pt>
                <c:pt idx="44">
                  <c:v>Q1 '21</c:v>
                </c:pt>
                <c:pt idx="45">
                  <c:v>Q2 '21</c:v>
                </c:pt>
                <c:pt idx="46">
                  <c:v>Q3 '21</c:v>
                </c:pt>
              </c:strCache>
            </c:strRef>
          </c:cat>
          <c:val>
            <c:numRef>
              <c:f>Sheet1!$C$2:$C$48</c:f>
              <c:numCache>
                <c:ptCount val="47"/>
                <c:pt idx="0">
                  <c:v>0</c:v>
                </c:pt>
                <c:pt idx="1">
                  <c:v>1</c:v>
                </c:pt>
                <c:pt idx="2">
                  <c:v>4</c:v>
                </c:pt>
                <c:pt idx="3">
                  <c:v>17</c:v>
                </c:pt>
                <c:pt idx="4">
                  <c:v>23</c:v>
                </c:pt>
                <c:pt idx="5">
                  <c:v>30</c:v>
                </c:pt>
                <c:pt idx="6">
                  <c:v>45</c:v>
                </c:pt>
                <c:pt idx="7">
                  <c:v>55</c:v>
                </c:pt>
                <c:pt idx="8">
                  <c:v>54</c:v>
                </c:pt>
                <c:pt idx="9">
                  <c:v>52</c:v>
                </c:pt>
                <c:pt idx="10">
                  <c:v>46</c:v>
                </c:pt>
                <c:pt idx="11">
                  <c:v>66</c:v>
                </c:pt>
                <c:pt idx="12">
                  <c:v>56</c:v>
                </c:pt>
                <c:pt idx="13">
                  <c:v>54</c:v>
                </c:pt>
                <c:pt idx="14">
                  <c:v>56</c:v>
                </c:pt>
                <c:pt idx="15">
                  <c:v>69</c:v>
                </c:pt>
                <c:pt idx="16">
                  <c:v>67</c:v>
                </c:pt>
                <c:pt idx="17">
                  <c:v>67</c:v>
                </c:pt>
                <c:pt idx="18">
                  <c:v>61</c:v>
                </c:pt>
                <c:pt idx="19">
                  <c:v>70</c:v>
                </c:pt>
                <c:pt idx="20">
                  <c:v>53</c:v>
                </c:pt>
                <c:pt idx="21">
                  <c:v>50</c:v>
                </c:pt>
                <c:pt idx="22">
                  <c:v>44</c:v>
                </c:pt>
                <c:pt idx="23">
                  <c:v>43</c:v>
                </c:pt>
                <c:pt idx="24">
                  <c:v>37</c:v>
                </c:pt>
                <c:pt idx="25">
                  <c:v>40</c:v>
                </c:pt>
                <c:pt idx="26">
                  <c:v>42</c:v>
                </c:pt>
                <c:pt idx="27">
                  <c:v>40</c:v>
                </c:pt>
                <c:pt idx="28">
                  <c:v>36</c:v>
                </c:pt>
                <c:pt idx="29">
                  <c:v>33</c:v>
                </c:pt>
                <c:pt idx="30">
                  <c:v>47</c:v>
                </c:pt>
                <c:pt idx="31">
                  <c:v>54</c:v>
                </c:pt>
                <c:pt idx="32">
                  <c:v>44</c:v>
                </c:pt>
                <c:pt idx="33">
                  <c:v>55</c:v>
                </c:pt>
                <c:pt idx="34">
                  <c:v>47</c:v>
                </c:pt>
                <c:pt idx="35">
                  <c:v>64</c:v>
                </c:pt>
                <c:pt idx="36">
                  <c:v>41</c:v>
                </c:pt>
                <c:pt idx="37">
                  <c:v>66</c:v>
                </c:pt>
                <c:pt idx="38">
                  <c:v>67</c:v>
                </c:pt>
                <c:pt idx="39">
                  <c:v>88</c:v>
                </c:pt>
                <c:pt idx="40">
                  <c:v>83</c:v>
                </c:pt>
                <c:pt idx="41">
                  <c:v>91</c:v>
                </c:pt>
                <c:pt idx="42">
                  <c:v>53</c:v>
                </c:pt>
                <c:pt idx="43">
                  <c:v>189</c:v>
                </c:pt>
                <c:pt idx="44">
                  <c:v>150</c:v>
                </c:pt>
                <c:pt idx="45">
                  <c:v>65</c:v>
                </c:pt>
                <c:pt idx="46">
                  <c:v>134</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100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Revenue in million U.S. dollars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3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Pt>
            <c:idx val="0"/>
            <c:invertIfNegative val="0"/>
            <c:spPr>
              <a:solidFill>
                <a:srgbClr val="003C6A"/>
              </a:solidFill>
            </c:spPr>
          </c:dPt>
          <c:dPt>
            <c:idx val="1"/>
            <c:invertIfNegative val="0"/>
            <c:spPr>
              <a:solidFill>
                <a:srgbClr val="0059A0"/>
              </a:solidFill>
            </c:spPr>
          </c:dPt>
          <c:dPt>
            <c:idx val="2"/>
            <c:invertIfNegative val="0"/>
            <c:spPr>
              <a:solidFill>
                <a:srgbClr val="0077D5"/>
              </a:solidFill>
            </c:spPr>
          </c:dPt>
          <c:dPt>
            <c:idx val="3"/>
            <c:invertIfNegative val="0"/>
            <c:spPr>
              <a:solidFill>
                <a:srgbClr val="4DB0FF"/>
              </a:solidFill>
            </c:spPr>
          </c:dPt>
          <c:dPt>
            <c:idx val="4"/>
            <c:invertIfNegative val="0"/>
            <c:spPr>
              <a:solidFill>
                <a:srgbClr val="88CBFF"/>
              </a:solidFill>
            </c:spPr>
          </c:dPt>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Facebook awareness</c:v>
                </c:pt>
                <c:pt idx="1">
                  <c:v>Facebook popularity</c:v>
                </c:pt>
                <c:pt idx="2">
                  <c:v>Facebook usage</c:v>
                </c:pt>
                <c:pt idx="3">
                  <c:v>Facebook loyalty</c:v>
                </c:pt>
                <c:pt idx="4">
                  <c:v>Facebook buzz</c:v>
                </c:pt>
              </c:strCache>
            </c:strRef>
          </c:cat>
          <c:val>
            <c:numRef>
              <c:f>Sheet1!$B$2:$B$6</c:f>
              <c:numCache>
                <c:ptCount val="5"/>
                <c:pt idx="0">
                  <c:v>0.95</c:v>
                </c:pt>
                <c:pt idx="1">
                  <c:v>0.66</c:v>
                </c:pt>
                <c:pt idx="2">
                  <c:v>0.74</c:v>
                </c:pt>
                <c:pt idx="3">
                  <c:v>0.69</c:v>
                </c:pt>
                <c:pt idx="4">
                  <c:v>0.41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1"/>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Pt>
            <c:idx val="0"/>
            <c:invertIfNegative val="0"/>
            <c:spPr>
              <a:solidFill>
                <a:srgbClr val="003C6A"/>
              </a:solidFill>
            </c:spPr>
          </c:dPt>
          <c:dPt>
            <c:idx val="1"/>
            <c:invertIfNegative val="0"/>
            <c:spPr>
              <a:solidFill>
                <a:srgbClr val="0059A0"/>
              </a:solidFill>
            </c:spPr>
          </c:dPt>
          <c:dPt>
            <c:idx val="2"/>
            <c:invertIfNegative val="0"/>
            <c:spPr>
              <a:solidFill>
                <a:srgbClr val="0077D5"/>
              </a:solidFill>
            </c:spPr>
          </c:dPt>
          <c:dPt>
            <c:idx val="3"/>
            <c:invertIfNegative val="0"/>
            <c:spPr>
              <a:solidFill>
                <a:srgbClr val="4DB0FF"/>
              </a:solidFill>
            </c:spPr>
          </c:dPt>
          <c:dPt>
            <c:idx val="4"/>
            <c:invertIfNegative val="0"/>
            <c:spPr>
              <a:solidFill>
                <a:srgbClr val="88CBFF"/>
              </a:solidFill>
            </c:spPr>
          </c:dPt>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Facebook awareness</c:v>
                </c:pt>
                <c:pt idx="1">
                  <c:v>Facebook popularity</c:v>
                </c:pt>
                <c:pt idx="2">
                  <c:v>Facebook usage</c:v>
                </c:pt>
                <c:pt idx="3">
                  <c:v>Facebook loyalty</c:v>
                </c:pt>
                <c:pt idx="4">
                  <c:v>Facebook buzz</c:v>
                </c:pt>
              </c:strCache>
            </c:strRef>
          </c:cat>
          <c:val>
            <c:numRef>
              <c:f>Sheet1!$B$2:$B$6</c:f>
              <c:numCache>
                <c:ptCount val="5"/>
                <c:pt idx="0">
                  <c:v>0.95</c:v>
                </c:pt>
                <c:pt idx="1">
                  <c:v>0.58</c:v>
                </c:pt>
                <c:pt idx="2">
                  <c:v>0.64</c:v>
                </c:pt>
                <c:pt idx="3">
                  <c:v>0.58</c:v>
                </c:pt>
                <c:pt idx="4">
                  <c:v>0.41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1"/>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5"/>
              <c:numFmt formatCode="#,##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6"/>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7"/>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8"/>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9"/>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0"/>
              <c:numFmt formatCode="#,##0.0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Sheet1!$A$2:$A$12</c:f>
              <c:strCache>
                <c:ptCount val="11"/>
                <c:pt idx="0">
                  <c:v>2017</c:v>
                </c:pt>
                <c:pt idx="1">
                  <c:v>2018</c:v>
                </c:pt>
                <c:pt idx="2">
                  <c:v>2019</c:v>
                </c:pt>
                <c:pt idx="3">
                  <c:v>2020</c:v>
                </c:pt>
                <c:pt idx="4">
                  <c:v>2021</c:v>
                </c:pt>
                <c:pt idx="5">
                  <c:v>2022</c:v>
                </c:pt>
                <c:pt idx="6">
                  <c:v>2023*</c:v>
                </c:pt>
                <c:pt idx="7">
                  <c:v>2024*</c:v>
                </c:pt>
                <c:pt idx="8">
                  <c:v>2025*</c:v>
                </c:pt>
                <c:pt idx="9">
                  <c:v>2026*</c:v>
                </c:pt>
                <c:pt idx="10">
                  <c:v>2027*</c:v>
                </c:pt>
              </c:strCache>
            </c:strRef>
          </c:cat>
          <c:val>
            <c:numRef>
              <c:f>Sheet1!$B$2:$B$12</c:f>
              <c:numCache>
                <c:ptCount val="11"/>
                <c:pt idx="0">
                  <c:v>158.35</c:v>
                </c:pt>
                <c:pt idx="1">
                  <c:v>206.04</c:v>
                </c:pt>
                <c:pt idx="2">
                  <c:v>242.88</c:v>
                </c:pt>
                <c:pt idx="3">
                  <c:v>290.71</c:v>
                </c:pt>
                <c:pt idx="4">
                  <c:v>317.48</c:v>
                </c:pt>
                <c:pt idx="5">
                  <c:v>281.3</c:v>
                </c:pt>
                <c:pt idx="6">
                  <c:v>293.93</c:v>
                </c:pt>
                <c:pt idx="7">
                  <c:v>303.53</c:v>
                </c:pt>
                <c:pt idx="8">
                  <c:v>310.88</c:v>
                </c:pt>
                <c:pt idx="9">
                  <c:v>316.57</c:v>
                </c:pt>
                <c:pt idx="10">
                  <c:v>321.05</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os users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Sheet1!$A$2:$A$18</c:f>
              <c:strCache>
                <c:ptCount val="17"/>
                <c:pt idx="0">
                  <c:v>Aug 2021</c:v>
                </c:pt>
                <c:pt idx="1">
                  <c:v>Sep 2021</c:v>
                </c:pt>
                <c:pt idx="2">
                  <c:v>Oct 2021</c:v>
                </c:pt>
                <c:pt idx="3">
                  <c:v>Nov 2021</c:v>
                </c:pt>
                <c:pt idx="4">
                  <c:v>Dec 2021</c:v>
                </c:pt>
                <c:pt idx="5">
                  <c:v>Jan 2022</c:v>
                </c:pt>
                <c:pt idx="6">
                  <c:v>Feb 2022</c:v>
                </c:pt>
                <c:pt idx="7">
                  <c:v>Mar 2022</c:v>
                </c:pt>
                <c:pt idx="8">
                  <c:v>Apr 2022</c:v>
                </c:pt>
                <c:pt idx="9">
                  <c:v>May 2022</c:v>
                </c:pt>
                <c:pt idx="10">
                  <c:v>Jun 2022</c:v>
                </c:pt>
                <c:pt idx="11">
                  <c:v>Jul 2022</c:v>
                </c:pt>
                <c:pt idx="12">
                  <c:v>Aug 2022</c:v>
                </c:pt>
                <c:pt idx="13">
                  <c:v>Sep 2022</c:v>
                </c:pt>
                <c:pt idx="14">
                  <c:v>Oct 2022</c:v>
                </c:pt>
                <c:pt idx="15">
                  <c:v>Nov 2022</c:v>
                </c:pt>
                <c:pt idx="16">
                  <c:v>Dec 2022</c:v>
                </c:pt>
              </c:strCache>
            </c:strRef>
          </c:cat>
          <c:val>
            <c:numRef>
              <c:f>Sheet1!$B$2:$B$18</c:f>
              <c:numCache>
                <c:ptCount val="17"/>
                <c:pt idx="0">
                  <c:v>0.0355</c:v>
                </c:pt>
                <c:pt idx="1">
                  <c:v>0.0389</c:v>
                </c:pt>
                <c:pt idx="2">
                  <c:v>0.0392</c:v>
                </c:pt>
                <c:pt idx="3">
                  <c:v>0.0347</c:v>
                </c:pt>
                <c:pt idx="4">
                  <c:v>0.0313</c:v>
                </c:pt>
                <c:pt idx="5">
                  <c:v>0.0359</c:v>
                </c:pt>
                <c:pt idx="6">
                  <c:v>0.0418</c:v>
                </c:pt>
                <c:pt idx="7">
                  <c:v>0.0479</c:v>
                </c:pt>
                <c:pt idx="8">
                  <c:v>0.0482</c:v>
                </c:pt>
                <c:pt idx="9">
                  <c:v>0.0403</c:v>
                </c:pt>
                <c:pt idx="10">
                  <c:v>0.041</c:v>
                </c:pt>
                <c:pt idx="11">
                  <c:v>0.0446</c:v>
                </c:pt>
                <c:pt idx="12">
                  <c:v>0.044</c:v>
                </c:pt>
                <c:pt idx="13">
                  <c:v>0.0478</c:v>
                </c:pt>
                <c:pt idx="14">
                  <c:v>0.0654</c:v>
                </c:pt>
                <c:pt idx="15">
                  <c:v>0.0761</c:v>
                </c:pt>
                <c:pt idx="16">
                  <c:v>0.0847</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025"/>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Market share</a:t>
                </a:r>
              </a:p>
            </c:rich>
          </c:tx>
          <c:overlay val="0"/>
        </c:title>
        <c:numFmt formatCode="#,##0.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3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Sheet1!$A$2:$A$49</c:f>
              <c:strCache>
                <c:ptCount val="48"/>
                <c:pt idx="0">
                  <c:v>Sep '18</c:v>
                </c:pt>
                <c:pt idx="1">
                  <c:v>Oct '18</c:v>
                </c:pt>
                <c:pt idx="2">
                  <c:v>Nov '18</c:v>
                </c:pt>
                <c:pt idx="3">
                  <c:v>Dec '18</c:v>
                </c:pt>
                <c:pt idx="4">
                  <c:v>Jan '19</c:v>
                </c:pt>
                <c:pt idx="5">
                  <c:v>Feb '19</c:v>
                </c:pt>
                <c:pt idx="6">
                  <c:v>Mar '19</c:v>
                </c:pt>
                <c:pt idx="7">
                  <c:v>Apr '19</c:v>
                </c:pt>
                <c:pt idx="8">
                  <c:v>May '19</c:v>
                </c:pt>
                <c:pt idx="9">
                  <c:v>Jun '19</c:v>
                </c:pt>
                <c:pt idx="10">
                  <c:v>Jul '19</c:v>
                </c:pt>
                <c:pt idx="11">
                  <c:v>Aug '19</c:v>
                </c:pt>
                <c:pt idx="12">
                  <c:v>Sep '19</c:v>
                </c:pt>
                <c:pt idx="13">
                  <c:v>Oct '19</c:v>
                </c:pt>
                <c:pt idx="14">
                  <c:v>Nov '19</c:v>
                </c:pt>
                <c:pt idx="15">
                  <c:v>Dec '19</c:v>
                </c:pt>
                <c:pt idx="16">
                  <c:v>Jan '20</c:v>
                </c:pt>
                <c:pt idx="17">
                  <c:v>Feb '20</c:v>
                </c:pt>
                <c:pt idx="18">
                  <c:v>Mar '20</c:v>
                </c:pt>
                <c:pt idx="19">
                  <c:v>Apr '20</c:v>
                </c:pt>
                <c:pt idx="20">
                  <c:v>May '20</c:v>
                </c:pt>
                <c:pt idx="21">
                  <c:v>Jun '20</c:v>
                </c:pt>
                <c:pt idx="22">
                  <c:v>Jul '20</c:v>
                </c:pt>
                <c:pt idx="23">
                  <c:v>Aug '20</c:v>
                </c:pt>
                <c:pt idx="24">
                  <c:v>Sep '20</c:v>
                </c:pt>
                <c:pt idx="25">
                  <c:v>Oct '20</c:v>
                </c:pt>
                <c:pt idx="26">
                  <c:v>Nov '20</c:v>
                </c:pt>
                <c:pt idx="27">
                  <c:v>Dec '20</c:v>
                </c:pt>
                <c:pt idx="28">
                  <c:v>Jan '21</c:v>
                </c:pt>
                <c:pt idx="29">
                  <c:v>Feb '21</c:v>
                </c:pt>
                <c:pt idx="30">
                  <c:v>Mar '21</c:v>
                </c:pt>
                <c:pt idx="31">
                  <c:v>Apr '21</c:v>
                </c:pt>
                <c:pt idx="32">
                  <c:v>May '21</c:v>
                </c:pt>
                <c:pt idx="33">
                  <c:v>Jun '21</c:v>
                </c:pt>
                <c:pt idx="34">
                  <c:v>Jul '21</c:v>
                </c:pt>
                <c:pt idx="35">
                  <c:v>Aug '21</c:v>
                </c:pt>
                <c:pt idx="36">
                  <c:v>Sep '21</c:v>
                </c:pt>
                <c:pt idx="37">
                  <c:v>Oct '21</c:v>
                </c:pt>
                <c:pt idx="38">
                  <c:v>Nov '21</c:v>
                </c:pt>
                <c:pt idx="39">
                  <c:v>Dec '21</c:v>
                </c:pt>
                <c:pt idx="40">
                  <c:v>Jan '22</c:v>
                </c:pt>
                <c:pt idx="41">
                  <c:v>Feb '22</c:v>
                </c:pt>
                <c:pt idx="42">
                  <c:v>Mar '22</c:v>
                </c:pt>
                <c:pt idx="43">
                  <c:v>Apr '22</c:v>
                </c:pt>
                <c:pt idx="44">
                  <c:v>May '22</c:v>
                </c:pt>
                <c:pt idx="45">
                  <c:v>Jun '22</c:v>
                </c:pt>
                <c:pt idx="46">
                  <c:v>Jul '22</c:v>
                </c:pt>
                <c:pt idx="47">
                  <c:v>Aug '22</c:v>
                </c:pt>
              </c:strCache>
            </c:strRef>
          </c:cat>
          <c:val>
            <c:numRef>
              <c:f>Sheet1!$B$2:$B$49</c:f>
              <c:numCache>
                <c:ptCount val="48"/>
                <c:pt idx="0">
                  <c:v>19.28</c:v>
                </c:pt>
                <c:pt idx="1">
                  <c:v>19.6</c:v>
                </c:pt>
                <c:pt idx="2">
                  <c:v>19.52</c:v>
                </c:pt>
                <c:pt idx="3">
                  <c:v>19.79</c:v>
                </c:pt>
                <c:pt idx="4">
                  <c:v>20.04</c:v>
                </c:pt>
                <c:pt idx="5">
                  <c:v>20.32</c:v>
                </c:pt>
                <c:pt idx="6">
                  <c:v>18.03</c:v>
                </c:pt>
                <c:pt idx="7">
                  <c:v>18.48</c:v>
                </c:pt>
                <c:pt idx="8">
                  <c:v>19.2</c:v>
                </c:pt>
                <c:pt idx="9">
                  <c:v>19.63</c:v>
                </c:pt>
                <c:pt idx="10">
                  <c:v>19.45</c:v>
                </c:pt>
                <c:pt idx="11">
                  <c:v>19.79</c:v>
                </c:pt>
                <c:pt idx="12">
                  <c:v>20.25</c:v>
                </c:pt>
                <c:pt idx="13">
                  <c:v>20.41</c:v>
                </c:pt>
                <c:pt idx="14">
                  <c:v>21.15</c:v>
                </c:pt>
                <c:pt idx="15">
                  <c:v>21.16</c:v>
                </c:pt>
                <c:pt idx="16">
                  <c:v>21.16</c:v>
                </c:pt>
                <c:pt idx="17">
                  <c:v>21.33</c:v>
                </c:pt>
                <c:pt idx="18">
                  <c:v>22</c:v>
                </c:pt>
                <c:pt idx="19">
                  <c:v>22.79</c:v>
                </c:pt>
                <c:pt idx="20">
                  <c:v>23.35</c:v>
                </c:pt>
                <c:pt idx="21">
                  <c:v>24.62</c:v>
                </c:pt>
                <c:pt idx="22">
                  <c:v>24.16</c:v>
                </c:pt>
                <c:pt idx="23">
                  <c:v>25.17</c:v>
                </c:pt>
                <c:pt idx="24">
                  <c:v>25.54</c:v>
                </c:pt>
                <c:pt idx="25">
                  <c:v>25.77</c:v>
                </c:pt>
                <c:pt idx="26">
                  <c:v>25.87</c:v>
                </c:pt>
                <c:pt idx="27">
                  <c:v>28.22</c:v>
                </c:pt>
                <c:pt idx="28">
                  <c:v>27.86</c:v>
                </c:pt>
                <c:pt idx="29">
                  <c:v>28.2</c:v>
                </c:pt>
                <c:pt idx="30">
                  <c:v>29.69</c:v>
                </c:pt>
                <c:pt idx="31">
                  <c:v>29.49</c:v>
                </c:pt>
                <c:pt idx="32">
                  <c:v>26.49</c:v>
                </c:pt>
                <c:pt idx="33">
                  <c:v>26.91</c:v>
                </c:pt>
                <c:pt idx="34">
                  <c:v>26.3</c:v>
                </c:pt>
                <c:pt idx="35">
                  <c:v>25.55</c:v>
                </c:pt>
                <c:pt idx="36">
                  <c:v>25.5</c:v>
                </c:pt>
                <c:pt idx="37">
                  <c:v>27.99</c:v>
                </c:pt>
                <c:pt idx="38">
                  <c:v>27.31</c:v>
                </c:pt>
                <c:pt idx="39">
                  <c:v>27.31</c:v>
                </c:pt>
                <c:pt idx="40">
                  <c:v>31.1</c:v>
                </c:pt>
                <c:pt idx="41">
                  <c:v>30.64</c:v>
                </c:pt>
                <c:pt idx="42">
                  <c:v>31.6</c:v>
                </c:pt>
                <c:pt idx="43">
                  <c:v>31.43</c:v>
                </c:pt>
                <c:pt idx="44">
                  <c:v>32.21</c:v>
                </c:pt>
                <c:pt idx="45">
                  <c:v>31.95</c:v>
                </c:pt>
                <c:pt idx="46">
                  <c:v>31.58</c:v>
                </c:pt>
                <c:pt idx="47">
                  <c:v>30.74</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Millions of users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13-17</c:v>
                </c:pt>
                <c:pt idx="1">
                  <c:v>18-24</c:v>
                </c:pt>
                <c:pt idx="2">
                  <c:v>25-34</c:v>
                </c:pt>
                <c:pt idx="3">
                  <c:v>35-44</c:v>
                </c:pt>
                <c:pt idx="4">
                  <c:v>45-54</c:v>
                </c:pt>
                <c:pt idx="5">
                  <c:v>55-64</c:v>
                </c:pt>
                <c:pt idx="6">
                  <c:v>65+</c:v>
                </c:pt>
              </c:strCache>
            </c:strRef>
          </c:cat>
          <c:val>
            <c:numRef>
              <c:f>Sheet1!$B$2:$B$8</c:f>
              <c:numCache>
                <c:ptCount val="7"/>
                <c:pt idx="0">
                  <c:v>0.051</c:v>
                </c:pt>
                <c:pt idx="1">
                  <c:v>0.277</c:v>
                </c:pt>
                <c:pt idx="2">
                  <c:v>0.296</c:v>
                </c:pt>
                <c:pt idx="3">
                  <c:v>0.182</c:v>
                </c:pt>
                <c:pt idx="4">
                  <c:v>0.111</c:v>
                </c:pt>
                <c:pt idx="5">
                  <c:v>0.06</c:v>
                </c:pt>
                <c:pt idx="6">
                  <c:v>0.023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users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strRef>
              <c:f>Sheet1!$A$2:$A$53</c:f>
              <c:strCache>
                <c:ptCount val="52"/>
                <c:pt idx="0">
                  <c:v>Sep '18</c:v>
                </c:pt>
                <c:pt idx="1">
                  <c:v>Oct '18</c:v>
                </c:pt>
                <c:pt idx="2">
                  <c:v>Nov '18</c:v>
                </c:pt>
                <c:pt idx="3">
                  <c:v>Dec '18</c:v>
                </c:pt>
                <c:pt idx="4">
                  <c:v>Jan '19</c:v>
                </c:pt>
                <c:pt idx="5">
                  <c:v>Feb '19</c:v>
                </c:pt>
                <c:pt idx="6">
                  <c:v>Mar '19</c:v>
                </c:pt>
                <c:pt idx="7">
                  <c:v>Apr '19</c:v>
                </c:pt>
                <c:pt idx="8">
                  <c:v>May '19</c:v>
                </c:pt>
                <c:pt idx="9">
                  <c:v>Jun '19</c:v>
                </c:pt>
                <c:pt idx="10">
                  <c:v>Jul '19</c:v>
                </c:pt>
                <c:pt idx="11">
                  <c:v>Aug '19</c:v>
                </c:pt>
                <c:pt idx="12">
                  <c:v>Sep '19</c:v>
                </c:pt>
                <c:pt idx="13">
                  <c:v>Oct '19</c:v>
                </c:pt>
                <c:pt idx="14">
                  <c:v>Nov '19</c:v>
                </c:pt>
                <c:pt idx="15">
                  <c:v>Dec '19</c:v>
                </c:pt>
                <c:pt idx="16">
                  <c:v>Jan '20</c:v>
                </c:pt>
                <c:pt idx="17">
                  <c:v>Feb '20</c:v>
                </c:pt>
                <c:pt idx="18">
                  <c:v>Mar '20</c:v>
                </c:pt>
                <c:pt idx="19">
                  <c:v>Apr '20</c:v>
                </c:pt>
                <c:pt idx="20">
                  <c:v>May '20</c:v>
                </c:pt>
                <c:pt idx="21">
                  <c:v>Jun '20</c:v>
                </c:pt>
                <c:pt idx="22">
                  <c:v>Jul '20</c:v>
                </c:pt>
                <c:pt idx="23">
                  <c:v>Aug '20</c:v>
                </c:pt>
                <c:pt idx="24">
                  <c:v>Sep '20</c:v>
                </c:pt>
                <c:pt idx="25">
                  <c:v>Oct' 20</c:v>
                </c:pt>
                <c:pt idx="26">
                  <c:v>Nov '20</c:v>
                </c:pt>
                <c:pt idx="27">
                  <c:v>Dec '20</c:v>
                </c:pt>
                <c:pt idx="28">
                  <c:v>Jan '21</c:v>
                </c:pt>
                <c:pt idx="29">
                  <c:v>Feb '21</c:v>
                </c:pt>
                <c:pt idx="30">
                  <c:v>Mar '21</c:v>
                </c:pt>
                <c:pt idx="31">
                  <c:v>Apr '21</c:v>
                </c:pt>
                <c:pt idx="32">
                  <c:v>May '21</c:v>
                </c:pt>
                <c:pt idx="33">
                  <c:v>Jun '21</c:v>
                </c:pt>
                <c:pt idx="34">
                  <c:v>Jul '21</c:v>
                </c:pt>
                <c:pt idx="35">
                  <c:v>Aug '21</c:v>
                </c:pt>
                <c:pt idx="36">
                  <c:v>Sep '21</c:v>
                </c:pt>
                <c:pt idx="37">
                  <c:v>Oct '21</c:v>
                </c:pt>
                <c:pt idx="38">
                  <c:v>Nov '21</c:v>
                </c:pt>
                <c:pt idx="39">
                  <c:v>Dec '21</c:v>
                </c:pt>
                <c:pt idx="40">
                  <c:v>Jan '22</c:v>
                </c:pt>
                <c:pt idx="41">
                  <c:v>Feb '22</c:v>
                </c:pt>
                <c:pt idx="42">
                  <c:v>Mar '22</c:v>
                </c:pt>
                <c:pt idx="43">
                  <c:v>Apr '22</c:v>
                </c:pt>
                <c:pt idx="44">
                  <c:v>May '22</c:v>
                </c:pt>
                <c:pt idx="45">
                  <c:v>Jun '22</c:v>
                </c:pt>
                <c:pt idx="46">
                  <c:v>Jul '22</c:v>
                </c:pt>
                <c:pt idx="47">
                  <c:v>Aug '22</c:v>
                </c:pt>
                <c:pt idx="48">
                  <c:v>Sep '22</c:v>
                </c:pt>
                <c:pt idx="49">
                  <c:v>Oct '22</c:v>
                </c:pt>
                <c:pt idx="50">
                  <c:v>Nov '22</c:v>
                </c:pt>
                <c:pt idx="51">
                  <c:v>Dec '22</c:v>
                </c:pt>
              </c:strCache>
            </c:strRef>
          </c:cat>
          <c:val>
            <c:numRef>
              <c:f>Sheet1!$B$2:$B$53</c:f>
              <c:numCache>
                <c:ptCount val="52"/>
                <c:pt idx="0">
                  <c:v>23340</c:v>
                </c:pt>
                <c:pt idx="1">
                  <c:v>23290</c:v>
                </c:pt>
                <c:pt idx="2">
                  <c:v>23280</c:v>
                </c:pt>
                <c:pt idx="3">
                  <c:v>23640</c:v>
                </c:pt>
                <c:pt idx="4">
                  <c:v>23860</c:v>
                </c:pt>
                <c:pt idx="5">
                  <c:v>24190</c:v>
                </c:pt>
                <c:pt idx="6">
                  <c:v>21410</c:v>
                </c:pt>
                <c:pt idx="7">
                  <c:v>21960</c:v>
                </c:pt>
                <c:pt idx="8">
                  <c:v>22220</c:v>
                </c:pt>
                <c:pt idx="9">
                  <c:v>22530</c:v>
                </c:pt>
                <c:pt idx="10">
                  <c:v>22090</c:v>
                </c:pt>
                <c:pt idx="11">
                  <c:v>22590</c:v>
                </c:pt>
                <c:pt idx="12">
                  <c:v>22800</c:v>
                </c:pt>
                <c:pt idx="13">
                  <c:v>23180</c:v>
                </c:pt>
                <c:pt idx="14">
                  <c:v>23930</c:v>
                </c:pt>
                <c:pt idx="15">
                  <c:v>23820</c:v>
                </c:pt>
                <c:pt idx="16">
                  <c:v>23840</c:v>
                </c:pt>
                <c:pt idx="17">
                  <c:v>23900</c:v>
                </c:pt>
                <c:pt idx="18">
                  <c:v>24460</c:v>
                </c:pt>
                <c:pt idx="19">
                  <c:v>25010</c:v>
                </c:pt>
                <c:pt idx="20">
                  <c:v>25430</c:v>
                </c:pt>
                <c:pt idx="21">
                  <c:v>26540</c:v>
                </c:pt>
                <c:pt idx="22">
                  <c:v>26200</c:v>
                </c:pt>
                <c:pt idx="23">
                  <c:v>27100</c:v>
                </c:pt>
                <c:pt idx="24">
                  <c:v>27250</c:v>
                </c:pt>
                <c:pt idx="25">
                  <c:v>27260</c:v>
                </c:pt>
                <c:pt idx="26">
                  <c:v>27450</c:v>
                </c:pt>
                <c:pt idx="27">
                  <c:v>30600</c:v>
                </c:pt>
                <c:pt idx="28">
                  <c:v>31360</c:v>
                </c:pt>
                <c:pt idx="29">
                  <c:v>30570</c:v>
                </c:pt>
                <c:pt idx="30">
                  <c:v>33450</c:v>
                </c:pt>
                <c:pt idx="31">
                  <c:v>32050</c:v>
                </c:pt>
                <c:pt idx="32">
                  <c:v>28740</c:v>
                </c:pt>
                <c:pt idx="33">
                  <c:v>28890</c:v>
                </c:pt>
                <c:pt idx="34">
                  <c:v>28810</c:v>
                </c:pt>
                <c:pt idx="35">
                  <c:v>27250</c:v>
                </c:pt>
                <c:pt idx="36">
                  <c:v>26981</c:v>
                </c:pt>
                <c:pt idx="37">
                  <c:v>28584</c:v>
                </c:pt>
                <c:pt idx="38">
                  <c:v>28406</c:v>
                </c:pt>
                <c:pt idx="39">
                  <c:v>28406</c:v>
                </c:pt>
                <c:pt idx="40">
                  <c:v>34126</c:v>
                </c:pt>
                <c:pt idx="41">
                  <c:v>33506</c:v>
                </c:pt>
                <c:pt idx="42">
                  <c:v>34747</c:v>
                </c:pt>
                <c:pt idx="43">
                  <c:v>33975</c:v>
                </c:pt>
                <c:pt idx="44">
                  <c:v>34620</c:v>
                </c:pt>
                <c:pt idx="45">
                  <c:v>34184</c:v>
                </c:pt>
                <c:pt idx="46">
                  <c:v>33891</c:v>
                </c:pt>
                <c:pt idx="47">
                  <c:v>33278</c:v>
                </c:pt>
                <c:pt idx="48">
                  <c:v>32341</c:v>
                </c:pt>
                <c:pt idx="49">
                  <c:v>31285</c:v>
                </c:pt>
                <c:pt idx="50">
                  <c:v>31166</c:v>
                </c:pt>
                <c:pt idx="51">
                  <c:v>31166</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2000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Users in thousands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13-17</c:v>
                </c:pt>
                <c:pt idx="1">
                  <c:v>18-24</c:v>
                </c:pt>
                <c:pt idx="2">
                  <c:v>25-34</c:v>
                </c:pt>
                <c:pt idx="3">
                  <c:v>35-44</c:v>
                </c:pt>
                <c:pt idx="4">
                  <c:v>45-54</c:v>
                </c:pt>
                <c:pt idx="5">
                  <c:v>55-64</c:v>
                </c:pt>
                <c:pt idx="6">
                  <c:v>65+</c:v>
                </c:pt>
              </c:strCache>
            </c:strRef>
          </c:cat>
          <c:val>
            <c:numRef>
              <c:f>Sheet1!$B$2:$B$8</c:f>
              <c:numCache>
                <c:ptCount val="7"/>
                <c:pt idx="0">
                  <c:v>0.052</c:v>
                </c:pt>
                <c:pt idx="1">
                  <c:v>0.241</c:v>
                </c:pt>
                <c:pt idx="2">
                  <c:v>0.294</c:v>
                </c:pt>
                <c:pt idx="3">
                  <c:v>0.189</c:v>
                </c:pt>
                <c:pt idx="4">
                  <c:v>0.117</c:v>
                </c:pt>
                <c:pt idx="5">
                  <c:v>0.072</c:v>
                </c:pt>
                <c:pt idx="6">
                  <c:v>0.035</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Pt>
            <c:idx val="0"/>
            <c:invertIfNegative val="0"/>
            <c:spPr>
              <a:solidFill>
                <a:srgbClr val="003C6A"/>
              </a:solidFill>
            </c:spPr>
          </c:dPt>
          <c:dPt>
            <c:idx val="1"/>
            <c:invertIfNegative val="0"/>
            <c:spPr>
              <a:solidFill>
                <a:srgbClr val="0059A0"/>
              </a:solidFill>
            </c:spPr>
          </c:dPt>
          <c:dPt>
            <c:idx val="2"/>
            <c:invertIfNegative val="0"/>
            <c:spPr>
              <a:solidFill>
                <a:srgbClr val="0077D5"/>
              </a:solidFill>
            </c:spPr>
          </c:dPt>
          <c:dPt>
            <c:idx val="3"/>
            <c:invertIfNegative val="0"/>
            <c:spPr>
              <a:solidFill>
                <a:srgbClr val="4DB0FF"/>
              </a:solidFill>
            </c:spPr>
          </c:dPt>
          <c:dPt>
            <c:idx val="4"/>
            <c:invertIfNegative val="0"/>
            <c:spPr>
              <a:solidFill>
                <a:srgbClr val="88CBFF"/>
              </a:solidFill>
            </c:spPr>
          </c:dPt>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Instagram awareness</c:v>
                </c:pt>
                <c:pt idx="1">
                  <c:v>Instagram popularity</c:v>
                </c:pt>
                <c:pt idx="2">
                  <c:v>Instagram usage</c:v>
                </c:pt>
                <c:pt idx="3">
                  <c:v>Instagram loyalty</c:v>
                </c:pt>
                <c:pt idx="4">
                  <c:v>Instagram buzz</c:v>
                </c:pt>
              </c:strCache>
            </c:strRef>
          </c:cat>
          <c:val>
            <c:numRef>
              <c:f>Sheet1!$B$2:$B$6</c:f>
              <c:numCache>
                <c:ptCount val="5"/>
                <c:pt idx="0">
                  <c:v>0.95</c:v>
                </c:pt>
                <c:pt idx="1">
                  <c:v>0.54</c:v>
                </c:pt>
                <c:pt idx="2">
                  <c:v>0.57</c:v>
                </c:pt>
                <c:pt idx="3">
                  <c:v>0.53</c:v>
                </c:pt>
                <c:pt idx="4">
                  <c:v>0.29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1"/>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Pt>
            <c:idx val="0"/>
            <c:invertIfNegative val="0"/>
            <c:spPr>
              <a:solidFill>
                <a:srgbClr val="003C6A"/>
              </a:solidFill>
            </c:spPr>
          </c:dPt>
          <c:dPt>
            <c:idx val="1"/>
            <c:invertIfNegative val="0"/>
            <c:spPr>
              <a:solidFill>
                <a:srgbClr val="0059A0"/>
              </a:solidFill>
            </c:spPr>
          </c:dPt>
          <c:dPt>
            <c:idx val="2"/>
            <c:invertIfNegative val="0"/>
            <c:spPr>
              <a:solidFill>
                <a:srgbClr val="0077D5"/>
              </a:solidFill>
            </c:spPr>
          </c:dPt>
          <c:dPt>
            <c:idx val="3"/>
            <c:invertIfNegative val="0"/>
            <c:spPr>
              <a:solidFill>
                <a:srgbClr val="4DB0FF"/>
              </a:solidFill>
            </c:spPr>
          </c:dPt>
          <c:dPt>
            <c:idx val="4"/>
            <c:invertIfNegative val="0"/>
            <c:spPr>
              <a:solidFill>
                <a:srgbClr val="88CBFF"/>
              </a:solidFill>
            </c:spPr>
          </c:dPt>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Instagram awareness</c:v>
                </c:pt>
                <c:pt idx="1">
                  <c:v>Instagram popularity</c:v>
                </c:pt>
                <c:pt idx="2">
                  <c:v>Instagram usage</c:v>
                </c:pt>
                <c:pt idx="3">
                  <c:v>Instagram loyalty</c:v>
                </c:pt>
                <c:pt idx="4">
                  <c:v>Instagram buzz</c:v>
                </c:pt>
              </c:strCache>
            </c:strRef>
          </c:cat>
          <c:val>
            <c:numRef>
              <c:f>Sheet1!$B$2:$B$6</c:f>
              <c:numCache>
                <c:ptCount val="5"/>
                <c:pt idx="0">
                  <c:v>0.94</c:v>
                </c:pt>
                <c:pt idx="1">
                  <c:v>0.57</c:v>
                </c:pt>
                <c:pt idx="2">
                  <c:v>0.57</c:v>
                </c:pt>
                <c:pt idx="3">
                  <c:v>0.52</c:v>
                </c:pt>
                <c:pt idx="4">
                  <c:v>0.34</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1"/>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Sheet1!$A$2:$A$12</c:f>
              <c:strCache>
                <c:ptCount val="11"/>
                <c:pt idx="0">
                  <c:v>2017</c:v>
                </c:pt>
                <c:pt idx="1">
                  <c:v>2018</c:v>
                </c:pt>
                <c:pt idx="2">
                  <c:v>2019</c:v>
                </c:pt>
                <c:pt idx="3">
                  <c:v>2020</c:v>
                </c:pt>
                <c:pt idx="4">
                  <c:v>2021</c:v>
                </c:pt>
                <c:pt idx="5">
                  <c:v>2022</c:v>
                </c:pt>
                <c:pt idx="6">
                  <c:v>2023*</c:v>
                </c:pt>
                <c:pt idx="7">
                  <c:v>2024*</c:v>
                </c:pt>
                <c:pt idx="8">
                  <c:v>2025*</c:v>
                </c:pt>
                <c:pt idx="9">
                  <c:v>2026*</c:v>
                </c:pt>
                <c:pt idx="10">
                  <c:v>2027*</c:v>
                </c:pt>
              </c:strCache>
            </c:strRef>
          </c:cat>
          <c:val>
            <c:numRef>
              <c:f>Sheet1!$B$2:$B$12</c:f>
              <c:numCache>
                <c:ptCount val="11"/>
                <c:pt idx="0">
                  <c:v>12.55</c:v>
                </c:pt>
                <c:pt idx="1">
                  <c:v>19.41</c:v>
                </c:pt>
                <c:pt idx="2">
                  <c:v>52.37</c:v>
                </c:pt>
                <c:pt idx="3">
                  <c:v>123.86</c:v>
                </c:pt>
                <c:pt idx="4">
                  <c:v>181.45</c:v>
                </c:pt>
                <c:pt idx="5">
                  <c:v>227.81</c:v>
                </c:pt>
                <c:pt idx="6">
                  <c:v>253.46</c:v>
                </c:pt>
                <c:pt idx="7">
                  <c:v>267.17</c:v>
                </c:pt>
                <c:pt idx="8">
                  <c:v>274.56</c:v>
                </c:pt>
                <c:pt idx="9">
                  <c:v>278.93</c:v>
                </c:pt>
                <c:pt idx="10">
                  <c:v>281.82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Users in millions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Europe</c:v>
                </c:pt>
              </c:strCache>
            </c:strRef>
          </c:tx>
          <c:spPr>
            <a:ln>
              <a:solidFill>
                <a:srgbClr val="2875DD"/>
              </a:solidFill>
            </a:ln>
          </c:spPr>
          <c:marker>
            <c:symbol val="circle"/>
            <c:spPr>
              <a:solidFill>
                <a:srgbClr val="2875DD"/>
              </a:solidFill>
              <a:ln>
                <a:solidFill>
                  <a:srgbClr val="2875DD"/>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Sheet1!$A$2:$A$4</c:f>
              <c:strCache>
                <c:ptCount val="3"/>
                <c:pt idx="0">
                  <c:v>2020 Q4</c:v>
                </c:pt>
                <c:pt idx="1">
                  <c:v>2021 Q1</c:v>
                </c:pt>
                <c:pt idx="2">
                  <c:v>2021 Q2</c:v>
                </c:pt>
              </c:strCache>
            </c:strRef>
          </c:cat>
          <c:val>
            <c:numRef>
              <c:f>Sheet1!$B$2:$B$4</c:f>
              <c:numCache>
                <c:ptCount val="3"/>
                <c:pt idx="0">
                  <c:v>0.35</c:v>
                </c:pt>
                <c:pt idx="1">
                  <c:v>0.35</c:v>
                </c:pt>
                <c:pt idx="2">
                  <c:v>0.37</c:v>
                </c:pt>
              </c:numCache>
            </c:numRef>
          </c:val>
          <c:smooth val="0"/>
        </c:ser>
        <c:ser>
          <c:idx val="1"/>
          <c:order val="1"/>
          <c:tx>
            <c:strRef>
              <c:f>Sheet1!$C$1</c:f>
              <c:strCache>
                <c:ptCount val="1"/>
                <c:pt idx="0">
                  <c:v>North America</c:v>
                </c:pt>
              </c:strCache>
            </c:strRef>
          </c:tx>
          <c:spPr>
            <a:ln>
              <a:solidFill>
                <a:srgbClr val="0F283E"/>
              </a:solidFill>
            </a:ln>
          </c:spPr>
          <c:marker>
            <c:symbol val="circle"/>
            <c:spPr>
              <a:solidFill>
                <a:srgbClr val="0F283E"/>
              </a:solidFill>
              <a:ln>
                <a:solidFill>
                  <a:srgbClr val="0F283E"/>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Sheet1!$A$2:$A$4</c:f>
              <c:strCache>
                <c:ptCount val="3"/>
                <c:pt idx="0">
                  <c:v>2020 Q4</c:v>
                </c:pt>
                <c:pt idx="1">
                  <c:v>2021 Q1</c:v>
                </c:pt>
                <c:pt idx="2">
                  <c:v>2021 Q2</c:v>
                </c:pt>
              </c:strCache>
            </c:strRef>
          </c:cat>
          <c:val>
            <c:numRef>
              <c:f>Sheet1!$C$2:$C$4</c:f>
              <c:numCache>
                <c:ptCount val="3"/>
                <c:pt idx="0">
                  <c:v>0.32</c:v>
                </c:pt>
                <c:pt idx="1">
                  <c:v>0.34</c:v>
                </c:pt>
                <c:pt idx="2">
                  <c:v>0.4</c:v>
                </c:pt>
              </c:numCache>
            </c:numRef>
          </c:val>
          <c:smooth val="0"/>
        </c:ser>
        <c:ser>
          <c:idx val="2"/>
          <c:order val="2"/>
          <c:tx>
            <c:strRef>
              <c:f>Sheet1!$D$1</c:f>
              <c:strCache>
                <c:ptCount val="1"/>
                <c:pt idx="0">
                  <c:v>Latin America</c:v>
                </c:pt>
              </c:strCache>
            </c:strRef>
          </c:tx>
          <c:spPr>
            <a:ln>
              <a:solidFill>
                <a:srgbClr val="BABABA"/>
              </a:solidFill>
            </a:ln>
          </c:spPr>
          <c:marker>
            <c:symbol val="circle"/>
            <c:spPr>
              <a:solidFill>
                <a:srgbClr val="BABABA"/>
              </a:solidFill>
              <a:ln>
                <a:solidFill>
                  <a:srgbClr val="BABABA"/>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Sheet1!$A$2:$A$4</c:f>
              <c:strCache>
                <c:ptCount val="3"/>
                <c:pt idx="0">
                  <c:v>2020 Q4</c:v>
                </c:pt>
                <c:pt idx="1">
                  <c:v>2021 Q1</c:v>
                </c:pt>
                <c:pt idx="2">
                  <c:v>2021 Q2</c:v>
                </c:pt>
              </c:strCache>
            </c:strRef>
          </c:cat>
          <c:val>
            <c:numRef>
              <c:f>Sheet1!$D$2:$D$4</c:f>
              <c:numCache>
                <c:ptCount val="3"/>
                <c:pt idx="0">
                  <c:v>0.31</c:v>
                </c:pt>
                <c:pt idx="1">
                  <c:v>0.3</c:v>
                </c:pt>
                <c:pt idx="2">
                  <c:v>0.32</c:v>
                </c:pt>
              </c:numCache>
            </c:numRef>
          </c:val>
          <c:smooth val="0"/>
        </c:ser>
        <c:ser>
          <c:idx val="3"/>
          <c:order val="3"/>
          <c:tx>
            <c:strRef>
              <c:f>Sheet1!$E$1</c:f>
              <c:strCache>
                <c:ptCount val="1"/>
                <c:pt idx="0">
                  <c:v>MEA</c:v>
                </c:pt>
              </c:strCache>
            </c:strRef>
          </c:tx>
          <c:spPr>
            <a:ln>
              <a:solidFill>
                <a:srgbClr val="A60B0B"/>
              </a:solidFill>
            </a:ln>
          </c:spPr>
          <c:marker>
            <c:symbol val="circle"/>
            <c:spPr>
              <a:solidFill>
                <a:srgbClr val="A60B0B"/>
              </a:solidFill>
              <a:ln>
                <a:solidFill>
                  <a:srgbClr val="A60B0B"/>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Sheet1!$A$2:$A$4</c:f>
              <c:strCache>
                <c:ptCount val="3"/>
                <c:pt idx="0">
                  <c:v>2020 Q4</c:v>
                </c:pt>
                <c:pt idx="1">
                  <c:v>2021 Q1</c:v>
                </c:pt>
                <c:pt idx="2">
                  <c:v>2021 Q2</c:v>
                </c:pt>
              </c:strCache>
            </c:strRef>
          </c:cat>
          <c:val>
            <c:numRef>
              <c:f>Sheet1!$E$2:$E$4</c:f>
              <c:numCache>
                <c:ptCount val="3"/>
                <c:pt idx="0">
                  <c:v>0.31</c:v>
                </c:pt>
                <c:pt idx="1">
                  <c:v>0.32</c:v>
                </c:pt>
                <c:pt idx="2">
                  <c:v>0.33</c:v>
                </c:pt>
              </c:numCache>
            </c:numRef>
          </c:val>
          <c:smooth val="0"/>
        </c:ser>
        <c:ser>
          <c:idx val="4"/>
          <c:order val="4"/>
          <c:tx>
            <c:strRef>
              <c:f>Sheet1!$F$1</c:f>
              <c:strCache>
                <c:ptCount val="1"/>
                <c:pt idx="0">
                  <c:v>APAC (excluding China)</c:v>
                </c:pt>
              </c:strCache>
            </c:strRef>
          </c:tx>
          <c:spPr>
            <a:ln>
              <a:solidFill>
                <a:srgbClr val="87BC24"/>
              </a:solidFill>
            </a:ln>
          </c:spPr>
          <c:marker>
            <c:symbol val="circle"/>
            <c:spPr>
              <a:solidFill>
                <a:srgbClr val="87BC24"/>
              </a:solidFill>
              <a:ln>
                <a:solidFill>
                  <a:srgbClr val="87BC24"/>
                </a:solidFill>
              </a:ln>
            </c:spPr>
          </c:marker>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Sheet1!$A$2:$A$4</c:f>
              <c:strCache>
                <c:ptCount val="3"/>
                <c:pt idx="0">
                  <c:v>2020 Q4</c:v>
                </c:pt>
                <c:pt idx="1">
                  <c:v>2021 Q1</c:v>
                </c:pt>
                <c:pt idx="2">
                  <c:v>2021 Q2</c:v>
                </c:pt>
              </c:strCache>
            </c:strRef>
          </c:cat>
          <c:val>
            <c:numRef>
              <c:f>Sheet1!$F$2:$F$4</c:f>
              <c:numCache>
                <c:ptCount val="3"/>
                <c:pt idx="0">
                  <c:v>0.24</c:v>
                </c:pt>
                <c:pt idx="1">
                  <c:v>0.24</c:v>
                </c:pt>
                <c:pt idx="2">
                  <c:v>0.25</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2"/>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TikTok users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800" smtId="4294967295"/>
      </a:pPr>
      <a:endParaRPr sz="800" smtId="4294967295"/>
    </a:p>
  </c:txPr>
  <c:externalData r:id="rId1"/>
</c:chartSpace>
</file>

<file path=ppt/charts/chart4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Asia Pacific</c:v>
                </c:pt>
                <c:pt idx="1">
                  <c:v>Middle East/North Africa</c:v>
                </c:pt>
                <c:pt idx="2">
                  <c:v>Latin America</c:v>
                </c:pt>
                <c:pt idx="3">
                  <c:v>Western Europe</c:v>
                </c:pt>
                <c:pt idx="4">
                  <c:v>North America</c:v>
                </c:pt>
                <c:pt idx="5">
                  <c:v>Central and Eastern Europe</c:v>
                </c:pt>
                <c:pt idx="6">
                  <c:v>Sub-Saharan Africa</c:v>
                </c:pt>
              </c:strCache>
            </c:strRef>
          </c:cat>
          <c:val>
            <c:numRef>
              <c:f>Sheet1!$B$2:$B$8</c:f>
              <c:numCache>
                <c:ptCount val="7"/>
                <c:pt idx="0">
                  <c:v>1.59</c:v>
                </c:pt>
                <c:pt idx="1">
                  <c:v>1.223</c:v>
                </c:pt>
                <c:pt idx="2">
                  <c:v>0.912</c:v>
                </c:pt>
                <c:pt idx="3">
                  <c:v>0.851</c:v>
                </c:pt>
                <c:pt idx="4">
                  <c:v>0.78</c:v>
                </c:pt>
                <c:pt idx="5">
                  <c:v>0.773</c:v>
                </c:pt>
                <c:pt idx="6">
                  <c:v>0.672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YoY change in MAU</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Sheet1!$A$2:$A$11</c:f>
              <c:strCache>
                <c:ptCount val="10"/>
                <c:pt idx="0">
                  <c:v>@samdracot_farrier - Satisfying!!</c:v>
                </c:pt>
                <c:pt idx="1">
                  <c:v>@sadiessepsisjourney - Mum's sepsis recove</c:v>
                </c:pt>
                <c:pt idx="2">
                  <c:v>@kiki_n_rohy - Impeccable spray-painting</c:v>
                </c:pt>
                <c:pt idx="3">
                  <c:v>@jeremylynch - Shark encounter</c:v>
                </c:pt>
                <c:pt idx="4">
                  <c:v>@elliotforbes - The perfect shave</c:v>
                </c:pt>
                <c:pt idx="5">
                  <c:v>@fitwaffle - Heavenly homemade cheesecake</c:v>
                </c:pt>
                <c:pt idx="6">
                  <c:v>@menwiththepot - How to cook a stake</c:v>
                </c:pt>
                <c:pt idx="7">
                  <c:v>@adrianbliss - Inside our stomachs</c:v>
                </c:pt>
                <c:pt idx="8">
                  <c:v>@lav_sings - Awe-inspiring singing</c:v>
                </c:pt>
                <c:pt idx="9">
                  <c:v>@yumgoatmilk - lmfao guys what if he sees this</c:v>
                </c:pt>
              </c:strCache>
            </c:strRef>
          </c:cat>
          <c:val>
            <c:numRef>
              <c:f>Sheet1!$B$2:$B$11</c:f>
              <c:numCache>
                <c:ptCount val="10"/>
                <c:pt idx="0">
                  <c:v>270</c:v>
                </c:pt>
                <c:pt idx="1">
                  <c:v>244.1</c:v>
                </c:pt>
                <c:pt idx="2">
                  <c:v>195</c:v>
                </c:pt>
                <c:pt idx="3">
                  <c:v>128.1</c:v>
                </c:pt>
                <c:pt idx="4">
                  <c:v>120</c:v>
                </c:pt>
                <c:pt idx="5">
                  <c:v>115</c:v>
                </c:pt>
                <c:pt idx="6">
                  <c:v>96</c:v>
                </c:pt>
                <c:pt idx="7">
                  <c:v>76.4</c:v>
                </c:pt>
                <c:pt idx="8">
                  <c:v>60.7</c:v>
                </c:pt>
                <c:pt idx="9">
                  <c:v>60.2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4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Sheet1!$A$2:$A$11</c:f>
              <c:strCache>
                <c:ptCount val="10"/>
                <c:pt idx="0">
                  <c:v>youneszarou</c:v>
                </c:pt>
                <c:pt idx="1">
                  <c:v>condsty</c:v>
                </c:pt>
                <c:pt idx="2">
                  <c:v>nickaufmann</c:v>
                </c:pt>
                <c:pt idx="3">
                  <c:v>itskingchris</c:v>
                </c:pt>
                <c:pt idx="4">
                  <c:v>avemoves</c:v>
                </c:pt>
                <c:pt idx="5">
                  <c:v>thispronto</c:v>
                </c:pt>
                <c:pt idx="6">
                  <c:v>joshuamonis</c:v>
                </c:pt>
                <c:pt idx="7">
                  <c:v>lisaandlena</c:v>
                </c:pt>
                <c:pt idx="8">
                  <c:v>insecthaus_adi</c:v>
                </c:pt>
                <c:pt idx="9">
                  <c:v>nilskue</c:v>
                </c:pt>
              </c:strCache>
            </c:strRef>
          </c:cat>
          <c:val>
            <c:numRef>
              <c:f>Sheet1!$B$2:$B$11</c:f>
              <c:numCache>
                <c:ptCount val="10"/>
                <c:pt idx="0">
                  <c:v>48.51</c:v>
                </c:pt>
                <c:pt idx="1">
                  <c:v>23.82</c:v>
                </c:pt>
                <c:pt idx="2">
                  <c:v>19.79</c:v>
                </c:pt>
                <c:pt idx="3">
                  <c:v>17.51</c:v>
                </c:pt>
                <c:pt idx="4">
                  <c:v>16.52</c:v>
                </c:pt>
                <c:pt idx="5">
                  <c:v>15.83</c:v>
                </c:pt>
                <c:pt idx="6">
                  <c:v>14.09</c:v>
                </c:pt>
                <c:pt idx="7">
                  <c:v>13.69</c:v>
                </c:pt>
                <c:pt idx="8">
                  <c:v>13.53</c:v>
                </c:pt>
                <c:pt idx="9">
                  <c:v>13.38</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Women</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13-17</c:v>
                </c:pt>
                <c:pt idx="1">
                  <c:v>18-24</c:v>
                </c:pt>
                <c:pt idx="2">
                  <c:v>25-34</c:v>
                </c:pt>
                <c:pt idx="3">
                  <c:v>35-44</c:v>
                </c:pt>
                <c:pt idx="4">
                  <c:v>45-54</c:v>
                </c:pt>
                <c:pt idx="5">
                  <c:v>55+</c:v>
                </c:pt>
                <c:pt idx="6">
                  <c:v>Overall</c:v>
                </c:pt>
              </c:strCache>
            </c:strRef>
          </c:cat>
          <c:val>
            <c:numRef>
              <c:f>Sheet1!$B$2:$B$8</c:f>
              <c:numCache>
                <c:ptCount val="7"/>
                <c:pt idx="0">
                  <c:v>0.2463</c:v>
                </c:pt>
                <c:pt idx="1">
                  <c:v>0.3027</c:v>
                </c:pt>
                <c:pt idx="2">
                  <c:v>0.1152</c:v>
                </c:pt>
                <c:pt idx="3">
                  <c:v>0.0172</c:v>
                </c:pt>
                <c:pt idx="4">
                  <c:v>0.004</c:v>
                </c:pt>
                <c:pt idx="5">
                  <c:v>0.0013</c:v>
                </c:pt>
                <c:pt idx="6">
                  <c:v>0.6867</c:v>
                </c:pt>
              </c:numCache>
            </c:numRef>
          </c:val>
        </c:ser>
        <c:ser>
          <c:idx val="1"/>
          <c:order val="1"/>
          <c:tx>
            <c:strRef>
              <c:f>Sheet1!$C$1</c:f>
              <c:strCache>
                <c:ptCount val="1"/>
                <c:pt idx="0">
                  <c:v>Men</c:v>
                </c:pt>
              </c:strCache>
            </c:strRef>
          </c:tx>
          <c:spPr>
            <a:solidFill>
              <a:srgbClr val="0F283E"/>
            </a:solidFill>
            <a:ln>
              <a:solidFill>
                <a:srgbClr val="0F283E"/>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13-17</c:v>
                </c:pt>
                <c:pt idx="1">
                  <c:v>18-24</c:v>
                </c:pt>
                <c:pt idx="2">
                  <c:v>25-34</c:v>
                </c:pt>
                <c:pt idx="3">
                  <c:v>35-44</c:v>
                </c:pt>
                <c:pt idx="4">
                  <c:v>45-54</c:v>
                </c:pt>
                <c:pt idx="5">
                  <c:v>55+</c:v>
                </c:pt>
                <c:pt idx="6">
                  <c:v>Overall</c:v>
                </c:pt>
              </c:strCache>
            </c:strRef>
          </c:cat>
          <c:val>
            <c:numRef>
              <c:f>Sheet1!$C$2:$C$8</c:f>
              <c:numCache>
                <c:ptCount val="7"/>
                <c:pt idx="0">
                  <c:v>0.0806</c:v>
                </c:pt>
                <c:pt idx="1">
                  <c:v>0.0993</c:v>
                </c:pt>
                <c:pt idx="2">
                  <c:v>0.0956</c:v>
                </c:pt>
                <c:pt idx="3">
                  <c:v>0.0281</c:v>
                </c:pt>
                <c:pt idx="4">
                  <c:v>0.0077</c:v>
                </c:pt>
                <c:pt idx="5">
                  <c:v>0.002</c:v>
                </c:pt>
                <c:pt idx="6">
                  <c:v>0.3133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Influencers by number of followers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5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Sheet1!$A$2:$A$3</c:f>
              <c:strCache>
                <c:ptCount val="2"/>
                <c:pt idx="0">
                  <c:v>Girls</c:v>
                </c:pt>
                <c:pt idx="1">
                  <c:v>Boys</c:v>
                </c:pt>
              </c:strCache>
            </c:strRef>
          </c:cat>
          <c:val>
            <c:numRef>
              <c:f>Sheet1!$B$2:$B$3</c:f>
              <c:numCache>
                <c:ptCount val="2"/>
                <c:pt idx="0">
                  <c:v>0.6</c:v>
                </c:pt>
                <c:pt idx="1">
                  <c:v>0.66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Usage</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Pt>
            <c:idx val="0"/>
            <c:invertIfNegative val="0"/>
            <c:spPr>
              <a:solidFill>
                <a:srgbClr val="003C6A"/>
              </a:solidFill>
            </c:spPr>
          </c:dPt>
          <c:dPt>
            <c:idx val="1"/>
            <c:invertIfNegative val="0"/>
            <c:spPr>
              <a:solidFill>
                <a:srgbClr val="0059A0"/>
              </a:solidFill>
            </c:spPr>
          </c:dPt>
          <c:dPt>
            <c:idx val="2"/>
            <c:invertIfNegative val="0"/>
            <c:spPr>
              <a:solidFill>
                <a:srgbClr val="0077D5"/>
              </a:solidFill>
            </c:spPr>
          </c:dPt>
          <c:dPt>
            <c:idx val="3"/>
            <c:invertIfNegative val="0"/>
            <c:spPr>
              <a:solidFill>
                <a:srgbClr val="4DB0FF"/>
              </a:solidFill>
            </c:spPr>
          </c:dPt>
          <c:dPt>
            <c:idx val="4"/>
            <c:invertIfNegative val="0"/>
            <c:spPr>
              <a:solidFill>
                <a:srgbClr val="88CBFF"/>
              </a:solidFill>
            </c:spPr>
          </c:dPt>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TikTok awareness</c:v>
                </c:pt>
                <c:pt idx="1">
                  <c:v>TikTok popularity</c:v>
                </c:pt>
                <c:pt idx="2">
                  <c:v>TikTok usage</c:v>
                </c:pt>
                <c:pt idx="3">
                  <c:v>TikTok loyalty</c:v>
                </c:pt>
                <c:pt idx="4">
                  <c:v>TikTok buzz</c:v>
                </c:pt>
              </c:strCache>
            </c:strRef>
          </c:cat>
          <c:val>
            <c:numRef>
              <c:f>Sheet1!$B$2:$B$6</c:f>
              <c:numCache>
                <c:ptCount val="5"/>
                <c:pt idx="0">
                  <c:v>0.92</c:v>
                </c:pt>
                <c:pt idx="1">
                  <c:v>0.4</c:v>
                </c:pt>
                <c:pt idx="2">
                  <c:v>0.4</c:v>
                </c:pt>
                <c:pt idx="3">
                  <c:v>0.35</c:v>
                </c:pt>
                <c:pt idx="4">
                  <c:v>0.32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1"/>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data</c:v>
                </c:pt>
              </c:strCache>
            </c:strRef>
          </c:tx>
          <c:spPr>
            <a:solidFill>
              <a:srgbClr val="2875DD"/>
            </a:solidFill>
            <a:ln>
              <a:solidFill>
                <a:srgbClr val="2875DD"/>
              </a:solidFill>
            </a:ln>
          </c:spPr>
          <c:invertIfNegative val="0"/>
          <c:dPt>
            <c:idx val="0"/>
            <c:invertIfNegative val="0"/>
            <c:spPr>
              <a:solidFill>
                <a:srgbClr val="003C6A"/>
              </a:solidFill>
            </c:spPr>
          </c:dPt>
          <c:dPt>
            <c:idx val="1"/>
            <c:invertIfNegative val="0"/>
            <c:spPr>
              <a:solidFill>
                <a:srgbClr val="0059A0"/>
              </a:solidFill>
            </c:spPr>
          </c:dPt>
          <c:dPt>
            <c:idx val="2"/>
            <c:invertIfNegative val="0"/>
            <c:spPr>
              <a:solidFill>
                <a:srgbClr val="0077D5"/>
              </a:solidFill>
            </c:spPr>
          </c:dPt>
          <c:dPt>
            <c:idx val="3"/>
            <c:invertIfNegative val="0"/>
            <c:spPr>
              <a:solidFill>
                <a:srgbClr val="4DB0FF"/>
              </a:solidFill>
            </c:spPr>
          </c:dPt>
          <c:dPt>
            <c:idx val="4"/>
            <c:invertIfNegative val="0"/>
            <c:spPr>
              <a:solidFill>
                <a:srgbClr val="88CBFF"/>
              </a:solidFill>
            </c:spPr>
          </c:dPt>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TikTok awareness</c:v>
                </c:pt>
                <c:pt idx="1">
                  <c:v>TikTok popularity</c:v>
                </c:pt>
                <c:pt idx="2">
                  <c:v>TikTok usage</c:v>
                </c:pt>
                <c:pt idx="3">
                  <c:v>TikTok loyalty</c:v>
                </c:pt>
                <c:pt idx="4">
                  <c:v>TikTok buzz</c:v>
                </c:pt>
              </c:strCache>
            </c:strRef>
          </c:cat>
          <c:val>
            <c:numRef>
              <c:f>Sheet1!$B$2:$B$6</c:f>
              <c:numCache>
                <c:ptCount val="5"/>
                <c:pt idx="0">
                  <c:v>0.91</c:v>
                </c:pt>
                <c:pt idx="1">
                  <c:v>0.44</c:v>
                </c:pt>
                <c:pt idx="2">
                  <c:v>0.44</c:v>
                </c:pt>
                <c:pt idx="3">
                  <c:v>0.38</c:v>
                </c:pt>
                <c:pt idx="4">
                  <c:v>0.36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1"/>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The topics that are discussed</c:v>
                </c:pt>
                <c:pt idx="1">
                  <c:v>The social network I use the most</c:v>
                </c:pt>
                <c:pt idx="2">
                  <c:v>The advice of friends</c:v>
                </c:pt>
                <c:pt idx="3">
                  <c:v>How famous and present they are on TV</c:v>
                </c:pt>
                <c:pt idx="4">
                  <c:v>Suggestions made by other influencers</c:v>
                </c:pt>
                <c:pt idx="5">
                  <c:v>Because it's trendy to folllow them</c:v>
                </c:pt>
                <c:pt idx="6">
                  <c:v>The amount of followers they have on social media</c:v>
                </c:pt>
              </c:strCache>
            </c:strRef>
          </c:cat>
          <c:val>
            <c:numRef>
              <c:f>Sheet1!$B$2:$B$8</c:f>
              <c:numCache>
                <c:ptCount val="7"/>
                <c:pt idx="0">
                  <c:v>0.69</c:v>
                </c:pt>
                <c:pt idx="1">
                  <c:v>0.34</c:v>
                </c:pt>
                <c:pt idx="2">
                  <c:v>0.21</c:v>
                </c:pt>
                <c:pt idx="3">
                  <c:v>0.19</c:v>
                </c:pt>
                <c:pt idx="4">
                  <c:v>0.16</c:v>
                </c:pt>
                <c:pt idx="5">
                  <c:v>0.11</c:v>
                </c:pt>
                <c:pt idx="6">
                  <c:v>0.09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Friends, family and people you know</c:v>
                </c:pt>
                <c:pt idx="1">
                  <c:v>Bands, singers, or musicians</c:v>
                </c:pt>
                <c:pt idx="2">
                  <c:v>Actors, comedians, or other performers</c:v>
                </c:pt>
                <c:pt idx="3">
                  <c:v>Restaurants, chefs and foodies</c:v>
                </c:pt>
                <c:pt idx="4">
                  <c:v>Entertainment, memes, or parody accounts</c:v>
                </c:pt>
                <c:pt idx="5">
                  <c:v>TV shows or channels</c:v>
                </c:pt>
                <c:pt idx="6">
                  <c:v>Brands you purchase</c:v>
                </c:pt>
                <c:pt idx="7">
                  <c:v>Influencers or other experts</c:v>
                </c:pt>
                <c:pt idx="8">
                  <c:v>Sports people and teams</c:v>
                </c:pt>
                <c:pt idx="9">
                  <c:v>Brands you're considering purchasing</c:v>
                </c:pt>
                <c:pt idx="10">
                  <c:v>Journalists or news companies</c:v>
                </c:pt>
                <c:pt idx="11">
                  <c:v>Contacts relevant to work</c:v>
                </c:pt>
                <c:pt idx="12">
                  <c:v>Magazines or publications you read</c:v>
                </c:pt>
                <c:pt idx="13">
                  <c:v>Beauty experts</c:v>
                </c:pt>
                <c:pt idx="14">
                  <c:v>Events you're attending</c:v>
                </c:pt>
              </c:strCache>
            </c:strRef>
          </c:cat>
          <c:val>
            <c:numRef>
              <c:f>Sheet1!$B$2:$B$16</c:f>
              <c:numCache>
                <c:ptCount val="15"/>
                <c:pt idx="0">
                  <c:v>0.504</c:v>
                </c:pt>
                <c:pt idx="1">
                  <c:v>0.333</c:v>
                </c:pt>
                <c:pt idx="2">
                  <c:v>0.302</c:v>
                </c:pt>
                <c:pt idx="3">
                  <c:v>0.264</c:v>
                </c:pt>
                <c:pt idx="4">
                  <c:v>0.247</c:v>
                </c:pt>
                <c:pt idx="5">
                  <c:v>0.242</c:v>
                </c:pt>
                <c:pt idx="6">
                  <c:v>0.232</c:v>
                </c:pt>
                <c:pt idx="7">
                  <c:v>0.224</c:v>
                </c:pt>
                <c:pt idx="8">
                  <c:v>0.206</c:v>
                </c:pt>
                <c:pt idx="9">
                  <c:v>0.201</c:v>
                </c:pt>
                <c:pt idx="10">
                  <c:v>0.18</c:v>
                </c:pt>
                <c:pt idx="11">
                  <c:v>0.164</c:v>
                </c:pt>
                <c:pt idx="12">
                  <c:v>0.159</c:v>
                </c:pt>
                <c:pt idx="13">
                  <c:v>0.152</c:v>
                </c:pt>
                <c:pt idx="14">
                  <c:v>0.151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Very credible</c:v>
                </c:pt>
                <c:pt idx="1">
                  <c:v>Quite credible</c:v>
                </c:pt>
                <c:pt idx="2">
                  <c:v>Somewhat credible</c:v>
                </c:pt>
                <c:pt idx="3">
                  <c:v>Not very credible</c:v>
                </c:pt>
                <c:pt idx="4">
                  <c:v>Not at all credible</c:v>
                </c:pt>
              </c:strCache>
            </c:strRef>
          </c:cat>
          <c:val>
            <c:numRef>
              <c:f>Sheet1!$B$2:$B$6</c:f>
              <c:numCache>
                <c:ptCount val="5"/>
                <c:pt idx="0">
                  <c:v>0.08</c:v>
                </c:pt>
                <c:pt idx="1">
                  <c:v>0.39</c:v>
                </c:pt>
                <c:pt idx="2">
                  <c:v>0.43</c:v>
                </c:pt>
                <c:pt idx="3">
                  <c:v>0.09</c:v>
                </c:pt>
                <c:pt idx="4">
                  <c:v>0.01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Very promotional</c:v>
                </c:pt>
                <c:pt idx="1">
                  <c:v>Quite promotional</c:v>
                </c:pt>
                <c:pt idx="2">
                  <c:v>Somewhat promotional</c:v>
                </c:pt>
                <c:pt idx="3">
                  <c:v>Not very promotional</c:v>
                </c:pt>
                <c:pt idx="4">
                  <c:v>Not at all promotional</c:v>
                </c:pt>
              </c:strCache>
            </c:strRef>
          </c:cat>
          <c:val>
            <c:numRef>
              <c:f>Sheet1!$B$2:$B$6</c:f>
              <c:numCache>
                <c:ptCount val="5"/>
                <c:pt idx="0">
                  <c:v>0.12</c:v>
                </c:pt>
                <c:pt idx="1">
                  <c:v>0.22</c:v>
                </c:pt>
                <c:pt idx="2">
                  <c:v>0.46</c:v>
                </c:pt>
                <c:pt idx="3">
                  <c:v>0.16</c:v>
                </c:pt>
                <c:pt idx="4">
                  <c:v>0.04</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0.502"/>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Several times a day</c:v>
                </c:pt>
                <c:pt idx="1">
                  <c:v>Once a day</c:v>
                </c:pt>
                <c:pt idx="2">
                  <c:v>Two/three times a week</c:v>
                </c:pt>
                <c:pt idx="3">
                  <c:v>Once a week</c:v>
                </c:pt>
                <c:pt idx="4">
                  <c:v>Two/three times a month</c:v>
                </c:pt>
                <c:pt idx="5">
                  <c:v>Once a month</c:v>
                </c:pt>
                <c:pt idx="6">
                  <c:v>Less frequently</c:v>
                </c:pt>
              </c:strCache>
            </c:strRef>
          </c:cat>
          <c:val>
            <c:numRef>
              <c:f>Sheet1!$B$2:$B$8</c:f>
              <c:numCache>
                <c:ptCount val="7"/>
                <c:pt idx="0">
                  <c:v>0.18</c:v>
                </c:pt>
                <c:pt idx="1">
                  <c:v>0.3</c:v>
                </c:pt>
                <c:pt idx="2">
                  <c:v>0.25</c:v>
                </c:pt>
                <c:pt idx="3">
                  <c:v>0.14</c:v>
                </c:pt>
                <c:pt idx="4">
                  <c:v>0.04</c:v>
                </c:pt>
                <c:pt idx="5">
                  <c:v>0.01</c:v>
                </c:pt>
                <c:pt idx="6">
                  <c:v>0.08</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Mega</c:v>
                </c:pt>
                <c:pt idx="1">
                  <c:v>Macro</c:v>
                </c:pt>
                <c:pt idx="2">
                  <c:v>Micro</c:v>
                </c:pt>
                <c:pt idx="3">
                  <c:v>Nano</c:v>
                </c:pt>
                <c:pt idx="4">
                  <c:v>No preference</c:v>
                </c:pt>
              </c:strCache>
            </c:strRef>
          </c:cat>
          <c:val>
            <c:numRef>
              <c:f>Sheet1!$B$2:$B$6</c:f>
              <c:numCache>
                <c:ptCount val="5"/>
                <c:pt idx="0">
                  <c:v>0.1161</c:v>
                </c:pt>
                <c:pt idx="1">
                  <c:v>0.1944</c:v>
                </c:pt>
                <c:pt idx="2">
                  <c:v>0.2619</c:v>
                </c:pt>
                <c:pt idx="3">
                  <c:v>0.0903</c:v>
                </c:pt>
                <c:pt idx="4">
                  <c:v>0.3373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0.36199999999999993"/>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6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2020</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Sheet1!$A$2:$A$4</c:f>
              <c:strCache>
                <c:ptCount val="3"/>
                <c:pt idx="0">
                  <c:v>Yes</c:v>
                </c:pt>
                <c:pt idx="1">
                  <c:v>No</c:v>
                </c:pt>
                <c:pt idx="2">
                  <c:v>No answer</c:v>
                </c:pt>
              </c:strCache>
            </c:strRef>
          </c:cat>
          <c:val>
            <c:numRef>
              <c:f>Sheet1!$B$2:$B$4</c:f>
              <c:numCache>
                <c:ptCount val="3"/>
                <c:pt idx="0">
                  <c:v>0.188</c:v>
                </c:pt>
                <c:pt idx="1">
                  <c:v>0.809</c:v>
                </c:pt>
                <c:pt idx="2">
                  <c:v>0.003</c:v>
                </c:pt>
              </c:numCache>
            </c:numRef>
          </c:val>
        </c:ser>
        <c:ser>
          <c:idx val="1"/>
          <c:order val="1"/>
          <c:tx>
            <c:strRef>
              <c:f>Sheet1!$C$1</c:f>
              <c:strCache>
                <c:ptCount val="1"/>
                <c:pt idx="0">
                  <c:v>2021</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Sheet1!$A$2:$A$4</c:f>
              <c:strCache>
                <c:ptCount val="3"/>
                <c:pt idx="0">
                  <c:v>Yes</c:v>
                </c:pt>
                <c:pt idx="1">
                  <c:v>No</c:v>
                </c:pt>
                <c:pt idx="2">
                  <c:v>No answer</c:v>
                </c:pt>
              </c:strCache>
            </c:strRef>
          </c:cat>
          <c:val>
            <c:numRef>
              <c:f>Sheet1!$C$2:$C$4</c:f>
              <c:numCache>
                <c:ptCount val="3"/>
                <c:pt idx="0">
                  <c:v>0.21</c:v>
                </c:pt>
                <c:pt idx="1">
                  <c:v>0.787</c:v>
                </c:pt>
                <c:pt idx="2">
                  <c:v>0.003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6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2020</c:v>
                </c:pt>
              </c:strCache>
            </c:strRef>
          </c:tx>
          <c:spPr>
            <a:solidFill>
              <a:srgbClr val="2875DD"/>
            </a:solidFill>
            <a:ln>
              <a:solidFill>
                <a:srgbClr val="2875DD"/>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Sheet1!$A$2:$A$7</c:f>
              <c:strCache>
                <c:ptCount val="6"/>
                <c:pt idx="0">
                  <c:v>1,000 to 5,000</c:v>
                </c:pt>
                <c:pt idx="1">
                  <c:v>5,000 to 20,000</c:v>
                </c:pt>
                <c:pt idx="2">
                  <c:v>20,000 to 100,000</c:v>
                </c:pt>
                <c:pt idx="3">
                  <c:v>100,000 to 1,000,000</c:v>
                </c:pt>
                <c:pt idx="4">
                  <c:v>1,000,000 and above</c:v>
                </c:pt>
                <c:pt idx="5">
                  <c:v>Average</c:v>
                </c:pt>
              </c:strCache>
            </c:strRef>
          </c:cat>
          <c:val>
            <c:numRef>
              <c:f>Sheet1!$B$2:$B$7</c:f>
              <c:numCache>
                <c:ptCount val="6"/>
                <c:pt idx="0">
                  <c:v>0.0615</c:v>
                </c:pt>
                <c:pt idx="1">
                  <c:v>0.0326</c:v>
                </c:pt>
                <c:pt idx="2">
                  <c:v>0.0268</c:v>
                </c:pt>
                <c:pt idx="3">
                  <c:v>0.0288</c:v>
                </c:pt>
                <c:pt idx="4">
                  <c:v>0.031</c:v>
                </c:pt>
                <c:pt idx="5">
                  <c:v>0.0394</c:v>
                </c:pt>
              </c:numCache>
            </c:numRef>
          </c:val>
        </c:ser>
        <c:ser>
          <c:idx val="1"/>
          <c:order val="1"/>
          <c:tx>
            <c:strRef>
              <c:f>Sheet1!$C$1</c:f>
              <c:strCache>
                <c:ptCount val="1"/>
                <c:pt idx="0">
                  <c:v>2021</c:v>
                </c:pt>
              </c:strCache>
            </c:strRef>
          </c:tx>
          <c:spPr>
            <a:solidFill>
              <a:srgbClr val="0F283E"/>
            </a:solidFill>
            <a:ln>
              <a:solidFill>
                <a:srgbClr val="0F283E"/>
              </a:solidFill>
            </a:ln>
          </c:spPr>
          <c:invertIfNegative val="0"/>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Sheet1!$A$2:$A$7</c:f>
              <c:strCache>
                <c:ptCount val="6"/>
                <c:pt idx="0">
                  <c:v>1,000 to 5,000</c:v>
                </c:pt>
                <c:pt idx="1">
                  <c:v>5,000 to 20,000</c:v>
                </c:pt>
                <c:pt idx="2">
                  <c:v>20,000 to 100,000</c:v>
                </c:pt>
                <c:pt idx="3">
                  <c:v>100,000 to 1,000,000</c:v>
                </c:pt>
                <c:pt idx="4">
                  <c:v>1,000,000 and above</c:v>
                </c:pt>
                <c:pt idx="5">
                  <c:v>Average</c:v>
                </c:pt>
              </c:strCache>
            </c:strRef>
          </c:cat>
          <c:val>
            <c:numRef>
              <c:f>Sheet1!$C$2:$C$7</c:f>
              <c:numCache>
                <c:ptCount val="6"/>
                <c:pt idx="0">
                  <c:v>0.0585</c:v>
                </c:pt>
                <c:pt idx="1">
                  <c:v>0.0298</c:v>
                </c:pt>
                <c:pt idx="2">
                  <c:v>0.0228</c:v>
                </c:pt>
                <c:pt idx="3">
                  <c:v>0.022</c:v>
                </c:pt>
                <c:pt idx="4">
                  <c:v>0.0227</c:v>
                </c:pt>
                <c:pt idx="5">
                  <c:v>0.0367</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Engagement rate</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6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United Kingdom</c:v>
                </c:pt>
                <c:pt idx="1">
                  <c:v>Germany</c:v>
                </c:pt>
                <c:pt idx="2">
                  <c:v>France</c:v>
                </c:pt>
                <c:pt idx="3">
                  <c:v>Italy</c:v>
                </c:pt>
                <c:pt idx="4">
                  <c:v>Spain</c:v>
                </c:pt>
                <c:pt idx="5">
                  <c:v>Netherlands</c:v>
                </c:pt>
                <c:pt idx="6">
                  <c:v>Sweden</c:v>
                </c:pt>
                <c:pt idx="7">
                  <c:v>Norway</c:v>
                </c:pt>
                <c:pt idx="8">
                  <c:v>Belgium</c:v>
                </c:pt>
                <c:pt idx="9">
                  <c:v>Switzerland</c:v>
                </c:pt>
                <c:pt idx="10">
                  <c:v>Denmark</c:v>
                </c:pt>
                <c:pt idx="11">
                  <c:v>Austria</c:v>
                </c:pt>
                <c:pt idx="12">
                  <c:v>Ireland</c:v>
                </c:pt>
                <c:pt idx="13">
                  <c:v>Portugal</c:v>
                </c:pt>
                <c:pt idx="14">
                  <c:v>Finland</c:v>
                </c:pt>
              </c:strCache>
            </c:strRef>
          </c:cat>
          <c:val>
            <c:numRef>
              <c:f>Sheet1!$B$2:$B$16</c:f>
              <c:numCache>
                <c:ptCount val="15"/>
                <c:pt idx="0">
                  <c:v>12160</c:v>
                </c:pt>
                <c:pt idx="1">
                  <c:v>4482</c:v>
                </c:pt>
                <c:pt idx="2">
                  <c:v>3292</c:v>
                </c:pt>
                <c:pt idx="3">
                  <c:v>2283</c:v>
                </c:pt>
                <c:pt idx="4">
                  <c:v>1918</c:v>
                </c:pt>
                <c:pt idx="5">
                  <c:v>1243</c:v>
                </c:pt>
                <c:pt idx="6">
                  <c:v>1100</c:v>
                </c:pt>
                <c:pt idx="7">
                  <c:v>592.8</c:v>
                </c:pt>
                <c:pt idx="8">
                  <c:v>580.1</c:v>
                </c:pt>
                <c:pt idx="9">
                  <c:v>562.9</c:v>
                </c:pt>
                <c:pt idx="10">
                  <c:v>532.6</c:v>
                </c:pt>
                <c:pt idx="11">
                  <c:v>433</c:v>
                </c:pt>
                <c:pt idx="12">
                  <c:v>431.3</c:v>
                </c:pt>
                <c:pt idx="13">
                  <c:v>324.3</c:v>
                </c:pt>
                <c:pt idx="14">
                  <c:v>319.1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6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Use wiki based knowledge sharing tools</c:v>
                </c:pt>
              </c:strCache>
            </c:strRef>
          </c:tx>
          <c:spPr>
            <a:solidFill>
              <a:srgbClr val="A60B0B"/>
            </a:solidFill>
            <a:ln>
              <a:solidFill>
                <a:srgbClr val="A60B0B"/>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Sheet1!$A$2:$A$12</c:f>
              <c:strCache>
                <c:ptCount val="11"/>
                <c:pt idx="0">
                  <c:v>Accommodation</c:v>
                </c:pt>
                <c:pt idx="1">
                  <c:v>Information and communication</c:v>
                </c:pt>
                <c:pt idx="2">
                  <c:v>Repair of motor vehicles and motorcycles</c:v>
                </c:pt>
                <c:pt idx="3">
                  <c:v>Retail trade</c:v>
                </c:pt>
                <c:pt idx="4">
                  <c:v>Rental and leasing activities</c:v>
                </c:pt>
                <c:pt idx="5">
                  <c:v>Professional, scientific and technical activities*</c:v>
                </c:pt>
                <c:pt idx="6">
                  <c:v>Real estate activities</c:v>
                </c:pt>
                <c:pt idx="7">
                  <c:v>Manufacturing</c:v>
                </c:pt>
                <c:pt idx="8">
                  <c:v>Electricity, gas, steam, air conditioning and water supply</c:v>
                </c:pt>
                <c:pt idx="9">
                  <c:v>Construction</c:v>
                </c:pt>
                <c:pt idx="10">
                  <c:v>Transportation and storage</c:v>
                </c:pt>
              </c:strCache>
            </c:strRef>
          </c:cat>
          <c:val>
            <c:numRef>
              <c:f>Sheet1!$B$2:$B$12</c:f>
              <c:numCache>
                <c:ptCount val="11"/>
                <c:pt idx="0">
                  <c:v>0.05</c:v>
                </c:pt>
                <c:pt idx="1">
                  <c:v>0.3</c:v>
                </c:pt>
                <c:pt idx="2">
                  <c:v>0.05</c:v>
                </c:pt>
                <c:pt idx="3">
                  <c:v>0.04</c:v>
                </c:pt>
                <c:pt idx="4">
                  <c:v>0.05</c:v>
                </c:pt>
                <c:pt idx="5">
                  <c:v>0.1</c:v>
                </c:pt>
                <c:pt idx="6">
                  <c:v>0.05</c:v>
                </c:pt>
                <c:pt idx="7">
                  <c:v>0.04</c:v>
                </c:pt>
                <c:pt idx="8">
                  <c:v>0.06</c:v>
                </c:pt>
                <c:pt idx="9">
                  <c:v>0.02</c:v>
                </c:pt>
                <c:pt idx="10">
                  <c:v>0.03</c:v>
                </c:pt>
              </c:numCache>
            </c:numRef>
          </c:val>
        </c:ser>
        <c:ser>
          <c:idx val="1"/>
          <c:order val="1"/>
          <c:tx>
            <c:strRef>
              <c:f>Sheet1!$C$1</c:f>
              <c:strCache>
                <c:ptCount val="1"/>
                <c:pt idx="0">
                  <c:v>Use multimedia content sharing websites</c:v>
                </c:pt>
              </c:strCache>
            </c:strRef>
          </c:tx>
          <c:spPr>
            <a:solidFill>
              <a:srgbClr val="BABABA"/>
            </a:solidFill>
            <a:ln>
              <a:solidFill>
                <a:srgbClr val="BABABA"/>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Sheet1!$A$2:$A$12</c:f>
              <c:strCache>
                <c:ptCount val="11"/>
                <c:pt idx="0">
                  <c:v>Accommodation</c:v>
                </c:pt>
                <c:pt idx="1">
                  <c:v>Information and communication</c:v>
                </c:pt>
                <c:pt idx="2">
                  <c:v>Repair of motor vehicles and motorcycles</c:v>
                </c:pt>
                <c:pt idx="3">
                  <c:v>Retail trade</c:v>
                </c:pt>
                <c:pt idx="4">
                  <c:v>Rental and leasing activities</c:v>
                </c:pt>
                <c:pt idx="5">
                  <c:v>Professional, scientific and technical activities*</c:v>
                </c:pt>
                <c:pt idx="6">
                  <c:v>Real estate activities</c:v>
                </c:pt>
                <c:pt idx="7">
                  <c:v>Manufacturing</c:v>
                </c:pt>
                <c:pt idx="8">
                  <c:v>Electricity, gas, steam, air conditioning and water supply</c:v>
                </c:pt>
                <c:pt idx="9">
                  <c:v>Construction</c:v>
                </c:pt>
                <c:pt idx="10">
                  <c:v>Transportation and storage</c:v>
                </c:pt>
              </c:strCache>
            </c:strRef>
          </c:cat>
          <c:val>
            <c:numRef>
              <c:f>Sheet1!$C$2:$C$12</c:f>
              <c:numCache>
                <c:ptCount val="11"/>
                <c:pt idx="0">
                  <c:v>0.54</c:v>
                </c:pt>
                <c:pt idx="1">
                  <c:v>0.5</c:v>
                </c:pt>
                <c:pt idx="2">
                  <c:v>0.32</c:v>
                </c:pt>
                <c:pt idx="3">
                  <c:v>0.31</c:v>
                </c:pt>
                <c:pt idx="4">
                  <c:v>0.24</c:v>
                </c:pt>
                <c:pt idx="5">
                  <c:v>0.23</c:v>
                </c:pt>
                <c:pt idx="6">
                  <c:v>0.27</c:v>
                </c:pt>
                <c:pt idx="7">
                  <c:v>0.26</c:v>
                </c:pt>
                <c:pt idx="8">
                  <c:v>0.19</c:v>
                </c:pt>
                <c:pt idx="9">
                  <c:v>0.15</c:v>
                </c:pt>
                <c:pt idx="10">
                  <c:v>0.14</c:v>
                </c:pt>
              </c:numCache>
            </c:numRef>
          </c:val>
        </c:ser>
        <c:ser>
          <c:idx val="2"/>
          <c:order val="2"/>
          <c:tx>
            <c:strRef>
              <c:f>Sheet1!$D$1</c:f>
              <c:strCache>
                <c:ptCount val="1"/>
                <c:pt idx="0">
                  <c:v>Use enterprise's blog or microblogs</c:v>
                </c:pt>
              </c:strCache>
            </c:strRef>
          </c:tx>
          <c:spPr>
            <a:solidFill>
              <a:srgbClr val="0F283E"/>
            </a:solidFill>
            <a:ln>
              <a:solidFill>
                <a:srgbClr val="0F283E"/>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Sheet1!$A$2:$A$12</c:f>
              <c:strCache>
                <c:ptCount val="11"/>
                <c:pt idx="0">
                  <c:v>Accommodation</c:v>
                </c:pt>
                <c:pt idx="1">
                  <c:v>Information and communication</c:v>
                </c:pt>
                <c:pt idx="2">
                  <c:v>Repair of motor vehicles and motorcycles</c:v>
                </c:pt>
                <c:pt idx="3">
                  <c:v>Retail trade</c:v>
                </c:pt>
                <c:pt idx="4">
                  <c:v>Rental and leasing activities</c:v>
                </c:pt>
                <c:pt idx="5">
                  <c:v>Professional, scientific and technical activities*</c:v>
                </c:pt>
                <c:pt idx="6">
                  <c:v>Real estate activities</c:v>
                </c:pt>
                <c:pt idx="7">
                  <c:v>Manufacturing</c:v>
                </c:pt>
                <c:pt idx="8">
                  <c:v>Electricity, gas, steam, air conditioning and water supply</c:v>
                </c:pt>
                <c:pt idx="9">
                  <c:v>Construction</c:v>
                </c:pt>
                <c:pt idx="10">
                  <c:v>Transportation and storage</c:v>
                </c:pt>
              </c:strCache>
            </c:strRef>
          </c:cat>
          <c:val>
            <c:numRef>
              <c:f>Sheet1!$D$2:$D$12</c:f>
              <c:numCache>
                <c:ptCount val="11"/>
                <c:pt idx="0">
                  <c:v>0.18</c:v>
                </c:pt>
                <c:pt idx="1">
                  <c:v>0.39</c:v>
                </c:pt>
                <c:pt idx="2">
                  <c:v>0.11</c:v>
                </c:pt>
                <c:pt idx="3">
                  <c:v>0.1</c:v>
                </c:pt>
                <c:pt idx="4">
                  <c:v>0.11</c:v>
                </c:pt>
                <c:pt idx="5">
                  <c:v>0.17</c:v>
                </c:pt>
                <c:pt idx="6">
                  <c:v>0.14</c:v>
                </c:pt>
                <c:pt idx="7">
                  <c:v>0.09</c:v>
                </c:pt>
                <c:pt idx="8">
                  <c:v>0.1</c:v>
                </c:pt>
                <c:pt idx="9">
                  <c:v>0.04</c:v>
                </c:pt>
                <c:pt idx="10">
                  <c:v>0.06</c:v>
                </c:pt>
              </c:numCache>
            </c:numRef>
          </c:val>
        </c:ser>
        <c:ser>
          <c:idx val="3"/>
          <c:order val="3"/>
          <c:tx>
            <c:strRef>
              <c:f>Sheet1!$E$1</c:f>
              <c:strCache>
                <c:ptCount val="1"/>
                <c:pt idx="0">
                  <c:v>Use social networks</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Sheet1!$A$2:$A$12</c:f>
              <c:strCache>
                <c:ptCount val="11"/>
                <c:pt idx="0">
                  <c:v>Accommodation</c:v>
                </c:pt>
                <c:pt idx="1">
                  <c:v>Information and communication</c:v>
                </c:pt>
                <c:pt idx="2">
                  <c:v>Repair of motor vehicles and motorcycles</c:v>
                </c:pt>
                <c:pt idx="3">
                  <c:v>Retail trade</c:v>
                </c:pt>
                <c:pt idx="4">
                  <c:v>Rental and leasing activities</c:v>
                </c:pt>
                <c:pt idx="5">
                  <c:v>Professional, scientific and technical activities*</c:v>
                </c:pt>
                <c:pt idx="6">
                  <c:v>Real estate activities</c:v>
                </c:pt>
                <c:pt idx="7">
                  <c:v>Manufacturing</c:v>
                </c:pt>
                <c:pt idx="8">
                  <c:v>Electricity, gas, steam, air conditioning and water supply</c:v>
                </c:pt>
                <c:pt idx="9">
                  <c:v>Construction</c:v>
                </c:pt>
                <c:pt idx="10">
                  <c:v>Transportation and storage</c:v>
                </c:pt>
              </c:strCache>
            </c:strRef>
          </c:cat>
          <c:val>
            <c:numRef>
              <c:f>Sheet1!$E$2:$E$12</c:f>
              <c:numCache>
                <c:ptCount val="11"/>
                <c:pt idx="0">
                  <c:v>0.86</c:v>
                </c:pt>
                <c:pt idx="1">
                  <c:v>0.81</c:v>
                </c:pt>
                <c:pt idx="2">
                  <c:v>0.62</c:v>
                </c:pt>
                <c:pt idx="3">
                  <c:v>0.61</c:v>
                </c:pt>
                <c:pt idx="4">
                  <c:v>0.54</c:v>
                </c:pt>
                <c:pt idx="5">
                  <c:v>0.51</c:v>
                </c:pt>
                <c:pt idx="6">
                  <c:v>0.5</c:v>
                </c:pt>
                <c:pt idx="7">
                  <c:v>0.49</c:v>
                </c:pt>
                <c:pt idx="8">
                  <c:v>0.44</c:v>
                </c:pt>
                <c:pt idx="9">
                  <c:v>0.41</c:v>
                </c:pt>
                <c:pt idx="10">
                  <c:v>0.41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6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All enterprises</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Sheet1!$A$2:$A$5</c:f>
              <c:strCache>
                <c:ptCount val="4"/>
                <c:pt idx="0">
                  <c:v>Use social networks</c:v>
                </c:pt>
                <c:pt idx="1">
                  <c:v>Use enterprise's blog or microblogs</c:v>
                </c:pt>
                <c:pt idx="2">
                  <c:v>Use multimedia content sharing websites</c:v>
                </c:pt>
                <c:pt idx="3">
                  <c:v>Use wiki-based knowledge sharing tools</c:v>
                </c:pt>
              </c:strCache>
            </c:strRef>
          </c:cat>
          <c:val>
            <c:numRef>
              <c:f>Sheet1!$B$2:$B$5</c:f>
              <c:numCache>
                <c:ptCount val="4"/>
                <c:pt idx="0">
                  <c:v>0.56</c:v>
                </c:pt>
                <c:pt idx="1">
                  <c:v>0.11</c:v>
                </c:pt>
                <c:pt idx="2">
                  <c:v>0.28</c:v>
                </c:pt>
                <c:pt idx="3">
                  <c:v>0.06</c:v>
                </c:pt>
              </c:numCache>
            </c:numRef>
          </c:val>
        </c:ser>
        <c:ser>
          <c:idx val="1"/>
          <c:order val="1"/>
          <c:tx>
            <c:strRef>
              <c:f>Sheet1!$C$1</c:f>
              <c:strCache>
                <c:ptCount val="1"/>
                <c:pt idx="0">
                  <c:v>Large enterprises</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Sheet1!$A$2:$A$5</c:f>
              <c:strCache>
                <c:ptCount val="4"/>
                <c:pt idx="0">
                  <c:v>Use social networks</c:v>
                </c:pt>
                <c:pt idx="1">
                  <c:v>Use enterprise's blog or microblogs</c:v>
                </c:pt>
                <c:pt idx="2">
                  <c:v>Use multimedia content sharing websites</c:v>
                </c:pt>
                <c:pt idx="3">
                  <c:v>Use wiki-based knowledge sharing tools</c:v>
                </c:pt>
              </c:strCache>
            </c:strRef>
          </c:cat>
          <c:val>
            <c:numRef>
              <c:f>Sheet1!$C$2:$C$5</c:f>
              <c:numCache>
                <c:ptCount val="4"/>
                <c:pt idx="0">
                  <c:v>0.81</c:v>
                </c:pt>
                <c:pt idx="1">
                  <c:v>0.33</c:v>
                </c:pt>
                <c:pt idx="2">
                  <c:v>0.55</c:v>
                </c:pt>
                <c:pt idx="3">
                  <c:v>0.22</c:v>
                </c:pt>
              </c:numCache>
            </c:numRef>
          </c:val>
        </c:ser>
        <c:ser>
          <c:idx val="2"/>
          <c:order val="2"/>
          <c:tx>
            <c:strRef>
              <c:f>Sheet1!$D$1</c:f>
              <c:strCache>
                <c:ptCount val="1"/>
                <c:pt idx="0">
                  <c:v>Medium enterprises</c:v>
                </c:pt>
              </c:strCache>
            </c:strRef>
          </c:tx>
          <c:spPr>
            <a:solidFill>
              <a:srgbClr val="BABABA"/>
            </a:solidFill>
            <a:ln>
              <a:solidFill>
                <a:srgbClr val="BABABA"/>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Sheet1!$A$2:$A$5</c:f>
              <c:strCache>
                <c:ptCount val="4"/>
                <c:pt idx="0">
                  <c:v>Use social networks</c:v>
                </c:pt>
                <c:pt idx="1">
                  <c:v>Use enterprise's blog or microblogs</c:v>
                </c:pt>
                <c:pt idx="2">
                  <c:v>Use multimedia content sharing websites</c:v>
                </c:pt>
                <c:pt idx="3">
                  <c:v>Use wiki-based knowledge sharing tools</c:v>
                </c:pt>
              </c:strCache>
            </c:strRef>
          </c:cat>
          <c:val>
            <c:numRef>
              <c:f>Sheet1!$D$2:$D$5</c:f>
              <c:numCache>
                <c:ptCount val="4"/>
                <c:pt idx="0">
                  <c:v>0.67</c:v>
                </c:pt>
                <c:pt idx="1">
                  <c:v>0.17</c:v>
                </c:pt>
                <c:pt idx="2">
                  <c:v>0.38</c:v>
                </c:pt>
                <c:pt idx="3">
                  <c:v>0.09</c:v>
                </c:pt>
              </c:numCache>
            </c:numRef>
          </c:val>
        </c:ser>
        <c:ser>
          <c:idx val="3"/>
          <c:order val="3"/>
          <c:tx>
            <c:strRef>
              <c:f>Sheet1!$E$1</c:f>
              <c:strCache>
                <c:ptCount val="1"/>
                <c:pt idx="0">
                  <c:v>Small enterprises</c:v>
                </c:pt>
              </c:strCache>
            </c:strRef>
          </c:tx>
          <c:spPr>
            <a:solidFill>
              <a:srgbClr val="A60B0B"/>
            </a:solidFill>
            <a:ln>
              <a:solidFill>
                <a:srgbClr val="A60B0B"/>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Sheet1!$A$2:$A$5</c:f>
              <c:strCache>
                <c:ptCount val="4"/>
                <c:pt idx="0">
                  <c:v>Use social networks</c:v>
                </c:pt>
                <c:pt idx="1">
                  <c:v>Use enterprise's blog or microblogs</c:v>
                </c:pt>
                <c:pt idx="2">
                  <c:v>Use multimedia content sharing websites</c:v>
                </c:pt>
                <c:pt idx="3">
                  <c:v>Use wiki-based knowledge sharing tools</c:v>
                </c:pt>
              </c:strCache>
            </c:strRef>
          </c:cat>
          <c:val>
            <c:numRef>
              <c:f>Sheet1!$E$2:$E$5</c:f>
              <c:numCache>
                <c:ptCount val="4"/>
                <c:pt idx="0">
                  <c:v>0.53</c:v>
                </c:pt>
                <c:pt idx="1">
                  <c:v>0.1</c:v>
                </c:pt>
                <c:pt idx="2">
                  <c:v>0.25</c:v>
                </c:pt>
                <c:pt idx="3">
                  <c:v>0.04</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Share of enterprises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6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2021</c:v>
                </c:pt>
              </c:strCache>
            </c:strRef>
          </c:tx>
          <c:spPr>
            <a:solidFill>
              <a:srgbClr val="BABABA"/>
            </a:solidFill>
            <a:ln>
              <a:solidFill>
                <a:srgbClr val="BABABA"/>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Sheet1!$A$2:$A$15</c:f>
              <c:strCache>
                <c:ptCount val="14"/>
                <c:pt idx="0">
                  <c:v>European Union (EU-27)</c:v>
                </c:pt>
                <c:pt idx="1">
                  <c:v>Malta</c:v>
                </c:pt>
                <c:pt idx="2">
                  <c:v>Norway</c:v>
                </c:pt>
                <c:pt idx="3">
                  <c:v>Sweden</c:v>
                </c:pt>
                <c:pt idx="4">
                  <c:v>Netherlands</c:v>
                </c:pt>
                <c:pt idx="5">
                  <c:v>Denmark</c:v>
                </c:pt>
                <c:pt idx="6">
                  <c:v>Cyprus</c:v>
                </c:pt>
                <c:pt idx="7">
                  <c:v>Finland</c:v>
                </c:pt>
                <c:pt idx="8">
                  <c:v>Belgium*</c:v>
                </c:pt>
                <c:pt idx="9">
                  <c:v>Luxembourg</c:v>
                </c:pt>
                <c:pt idx="10">
                  <c:v>Ireland</c:v>
                </c:pt>
                <c:pt idx="11">
                  <c:v>Austria</c:v>
                </c:pt>
                <c:pt idx="12">
                  <c:v>Spain</c:v>
                </c:pt>
                <c:pt idx="13">
                  <c:v>France*</c:v>
                </c:pt>
              </c:strCache>
            </c:strRef>
          </c:cat>
          <c:val>
            <c:numRef>
              <c:f>Sheet1!$B$2:$B$15</c:f>
              <c:numCache>
                <c:ptCount val="14"/>
                <c:pt idx="0">
                  <c:v>0.56</c:v>
                </c:pt>
                <c:pt idx="1">
                  <c:v>0.84</c:v>
                </c:pt>
                <c:pt idx="2">
                  <c:v>0.84</c:v>
                </c:pt>
                <c:pt idx="3">
                  <c:v>0.78</c:v>
                </c:pt>
                <c:pt idx="4">
                  <c:v>0.78</c:v>
                </c:pt>
                <c:pt idx="5">
                  <c:v>0.76</c:v>
                </c:pt>
                <c:pt idx="6">
                  <c:v>0.76</c:v>
                </c:pt>
                <c:pt idx="7">
                  <c:v>0.76</c:v>
                </c:pt>
                <c:pt idx="8">
                  <c:v>0.74</c:v>
                </c:pt>
                <c:pt idx="9">
                  <c:v>0.67</c:v>
                </c:pt>
                <c:pt idx="10">
                  <c:v>0.63</c:v>
                </c:pt>
                <c:pt idx="11">
                  <c:v>0.62</c:v>
                </c:pt>
                <c:pt idx="12">
                  <c:v>0.6</c:v>
                </c:pt>
                <c:pt idx="13">
                  <c:v>0.6</c:v>
                </c:pt>
              </c:numCache>
            </c:numRef>
          </c:val>
        </c:ser>
        <c:ser>
          <c:idx val="1"/>
          <c:order val="1"/>
          <c:tx>
            <c:strRef>
              <c:f>Sheet1!$C$1</c:f>
              <c:strCache>
                <c:ptCount val="1"/>
                <c:pt idx="0">
                  <c:v>2019</c:v>
                </c:pt>
              </c:strCache>
            </c:strRef>
          </c:tx>
          <c:spPr>
            <a:solidFill>
              <a:srgbClr val="0F283E"/>
            </a:solidFill>
            <a:ln>
              <a:solidFill>
                <a:srgbClr val="0F283E"/>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Sheet1!$A$2:$A$15</c:f>
              <c:strCache>
                <c:ptCount val="14"/>
                <c:pt idx="0">
                  <c:v>European Union (EU-27)</c:v>
                </c:pt>
                <c:pt idx="1">
                  <c:v>Malta</c:v>
                </c:pt>
                <c:pt idx="2">
                  <c:v>Norway</c:v>
                </c:pt>
                <c:pt idx="3">
                  <c:v>Sweden</c:v>
                </c:pt>
                <c:pt idx="4">
                  <c:v>Netherlands</c:v>
                </c:pt>
                <c:pt idx="5">
                  <c:v>Denmark</c:v>
                </c:pt>
                <c:pt idx="6">
                  <c:v>Cyprus</c:v>
                </c:pt>
                <c:pt idx="7">
                  <c:v>Finland</c:v>
                </c:pt>
                <c:pt idx="8">
                  <c:v>Belgium*</c:v>
                </c:pt>
                <c:pt idx="9">
                  <c:v>Luxembourg</c:v>
                </c:pt>
                <c:pt idx="10">
                  <c:v>Ireland</c:v>
                </c:pt>
                <c:pt idx="11">
                  <c:v>Austria</c:v>
                </c:pt>
                <c:pt idx="12">
                  <c:v>Spain</c:v>
                </c:pt>
                <c:pt idx="13">
                  <c:v>France*</c:v>
                </c:pt>
              </c:strCache>
            </c:strRef>
          </c:cat>
          <c:val>
            <c:numRef>
              <c:f>Sheet1!$C$2:$C$15</c:f>
              <c:numCache>
                <c:ptCount val="14"/>
                <c:pt idx="0">
                  <c:v>0.48</c:v>
                </c:pt>
                <c:pt idx="1">
                  <c:v>0.83</c:v>
                </c:pt>
                <c:pt idx="2">
                  <c:v>0.76</c:v>
                </c:pt>
                <c:pt idx="3">
                  <c:v>0.69</c:v>
                </c:pt>
                <c:pt idx="4">
                  <c:v>0.73</c:v>
                </c:pt>
                <c:pt idx="5">
                  <c:v>0.73</c:v>
                </c:pt>
                <c:pt idx="6">
                  <c:v>0.71</c:v>
                </c:pt>
                <c:pt idx="7">
                  <c:v>0.69</c:v>
                </c:pt>
                <c:pt idx="8">
                  <c:v>0.7</c:v>
                </c:pt>
                <c:pt idx="9">
                  <c:v>0.6</c:v>
                </c:pt>
                <c:pt idx="10">
                  <c:v>0.7</c:v>
                </c:pt>
                <c:pt idx="11">
                  <c:v>0.55</c:v>
                </c:pt>
                <c:pt idx="12">
                  <c:v>0.51</c:v>
                </c:pt>
                <c:pt idx="13">
                  <c:v>0.49</c:v>
                </c:pt>
              </c:numCache>
            </c:numRef>
          </c:val>
        </c:ser>
        <c:ser>
          <c:idx val="2"/>
          <c:order val="2"/>
          <c:tx>
            <c:strRef>
              <c:f>Sheet1!$D$1</c:f>
              <c:strCache>
                <c:ptCount val="1"/>
                <c:pt idx="0">
                  <c:v>2014</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Sheet1!$A$2:$A$15</c:f>
              <c:strCache>
                <c:ptCount val="14"/>
                <c:pt idx="0">
                  <c:v>European Union (EU-27)</c:v>
                </c:pt>
                <c:pt idx="1">
                  <c:v>Malta</c:v>
                </c:pt>
                <c:pt idx="2">
                  <c:v>Norway</c:v>
                </c:pt>
                <c:pt idx="3">
                  <c:v>Sweden</c:v>
                </c:pt>
                <c:pt idx="4">
                  <c:v>Netherlands</c:v>
                </c:pt>
                <c:pt idx="5">
                  <c:v>Denmark</c:v>
                </c:pt>
                <c:pt idx="6">
                  <c:v>Cyprus</c:v>
                </c:pt>
                <c:pt idx="7">
                  <c:v>Finland</c:v>
                </c:pt>
                <c:pt idx="8">
                  <c:v>Belgium*</c:v>
                </c:pt>
                <c:pt idx="9">
                  <c:v>Luxembourg</c:v>
                </c:pt>
                <c:pt idx="10">
                  <c:v>Ireland</c:v>
                </c:pt>
                <c:pt idx="11">
                  <c:v>Austria</c:v>
                </c:pt>
                <c:pt idx="12">
                  <c:v>Spain</c:v>
                </c:pt>
                <c:pt idx="13">
                  <c:v>France*</c:v>
                </c:pt>
              </c:strCache>
            </c:strRef>
          </c:cat>
          <c:val>
            <c:numRef>
              <c:f>Sheet1!$D$2:$D$15</c:f>
              <c:numCache>
                <c:ptCount val="14"/>
                <c:pt idx="0">
                  <c:v>0.31</c:v>
                </c:pt>
                <c:pt idx="1">
                  <c:v>0.64</c:v>
                </c:pt>
                <c:pt idx="2">
                  <c:v>0.51</c:v>
                </c:pt>
                <c:pt idx="3">
                  <c:v>0.45</c:v>
                </c:pt>
                <c:pt idx="4">
                  <c:v>0.53</c:v>
                </c:pt>
                <c:pt idx="5">
                  <c:v>0.46</c:v>
                </c:pt>
                <c:pt idx="6">
                  <c:v>0.51</c:v>
                </c:pt>
                <c:pt idx="7">
                  <c:v>0.43</c:v>
                </c:pt>
                <c:pt idx="8">
                  <c:v>0.42</c:v>
                </c:pt>
                <c:pt idx="9">
                  <c:v>0.31</c:v>
                </c:pt>
                <c:pt idx="10">
                  <c:v>0.58</c:v>
                </c:pt>
                <c:pt idx="11">
                  <c:v>0.36</c:v>
                </c:pt>
                <c:pt idx="12">
                  <c:v>0.34</c:v>
                </c:pt>
                <c:pt idx="13">
                  <c:v>0.28</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6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Banner</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numRef>
              <c:f>Sheet1!$A$2:$A$4</c:f>
              <c:numCache>
                <c:formatCode>General</c:formatCode>
                <c:ptCount val="3"/>
                <c:pt idx="0">
                  <c:v>2019</c:v>
                </c:pt>
                <c:pt idx="1">
                  <c:v>2020</c:v>
                </c:pt>
                <c:pt idx="2">
                  <c:v>2021</c:v>
                </c:pt>
              </c:numCache>
            </c:numRef>
          </c:cat>
          <c:val>
            <c:numRef>
              <c:f>Sheet1!$B$2:$B$4</c:f>
              <c:numCache>
                <c:ptCount val="3"/>
                <c:pt idx="0">
                  <c:v>7.9</c:v>
                </c:pt>
                <c:pt idx="1">
                  <c:v>8.7</c:v>
                </c:pt>
                <c:pt idx="2">
                  <c:v>12</c:v>
                </c:pt>
              </c:numCache>
            </c:numRef>
          </c:val>
        </c:ser>
        <c:ser>
          <c:idx val="1"/>
          <c:order val="1"/>
          <c:tx>
            <c:strRef>
              <c:f>Sheet1!$C$1</c:f>
              <c:strCache>
                <c:ptCount val="1"/>
                <c:pt idx="0">
                  <c:v>Video</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numRef>
              <c:f>Sheet1!$A$2:$A$4</c:f>
              <c:numCache>
                <c:formatCode>General</c:formatCode>
                <c:ptCount val="3"/>
                <c:pt idx="0">
                  <c:v>2019</c:v>
                </c:pt>
                <c:pt idx="1">
                  <c:v>2020</c:v>
                </c:pt>
                <c:pt idx="2">
                  <c:v>2021</c:v>
                </c:pt>
              </c:numCache>
            </c:numRef>
          </c:cat>
          <c:val>
            <c:numRef>
              <c:f>Sheet1!$C$2:$C$4</c:f>
              <c:numCache>
                <c:ptCount val="3"/>
                <c:pt idx="0">
                  <c:v>6</c:v>
                </c:pt>
                <c:pt idx="1">
                  <c:v>7.2</c:v>
                </c:pt>
                <c:pt idx="2">
                  <c:v>10.9</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Spending in billion euros </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drawings/_rels/vmlDrawing1.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4.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5.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6.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7.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8.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9.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10.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11.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title=""/>
        <p:cNvGrpSpPr/>
        <p:nvPr/>
      </p:nvGrpSpPr>
      <p:grpSpPr>
        <a:xfrm>
          <a:off x="0" y="0"/>
          <a:ext cx="0" cy="0"/>
        </a:xfrm>
      </p:grpSpPr>
      <p:sp>
        <p:nvSpPr>
          <p:cNvPr id="2" name="Title 1" title=""/>
          <p:cNvSpPr>
            <a:spLocks noGrp="1"/>
          </p:cNvSpPr>
          <p:nvPr>
            <p:ph type="ctrTitle"/>
          </p:nvPr>
        </p:nvSpPr>
        <p:spPr/>
        <p:txBody>
          <a:bodyPr/>
          <a:lstStyle/>
          <a:p>
            <a:r>
              <a:rPr lang="en-US" smtClean="0"/>
              <a:t>Click to edit Master title style</a:t>
            </a:r>
            <a:endParaRPr lang="en-US"/>
          </a:p>
        </p:txBody>
      </p:sp>
      <p:sp>
        <p:nvSpPr>
          <p:cNvPr id="3" name="Subtitle 2" title=""/>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title=""/>
          <p:cNvSpPr>
            <a:spLocks noGrp="1"/>
          </p:cNvSpPr>
          <p:nvPr>
            <p:ph type="dt" sz="half" idx="2"/>
          </p:nvPr>
        </p:nvSpPr>
        <p:spPr/>
        <p:txBody>
          <a:bodyPr/>
          <a:lstStyle/>
          <a:p>
            <a:fld id="{3C0F379E-AE6E-4C99-BC2C-0B3B86F2C488}"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idx="1"/>
          </p:nvPr>
        </p:nvSpPr>
        <p:spPr/>
        <p:txBody>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00B911FF-25BC-45AA-BDE0-B4F8D6CA4650}"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title=""/>
        <p:cNvGrpSpPr/>
        <p:nvPr/>
      </p:nvGrpSpPr>
      <p:grpSpPr>
        <a:xfrm>
          <a:off x="0" y="0"/>
          <a:ext cx="0" cy="0"/>
        </a:xfrm>
      </p:grpSpPr>
      <p:sp>
        <p:nvSpPr>
          <p:cNvPr id="2" name="Title 1" title=""/>
          <p:cNvSpPr>
            <a:spLocks noGrp="1"/>
          </p:cNvSpPr>
          <p:nvPr>
            <p:ph type="title"/>
          </p:nvPr>
        </p:nvSpPr>
        <p:spPr/>
        <p:txBody>
          <a:bodyPr anchor="t"/>
          <a:lstStyle>
            <a:lvl1pPr algn="l">
              <a:defRPr sz="4000" b="1" cap="all"/>
            </a:lvl1p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smtClean="0"/>
              <a:t>Click to edit Master text styles</a:t>
            </a:r>
          </a:p>
        </p:txBody>
      </p:sp>
      <p:sp>
        <p:nvSpPr>
          <p:cNvPr id="4" name="Date Placeholder 3" title=""/>
          <p:cNvSpPr>
            <a:spLocks noGrp="1"/>
          </p:cNvSpPr>
          <p:nvPr>
            <p:ph type="dt" sz="half" idx="2"/>
          </p:nvPr>
        </p:nvSpPr>
        <p:spPr/>
        <p:txBody>
          <a:bodyPr/>
          <a:lstStyle/>
          <a:p>
            <a:fld id="{E8FDBFA2-0541-485B-8A14-0E8A0B14F4C0}"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title=""/>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title=""/>
          <p:cNvSpPr>
            <a:spLocks noGrp="1"/>
          </p:cNvSpPr>
          <p:nvPr>
            <p:ph type="dt" sz="half" idx="3"/>
          </p:nvPr>
        </p:nvSpPr>
        <p:spPr/>
        <p:txBody>
          <a:bodyPr/>
          <a:lstStyle/>
          <a:p>
            <a:fld id="{930B90F7-E069-4E50-B72F-6436554DC9AC}"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4" name="Content Placeholder 3" title=""/>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title=""/>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6" name="Content Placeholder 5" title=""/>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title=""/>
          <p:cNvSpPr>
            <a:spLocks noGrp="1"/>
          </p:cNvSpPr>
          <p:nvPr>
            <p:ph type="dt" sz="half" idx="5"/>
          </p:nvPr>
        </p:nvSpPr>
        <p:spPr/>
        <p:txBody>
          <a:bodyPr/>
          <a:lstStyle/>
          <a:p>
            <a:fld id="{80B4E32E-DC84-46FB-9B9D-01A714D34204}" type="datetimeFigureOut">
              <a:rPr lang="en-US" smtClean="0"/>
              <a:t>11/7/2009</a:t>
            </a:fld>
            <a:endParaRPr lang="en-US"/>
          </a:p>
        </p:txBody>
      </p:sp>
      <p:sp>
        <p:nvSpPr>
          <p:cNvPr id="8" name="Footer Placeholder 7" title=""/>
          <p:cNvSpPr>
            <a:spLocks noGrp="1"/>
          </p:cNvSpPr>
          <p:nvPr>
            <p:ph type="ftr" sz="quarter" idx="6"/>
          </p:nvPr>
        </p:nvSpPr>
        <p:spPr/>
        <p:txBody>
          <a:bodyPr/>
          <a:lstStyle/>
          <a:p>
            <a:endParaRPr lang="en-US"/>
          </a:p>
        </p:txBody>
      </p:sp>
      <p:sp>
        <p:nvSpPr>
          <p:cNvPr id="9" name="Slide Number Placeholder 8" title=""/>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Date Placeholder 2" title=""/>
          <p:cNvSpPr>
            <a:spLocks noGrp="1"/>
          </p:cNvSpPr>
          <p:nvPr>
            <p:ph type="dt" sz="half" idx="1"/>
          </p:nvPr>
        </p:nvSpPr>
        <p:spPr/>
        <p:txBody>
          <a:bodyPr/>
          <a:lstStyle/>
          <a:p>
            <a:fld id="{CA23E6E6-7796-46AF-9DA9-62DFECAA6E03}" type="datetimeFigureOut">
              <a:rPr lang="en-US" smtClean="0"/>
              <a:t>11/7/2009</a:t>
            </a:fld>
            <a:endParaRPr lang="en-US"/>
          </a:p>
        </p:txBody>
      </p:sp>
      <p:sp>
        <p:nvSpPr>
          <p:cNvPr id="4" name="Footer Placeholder 3" title=""/>
          <p:cNvSpPr>
            <a:spLocks noGrp="1"/>
          </p:cNvSpPr>
          <p:nvPr>
            <p:ph type="ftr" sz="quarter" idx="2"/>
          </p:nvPr>
        </p:nvSpPr>
        <p:spPr/>
        <p:txBody>
          <a:bodyPr/>
          <a:lstStyle/>
          <a:p>
            <a:endParaRPr lang="en-US"/>
          </a:p>
        </p:txBody>
      </p:sp>
      <p:sp>
        <p:nvSpPr>
          <p:cNvPr id="5" name="Slide Number Placeholder 4" title=""/>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title=""/>
        <p:cNvGrpSpPr/>
        <p:nvPr/>
      </p:nvGrpSpPr>
      <p:grpSpPr>
        <a:xfrm>
          <a:off x="0" y="0"/>
          <a:ext cx="0" cy="0"/>
        </a:xfrm>
      </p:grpSpPr>
      <p:sp>
        <p:nvSpPr>
          <p:cNvPr id="2" name="Date Placeholder 1" title=""/>
          <p:cNvSpPr>
            <a:spLocks noGrp="1"/>
          </p:cNvSpPr>
          <p:nvPr>
            <p:ph type="dt" sz="half"/>
          </p:nvPr>
        </p:nvSpPr>
        <p:spPr/>
        <p:txBody>
          <a:bodyPr/>
          <a:lstStyle/>
          <a:p>
            <a:fld id="{608445F3-F11C-4919-A576-E382474D77D3}" type="datetimeFigureOut">
              <a:rPr lang="en-US" smtClean="0"/>
              <a:t>11/7/2009</a:t>
            </a:fld>
            <a:endParaRPr lang="en-US"/>
          </a:p>
        </p:txBody>
      </p:sp>
      <p:sp>
        <p:nvSpPr>
          <p:cNvPr id="3" name="Footer Placeholder 2" title=""/>
          <p:cNvSpPr>
            <a:spLocks noGrp="1"/>
          </p:cNvSpPr>
          <p:nvPr>
            <p:ph type="ftr" sz="quarter" idx="1"/>
          </p:nvPr>
        </p:nvSpPr>
        <p:spPr/>
        <p:txBody>
          <a:bodyPr/>
          <a:lstStyle/>
          <a:p>
            <a:endParaRPr lang="en-US"/>
          </a:p>
        </p:txBody>
      </p:sp>
      <p:sp>
        <p:nvSpPr>
          <p:cNvPr id="4" name="Slide Number Placeholder 3" title=""/>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Content Placeholder 2" title=""/>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5C67CA20-14F6-4721-81D1-3AAAECA3583B}"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Picture Placeholder 2" title=""/>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08445BC2-535E-40EF-BECB-BAD88172AD2D}"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147FA849-AB82-43D5-AF25-DE278865032D}"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title=""/>
        <p:cNvGrpSpPr/>
        <p:nvPr/>
      </p:nvGrpSpPr>
      <p:grpSpPr>
        <a:xfrm>
          <a:off x="0" y="0"/>
          <a:ext cx="0" cy="0"/>
        </a:xfrm>
      </p:grpSpPr>
      <p:sp>
        <p:nvSpPr>
          <p:cNvPr id="2" name="Vertical Title 1" title=""/>
          <p:cNvSpPr>
            <a:spLocks noGrp="1"/>
          </p:cNvSpPr>
          <p:nvPr>
            <p:ph type="title" orient="vert"/>
          </p:nvPr>
        </p:nvSpPr>
        <p:spPr/>
        <p:txBody>
          <a:bodyPr vert="eaVert"/>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06A4AAC1-F192-45B5-BCAD-25218BA2777E}"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title=""/>
        <p:cNvGrpSpPr/>
        <p:nvPr/>
      </p:nvGrpSpPr>
      <p:grpSpPr>
        <a:xfrm>
          <a:off x="0" y="0"/>
          <a:ext cx="0" cy="0"/>
        </a:xfrm>
      </p:grpSpPr>
      <p:sp>
        <p:nvSpPr>
          <p:cNvPr id="2" name="Title Placeholder 1" title=""/>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title=""/>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11/7/2009</a:t>
            </a:fld>
            <a:endParaRPr lang="en-US"/>
          </a:p>
        </p:txBody>
      </p:sp>
      <p:sp>
        <p:nvSpPr>
          <p:cNvPr id="5" name="Footer Placeholder 4" title=""/>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title=""/>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emf" /><Relationship Id="rId3" Type="http://schemas.openxmlformats.org/officeDocument/2006/relationships/image" Target="../media/image2.emf"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slide" Target="slide10.xml" TargetMode="Internal" /><Relationship Id="rId11" Type="http://schemas.openxmlformats.org/officeDocument/2006/relationships/slide" Target="slide11.xml" TargetMode="Internal" /><Relationship Id="rId12" Type="http://schemas.openxmlformats.org/officeDocument/2006/relationships/slide" Target="slide12.xml" TargetMode="Internal" /><Relationship Id="rId13" Type="http://schemas.openxmlformats.org/officeDocument/2006/relationships/slide" Target="slide13.xml" TargetMode="Internal" /><Relationship Id="rId14" Type="http://schemas.openxmlformats.org/officeDocument/2006/relationships/slide" Target="slide15.xml" TargetMode="Internal" /><Relationship Id="rId15" Type="http://schemas.openxmlformats.org/officeDocument/2006/relationships/slide" Target="slide16.xml" TargetMode="Internal" /><Relationship Id="rId16" Type="http://schemas.openxmlformats.org/officeDocument/2006/relationships/slide" Target="slide17.xml" TargetMode="Internal" /><Relationship Id="rId17" Type="http://schemas.openxmlformats.org/officeDocument/2006/relationships/slide" Target="slide18.xml" TargetMode="Internal" /><Relationship Id="rId18" Type="http://schemas.openxmlformats.org/officeDocument/2006/relationships/slide" Target="slide19.xml" TargetMode="Internal" /><Relationship Id="rId19" Type="http://schemas.openxmlformats.org/officeDocument/2006/relationships/slide" Target="slide21.xml" TargetMode="Internal" /><Relationship Id="rId2" Type="http://schemas.openxmlformats.org/officeDocument/2006/relationships/image" Target="../media/image3.emf" /><Relationship Id="rId20" Type="http://schemas.openxmlformats.org/officeDocument/2006/relationships/slide" Target="slide22.xml" TargetMode="Internal" /><Relationship Id="rId21" Type="http://schemas.openxmlformats.org/officeDocument/2006/relationships/slide" Target="slide23.xml" TargetMode="Internal" /><Relationship Id="rId22" Type="http://schemas.openxmlformats.org/officeDocument/2006/relationships/slide" Target="slide24.xml" TargetMode="Internal" /><Relationship Id="rId23" Type="http://schemas.openxmlformats.org/officeDocument/2006/relationships/slide" Target="slide25.xml" TargetMode="Internal" /><Relationship Id="rId24" Type="http://schemas.openxmlformats.org/officeDocument/2006/relationships/slide" Target="slide27.xml" TargetMode="Internal" /><Relationship Id="rId25" Type="http://schemas.openxmlformats.org/officeDocument/2006/relationships/slide" Target="slide28.xml" TargetMode="Internal" /><Relationship Id="rId26" Type="http://schemas.openxmlformats.org/officeDocument/2006/relationships/slide" Target="slide29.xml" TargetMode="Internal" /><Relationship Id="rId27" Type="http://schemas.openxmlformats.org/officeDocument/2006/relationships/slide" Target="slide30.xml" TargetMode="Internal" /><Relationship Id="rId28" Type="http://schemas.openxmlformats.org/officeDocument/2006/relationships/slide" Target="slide31.xml" TargetMode="Internal" /><Relationship Id="rId29" Type="http://schemas.openxmlformats.org/officeDocument/2006/relationships/slide" Target="slide32.xml" TargetMode="Internal" /><Relationship Id="rId3" Type="http://schemas.openxmlformats.org/officeDocument/2006/relationships/image" Target="../media/image4.emf" /><Relationship Id="rId30" Type="http://schemas.openxmlformats.org/officeDocument/2006/relationships/slide" Target="slide33.xml" TargetMode="Internal" /><Relationship Id="rId31" Type="http://schemas.openxmlformats.org/officeDocument/2006/relationships/slide" Target="slide34.xml" TargetMode="Internal" /><Relationship Id="rId32" Type="http://schemas.openxmlformats.org/officeDocument/2006/relationships/slide" Target="slide35.xml" TargetMode="Internal" /><Relationship Id="rId33" Type="http://schemas.openxmlformats.org/officeDocument/2006/relationships/slide" Target="slide37.xml" TargetMode="Internal" /><Relationship Id="rId34" Type="http://schemas.openxmlformats.org/officeDocument/2006/relationships/slide" Target="slide38.xml" TargetMode="Internal" /><Relationship Id="rId35" Type="http://schemas.openxmlformats.org/officeDocument/2006/relationships/slide" Target="slide39.xml" TargetMode="Internal" /><Relationship Id="rId36" Type="http://schemas.openxmlformats.org/officeDocument/2006/relationships/slide" Target="slide40.xml" TargetMode="Internal" /><Relationship Id="rId37" Type="http://schemas.openxmlformats.org/officeDocument/2006/relationships/slide" Target="slide41.xml" TargetMode="Internal" /><Relationship Id="rId4" Type="http://schemas.openxmlformats.org/officeDocument/2006/relationships/image" Target="../media/image5.emf" /><Relationship Id="rId5" Type="http://schemas.openxmlformats.org/officeDocument/2006/relationships/slide" Target="slide5.xml" TargetMode="Internal" /><Relationship Id="rId6" Type="http://schemas.openxmlformats.org/officeDocument/2006/relationships/slide" Target="slide6.xml" TargetMode="Internal" /><Relationship Id="rId7" Type="http://schemas.openxmlformats.org/officeDocument/2006/relationships/slide" Target="slide7.xml" TargetMode="Internal" /><Relationship Id="rId8" Type="http://schemas.openxmlformats.org/officeDocument/2006/relationships/slide" Target="slide8.xml" TargetMode="Internal" /><Relationship Id="rId9" Type="http://schemas.openxmlformats.org/officeDocument/2006/relationships/slide" Target="slide9.xml" TargetMode="Interna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slide" Target="slide48.xml" TargetMode="Internal" /><Relationship Id="rId11" Type="http://schemas.openxmlformats.org/officeDocument/2006/relationships/slide" Target="slide49.xml" TargetMode="Internal" /><Relationship Id="rId12" Type="http://schemas.openxmlformats.org/officeDocument/2006/relationships/slide" Target="slide50.xml" TargetMode="Internal" /><Relationship Id="rId13" Type="http://schemas.openxmlformats.org/officeDocument/2006/relationships/slide" Target="slide51.xml" TargetMode="Internal" /><Relationship Id="rId14" Type="http://schemas.openxmlformats.org/officeDocument/2006/relationships/slide" Target="slide52.xml" TargetMode="Internal" /><Relationship Id="rId15" Type="http://schemas.openxmlformats.org/officeDocument/2006/relationships/slide" Target="slide53.xml" TargetMode="Internal" /><Relationship Id="rId16" Type="http://schemas.openxmlformats.org/officeDocument/2006/relationships/slide" Target="slide54.xml" TargetMode="Internal" /><Relationship Id="rId17" Type="http://schemas.openxmlformats.org/officeDocument/2006/relationships/slide" Target="slide56.xml" TargetMode="Internal" /><Relationship Id="rId18" Type="http://schemas.openxmlformats.org/officeDocument/2006/relationships/slide" Target="slide57.xml" TargetMode="Internal" /><Relationship Id="rId19" Type="http://schemas.openxmlformats.org/officeDocument/2006/relationships/slide" Target="slide58.xml" TargetMode="Internal" /><Relationship Id="rId2" Type="http://schemas.openxmlformats.org/officeDocument/2006/relationships/image" Target="../media/image3.emf" /><Relationship Id="rId20" Type="http://schemas.openxmlformats.org/officeDocument/2006/relationships/slide" Target="slide59.xml" TargetMode="Internal" /><Relationship Id="rId21" Type="http://schemas.openxmlformats.org/officeDocument/2006/relationships/slide" Target="slide60.xml" TargetMode="Internal" /><Relationship Id="rId22" Type="http://schemas.openxmlformats.org/officeDocument/2006/relationships/slide" Target="slide61.xml" TargetMode="Internal" /><Relationship Id="rId23" Type="http://schemas.openxmlformats.org/officeDocument/2006/relationships/slide" Target="slide62.xml" TargetMode="Internal" /><Relationship Id="rId24" Type="http://schemas.openxmlformats.org/officeDocument/2006/relationships/slide" Target="slide63.xml" TargetMode="Internal" /><Relationship Id="rId25" Type="http://schemas.openxmlformats.org/officeDocument/2006/relationships/slide" Target="slide64.xml" TargetMode="Internal" /><Relationship Id="rId26" Type="http://schemas.openxmlformats.org/officeDocument/2006/relationships/slide" Target="slide66.xml" TargetMode="Internal" /><Relationship Id="rId27" Type="http://schemas.openxmlformats.org/officeDocument/2006/relationships/slide" Target="slide67.xml" TargetMode="Internal" /><Relationship Id="rId28" Type="http://schemas.openxmlformats.org/officeDocument/2006/relationships/slide" Target="slide68.xml" TargetMode="Internal" /><Relationship Id="rId29" Type="http://schemas.openxmlformats.org/officeDocument/2006/relationships/slide" Target="slide69.xml" TargetMode="Internal" /><Relationship Id="rId3" Type="http://schemas.openxmlformats.org/officeDocument/2006/relationships/image" Target="../media/image4.emf" /><Relationship Id="rId30" Type="http://schemas.openxmlformats.org/officeDocument/2006/relationships/slide" Target="slide70.xml" TargetMode="Internal" /><Relationship Id="rId31" Type="http://schemas.openxmlformats.org/officeDocument/2006/relationships/slide" Target="slide71.xml" TargetMode="Internal" /><Relationship Id="rId32" Type="http://schemas.openxmlformats.org/officeDocument/2006/relationships/slide" Target="slide72.xml" TargetMode="Internal" /><Relationship Id="rId33" Type="http://schemas.openxmlformats.org/officeDocument/2006/relationships/slide" Target="slide73.xml" TargetMode="Internal" /><Relationship Id="rId34" Type="http://schemas.openxmlformats.org/officeDocument/2006/relationships/slide" Target="slide75.xml" TargetMode="Internal" /><Relationship Id="rId35" Type="http://schemas.openxmlformats.org/officeDocument/2006/relationships/slide" Target="slide76.xml" TargetMode="Internal" /><Relationship Id="rId36" Type="http://schemas.openxmlformats.org/officeDocument/2006/relationships/slide" Target="slide77.xml" TargetMode="Internal" /><Relationship Id="rId37" Type="http://schemas.openxmlformats.org/officeDocument/2006/relationships/slide" Target="slide78.xml" TargetMode="Internal" /><Relationship Id="rId38" Type="http://schemas.openxmlformats.org/officeDocument/2006/relationships/slide" Target="slide79.xml" TargetMode="Internal" /><Relationship Id="rId4" Type="http://schemas.openxmlformats.org/officeDocument/2006/relationships/image" Target="../media/image5.emf" /><Relationship Id="rId5" Type="http://schemas.openxmlformats.org/officeDocument/2006/relationships/slide" Target="slide42.xml" TargetMode="Internal" /><Relationship Id="rId6" Type="http://schemas.openxmlformats.org/officeDocument/2006/relationships/slide" Target="slide43.xml" TargetMode="Internal" /><Relationship Id="rId7" Type="http://schemas.openxmlformats.org/officeDocument/2006/relationships/slide" Target="slide44.xml" TargetMode="Internal" /><Relationship Id="rId8" Type="http://schemas.openxmlformats.org/officeDocument/2006/relationships/slide" Target="slide45.xml" TargetMode="Internal" /><Relationship Id="rId9" Type="http://schemas.openxmlformats.org/officeDocument/2006/relationships/slide" Target="slide47.xml" TargetMode="Interna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617136/digital-population-worldwide" TargetMode="External" /><Relationship Id="rId6" Type="http://schemas.openxmlformats.org/officeDocument/2006/relationships/chart" Target="../charts/chart1.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1.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69329/penetration-rate-of-the-internet-by-region" TargetMode="External" /><Relationship Id="rId6" Type="http://schemas.openxmlformats.org/officeDocument/2006/relationships/chart" Target="../charts/chart2.xml" /><Relationship Id="rId7" Type="http://schemas.openxmlformats.org/officeDocument/2006/relationships/image" Target="../media/image7.png" /><Relationship Id="rId8" Type="http://schemas.openxmlformats.org/officeDocument/2006/relationships/oleObject" Target="../embeddings/oleObject3.bin" TargetMode="Internal" /><Relationship Id="rId9" Type="http://schemas.openxmlformats.org/officeDocument/2006/relationships/image" Target="../media/image8.png"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2.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69615/social-network-penetration-by-region" TargetMode="External" /><Relationship Id="rId6" Type="http://schemas.openxmlformats.org/officeDocument/2006/relationships/chart" Target="../charts/chart3.xml" /><Relationship Id="rId7" Type="http://schemas.openxmlformats.org/officeDocument/2006/relationships/image" Target="../media/image7.png" /><Relationship Id="rId8" Type="http://schemas.openxmlformats.org/officeDocument/2006/relationships/oleObject" Target="../embeddings/oleObject5.bin" TargetMode="Internal" /><Relationship Id="rId9" Type="http://schemas.openxmlformats.org/officeDocument/2006/relationships/image" Target="../media/image8.png"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3.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87421/social-network-usage-countries-inside-the-european-union-by-country" TargetMode="External" /><Relationship Id="rId6" Type="http://schemas.openxmlformats.org/officeDocument/2006/relationships/chart" Target="../charts/chart4.xml" /><Relationship Id="rId7" Type="http://schemas.openxmlformats.org/officeDocument/2006/relationships/image" Target="../media/image7.png" /><Relationship Id="rId8" Type="http://schemas.openxmlformats.org/officeDocument/2006/relationships/oleObject" Target="../embeddings/oleObject7.bin" TargetMode="Internal" /><Relationship Id="rId9" Type="http://schemas.openxmlformats.org/officeDocument/2006/relationships/image" Target="../media/image8.png"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4.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134076/social-media-reach-in-cee-region" TargetMode="External" /><Relationship Id="rId6" Type="http://schemas.openxmlformats.org/officeDocument/2006/relationships/chart" Target="../charts/chart5.xml" /><Relationship Id="rId7" Type="http://schemas.openxmlformats.org/officeDocument/2006/relationships/image" Target="../media/image7.png" /><Relationship Id="rId8" Type="http://schemas.openxmlformats.org/officeDocument/2006/relationships/oleObject" Target="../embeddings/oleObject9.bin" TargetMode="Internal" /><Relationship Id="rId9" Type="http://schemas.openxmlformats.org/officeDocument/2006/relationships/image" Target="../media/image8.png"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34334/social-media-users-europe-by-platform" TargetMode="External" /><Relationship Id="rId6" Type="http://schemas.openxmlformats.org/officeDocument/2006/relationships/chart" Target="../charts/chart6.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33669/leading-social-networks-share-of-visits-europe" TargetMode="External" /><Relationship Id="rId6" Type="http://schemas.openxmlformats.org/officeDocument/2006/relationships/chart" Target="../charts/chart7.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5.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99496/active-mobile-social-media-users-in-european-countries" TargetMode="External" /><Relationship Id="rId6" Type="http://schemas.openxmlformats.org/officeDocument/2006/relationships/chart" Target="../charts/chart8.xml" /><Relationship Id="rId7" Type="http://schemas.openxmlformats.org/officeDocument/2006/relationships/image" Target="../media/image7.png" /><Relationship Id="rId8" Type="http://schemas.openxmlformats.org/officeDocument/2006/relationships/oleObject" Target="../embeddings/oleObject13.bin" TargetMode="Internal" /><Relationship Id="rId9" Type="http://schemas.openxmlformats.org/officeDocument/2006/relationships/image" Target="../media/image8.png"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6.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87007/time-spent-online-europe-by-category" TargetMode="External" /><Relationship Id="rId6" Type="http://schemas.openxmlformats.org/officeDocument/2006/relationships/chart" Target="../charts/chart9.xml" /><Relationship Id="rId7" Type="http://schemas.openxmlformats.org/officeDocument/2006/relationships/image" Target="../media/image7.png" /><Relationship Id="rId8" Type="http://schemas.openxmlformats.org/officeDocument/2006/relationships/oleObject" Target="../embeddings/oleObject15.bin" TargetMode="Internal" /><Relationship Id="rId9" Type="http://schemas.openxmlformats.org/officeDocument/2006/relationships/image" Target="../media/image8.png"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997943/most-used-social-media-platforms-by-type-in-the-uk" TargetMode="External" /><Relationship Id="rId6" Type="http://schemas.openxmlformats.org/officeDocument/2006/relationships/chart" Target="../charts/chart10.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998756/most-used-social-media-platforms-by-type-in-germany" TargetMode="External" /><Relationship Id="rId6" Type="http://schemas.openxmlformats.org/officeDocument/2006/relationships/chart" Target="../charts/chart11.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998205/most-used-social-media-platforms-by-type-in-france" TargetMode="External" /><Relationship Id="rId6" Type="http://schemas.openxmlformats.org/officeDocument/2006/relationships/chart" Target="../charts/chart12.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00767/most-used-social-media-platforms-by-type-in-italy" TargetMode="External" /><Relationship Id="rId6" Type="http://schemas.openxmlformats.org/officeDocument/2006/relationships/chart" Target="../charts/chart13.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01543/most-used-social-media-platforms-by-type-in-spain" TargetMode="External" /><Relationship Id="rId6" Type="http://schemas.openxmlformats.org/officeDocument/2006/relationships/chart" Target="../charts/chart14.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997795/most-common-social-media-activities-in-the-uk" TargetMode="External" /><Relationship Id="rId6" Type="http://schemas.openxmlformats.org/officeDocument/2006/relationships/chart" Target="../charts/chart15.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998715/most-common-social-media-activities-in-germany" TargetMode="External" /><Relationship Id="rId6" Type="http://schemas.openxmlformats.org/officeDocument/2006/relationships/chart" Target="../charts/chart16.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998285/most-common-social-media-activities-in-france" TargetMode="External" /><Relationship Id="rId6" Type="http://schemas.openxmlformats.org/officeDocument/2006/relationships/chart" Target="../charts/chart17.xm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00756/most-common-social-media-activities-in-italy" TargetMode="External" /><Relationship Id="rId6" Type="http://schemas.openxmlformats.org/officeDocument/2006/relationships/chart" Target="../charts/chart18.xm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01476/most-common-social-media-activities-in-spain" TargetMode="External" /><Relationship Id="rId6" Type="http://schemas.openxmlformats.org/officeDocument/2006/relationships/chart" Target="../charts/chart19.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34302/leading-social-media-usage-reasons-uk" TargetMode="External" /><Relationship Id="rId6" Type="http://schemas.openxmlformats.org/officeDocument/2006/relationships/chart" Target="../charts/chart20.x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34318/leading-social-media-usage-reasons-germany" TargetMode="External" /><Relationship Id="rId6" Type="http://schemas.openxmlformats.org/officeDocument/2006/relationships/chart" Target="../charts/chart21.xml"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60717/number-of-social-network-users-in-france" TargetMode="External" /><Relationship Id="rId6" Type="http://schemas.openxmlformats.org/officeDocument/2006/relationships/chart" Target="../charts/chart22.xml"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11583/social-media-usage-reasons-italy" TargetMode="External" /><Relationship Id="rId6" Type="http://schemas.openxmlformats.org/officeDocument/2006/relationships/chart" Target="../charts/chart23.xml"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06279/social-media-usage-reasons-spain" TargetMode="External" /><Relationship Id="rId6" Type="http://schemas.openxmlformats.org/officeDocument/2006/relationships/chart" Target="../charts/chart24.xml"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09605/cooking-behavior-young-consumers-europe" TargetMode="External" /><Relationship Id="rId6" Type="http://schemas.openxmlformats.org/officeDocument/2006/relationships/chart" Target="../charts/chart25.xml"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7.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31447/online-behaviors-of-consumers-uk" TargetMode="External" /><Relationship Id="rId6" Type="http://schemas.openxmlformats.org/officeDocument/2006/relationships/chart" Target="../charts/chart26.xml" /><Relationship Id="rId7" Type="http://schemas.openxmlformats.org/officeDocument/2006/relationships/image" Target="../media/image7.png" /><Relationship Id="rId8" Type="http://schemas.openxmlformats.org/officeDocument/2006/relationships/oleObject" Target="../embeddings/oleObject33.bin" TargetMode="Internal" /><Relationship Id="rId9" Type="http://schemas.openxmlformats.org/officeDocument/2006/relationships/image" Target="../media/image8.png"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34676/online-search-in-italy-tools-and-platforms" TargetMode="External" /><Relationship Id="rId6" Type="http://schemas.openxmlformats.org/officeDocument/2006/relationships/chart" Target="../charts/chart27.xml"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06757/social-media-account-types-followed-spain" TargetMode="External" /><Relationship Id="rId6" Type="http://schemas.openxmlformats.org/officeDocument/2006/relationships/chart" Target="../charts/chart28.xml"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73067/current-coverage-of-facebook-by-world-region" TargetMode="External" /><Relationship Id="rId6" Type="http://schemas.openxmlformats.org/officeDocument/2006/relationships/chart" Target="../charts/chart29.xml" /></Relationships>
</file>

<file path=ppt/slides/_rels/slide3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41552/share-of-global-population-using-facebook-by-region" TargetMode="External" /><Relationship Id="rId6" Type="http://schemas.openxmlformats.org/officeDocument/2006/relationships/chart" Target="../charts/chart30.xml" /></Relationships>
</file>

<file path=ppt/slides/_rels/slide39.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8.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169092/facebook-users-in-europe-by-country" TargetMode="External" /><Relationship Id="rId6" Type="http://schemas.openxmlformats.org/officeDocument/2006/relationships/chart" Target="../charts/chart31.xml" /><Relationship Id="rId7" Type="http://schemas.openxmlformats.org/officeDocument/2006/relationships/image" Target="../media/image7.png" /><Relationship Id="rId8" Type="http://schemas.openxmlformats.org/officeDocument/2006/relationships/oleObject" Target="../embeddings/oleObject39.bin" TargetMode="Internal" /><Relationship Id="rId9" Type="http://schemas.openxmlformats.org/officeDocument/2006/relationships/image" Target="../media/image8.png" /></Relationships>
</file>

<file path=ppt/slides/_rels/slide4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745400/facebook-europe-mau-by-quarter" TargetMode="External" /><Relationship Id="rId6" Type="http://schemas.openxmlformats.org/officeDocument/2006/relationships/chart" Target="../charts/chart32.xml" /></Relationships>
</file>

<file path=ppt/slides/_rels/slide4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745383/facebook-europe-dau-by-quarter" TargetMode="External" /><Relationship Id="rId6" Type="http://schemas.openxmlformats.org/officeDocument/2006/relationships/chart" Target="../charts/chart33.xml" /></Relationships>
</file>

<file path=ppt/slides/_rels/slide4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23279/facebooks-quarterly-revenue-in-europe" TargetMode="External" /><Relationship Id="rId6" Type="http://schemas.openxmlformats.org/officeDocument/2006/relationships/chart" Target="../charts/chart34.xml" /></Relationships>
</file>

<file path=ppt/slides/_rels/slide43.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vmlDrawing" Target="../drawings/vmlDrawing9.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51328/facebooks-average-revenue-per-user-by-region" TargetMode="External" /><Relationship Id="rId6" Type="http://schemas.openxmlformats.org/officeDocument/2006/relationships/image" Target="../media/image7.png" /><Relationship Id="rId7" Type="http://schemas.openxmlformats.org/officeDocument/2006/relationships/oleObject" Target="../embeddings/oleObject43.bin" TargetMode="Internal" /><Relationship Id="rId8" Type="http://schemas.openxmlformats.org/officeDocument/2006/relationships/image" Target="../media/image8.png" /><Relationship Id="rId9" Type="http://schemas.openxmlformats.org/officeDocument/2006/relationships/image" Target="../media/image9.png" /></Relationships>
</file>

<file path=ppt/slides/_rels/slide4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04379/facebook-social-media-brand-profile-in-the-united-kingdom" TargetMode="External" /><Relationship Id="rId6" Type="http://schemas.openxmlformats.org/officeDocument/2006/relationships/chart" Target="../charts/chart35.xml" /></Relationships>
</file>

<file path=ppt/slides/_rels/slide4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97785/facebook-social-media-brand-profile-in-germany" TargetMode="External" /><Relationship Id="rId6" Type="http://schemas.openxmlformats.org/officeDocument/2006/relationships/chart" Target="../charts/chart36.xml" /></Relationships>
</file>

<file path=ppt/slides/_rels/slide4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4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34502/instagram-user-numbers-in-europe" TargetMode="External" /><Relationship Id="rId6" Type="http://schemas.openxmlformats.org/officeDocument/2006/relationships/chart" Target="../charts/chart37.xml" /></Relationships>
</file>

<file path=ppt/slides/_rels/slide4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33684/instagram-social-network-website-visits-in-europe" TargetMode="External" /><Relationship Id="rId6" Type="http://schemas.openxmlformats.org/officeDocument/2006/relationships/chart" Target="../charts/chart38.xml" /></Relationships>
</file>

<file path=ppt/slides/_rels/slide4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21975/instagram-users-germany" TargetMode="External" /><Relationship Id="rId6" Type="http://schemas.openxmlformats.org/officeDocument/2006/relationships/chart" Target="../charts/chart39.xml" /></Relationships>
</file>

<file path=ppt/slides/_rels/slide5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18019/instagram-users-germany" TargetMode="External" /><Relationship Id="rId6" Type="http://schemas.openxmlformats.org/officeDocument/2006/relationships/chart" Target="../charts/chart40.xml" /></Relationships>
</file>

<file path=ppt/slides/_rels/slide5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18494/instagram-users-united-kingdom" TargetMode="External" /><Relationship Id="rId6" Type="http://schemas.openxmlformats.org/officeDocument/2006/relationships/chart" Target="../charts/chart41.xml" /></Relationships>
</file>

<file path=ppt/slides/_rels/slide5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18012/instagram-users-united-kingdom" TargetMode="External" /><Relationship Id="rId6" Type="http://schemas.openxmlformats.org/officeDocument/2006/relationships/chart" Target="../charts/chart42.xml" /></Relationships>
</file>

<file path=ppt/slides/_rels/slide5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04382/instagram-social-media-brand-profile-in-the-united-kingdom" TargetMode="External" /><Relationship Id="rId6" Type="http://schemas.openxmlformats.org/officeDocument/2006/relationships/chart" Target="../charts/chart43.xml" /></Relationships>
</file>

<file path=ppt/slides/_rels/slide5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97787/instagram-social-media-brand-profile-in-germany" TargetMode="External" /><Relationship Id="rId6" Type="http://schemas.openxmlformats.org/officeDocument/2006/relationships/chart" Target="../charts/chart44.xml" /></Relationships>
</file>

<file path=ppt/slides/_rels/slide5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5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34355/tiktok-users-europe" TargetMode="External" /><Relationship Id="rId6" Type="http://schemas.openxmlformats.org/officeDocument/2006/relationships/chart" Target="../charts/chart45.xml" /></Relationships>
</file>

<file path=ppt/slides/_rels/slide5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18517/tiktok-platform-video-usage-worldwide" TargetMode="External" /><Relationship Id="rId6" Type="http://schemas.openxmlformats.org/officeDocument/2006/relationships/chart" Target="../charts/chart46.xml" /></Relationships>
</file>

<file path=ppt/slides/_rels/slide5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33753/tiktok-usage-growth-worldwide-by-region" TargetMode="External" /><Relationship Id="rId6" Type="http://schemas.openxmlformats.org/officeDocument/2006/relationships/chart" Target="../charts/chart47.xml" /></Relationships>
</file>

<file path=ppt/slides/_rels/slide5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83296/uk-most-popular-tiktok-videos-by-views" TargetMode="External" /><Relationship Id="rId6" Type="http://schemas.openxmlformats.org/officeDocument/2006/relationships/chart" Target="../charts/chart48.xml" /></Relationships>
</file>

<file path=ppt/slides/_rels/slide6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68609/tiktok-accounts-most-followers-germany" TargetMode="External" /><Relationship Id="rId6" Type="http://schemas.openxmlformats.org/officeDocument/2006/relationships/chart" Target="../charts/chart49.xml" /></Relationships>
</file>

<file path=ppt/slides/_rels/slide6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139316/tiktok-user-distribution-age-gender-france" TargetMode="External" /><Relationship Id="rId6" Type="http://schemas.openxmlformats.org/officeDocument/2006/relationships/chart" Target="../charts/chart50.xml" /></Relationships>
</file>

<file path=ppt/slides/_rels/slide6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44511/tiktok-use-minors-france-gender" TargetMode="External" /><Relationship Id="rId6" Type="http://schemas.openxmlformats.org/officeDocument/2006/relationships/chart" Target="../charts/chart51.xml" /></Relationships>
</file>

<file path=ppt/slides/_rels/slide6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04387/tiktok-social-media-brand-profile-in-the-united-kingdom" TargetMode="External" /><Relationship Id="rId6" Type="http://schemas.openxmlformats.org/officeDocument/2006/relationships/chart" Target="../charts/chart52.xml" /></Relationships>
</file>

<file path=ppt/slides/_rels/slide6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97792/tiktok-social-media-brand-profile-in-germany" TargetMode="External" /><Relationship Id="rId6" Type="http://schemas.openxmlformats.org/officeDocument/2006/relationships/chart" Target="../charts/chart53.xml" /></Relationships>
</file>

<file path=ppt/slides/_rels/slide6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6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60042/reasons-italians-follow-influencers" TargetMode="External" /><Relationship Id="rId6" Type="http://schemas.openxmlformats.org/officeDocument/2006/relationships/chart" Target="../charts/chart54.xml" /></Relationships>
</file>

<file path=ppt/slides/_rels/slide6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11586/social-media-account-types-followed-italy" TargetMode="External" /><Relationship Id="rId6" Type="http://schemas.openxmlformats.org/officeDocument/2006/relationships/chart" Target="../charts/chart55.xml" /></Relationships>
</file>

<file path=ppt/slides/_rels/slide6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13588/credibility-influencers-spain" TargetMode="External" /><Relationship Id="rId6" Type="http://schemas.openxmlformats.org/officeDocument/2006/relationships/chart" Target="../charts/chart56.xml" /></Relationships>
</file>

<file path=ppt/slides/_rels/slide6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13614/promotional-nature-influencers-spain" TargetMode="External" /><Relationship Id="rId6" Type="http://schemas.openxmlformats.org/officeDocument/2006/relationships/chart" Target="../charts/chart57.xml" /></Relationships>
</file>

<file path=ppt/slides/_rels/slide7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24595/frequency-influencers-posting-social-media-spain" TargetMode="External" /><Relationship Id="rId6" Type="http://schemas.openxmlformats.org/officeDocument/2006/relationships/chart" Target="../charts/chart58.xml" /></Relationships>
</file>

<file path=ppt/slides/_rels/slide7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21157/type-influencers-followers-fashion-lifestyle-buyers-uk" TargetMode="External" /><Relationship Id="rId6" Type="http://schemas.openxmlformats.org/officeDocument/2006/relationships/chart" Target="../charts/chart59.xml" /></Relationships>
</file>

<file path=ppt/slides/_rels/slide7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68546/influencer-subscribers-social-media-germany" TargetMode="External" /><Relationship Id="rId6" Type="http://schemas.openxmlformats.org/officeDocument/2006/relationships/chart" Target="../charts/chart60.xml" /></Relationships>
</file>

<file path=ppt/slides/_rels/slide7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27728/instagram-engagement-rate-influencers-france" TargetMode="External" /><Relationship Id="rId6" Type="http://schemas.openxmlformats.org/officeDocument/2006/relationships/chart" Target="../charts/chart61.xml" /></Relationships>
</file>

<file path=ppt/slides/_rels/slide7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75.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10.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461963/social-media-advertising-revenue-countries-digital-market-outlook-europe" TargetMode="External" /><Relationship Id="rId6" Type="http://schemas.openxmlformats.org/officeDocument/2006/relationships/chart" Target="../charts/chart62.xml" /><Relationship Id="rId7" Type="http://schemas.openxmlformats.org/officeDocument/2006/relationships/image" Target="../media/image7.png" /><Relationship Id="rId8" Type="http://schemas.openxmlformats.org/officeDocument/2006/relationships/oleObject" Target="../embeddings/oleObject72.bin" TargetMode="Internal" /><Relationship Id="rId9" Type="http://schemas.openxmlformats.org/officeDocument/2006/relationships/image" Target="../media/image8.png" /></Relationships>
</file>

<file path=ppt/slides/_rels/slide7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87491/social-media-usage-of-enterprises-in-the-european-union-type-activity" TargetMode="External" /><Relationship Id="rId6" Type="http://schemas.openxmlformats.org/officeDocument/2006/relationships/chart" Target="../charts/chart63.xml" /></Relationships>
</file>

<file path=ppt/slides/_rels/slide7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87469/social-media-usage-enterprises-type-and-size-european-union-eu" TargetMode="External" /><Relationship Id="rId6" Type="http://schemas.openxmlformats.org/officeDocument/2006/relationships/chart" Target="../charts/chart64.xml" /></Relationships>
</file>

<file path=ppt/slides/_rels/slide78.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11.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87421/social-network-usage-countries-inside-the-european-union-by-country" TargetMode="External" /><Relationship Id="rId6" Type="http://schemas.openxmlformats.org/officeDocument/2006/relationships/chart" Target="../charts/chart65.xml" /><Relationship Id="rId7" Type="http://schemas.openxmlformats.org/officeDocument/2006/relationships/image" Target="../media/image7.png" /><Relationship Id="rId8" Type="http://schemas.openxmlformats.org/officeDocument/2006/relationships/oleObject" Target="../embeddings/oleObject76.bin" TargetMode="Internal" /><Relationship Id="rId9" Type="http://schemas.openxmlformats.org/officeDocument/2006/relationships/image" Target="../media/image8.png" /></Relationships>
</file>

<file path=ppt/slides/_rels/slide7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270847/social-ad-spend-format-europe" TargetMode="External" /><Relationship Id="rId6" Type="http://schemas.openxmlformats.org/officeDocument/2006/relationships/chart" Target="../charts/chart66.xml" /></Relationships>
</file>

<file path=ppt/slides/_rels/slide8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5" name="New shape" title=""/>
          <p:cNvSpPr/>
          <p:nvPr/>
        </p:nvSpPr>
        <p:spPr>
          <a:xfrm>
            <a:off x="74196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583200" y="6231600"/>
            <a:ext cx="1461600" cy="2880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CONSUMERS &amp; BRANDS</a:t>
            </a:r>
          </a:p>
        </p:txBody>
      </p:sp>
      <p:sp>
        <p:nvSpPr>
          <p:cNvPr id="3"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Social media usage in Western Europe</a:t>
            </a: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6"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5"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Table of Contents</a:t>
            </a:r>
          </a:p>
        </p:txBody>
      </p:sp>
      <p:sp>
        <p:nvSpPr>
          <p:cNvPr id="3"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a:t>
            </a:r>
          </a:p>
        </p:txBody>
      </p:sp>
      <p:sp>
        <p:nvSpPr>
          <p:cNvPr id="7" name="New shape" title=""/>
          <p:cNvSpPr/>
          <p:nvPr/>
        </p:nvSpPr>
        <p:spPr>
          <a:xfrm>
            <a:off x="586800" y="1882800"/>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01 Overview</a:t>
            </a:r>
          </a:p>
        </p:txBody>
      </p:sp>
      <p:sp>
        <p:nvSpPr>
          <p:cNvPr id="8" name="New shape" title=""/>
          <p:cNvSpPr/>
          <p:nvPr/>
        </p:nvSpPr>
        <p:spPr>
          <a:xfrm>
            <a:off x="5544000" y="211624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5" action="ppaction://hlinksldjump">
                  <a:extLst>
                    <a:ext uri="{A12FA001-AC4F-418D-AE19-62706E023703}">
                      <ahyp:hlinkClr xmlns:ahyp="http://schemas.microsoft.com/office/drawing/2018/hyperlinkcolor" val="tx"/>
                    </a:ext>
                  </a:extLst>
                </a:hlinkClick>
              </a:rPr>
              <a:t>04</a:t>
            </a:r>
          </a:p>
        </p:txBody>
      </p:sp>
      <p:sp>
        <p:nvSpPr>
          <p:cNvPr id="9" name="New shape" title=""/>
          <p:cNvSpPr/>
          <p:nvPr/>
        </p:nvSpPr>
        <p:spPr>
          <a:xfrm>
            <a:off x="586800" y="211624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Worldwide digital population 2023</a:t>
            </a:r>
          </a:p>
        </p:txBody>
      </p:sp>
      <p:sp>
        <p:nvSpPr>
          <p:cNvPr id="10" name="New shape" title=""/>
          <p:cNvSpPr/>
          <p:nvPr/>
        </p:nvSpPr>
        <p:spPr>
          <a:xfrm>
            <a:off x="5544000" y="228652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6" action="ppaction://hlinksldjump">
                  <a:extLst>
                    <a:ext uri="{A12FA001-AC4F-418D-AE19-62706E023703}">
                      <ahyp:hlinkClr xmlns:ahyp="http://schemas.microsoft.com/office/drawing/2018/hyperlinkcolor" val="tx"/>
                    </a:ext>
                  </a:extLst>
                </a:hlinkClick>
              </a:rPr>
              <a:t>05</a:t>
            </a:r>
          </a:p>
        </p:txBody>
      </p:sp>
      <p:sp>
        <p:nvSpPr>
          <p:cNvPr id="11" name="New shape" title=""/>
          <p:cNvSpPr/>
          <p:nvPr/>
        </p:nvSpPr>
        <p:spPr>
          <a:xfrm>
            <a:off x="586800" y="228652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Internet penetration rate worldwide 2023, by region</a:t>
            </a:r>
          </a:p>
        </p:txBody>
      </p:sp>
      <p:sp>
        <p:nvSpPr>
          <p:cNvPr id="12" name="New shape" title=""/>
          <p:cNvSpPr/>
          <p:nvPr/>
        </p:nvSpPr>
        <p:spPr>
          <a:xfrm>
            <a:off x="5544000" y="24567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7" action="ppaction://hlinksldjump">
                  <a:extLst>
                    <a:ext uri="{A12FA001-AC4F-418D-AE19-62706E023703}">
                      <ahyp:hlinkClr xmlns:ahyp="http://schemas.microsoft.com/office/drawing/2018/hyperlinkcolor" val="tx"/>
                    </a:ext>
                  </a:extLst>
                </a:hlinkClick>
              </a:rPr>
              <a:t>06</a:t>
            </a:r>
          </a:p>
        </p:txBody>
      </p:sp>
      <p:sp>
        <p:nvSpPr>
          <p:cNvPr id="13" name="New shape" title=""/>
          <p:cNvSpPr/>
          <p:nvPr/>
        </p:nvSpPr>
        <p:spPr>
          <a:xfrm>
            <a:off x="586800" y="24567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media: global penetration rate 2023, by region</a:t>
            </a:r>
          </a:p>
        </p:txBody>
      </p:sp>
      <p:sp>
        <p:nvSpPr>
          <p:cNvPr id="14" name="New shape" title=""/>
          <p:cNvSpPr/>
          <p:nvPr/>
        </p:nvSpPr>
        <p:spPr>
          <a:xfrm>
            <a:off x="5544000" y="262707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8" action="ppaction://hlinksldjump">
                  <a:extLst>
                    <a:ext uri="{A12FA001-AC4F-418D-AE19-62706E023703}">
                      <ahyp:hlinkClr xmlns:ahyp="http://schemas.microsoft.com/office/drawing/2018/hyperlinkcolor" val="tx"/>
                    </a:ext>
                  </a:extLst>
                </a:hlinkClick>
              </a:rPr>
              <a:t>07</a:t>
            </a:r>
          </a:p>
        </p:txBody>
      </p:sp>
      <p:sp>
        <p:nvSpPr>
          <p:cNvPr id="15" name="New shape" title=""/>
          <p:cNvSpPr/>
          <p:nvPr/>
        </p:nvSpPr>
        <p:spPr>
          <a:xfrm>
            <a:off x="586800" y="262707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network usage of countries inside the European Union 2014-2021, by country</a:t>
            </a:r>
          </a:p>
        </p:txBody>
      </p:sp>
      <p:sp>
        <p:nvSpPr>
          <p:cNvPr id="16" name="New shape" title=""/>
          <p:cNvSpPr/>
          <p:nvPr/>
        </p:nvSpPr>
        <p:spPr>
          <a:xfrm>
            <a:off x="5544000" y="279735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9" action="ppaction://hlinksldjump">
                  <a:extLst>
                    <a:ext uri="{A12FA001-AC4F-418D-AE19-62706E023703}">
                      <ahyp:hlinkClr xmlns:ahyp="http://schemas.microsoft.com/office/drawing/2018/hyperlinkcolor" val="tx"/>
                    </a:ext>
                  </a:extLst>
                </a:hlinkClick>
              </a:rPr>
              <a:t>08</a:t>
            </a:r>
          </a:p>
        </p:txBody>
      </p:sp>
      <p:sp>
        <p:nvSpPr>
          <p:cNvPr id="17" name="New shape" title=""/>
          <p:cNvSpPr/>
          <p:nvPr/>
        </p:nvSpPr>
        <p:spPr>
          <a:xfrm>
            <a:off x="586800" y="279735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media penetration rate in CEE 2022, by country</a:t>
            </a:r>
          </a:p>
        </p:txBody>
      </p:sp>
      <p:sp>
        <p:nvSpPr>
          <p:cNvPr id="18" name="New shape" title=""/>
          <p:cNvSpPr/>
          <p:nvPr/>
        </p:nvSpPr>
        <p:spPr>
          <a:xfrm>
            <a:off x="5544000" y="296763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0" action="ppaction://hlinksldjump">
                  <a:extLst>
                    <a:ext uri="{A12FA001-AC4F-418D-AE19-62706E023703}">
                      <ahyp:hlinkClr xmlns:ahyp="http://schemas.microsoft.com/office/drawing/2018/hyperlinkcolor" val="tx"/>
                    </a:ext>
                  </a:extLst>
                </a:hlinkClick>
              </a:rPr>
              <a:t>09</a:t>
            </a:r>
          </a:p>
        </p:txBody>
      </p:sp>
      <p:sp>
        <p:nvSpPr>
          <p:cNvPr id="19" name="New shape" title=""/>
          <p:cNvSpPr/>
          <p:nvPr/>
        </p:nvSpPr>
        <p:spPr>
          <a:xfrm>
            <a:off x="586800" y="296763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Digital Market Outlook: social media users in Europe 2017-2017, by platform</a:t>
            </a:r>
          </a:p>
        </p:txBody>
      </p:sp>
      <p:sp>
        <p:nvSpPr>
          <p:cNvPr id="20" name="New shape" title=""/>
          <p:cNvSpPr/>
          <p:nvPr/>
        </p:nvSpPr>
        <p:spPr>
          <a:xfrm>
            <a:off x="5544000" y="313791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1" action="ppaction://hlinksldjump">
                  <a:extLst>
                    <a:ext uri="{A12FA001-AC4F-418D-AE19-62706E023703}">
                      <ahyp:hlinkClr xmlns:ahyp="http://schemas.microsoft.com/office/drawing/2018/hyperlinkcolor" val="tx"/>
                    </a:ext>
                  </a:extLst>
                </a:hlinkClick>
              </a:rPr>
              <a:t>10</a:t>
            </a:r>
          </a:p>
        </p:txBody>
      </p:sp>
      <p:sp>
        <p:nvSpPr>
          <p:cNvPr id="21" name="New shape" title=""/>
          <p:cNvSpPr/>
          <p:nvPr/>
        </p:nvSpPr>
        <p:spPr>
          <a:xfrm>
            <a:off x="586800" y="313791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social networks by share of visits in Europe 2022</a:t>
            </a:r>
          </a:p>
        </p:txBody>
      </p:sp>
      <p:sp>
        <p:nvSpPr>
          <p:cNvPr id="22" name="New shape" title=""/>
          <p:cNvSpPr/>
          <p:nvPr/>
        </p:nvSpPr>
        <p:spPr>
          <a:xfrm>
            <a:off x="5544000" y="330818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2" action="ppaction://hlinksldjump">
                  <a:extLst>
                    <a:ext uri="{A12FA001-AC4F-418D-AE19-62706E023703}">
                      <ahyp:hlinkClr xmlns:ahyp="http://schemas.microsoft.com/office/drawing/2018/hyperlinkcolor" val="tx"/>
                    </a:ext>
                  </a:extLst>
                </a:hlinkClick>
              </a:rPr>
              <a:t>11</a:t>
            </a:r>
          </a:p>
        </p:txBody>
      </p:sp>
      <p:sp>
        <p:nvSpPr>
          <p:cNvPr id="23" name="New shape" title=""/>
          <p:cNvSpPr/>
          <p:nvPr/>
        </p:nvSpPr>
        <p:spPr>
          <a:xfrm>
            <a:off x="586800" y="330818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Monthly active mobile social media users in European countries 2021</a:t>
            </a:r>
          </a:p>
        </p:txBody>
      </p:sp>
      <p:sp>
        <p:nvSpPr>
          <p:cNvPr id="24" name="New shape" title=""/>
          <p:cNvSpPr/>
          <p:nvPr/>
        </p:nvSpPr>
        <p:spPr>
          <a:xfrm>
            <a:off x="5544000" y="347846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3" action="ppaction://hlinksldjump">
                  <a:extLst>
                    <a:ext uri="{A12FA001-AC4F-418D-AE19-62706E023703}">
                      <ahyp:hlinkClr xmlns:ahyp="http://schemas.microsoft.com/office/drawing/2018/hyperlinkcolor" val="tx"/>
                    </a:ext>
                  </a:extLst>
                </a:hlinkClick>
              </a:rPr>
              <a:t>12</a:t>
            </a:r>
          </a:p>
        </p:txBody>
      </p:sp>
      <p:sp>
        <p:nvSpPr>
          <p:cNvPr id="25" name="New shape" title=""/>
          <p:cNvSpPr/>
          <p:nvPr/>
        </p:nvSpPr>
        <p:spPr>
          <a:xfrm>
            <a:off x="586800" y="347846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Share of time spent online in selected European markets 2020-2021, by category</a:t>
            </a:r>
          </a:p>
        </p:txBody>
      </p:sp>
      <p:sp>
        <p:nvSpPr>
          <p:cNvPr id="26" name="New shape" title=""/>
          <p:cNvSpPr/>
          <p:nvPr/>
        </p:nvSpPr>
        <p:spPr>
          <a:xfrm>
            <a:off x="586800" y="3775745"/>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02 Social media platform usage</a:t>
            </a:r>
          </a:p>
        </p:txBody>
      </p:sp>
      <p:sp>
        <p:nvSpPr>
          <p:cNvPr id="27" name="New shape" title=""/>
          <p:cNvSpPr/>
          <p:nvPr/>
        </p:nvSpPr>
        <p:spPr>
          <a:xfrm>
            <a:off x="5544000" y="400918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4" action="ppaction://hlinksldjump">
                  <a:extLst>
                    <a:ext uri="{A12FA001-AC4F-418D-AE19-62706E023703}">
                      <ahyp:hlinkClr xmlns:ahyp="http://schemas.microsoft.com/office/drawing/2018/hyperlinkcolor" val="tx"/>
                    </a:ext>
                  </a:extLst>
                </a:hlinkClick>
              </a:rPr>
              <a:t>14</a:t>
            </a:r>
          </a:p>
        </p:txBody>
      </p:sp>
      <p:sp>
        <p:nvSpPr>
          <p:cNvPr id="28" name="New shape" title=""/>
          <p:cNvSpPr/>
          <p:nvPr/>
        </p:nvSpPr>
        <p:spPr>
          <a:xfrm>
            <a:off x="586800" y="400918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used social media platforms by type in the UK 2022</a:t>
            </a:r>
          </a:p>
        </p:txBody>
      </p:sp>
      <p:sp>
        <p:nvSpPr>
          <p:cNvPr id="29" name="New shape" title=""/>
          <p:cNvSpPr/>
          <p:nvPr/>
        </p:nvSpPr>
        <p:spPr>
          <a:xfrm>
            <a:off x="5544000" y="417946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5" action="ppaction://hlinksldjump">
                  <a:extLst>
                    <a:ext uri="{A12FA001-AC4F-418D-AE19-62706E023703}">
                      <ahyp:hlinkClr xmlns:ahyp="http://schemas.microsoft.com/office/drawing/2018/hyperlinkcolor" val="tx"/>
                    </a:ext>
                  </a:extLst>
                </a:hlinkClick>
              </a:rPr>
              <a:t>15</a:t>
            </a:r>
          </a:p>
        </p:txBody>
      </p:sp>
      <p:sp>
        <p:nvSpPr>
          <p:cNvPr id="30" name="New shape" title=""/>
          <p:cNvSpPr/>
          <p:nvPr/>
        </p:nvSpPr>
        <p:spPr>
          <a:xfrm>
            <a:off x="586800" y="417946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used social media platforms by type in Germany 2022</a:t>
            </a:r>
          </a:p>
        </p:txBody>
      </p:sp>
      <p:sp>
        <p:nvSpPr>
          <p:cNvPr id="31" name="New shape" title=""/>
          <p:cNvSpPr/>
          <p:nvPr/>
        </p:nvSpPr>
        <p:spPr>
          <a:xfrm>
            <a:off x="5544000" y="434974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6" action="ppaction://hlinksldjump">
                  <a:extLst>
                    <a:ext uri="{A12FA001-AC4F-418D-AE19-62706E023703}">
                      <ahyp:hlinkClr xmlns:ahyp="http://schemas.microsoft.com/office/drawing/2018/hyperlinkcolor" val="tx"/>
                    </a:ext>
                  </a:extLst>
                </a:hlinkClick>
              </a:rPr>
              <a:t>16</a:t>
            </a:r>
          </a:p>
        </p:txBody>
      </p:sp>
      <p:sp>
        <p:nvSpPr>
          <p:cNvPr id="32" name="New shape" title=""/>
          <p:cNvSpPr/>
          <p:nvPr/>
        </p:nvSpPr>
        <p:spPr>
          <a:xfrm>
            <a:off x="586800" y="434974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used social media platforms by type in France 2022</a:t>
            </a:r>
          </a:p>
        </p:txBody>
      </p:sp>
      <p:sp>
        <p:nvSpPr>
          <p:cNvPr id="33" name="New shape" title=""/>
          <p:cNvSpPr/>
          <p:nvPr/>
        </p:nvSpPr>
        <p:spPr>
          <a:xfrm>
            <a:off x="5544000" y="452002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7" action="ppaction://hlinksldjump">
                  <a:extLst>
                    <a:ext uri="{A12FA001-AC4F-418D-AE19-62706E023703}">
                      <ahyp:hlinkClr xmlns:ahyp="http://schemas.microsoft.com/office/drawing/2018/hyperlinkcolor" val="tx"/>
                    </a:ext>
                  </a:extLst>
                </a:hlinkClick>
              </a:rPr>
              <a:t>17</a:t>
            </a:r>
          </a:p>
        </p:txBody>
      </p:sp>
      <p:sp>
        <p:nvSpPr>
          <p:cNvPr id="34" name="New shape" title=""/>
          <p:cNvSpPr/>
          <p:nvPr/>
        </p:nvSpPr>
        <p:spPr>
          <a:xfrm>
            <a:off x="586800" y="452002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used social media platforms by type in Italy 2022</a:t>
            </a:r>
          </a:p>
        </p:txBody>
      </p:sp>
      <p:sp>
        <p:nvSpPr>
          <p:cNvPr id="35" name="New shape" title=""/>
          <p:cNvSpPr/>
          <p:nvPr/>
        </p:nvSpPr>
        <p:spPr>
          <a:xfrm>
            <a:off x="5544000" y="46903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8" action="ppaction://hlinksldjump">
                  <a:extLst>
                    <a:ext uri="{A12FA001-AC4F-418D-AE19-62706E023703}">
                      <ahyp:hlinkClr xmlns:ahyp="http://schemas.microsoft.com/office/drawing/2018/hyperlinkcolor" val="tx"/>
                    </a:ext>
                  </a:extLst>
                </a:hlinkClick>
              </a:rPr>
              <a:t>18</a:t>
            </a:r>
          </a:p>
        </p:txBody>
      </p:sp>
      <p:sp>
        <p:nvSpPr>
          <p:cNvPr id="36" name="New shape" title=""/>
          <p:cNvSpPr/>
          <p:nvPr/>
        </p:nvSpPr>
        <p:spPr>
          <a:xfrm>
            <a:off x="586800" y="46903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used social media platforms by type in Spain 2022</a:t>
            </a:r>
          </a:p>
        </p:txBody>
      </p:sp>
      <p:sp>
        <p:nvSpPr>
          <p:cNvPr id="37" name="New shape" title=""/>
          <p:cNvSpPr/>
          <p:nvPr/>
        </p:nvSpPr>
        <p:spPr>
          <a:xfrm>
            <a:off x="586800" y="4987578"/>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03 Social media activities</a:t>
            </a:r>
          </a:p>
        </p:txBody>
      </p:sp>
      <p:sp>
        <p:nvSpPr>
          <p:cNvPr id="38" name="New shape" title=""/>
          <p:cNvSpPr/>
          <p:nvPr/>
        </p:nvSpPr>
        <p:spPr>
          <a:xfrm>
            <a:off x="5544000" y="522102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9" action="ppaction://hlinksldjump">
                  <a:extLst>
                    <a:ext uri="{A12FA001-AC4F-418D-AE19-62706E023703}">
                      <ahyp:hlinkClr xmlns:ahyp="http://schemas.microsoft.com/office/drawing/2018/hyperlinkcolor" val="tx"/>
                    </a:ext>
                  </a:extLst>
                </a:hlinkClick>
              </a:rPr>
              <a:t>20</a:t>
            </a:r>
          </a:p>
        </p:txBody>
      </p:sp>
      <p:sp>
        <p:nvSpPr>
          <p:cNvPr id="39" name="New shape" title=""/>
          <p:cNvSpPr/>
          <p:nvPr/>
        </p:nvSpPr>
        <p:spPr>
          <a:xfrm>
            <a:off x="586800" y="522102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common social media activities in the UK 2022</a:t>
            </a:r>
          </a:p>
        </p:txBody>
      </p:sp>
      <p:sp>
        <p:nvSpPr>
          <p:cNvPr id="40" name="New shape" title=""/>
          <p:cNvSpPr/>
          <p:nvPr/>
        </p:nvSpPr>
        <p:spPr>
          <a:xfrm>
            <a:off x="5544000" y="53912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0" action="ppaction://hlinksldjump">
                  <a:extLst>
                    <a:ext uri="{A12FA001-AC4F-418D-AE19-62706E023703}">
                      <ahyp:hlinkClr xmlns:ahyp="http://schemas.microsoft.com/office/drawing/2018/hyperlinkcolor" val="tx"/>
                    </a:ext>
                  </a:extLst>
                </a:hlinkClick>
              </a:rPr>
              <a:t>21</a:t>
            </a:r>
          </a:p>
        </p:txBody>
      </p:sp>
      <p:sp>
        <p:nvSpPr>
          <p:cNvPr id="41" name="New shape" title=""/>
          <p:cNvSpPr/>
          <p:nvPr/>
        </p:nvSpPr>
        <p:spPr>
          <a:xfrm>
            <a:off x="586800" y="53912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common social media activities in Germany 2022</a:t>
            </a:r>
          </a:p>
        </p:txBody>
      </p:sp>
      <p:sp>
        <p:nvSpPr>
          <p:cNvPr id="42" name="New shape" title=""/>
          <p:cNvSpPr/>
          <p:nvPr/>
        </p:nvSpPr>
        <p:spPr>
          <a:xfrm>
            <a:off x="10915200" y="18828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1" action="ppaction://hlinksldjump">
                  <a:extLst>
                    <a:ext uri="{A12FA001-AC4F-418D-AE19-62706E023703}">
                      <ahyp:hlinkClr xmlns:ahyp="http://schemas.microsoft.com/office/drawing/2018/hyperlinkcolor" val="tx"/>
                    </a:ext>
                  </a:extLst>
                </a:hlinkClick>
              </a:rPr>
              <a:t>22</a:t>
            </a:r>
          </a:p>
        </p:txBody>
      </p:sp>
      <p:sp>
        <p:nvSpPr>
          <p:cNvPr id="43" name="New shape" title=""/>
          <p:cNvSpPr/>
          <p:nvPr/>
        </p:nvSpPr>
        <p:spPr>
          <a:xfrm>
            <a:off x="5958000" y="18828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common social media activities in France 2022</a:t>
            </a:r>
          </a:p>
        </p:txBody>
      </p:sp>
      <p:sp>
        <p:nvSpPr>
          <p:cNvPr id="44" name="New shape" title=""/>
          <p:cNvSpPr/>
          <p:nvPr/>
        </p:nvSpPr>
        <p:spPr>
          <a:xfrm>
            <a:off x="10915200" y="20530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2" action="ppaction://hlinksldjump">
                  <a:extLst>
                    <a:ext uri="{A12FA001-AC4F-418D-AE19-62706E023703}">
                      <ahyp:hlinkClr xmlns:ahyp="http://schemas.microsoft.com/office/drawing/2018/hyperlinkcolor" val="tx"/>
                    </a:ext>
                  </a:extLst>
                </a:hlinkClick>
              </a:rPr>
              <a:t>23</a:t>
            </a:r>
          </a:p>
        </p:txBody>
      </p:sp>
      <p:sp>
        <p:nvSpPr>
          <p:cNvPr id="45" name="New shape" title=""/>
          <p:cNvSpPr/>
          <p:nvPr/>
        </p:nvSpPr>
        <p:spPr>
          <a:xfrm>
            <a:off x="5958000" y="20530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common social media activities in Italy 2022</a:t>
            </a:r>
          </a:p>
        </p:txBody>
      </p:sp>
      <p:sp>
        <p:nvSpPr>
          <p:cNvPr id="46" name="New shape" title=""/>
          <p:cNvSpPr/>
          <p:nvPr/>
        </p:nvSpPr>
        <p:spPr>
          <a:xfrm>
            <a:off x="10915200" y="22233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3" action="ppaction://hlinksldjump">
                  <a:extLst>
                    <a:ext uri="{A12FA001-AC4F-418D-AE19-62706E023703}">
                      <ahyp:hlinkClr xmlns:ahyp="http://schemas.microsoft.com/office/drawing/2018/hyperlinkcolor" val="tx"/>
                    </a:ext>
                  </a:extLst>
                </a:hlinkClick>
              </a:rPr>
              <a:t>24</a:t>
            </a:r>
          </a:p>
        </p:txBody>
      </p:sp>
      <p:sp>
        <p:nvSpPr>
          <p:cNvPr id="47" name="New shape" title=""/>
          <p:cNvSpPr/>
          <p:nvPr/>
        </p:nvSpPr>
        <p:spPr>
          <a:xfrm>
            <a:off x="5958000" y="22233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Most common social media activities in Spain 2022</a:t>
            </a:r>
          </a:p>
        </p:txBody>
      </p:sp>
      <p:sp>
        <p:nvSpPr>
          <p:cNvPr id="48" name="New shape" title=""/>
          <p:cNvSpPr/>
          <p:nvPr/>
        </p:nvSpPr>
        <p:spPr>
          <a:xfrm>
            <a:off x="5958000" y="2520634"/>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04 Social media behavior</a:t>
            </a:r>
          </a:p>
        </p:txBody>
      </p:sp>
      <p:sp>
        <p:nvSpPr>
          <p:cNvPr id="49" name="New shape" title=""/>
          <p:cNvSpPr/>
          <p:nvPr/>
        </p:nvSpPr>
        <p:spPr>
          <a:xfrm>
            <a:off x="10915200" y="275407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4" action="ppaction://hlinksldjump">
                  <a:extLst>
                    <a:ext uri="{A12FA001-AC4F-418D-AE19-62706E023703}">
                      <ahyp:hlinkClr xmlns:ahyp="http://schemas.microsoft.com/office/drawing/2018/hyperlinkcolor" val="tx"/>
                    </a:ext>
                  </a:extLst>
                </a:hlinkClick>
              </a:rPr>
              <a:t>26</a:t>
            </a:r>
          </a:p>
        </p:txBody>
      </p:sp>
      <p:sp>
        <p:nvSpPr>
          <p:cNvPr id="50" name="New shape" title=""/>
          <p:cNvSpPr/>
          <p:nvPr/>
        </p:nvSpPr>
        <p:spPr>
          <a:xfrm>
            <a:off x="5958000" y="275407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social media usage reasons in UK 2022</a:t>
            </a:r>
          </a:p>
        </p:txBody>
      </p:sp>
      <p:sp>
        <p:nvSpPr>
          <p:cNvPr id="51" name="New shape" title=""/>
          <p:cNvSpPr/>
          <p:nvPr/>
        </p:nvSpPr>
        <p:spPr>
          <a:xfrm>
            <a:off x="10915200" y="292435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5" action="ppaction://hlinksldjump">
                  <a:extLst>
                    <a:ext uri="{A12FA001-AC4F-418D-AE19-62706E023703}">
                      <ahyp:hlinkClr xmlns:ahyp="http://schemas.microsoft.com/office/drawing/2018/hyperlinkcolor" val="tx"/>
                    </a:ext>
                  </a:extLst>
                </a:hlinkClick>
              </a:rPr>
              <a:t>27</a:t>
            </a:r>
          </a:p>
        </p:txBody>
      </p:sp>
      <p:sp>
        <p:nvSpPr>
          <p:cNvPr id="52" name="New shape" title=""/>
          <p:cNvSpPr/>
          <p:nvPr/>
        </p:nvSpPr>
        <p:spPr>
          <a:xfrm>
            <a:off x="5958000" y="292435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social media usage reasons in Germany 2022</a:t>
            </a:r>
          </a:p>
        </p:txBody>
      </p:sp>
      <p:sp>
        <p:nvSpPr>
          <p:cNvPr id="53" name="New shape" title=""/>
          <p:cNvSpPr/>
          <p:nvPr/>
        </p:nvSpPr>
        <p:spPr>
          <a:xfrm>
            <a:off x="10915200" y="309463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6" action="ppaction://hlinksldjump">
                  <a:extLst>
                    <a:ext uri="{A12FA001-AC4F-418D-AE19-62706E023703}">
                      <ahyp:hlinkClr xmlns:ahyp="http://schemas.microsoft.com/office/drawing/2018/hyperlinkcolor" val="tx"/>
                    </a:ext>
                  </a:extLst>
                </a:hlinkClick>
              </a:rPr>
              <a:t>28</a:t>
            </a:r>
          </a:p>
        </p:txBody>
      </p:sp>
      <p:sp>
        <p:nvSpPr>
          <p:cNvPr id="54" name="New shape" title=""/>
          <p:cNvSpPr/>
          <p:nvPr/>
        </p:nvSpPr>
        <p:spPr>
          <a:xfrm>
            <a:off x="5958000" y="309463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social media usage reasons in France 2021</a:t>
            </a:r>
          </a:p>
        </p:txBody>
      </p:sp>
      <p:sp>
        <p:nvSpPr>
          <p:cNvPr id="55" name="New shape" title=""/>
          <p:cNvSpPr/>
          <p:nvPr/>
        </p:nvSpPr>
        <p:spPr>
          <a:xfrm>
            <a:off x="10915200" y="326491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7" action="ppaction://hlinksldjump">
                  <a:extLst>
                    <a:ext uri="{A12FA001-AC4F-418D-AE19-62706E023703}">
                      <ahyp:hlinkClr xmlns:ahyp="http://schemas.microsoft.com/office/drawing/2018/hyperlinkcolor" val="tx"/>
                    </a:ext>
                  </a:extLst>
                </a:hlinkClick>
              </a:rPr>
              <a:t>29</a:t>
            </a:r>
          </a:p>
        </p:txBody>
      </p:sp>
      <p:sp>
        <p:nvSpPr>
          <p:cNvPr id="56" name="New shape" title=""/>
          <p:cNvSpPr/>
          <p:nvPr/>
        </p:nvSpPr>
        <p:spPr>
          <a:xfrm>
            <a:off x="5958000" y="326491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social media usage reasons in Italy 2022</a:t>
            </a:r>
          </a:p>
        </p:txBody>
      </p:sp>
      <p:sp>
        <p:nvSpPr>
          <p:cNvPr id="57" name="New shape" title=""/>
          <p:cNvSpPr/>
          <p:nvPr/>
        </p:nvSpPr>
        <p:spPr>
          <a:xfrm>
            <a:off x="10915200" y="343518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8" action="ppaction://hlinksldjump">
                  <a:extLst>
                    <a:ext uri="{A12FA001-AC4F-418D-AE19-62706E023703}">
                      <ahyp:hlinkClr xmlns:ahyp="http://schemas.microsoft.com/office/drawing/2018/hyperlinkcolor" val="tx"/>
                    </a:ext>
                  </a:extLst>
                </a:hlinkClick>
              </a:rPr>
              <a:t>30</a:t>
            </a:r>
          </a:p>
        </p:txBody>
      </p:sp>
      <p:sp>
        <p:nvSpPr>
          <p:cNvPr id="58" name="New shape" title=""/>
          <p:cNvSpPr/>
          <p:nvPr/>
        </p:nvSpPr>
        <p:spPr>
          <a:xfrm>
            <a:off x="5958000" y="343518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social media usage reasons in Spain 2021</a:t>
            </a:r>
          </a:p>
        </p:txBody>
      </p:sp>
      <p:sp>
        <p:nvSpPr>
          <p:cNvPr id="59" name="New shape" title=""/>
          <p:cNvSpPr/>
          <p:nvPr/>
        </p:nvSpPr>
        <p:spPr>
          <a:xfrm>
            <a:off x="10915200" y="360546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9" action="ppaction://hlinksldjump">
                  <a:extLst>
                    <a:ext uri="{A12FA001-AC4F-418D-AE19-62706E023703}">
                      <ahyp:hlinkClr xmlns:ahyp="http://schemas.microsoft.com/office/drawing/2018/hyperlinkcolor" val="tx"/>
                    </a:ext>
                  </a:extLst>
                </a:hlinkClick>
              </a:rPr>
              <a:t>31</a:t>
            </a:r>
          </a:p>
        </p:txBody>
      </p:sp>
      <p:sp>
        <p:nvSpPr>
          <p:cNvPr id="60" name="New shape" title=""/>
          <p:cNvSpPr/>
          <p:nvPr/>
        </p:nvSpPr>
        <p:spPr>
          <a:xfrm>
            <a:off x="5958000" y="360546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media food behavior of young consumers in Europe in 2022</a:t>
            </a:r>
          </a:p>
        </p:txBody>
      </p:sp>
      <p:sp>
        <p:nvSpPr>
          <p:cNvPr id="61" name="New shape" title=""/>
          <p:cNvSpPr/>
          <p:nvPr/>
        </p:nvSpPr>
        <p:spPr>
          <a:xfrm>
            <a:off x="10915200" y="377574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0" action="ppaction://hlinksldjump">
                  <a:extLst>
                    <a:ext uri="{A12FA001-AC4F-418D-AE19-62706E023703}">
                      <ahyp:hlinkClr xmlns:ahyp="http://schemas.microsoft.com/office/drawing/2018/hyperlinkcolor" val="tx"/>
                    </a:ext>
                  </a:extLst>
                </a:hlinkClick>
              </a:rPr>
              <a:t>32</a:t>
            </a:r>
          </a:p>
        </p:txBody>
      </p:sp>
      <p:sp>
        <p:nvSpPr>
          <p:cNvPr id="62" name="New shape" title=""/>
          <p:cNvSpPr/>
          <p:nvPr/>
        </p:nvSpPr>
        <p:spPr>
          <a:xfrm>
            <a:off x="5958000" y="377574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Online behaviors of consumers during COVID-19 in the United Kingdom 2021</a:t>
            </a:r>
          </a:p>
        </p:txBody>
      </p:sp>
      <p:sp>
        <p:nvSpPr>
          <p:cNvPr id="63" name="New shape" title=""/>
          <p:cNvSpPr/>
          <p:nvPr/>
        </p:nvSpPr>
        <p:spPr>
          <a:xfrm>
            <a:off x="10915200" y="394602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1" action="ppaction://hlinksldjump">
                  <a:extLst>
                    <a:ext uri="{A12FA001-AC4F-418D-AE19-62706E023703}">
                      <ahyp:hlinkClr xmlns:ahyp="http://schemas.microsoft.com/office/drawing/2018/hyperlinkcolor" val="tx"/>
                    </a:ext>
                  </a:extLst>
                </a:hlinkClick>
              </a:rPr>
              <a:t>33</a:t>
            </a:r>
          </a:p>
        </p:txBody>
      </p:sp>
      <p:sp>
        <p:nvSpPr>
          <p:cNvPr id="64" name="New shape" title=""/>
          <p:cNvSpPr/>
          <p:nvPr/>
        </p:nvSpPr>
        <p:spPr>
          <a:xfrm>
            <a:off x="5958000" y="394602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Tools and platforms used for online search in Italy Q3 2021</a:t>
            </a:r>
          </a:p>
        </p:txBody>
      </p:sp>
      <p:sp>
        <p:nvSpPr>
          <p:cNvPr id="65" name="New shape" title=""/>
          <p:cNvSpPr/>
          <p:nvPr/>
        </p:nvSpPr>
        <p:spPr>
          <a:xfrm>
            <a:off x="10915200" y="411630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2" action="ppaction://hlinksldjump">
                  <a:extLst>
                    <a:ext uri="{A12FA001-AC4F-418D-AE19-62706E023703}">
                      <ahyp:hlinkClr xmlns:ahyp="http://schemas.microsoft.com/office/drawing/2018/hyperlinkcolor" val="tx"/>
                    </a:ext>
                  </a:extLst>
                </a:hlinkClick>
              </a:rPr>
              <a:t>34</a:t>
            </a:r>
          </a:p>
        </p:txBody>
      </p:sp>
      <p:sp>
        <p:nvSpPr>
          <p:cNvPr id="66" name="New shape" title=""/>
          <p:cNvSpPr/>
          <p:nvPr/>
        </p:nvSpPr>
        <p:spPr>
          <a:xfrm>
            <a:off x="5958000" y="411630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Spain: types of social media accounts followed Q3 2021</a:t>
            </a:r>
          </a:p>
        </p:txBody>
      </p:sp>
      <p:sp>
        <p:nvSpPr>
          <p:cNvPr id="67" name="New shape" title=""/>
          <p:cNvSpPr/>
          <p:nvPr/>
        </p:nvSpPr>
        <p:spPr>
          <a:xfrm>
            <a:off x="5958000" y="4413579"/>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05 Facebook</a:t>
            </a:r>
          </a:p>
        </p:txBody>
      </p:sp>
      <p:sp>
        <p:nvSpPr>
          <p:cNvPr id="68" name="New shape" title=""/>
          <p:cNvSpPr/>
          <p:nvPr/>
        </p:nvSpPr>
        <p:spPr>
          <a:xfrm>
            <a:off x="10915200" y="464702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3" action="ppaction://hlinksldjump">
                  <a:extLst>
                    <a:ext uri="{A12FA001-AC4F-418D-AE19-62706E023703}">
                      <ahyp:hlinkClr xmlns:ahyp="http://schemas.microsoft.com/office/drawing/2018/hyperlinkcolor" val="tx"/>
                    </a:ext>
                  </a:extLst>
                </a:hlinkClick>
              </a:rPr>
              <a:t>36</a:t>
            </a:r>
          </a:p>
        </p:txBody>
      </p:sp>
      <p:sp>
        <p:nvSpPr>
          <p:cNvPr id="69" name="New shape" title=""/>
          <p:cNvSpPr/>
          <p:nvPr/>
        </p:nvSpPr>
        <p:spPr>
          <a:xfrm>
            <a:off x="5958000" y="464702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users worldwide 2017-2027</a:t>
            </a:r>
          </a:p>
        </p:txBody>
      </p:sp>
      <p:sp>
        <p:nvSpPr>
          <p:cNvPr id="70" name="New shape" title=""/>
          <p:cNvSpPr/>
          <p:nvPr/>
        </p:nvSpPr>
        <p:spPr>
          <a:xfrm>
            <a:off x="10915200" y="48173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4" action="ppaction://hlinksldjump">
                  <a:extLst>
                    <a:ext uri="{A12FA001-AC4F-418D-AE19-62706E023703}">
                      <ahyp:hlinkClr xmlns:ahyp="http://schemas.microsoft.com/office/drawing/2018/hyperlinkcolor" val="tx"/>
                    </a:ext>
                  </a:extLst>
                </a:hlinkClick>
              </a:rPr>
              <a:t>37</a:t>
            </a:r>
          </a:p>
        </p:txBody>
      </p:sp>
      <p:sp>
        <p:nvSpPr>
          <p:cNvPr id="71" name="New shape" title=""/>
          <p:cNvSpPr/>
          <p:nvPr/>
        </p:nvSpPr>
        <p:spPr>
          <a:xfrm>
            <a:off x="5958000" y="48173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global penetration as of May 2022, by region</a:t>
            </a:r>
          </a:p>
        </p:txBody>
      </p:sp>
      <p:sp>
        <p:nvSpPr>
          <p:cNvPr id="72" name="New shape" title=""/>
          <p:cNvSpPr/>
          <p:nvPr/>
        </p:nvSpPr>
        <p:spPr>
          <a:xfrm>
            <a:off x="10915200" y="49875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5" action="ppaction://hlinksldjump">
                  <a:extLst>
                    <a:ext uri="{A12FA001-AC4F-418D-AE19-62706E023703}">
                      <ahyp:hlinkClr xmlns:ahyp="http://schemas.microsoft.com/office/drawing/2018/hyperlinkcolor" val="tx"/>
                    </a:ext>
                  </a:extLst>
                </a:hlinkClick>
              </a:rPr>
              <a:t>38</a:t>
            </a:r>
          </a:p>
        </p:txBody>
      </p:sp>
      <p:sp>
        <p:nvSpPr>
          <p:cNvPr id="73" name="New shape" title=""/>
          <p:cNvSpPr/>
          <p:nvPr/>
        </p:nvSpPr>
        <p:spPr>
          <a:xfrm>
            <a:off x="5958000" y="49875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Europe: Facebook users 2022, by country</a:t>
            </a:r>
          </a:p>
        </p:txBody>
      </p:sp>
      <p:sp>
        <p:nvSpPr>
          <p:cNvPr id="74" name="New shape" title=""/>
          <p:cNvSpPr/>
          <p:nvPr/>
        </p:nvSpPr>
        <p:spPr>
          <a:xfrm>
            <a:off x="10915200" y="51578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6" action="ppaction://hlinksldjump">
                  <a:extLst>
                    <a:ext uri="{A12FA001-AC4F-418D-AE19-62706E023703}">
                      <ahyp:hlinkClr xmlns:ahyp="http://schemas.microsoft.com/office/drawing/2018/hyperlinkcolor" val="tx"/>
                    </a:ext>
                  </a:extLst>
                </a:hlinkClick>
              </a:rPr>
              <a:t>39</a:t>
            </a:r>
          </a:p>
        </p:txBody>
      </p:sp>
      <p:sp>
        <p:nvSpPr>
          <p:cNvPr id="75" name="New shape" title=""/>
          <p:cNvSpPr/>
          <p:nvPr/>
        </p:nvSpPr>
        <p:spPr>
          <a:xfrm>
            <a:off x="5958000" y="51578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monthly active users in Europe 2012-2022</a:t>
            </a:r>
          </a:p>
        </p:txBody>
      </p:sp>
      <p:sp>
        <p:nvSpPr>
          <p:cNvPr id="76" name="New shape" title=""/>
          <p:cNvSpPr/>
          <p:nvPr/>
        </p:nvSpPr>
        <p:spPr>
          <a:xfrm>
            <a:off x="10915200" y="532813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7" action="ppaction://hlinksldjump">
                  <a:extLst>
                    <a:ext uri="{A12FA001-AC4F-418D-AE19-62706E023703}">
                      <ahyp:hlinkClr xmlns:ahyp="http://schemas.microsoft.com/office/drawing/2018/hyperlinkcolor" val="tx"/>
                    </a:ext>
                  </a:extLst>
                </a:hlinkClick>
              </a:rPr>
              <a:t>40</a:t>
            </a:r>
          </a:p>
        </p:txBody>
      </p:sp>
      <p:sp>
        <p:nvSpPr>
          <p:cNvPr id="77" name="New shape" title=""/>
          <p:cNvSpPr/>
          <p:nvPr/>
        </p:nvSpPr>
        <p:spPr>
          <a:xfrm>
            <a:off x="5958000" y="532813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quarterly DAU in Europe 2012-2022</a:t>
            </a: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6"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5"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Table of Contents</a:t>
            </a:r>
          </a:p>
        </p:txBody>
      </p:sp>
      <p:sp>
        <p:nvSpPr>
          <p:cNvPr id="3"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a:t>
            </a:r>
          </a:p>
        </p:txBody>
      </p:sp>
      <p:sp>
        <p:nvSpPr>
          <p:cNvPr id="7" name="New shape" title=""/>
          <p:cNvSpPr/>
          <p:nvPr/>
        </p:nvSpPr>
        <p:spPr>
          <a:xfrm>
            <a:off x="5544000" y="18828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5" action="ppaction://hlinksldjump">
                  <a:extLst>
                    <a:ext uri="{A12FA001-AC4F-418D-AE19-62706E023703}">
                      <ahyp:hlinkClr xmlns:ahyp="http://schemas.microsoft.com/office/drawing/2018/hyperlinkcolor" val="tx"/>
                    </a:ext>
                  </a:extLst>
                </a:hlinkClick>
              </a:rPr>
              <a:t>41</a:t>
            </a:r>
          </a:p>
        </p:txBody>
      </p:sp>
      <p:sp>
        <p:nvSpPr>
          <p:cNvPr id="8" name="New shape" title=""/>
          <p:cNvSpPr/>
          <p:nvPr/>
        </p:nvSpPr>
        <p:spPr>
          <a:xfrm>
            <a:off x="586800" y="18828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quarterly revenue in Europe 2010-2021, by segment</a:t>
            </a:r>
          </a:p>
        </p:txBody>
      </p:sp>
      <p:sp>
        <p:nvSpPr>
          <p:cNvPr id="9" name="New shape" title=""/>
          <p:cNvSpPr/>
          <p:nvPr/>
        </p:nvSpPr>
        <p:spPr>
          <a:xfrm>
            <a:off x="5544000" y="20530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6" action="ppaction://hlinksldjump">
                  <a:extLst>
                    <a:ext uri="{A12FA001-AC4F-418D-AE19-62706E023703}">
                      <ahyp:hlinkClr xmlns:ahyp="http://schemas.microsoft.com/office/drawing/2018/hyperlinkcolor" val="tx"/>
                    </a:ext>
                  </a:extLst>
                </a:hlinkClick>
              </a:rPr>
              <a:t>42</a:t>
            </a:r>
          </a:p>
        </p:txBody>
      </p:sp>
      <p:sp>
        <p:nvSpPr>
          <p:cNvPr id="10" name="New shape" title=""/>
          <p:cNvSpPr/>
          <p:nvPr/>
        </p:nvSpPr>
        <p:spPr>
          <a:xfrm>
            <a:off x="586800" y="20530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average revenue per user 2011-2022, by region</a:t>
            </a:r>
          </a:p>
        </p:txBody>
      </p:sp>
      <p:sp>
        <p:nvSpPr>
          <p:cNvPr id="11" name="New shape" title=""/>
          <p:cNvSpPr/>
          <p:nvPr/>
        </p:nvSpPr>
        <p:spPr>
          <a:xfrm>
            <a:off x="5544000" y="22233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7" action="ppaction://hlinksldjump">
                  <a:extLst>
                    <a:ext uri="{A12FA001-AC4F-418D-AE19-62706E023703}">
                      <ahyp:hlinkClr xmlns:ahyp="http://schemas.microsoft.com/office/drawing/2018/hyperlinkcolor" val="tx"/>
                    </a:ext>
                  </a:extLst>
                </a:hlinkClick>
              </a:rPr>
              <a:t>43</a:t>
            </a:r>
          </a:p>
        </p:txBody>
      </p:sp>
      <p:sp>
        <p:nvSpPr>
          <p:cNvPr id="12" name="New shape" title=""/>
          <p:cNvSpPr/>
          <p:nvPr/>
        </p:nvSpPr>
        <p:spPr>
          <a:xfrm>
            <a:off x="586800" y="22233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brand profile in the UK 2022</a:t>
            </a:r>
          </a:p>
        </p:txBody>
      </p:sp>
      <p:sp>
        <p:nvSpPr>
          <p:cNvPr id="13" name="New shape" title=""/>
          <p:cNvSpPr/>
          <p:nvPr/>
        </p:nvSpPr>
        <p:spPr>
          <a:xfrm>
            <a:off x="5544000" y="239363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8" action="ppaction://hlinksldjump">
                  <a:extLst>
                    <a:ext uri="{A12FA001-AC4F-418D-AE19-62706E023703}">
                      <ahyp:hlinkClr xmlns:ahyp="http://schemas.microsoft.com/office/drawing/2018/hyperlinkcolor" val="tx"/>
                    </a:ext>
                  </a:extLst>
                </a:hlinkClick>
              </a:rPr>
              <a:t>44</a:t>
            </a:r>
          </a:p>
        </p:txBody>
      </p:sp>
      <p:sp>
        <p:nvSpPr>
          <p:cNvPr id="14" name="New shape" title=""/>
          <p:cNvSpPr/>
          <p:nvPr/>
        </p:nvSpPr>
        <p:spPr>
          <a:xfrm>
            <a:off x="586800" y="239363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Facebook brand profile in Germany 2022</a:t>
            </a:r>
          </a:p>
        </p:txBody>
      </p:sp>
      <p:sp>
        <p:nvSpPr>
          <p:cNvPr id="15" name="New shape" title=""/>
          <p:cNvSpPr/>
          <p:nvPr/>
        </p:nvSpPr>
        <p:spPr>
          <a:xfrm>
            <a:off x="586800" y="2690912"/>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06 Instagram</a:t>
            </a:r>
          </a:p>
        </p:txBody>
      </p:sp>
      <p:sp>
        <p:nvSpPr>
          <p:cNvPr id="16" name="New shape" title=""/>
          <p:cNvSpPr/>
          <p:nvPr/>
        </p:nvSpPr>
        <p:spPr>
          <a:xfrm>
            <a:off x="5544000" y="292435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9" action="ppaction://hlinksldjump">
                  <a:extLst>
                    <a:ext uri="{A12FA001-AC4F-418D-AE19-62706E023703}">
                      <ahyp:hlinkClr xmlns:ahyp="http://schemas.microsoft.com/office/drawing/2018/hyperlinkcolor" val="tx"/>
                    </a:ext>
                  </a:extLst>
                </a:hlinkClick>
              </a:rPr>
              <a:t>46</a:t>
            </a:r>
          </a:p>
        </p:txBody>
      </p:sp>
      <p:sp>
        <p:nvSpPr>
          <p:cNvPr id="17" name="New shape" title=""/>
          <p:cNvSpPr/>
          <p:nvPr/>
        </p:nvSpPr>
        <p:spPr>
          <a:xfrm>
            <a:off x="586800" y="292435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Digital Market Outlook: Instagram user numbers in Europe 2017-2027</a:t>
            </a:r>
          </a:p>
        </p:txBody>
      </p:sp>
      <p:sp>
        <p:nvSpPr>
          <p:cNvPr id="18" name="New shape" title=""/>
          <p:cNvSpPr/>
          <p:nvPr/>
        </p:nvSpPr>
        <p:spPr>
          <a:xfrm>
            <a:off x="5544000" y="309463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0" action="ppaction://hlinksldjump">
                  <a:extLst>
                    <a:ext uri="{A12FA001-AC4F-418D-AE19-62706E023703}">
                      <ahyp:hlinkClr xmlns:ahyp="http://schemas.microsoft.com/office/drawing/2018/hyperlinkcolor" val="tx"/>
                    </a:ext>
                  </a:extLst>
                </a:hlinkClick>
              </a:rPr>
              <a:t>47</a:t>
            </a:r>
          </a:p>
        </p:txBody>
      </p:sp>
      <p:sp>
        <p:nvSpPr>
          <p:cNvPr id="19" name="New shape" title=""/>
          <p:cNvSpPr/>
          <p:nvPr/>
        </p:nvSpPr>
        <p:spPr>
          <a:xfrm>
            <a:off x="586800" y="309463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Instagram: share of social network web visits in Europe 2021-2022</a:t>
            </a:r>
          </a:p>
        </p:txBody>
      </p:sp>
      <p:sp>
        <p:nvSpPr>
          <p:cNvPr id="20" name="New shape" title=""/>
          <p:cNvSpPr/>
          <p:nvPr/>
        </p:nvSpPr>
        <p:spPr>
          <a:xfrm>
            <a:off x="5544000" y="326491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1" action="ppaction://hlinksldjump">
                  <a:extLst>
                    <a:ext uri="{A12FA001-AC4F-418D-AE19-62706E023703}">
                      <ahyp:hlinkClr xmlns:ahyp="http://schemas.microsoft.com/office/drawing/2018/hyperlinkcolor" val="tx"/>
                    </a:ext>
                  </a:extLst>
                </a:hlinkClick>
              </a:rPr>
              <a:t>48</a:t>
            </a:r>
          </a:p>
        </p:txBody>
      </p:sp>
      <p:sp>
        <p:nvSpPr>
          <p:cNvPr id="21" name="New shape" title=""/>
          <p:cNvSpPr/>
          <p:nvPr/>
        </p:nvSpPr>
        <p:spPr>
          <a:xfrm>
            <a:off x="586800" y="326491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Germany Instagram users 2018-2022</a:t>
            </a:r>
          </a:p>
        </p:txBody>
      </p:sp>
      <p:sp>
        <p:nvSpPr>
          <p:cNvPr id="22" name="New shape" title=""/>
          <p:cNvSpPr/>
          <p:nvPr/>
        </p:nvSpPr>
        <p:spPr>
          <a:xfrm>
            <a:off x="5544000" y="343518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2" action="ppaction://hlinksldjump">
                  <a:extLst>
                    <a:ext uri="{A12FA001-AC4F-418D-AE19-62706E023703}">
                      <ahyp:hlinkClr xmlns:ahyp="http://schemas.microsoft.com/office/drawing/2018/hyperlinkcolor" val="tx"/>
                    </a:ext>
                  </a:extLst>
                </a:hlinkClick>
              </a:rPr>
              <a:t>49</a:t>
            </a:r>
          </a:p>
        </p:txBody>
      </p:sp>
      <p:sp>
        <p:nvSpPr>
          <p:cNvPr id="23" name="New shape" title=""/>
          <p:cNvSpPr/>
          <p:nvPr/>
        </p:nvSpPr>
        <p:spPr>
          <a:xfrm>
            <a:off x="586800" y="343518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Germany Instagram users 2022, by age group</a:t>
            </a:r>
          </a:p>
        </p:txBody>
      </p:sp>
      <p:sp>
        <p:nvSpPr>
          <p:cNvPr id="24" name="New shape" title=""/>
          <p:cNvSpPr/>
          <p:nvPr/>
        </p:nvSpPr>
        <p:spPr>
          <a:xfrm>
            <a:off x="5544000" y="360546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3" action="ppaction://hlinksldjump">
                  <a:extLst>
                    <a:ext uri="{A12FA001-AC4F-418D-AE19-62706E023703}">
                      <ahyp:hlinkClr xmlns:ahyp="http://schemas.microsoft.com/office/drawing/2018/hyperlinkcolor" val="tx"/>
                    </a:ext>
                  </a:extLst>
                </a:hlinkClick>
              </a:rPr>
              <a:t>50</a:t>
            </a:r>
          </a:p>
        </p:txBody>
      </p:sp>
      <p:sp>
        <p:nvSpPr>
          <p:cNvPr id="25" name="New shape" title=""/>
          <p:cNvSpPr/>
          <p:nvPr/>
        </p:nvSpPr>
        <p:spPr>
          <a:xfrm>
            <a:off x="586800" y="360546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UK: monthly Instagram users 2018-2022</a:t>
            </a:r>
          </a:p>
        </p:txBody>
      </p:sp>
      <p:sp>
        <p:nvSpPr>
          <p:cNvPr id="26" name="New shape" title=""/>
          <p:cNvSpPr/>
          <p:nvPr/>
        </p:nvSpPr>
        <p:spPr>
          <a:xfrm>
            <a:off x="5544000" y="377574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4" action="ppaction://hlinksldjump">
                  <a:extLst>
                    <a:ext uri="{A12FA001-AC4F-418D-AE19-62706E023703}">
                      <ahyp:hlinkClr xmlns:ahyp="http://schemas.microsoft.com/office/drawing/2018/hyperlinkcolor" val="tx"/>
                    </a:ext>
                  </a:extLst>
                </a:hlinkClick>
              </a:rPr>
              <a:t>51</a:t>
            </a:r>
          </a:p>
        </p:txBody>
      </p:sp>
      <p:sp>
        <p:nvSpPr>
          <p:cNvPr id="27" name="New shape" title=""/>
          <p:cNvSpPr/>
          <p:nvPr/>
        </p:nvSpPr>
        <p:spPr>
          <a:xfrm>
            <a:off x="586800" y="377574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UK: Instagram users 2022, by age group</a:t>
            </a:r>
          </a:p>
        </p:txBody>
      </p:sp>
      <p:sp>
        <p:nvSpPr>
          <p:cNvPr id="28" name="New shape" title=""/>
          <p:cNvSpPr/>
          <p:nvPr/>
        </p:nvSpPr>
        <p:spPr>
          <a:xfrm>
            <a:off x="5544000" y="394602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5" action="ppaction://hlinksldjump">
                  <a:extLst>
                    <a:ext uri="{A12FA001-AC4F-418D-AE19-62706E023703}">
                      <ahyp:hlinkClr xmlns:ahyp="http://schemas.microsoft.com/office/drawing/2018/hyperlinkcolor" val="tx"/>
                    </a:ext>
                  </a:extLst>
                </a:hlinkClick>
              </a:rPr>
              <a:t>52</a:t>
            </a:r>
          </a:p>
        </p:txBody>
      </p:sp>
      <p:sp>
        <p:nvSpPr>
          <p:cNvPr id="29" name="New shape" title=""/>
          <p:cNvSpPr/>
          <p:nvPr/>
        </p:nvSpPr>
        <p:spPr>
          <a:xfrm>
            <a:off x="586800" y="394602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Instagram brand profile in the UK 2022</a:t>
            </a:r>
          </a:p>
        </p:txBody>
      </p:sp>
      <p:sp>
        <p:nvSpPr>
          <p:cNvPr id="30" name="New shape" title=""/>
          <p:cNvSpPr/>
          <p:nvPr/>
        </p:nvSpPr>
        <p:spPr>
          <a:xfrm>
            <a:off x="5544000" y="411630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6" action="ppaction://hlinksldjump">
                  <a:extLst>
                    <a:ext uri="{A12FA001-AC4F-418D-AE19-62706E023703}">
                      <ahyp:hlinkClr xmlns:ahyp="http://schemas.microsoft.com/office/drawing/2018/hyperlinkcolor" val="tx"/>
                    </a:ext>
                  </a:extLst>
                </a:hlinkClick>
              </a:rPr>
              <a:t>53</a:t>
            </a:r>
          </a:p>
        </p:txBody>
      </p:sp>
      <p:sp>
        <p:nvSpPr>
          <p:cNvPr id="31" name="New shape" title=""/>
          <p:cNvSpPr/>
          <p:nvPr/>
        </p:nvSpPr>
        <p:spPr>
          <a:xfrm>
            <a:off x="586800" y="411630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Instagram brand profile in Germany 2022</a:t>
            </a:r>
          </a:p>
        </p:txBody>
      </p:sp>
      <p:sp>
        <p:nvSpPr>
          <p:cNvPr id="32" name="New shape" title=""/>
          <p:cNvSpPr/>
          <p:nvPr/>
        </p:nvSpPr>
        <p:spPr>
          <a:xfrm>
            <a:off x="586800" y="4413579"/>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07 TikTok</a:t>
            </a:r>
          </a:p>
        </p:txBody>
      </p:sp>
      <p:sp>
        <p:nvSpPr>
          <p:cNvPr id="33" name="New shape" title=""/>
          <p:cNvSpPr/>
          <p:nvPr/>
        </p:nvSpPr>
        <p:spPr>
          <a:xfrm>
            <a:off x="5544000" y="464702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7" action="ppaction://hlinksldjump">
                  <a:extLst>
                    <a:ext uri="{A12FA001-AC4F-418D-AE19-62706E023703}">
                      <ahyp:hlinkClr xmlns:ahyp="http://schemas.microsoft.com/office/drawing/2018/hyperlinkcolor" val="tx"/>
                    </a:ext>
                  </a:extLst>
                </a:hlinkClick>
              </a:rPr>
              <a:t>55</a:t>
            </a:r>
          </a:p>
        </p:txBody>
      </p:sp>
      <p:sp>
        <p:nvSpPr>
          <p:cNvPr id="34" name="New shape" title=""/>
          <p:cNvSpPr/>
          <p:nvPr/>
        </p:nvSpPr>
        <p:spPr>
          <a:xfrm>
            <a:off x="586800" y="464702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Digital Market Outlook: TikTok users in Europe 2017-2027</a:t>
            </a:r>
          </a:p>
        </p:txBody>
      </p:sp>
      <p:sp>
        <p:nvSpPr>
          <p:cNvPr id="35" name="New shape" title=""/>
          <p:cNvSpPr/>
          <p:nvPr/>
        </p:nvSpPr>
        <p:spPr>
          <a:xfrm>
            <a:off x="5544000" y="48173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8" action="ppaction://hlinksldjump">
                  <a:extLst>
                    <a:ext uri="{A12FA001-AC4F-418D-AE19-62706E023703}">
                      <ahyp:hlinkClr xmlns:ahyp="http://schemas.microsoft.com/office/drawing/2018/hyperlinkcolor" val="tx"/>
                    </a:ext>
                  </a:extLst>
                </a:hlinkClick>
              </a:rPr>
              <a:t>56</a:t>
            </a:r>
          </a:p>
        </p:txBody>
      </p:sp>
      <p:sp>
        <p:nvSpPr>
          <p:cNvPr id="36" name="New shape" title=""/>
          <p:cNvSpPr/>
          <p:nvPr/>
        </p:nvSpPr>
        <p:spPr>
          <a:xfrm>
            <a:off x="586800" y="48173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TikTok users who share and post videos worldwide Q2 2021, by region</a:t>
            </a:r>
          </a:p>
        </p:txBody>
      </p:sp>
      <p:sp>
        <p:nvSpPr>
          <p:cNvPr id="37" name="New shape" title=""/>
          <p:cNvSpPr/>
          <p:nvPr/>
        </p:nvSpPr>
        <p:spPr>
          <a:xfrm>
            <a:off x="5544000" y="49875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9" action="ppaction://hlinksldjump">
                  <a:extLst>
                    <a:ext uri="{A12FA001-AC4F-418D-AE19-62706E023703}">
                      <ahyp:hlinkClr xmlns:ahyp="http://schemas.microsoft.com/office/drawing/2018/hyperlinkcolor" val="tx"/>
                    </a:ext>
                  </a:extLst>
                </a:hlinkClick>
              </a:rPr>
              <a:t>57</a:t>
            </a:r>
          </a:p>
        </p:txBody>
      </p:sp>
      <p:sp>
        <p:nvSpPr>
          <p:cNvPr id="38" name="New shape" title=""/>
          <p:cNvSpPr/>
          <p:nvPr/>
        </p:nvSpPr>
        <p:spPr>
          <a:xfrm>
            <a:off x="586800" y="49875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Yearly TikTok MAU growth worldwide 2021, by region</a:t>
            </a:r>
          </a:p>
        </p:txBody>
      </p:sp>
      <p:sp>
        <p:nvSpPr>
          <p:cNvPr id="39" name="New shape" title=""/>
          <p:cNvSpPr/>
          <p:nvPr/>
        </p:nvSpPr>
        <p:spPr>
          <a:xfrm>
            <a:off x="5544000" y="51578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0" action="ppaction://hlinksldjump">
                  <a:extLst>
                    <a:ext uri="{A12FA001-AC4F-418D-AE19-62706E023703}">
                      <ahyp:hlinkClr xmlns:ahyp="http://schemas.microsoft.com/office/drawing/2018/hyperlinkcolor" val="tx"/>
                    </a:ext>
                  </a:extLst>
                </a:hlinkClick>
              </a:rPr>
              <a:t>58</a:t>
            </a:r>
          </a:p>
        </p:txBody>
      </p:sp>
      <p:sp>
        <p:nvSpPr>
          <p:cNvPr id="40" name="New shape" title=""/>
          <p:cNvSpPr/>
          <p:nvPr/>
        </p:nvSpPr>
        <p:spPr>
          <a:xfrm>
            <a:off x="586800" y="51578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UK most popular TikTok videos 2022, by views</a:t>
            </a:r>
          </a:p>
        </p:txBody>
      </p:sp>
      <p:sp>
        <p:nvSpPr>
          <p:cNvPr id="41" name="New shape" title=""/>
          <p:cNvSpPr/>
          <p:nvPr/>
        </p:nvSpPr>
        <p:spPr>
          <a:xfrm>
            <a:off x="5544000" y="532813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1" action="ppaction://hlinksldjump">
                  <a:extLst>
                    <a:ext uri="{A12FA001-AC4F-418D-AE19-62706E023703}">
                      <ahyp:hlinkClr xmlns:ahyp="http://schemas.microsoft.com/office/drawing/2018/hyperlinkcolor" val="tx"/>
                    </a:ext>
                  </a:extLst>
                </a:hlinkClick>
              </a:rPr>
              <a:t>59</a:t>
            </a:r>
          </a:p>
        </p:txBody>
      </p:sp>
      <p:sp>
        <p:nvSpPr>
          <p:cNvPr id="42" name="New shape" title=""/>
          <p:cNvSpPr/>
          <p:nvPr/>
        </p:nvSpPr>
        <p:spPr>
          <a:xfrm>
            <a:off x="586800" y="532813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Leading TikTok accounts Germany 2022, by number of followers</a:t>
            </a:r>
          </a:p>
        </p:txBody>
      </p:sp>
      <p:sp>
        <p:nvSpPr>
          <p:cNvPr id="43" name="New shape" title=""/>
          <p:cNvSpPr/>
          <p:nvPr/>
        </p:nvSpPr>
        <p:spPr>
          <a:xfrm>
            <a:off x="10915200" y="18828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2" action="ppaction://hlinksldjump">
                  <a:extLst>
                    <a:ext uri="{A12FA001-AC4F-418D-AE19-62706E023703}">
                      <ahyp:hlinkClr xmlns:ahyp="http://schemas.microsoft.com/office/drawing/2018/hyperlinkcolor" val="tx"/>
                    </a:ext>
                  </a:extLst>
                </a:hlinkClick>
              </a:rPr>
              <a:t>60</a:t>
            </a:r>
          </a:p>
        </p:txBody>
      </p:sp>
      <p:sp>
        <p:nvSpPr>
          <p:cNvPr id="44" name="New shape" title=""/>
          <p:cNvSpPr/>
          <p:nvPr/>
        </p:nvSpPr>
        <p:spPr>
          <a:xfrm>
            <a:off x="5958000" y="18828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TikTok usage in France 2021, by age and gender</a:t>
            </a:r>
          </a:p>
        </p:txBody>
      </p:sp>
      <p:sp>
        <p:nvSpPr>
          <p:cNvPr id="45" name="New shape" title=""/>
          <p:cNvSpPr/>
          <p:nvPr/>
        </p:nvSpPr>
        <p:spPr>
          <a:xfrm>
            <a:off x="10915200" y="20530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3" action="ppaction://hlinksldjump">
                  <a:extLst>
                    <a:ext uri="{A12FA001-AC4F-418D-AE19-62706E023703}">
                      <ahyp:hlinkClr xmlns:ahyp="http://schemas.microsoft.com/office/drawing/2018/hyperlinkcolor" val="tx"/>
                    </a:ext>
                  </a:extLst>
                </a:hlinkClick>
              </a:rPr>
              <a:t>61</a:t>
            </a:r>
          </a:p>
        </p:txBody>
      </p:sp>
      <p:sp>
        <p:nvSpPr>
          <p:cNvPr id="46" name="New shape" title=""/>
          <p:cNvSpPr/>
          <p:nvPr/>
        </p:nvSpPr>
        <p:spPr>
          <a:xfrm>
            <a:off x="5958000" y="20530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Kids and teens using TikTok in France 2022, by gender</a:t>
            </a:r>
          </a:p>
        </p:txBody>
      </p:sp>
      <p:sp>
        <p:nvSpPr>
          <p:cNvPr id="47" name="New shape" title=""/>
          <p:cNvSpPr/>
          <p:nvPr/>
        </p:nvSpPr>
        <p:spPr>
          <a:xfrm>
            <a:off x="10915200" y="22233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4" action="ppaction://hlinksldjump">
                  <a:extLst>
                    <a:ext uri="{A12FA001-AC4F-418D-AE19-62706E023703}">
                      <ahyp:hlinkClr xmlns:ahyp="http://schemas.microsoft.com/office/drawing/2018/hyperlinkcolor" val="tx"/>
                    </a:ext>
                  </a:extLst>
                </a:hlinkClick>
              </a:rPr>
              <a:t>62</a:t>
            </a:r>
          </a:p>
        </p:txBody>
      </p:sp>
      <p:sp>
        <p:nvSpPr>
          <p:cNvPr id="48" name="New shape" title=""/>
          <p:cNvSpPr/>
          <p:nvPr/>
        </p:nvSpPr>
        <p:spPr>
          <a:xfrm>
            <a:off x="5958000" y="22233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TikTok brand profile in the UK 2022</a:t>
            </a:r>
          </a:p>
        </p:txBody>
      </p:sp>
      <p:sp>
        <p:nvSpPr>
          <p:cNvPr id="49" name="New shape" title=""/>
          <p:cNvSpPr/>
          <p:nvPr/>
        </p:nvSpPr>
        <p:spPr>
          <a:xfrm>
            <a:off x="10915200" y="239363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5" action="ppaction://hlinksldjump">
                  <a:extLst>
                    <a:ext uri="{A12FA001-AC4F-418D-AE19-62706E023703}">
                      <ahyp:hlinkClr xmlns:ahyp="http://schemas.microsoft.com/office/drawing/2018/hyperlinkcolor" val="tx"/>
                    </a:ext>
                  </a:extLst>
                </a:hlinkClick>
              </a:rPr>
              <a:t>63</a:t>
            </a:r>
          </a:p>
        </p:txBody>
      </p:sp>
      <p:sp>
        <p:nvSpPr>
          <p:cNvPr id="50" name="New shape" title=""/>
          <p:cNvSpPr/>
          <p:nvPr/>
        </p:nvSpPr>
        <p:spPr>
          <a:xfrm>
            <a:off x="5958000" y="239363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TikTok brand profile in Germany 2022</a:t>
            </a:r>
          </a:p>
        </p:txBody>
      </p:sp>
      <p:sp>
        <p:nvSpPr>
          <p:cNvPr id="51" name="New shape" title=""/>
          <p:cNvSpPr/>
          <p:nvPr/>
        </p:nvSpPr>
        <p:spPr>
          <a:xfrm>
            <a:off x="5958000" y="2690912"/>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08 Influencers</a:t>
            </a:r>
          </a:p>
        </p:txBody>
      </p:sp>
      <p:sp>
        <p:nvSpPr>
          <p:cNvPr id="52" name="New shape" title=""/>
          <p:cNvSpPr/>
          <p:nvPr/>
        </p:nvSpPr>
        <p:spPr>
          <a:xfrm>
            <a:off x="10915200" y="292435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6" action="ppaction://hlinksldjump">
                  <a:extLst>
                    <a:ext uri="{A12FA001-AC4F-418D-AE19-62706E023703}">
                      <ahyp:hlinkClr xmlns:ahyp="http://schemas.microsoft.com/office/drawing/2018/hyperlinkcolor" val="tx"/>
                    </a:ext>
                  </a:extLst>
                </a:hlinkClick>
              </a:rPr>
              <a:t>65</a:t>
            </a:r>
          </a:p>
        </p:txBody>
      </p:sp>
      <p:sp>
        <p:nvSpPr>
          <p:cNvPr id="53" name="New shape" title=""/>
          <p:cNvSpPr/>
          <p:nvPr/>
        </p:nvSpPr>
        <p:spPr>
          <a:xfrm>
            <a:off x="5958000" y="292435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Reasons why Italians follow influencers 2022</a:t>
            </a:r>
          </a:p>
        </p:txBody>
      </p:sp>
      <p:sp>
        <p:nvSpPr>
          <p:cNvPr id="54" name="New shape" title=""/>
          <p:cNvSpPr/>
          <p:nvPr/>
        </p:nvSpPr>
        <p:spPr>
          <a:xfrm>
            <a:off x="10915200" y="309463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7" action="ppaction://hlinksldjump">
                  <a:extLst>
                    <a:ext uri="{A12FA001-AC4F-418D-AE19-62706E023703}">
                      <ahyp:hlinkClr xmlns:ahyp="http://schemas.microsoft.com/office/drawing/2018/hyperlinkcolor" val="tx"/>
                    </a:ext>
                  </a:extLst>
                </a:hlinkClick>
              </a:rPr>
              <a:t>66</a:t>
            </a:r>
          </a:p>
        </p:txBody>
      </p:sp>
      <p:sp>
        <p:nvSpPr>
          <p:cNvPr id="55" name="New shape" title=""/>
          <p:cNvSpPr/>
          <p:nvPr/>
        </p:nvSpPr>
        <p:spPr>
          <a:xfrm>
            <a:off x="5958000" y="309463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Italy: types of social media accounts followed 2022</a:t>
            </a:r>
          </a:p>
        </p:txBody>
      </p:sp>
      <p:sp>
        <p:nvSpPr>
          <p:cNvPr id="56" name="New shape" title=""/>
          <p:cNvSpPr/>
          <p:nvPr/>
        </p:nvSpPr>
        <p:spPr>
          <a:xfrm>
            <a:off x="10915200" y="326491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8" action="ppaction://hlinksldjump">
                  <a:extLst>
                    <a:ext uri="{A12FA001-AC4F-418D-AE19-62706E023703}">
                      <ahyp:hlinkClr xmlns:ahyp="http://schemas.microsoft.com/office/drawing/2018/hyperlinkcolor" val="tx"/>
                    </a:ext>
                  </a:extLst>
                </a:hlinkClick>
              </a:rPr>
              <a:t>67</a:t>
            </a:r>
          </a:p>
        </p:txBody>
      </p:sp>
      <p:sp>
        <p:nvSpPr>
          <p:cNvPr id="57" name="New shape" title=""/>
          <p:cNvSpPr/>
          <p:nvPr/>
        </p:nvSpPr>
        <p:spPr>
          <a:xfrm>
            <a:off x="5958000" y="326491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Credibility of influencers in Spain 2022</a:t>
            </a:r>
          </a:p>
        </p:txBody>
      </p:sp>
      <p:sp>
        <p:nvSpPr>
          <p:cNvPr id="58" name="New shape" title=""/>
          <p:cNvSpPr/>
          <p:nvPr/>
        </p:nvSpPr>
        <p:spPr>
          <a:xfrm>
            <a:off x="10915200" y="343518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9" action="ppaction://hlinksldjump">
                  <a:extLst>
                    <a:ext uri="{A12FA001-AC4F-418D-AE19-62706E023703}">
                      <ahyp:hlinkClr xmlns:ahyp="http://schemas.microsoft.com/office/drawing/2018/hyperlinkcolor" val="tx"/>
                    </a:ext>
                  </a:extLst>
                </a:hlinkClick>
              </a:rPr>
              <a:t>68</a:t>
            </a:r>
          </a:p>
        </p:txBody>
      </p:sp>
      <p:sp>
        <p:nvSpPr>
          <p:cNvPr id="59" name="New shape" title=""/>
          <p:cNvSpPr/>
          <p:nvPr/>
        </p:nvSpPr>
        <p:spPr>
          <a:xfrm>
            <a:off x="5958000" y="343518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Advertising nature of influencers in Spain 2022</a:t>
            </a:r>
          </a:p>
        </p:txBody>
      </p:sp>
      <p:sp>
        <p:nvSpPr>
          <p:cNvPr id="60" name="New shape" title=""/>
          <p:cNvSpPr/>
          <p:nvPr/>
        </p:nvSpPr>
        <p:spPr>
          <a:xfrm>
            <a:off x="10915200" y="360546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0" action="ppaction://hlinksldjump">
                  <a:extLst>
                    <a:ext uri="{A12FA001-AC4F-418D-AE19-62706E023703}">
                      <ahyp:hlinkClr xmlns:ahyp="http://schemas.microsoft.com/office/drawing/2018/hyperlinkcolor" val="tx"/>
                    </a:ext>
                  </a:extLst>
                </a:hlinkClick>
              </a:rPr>
              <a:t>69</a:t>
            </a:r>
          </a:p>
        </p:txBody>
      </p:sp>
      <p:sp>
        <p:nvSpPr>
          <p:cNvPr id="61" name="New shape" title=""/>
          <p:cNvSpPr/>
          <p:nvPr/>
        </p:nvSpPr>
        <p:spPr>
          <a:xfrm>
            <a:off x="5958000" y="360546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Preferred frequency of influencers posting on social media in Spain 2022</a:t>
            </a:r>
          </a:p>
        </p:txBody>
      </p:sp>
      <p:sp>
        <p:nvSpPr>
          <p:cNvPr id="62" name="New shape" title=""/>
          <p:cNvSpPr/>
          <p:nvPr/>
        </p:nvSpPr>
        <p:spPr>
          <a:xfrm>
            <a:off x="10915200" y="377574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1" action="ppaction://hlinksldjump">
                  <a:extLst>
                    <a:ext uri="{A12FA001-AC4F-418D-AE19-62706E023703}">
                      <ahyp:hlinkClr xmlns:ahyp="http://schemas.microsoft.com/office/drawing/2018/hyperlinkcolor" val="tx"/>
                    </a:ext>
                  </a:extLst>
                </a:hlinkClick>
              </a:rPr>
              <a:t>70</a:t>
            </a:r>
          </a:p>
        </p:txBody>
      </p:sp>
      <p:sp>
        <p:nvSpPr>
          <p:cNvPr id="63" name="New shape" title=""/>
          <p:cNvSpPr/>
          <p:nvPr/>
        </p:nvSpPr>
        <p:spPr>
          <a:xfrm>
            <a:off x="5958000" y="377574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Type of influencers by number of UK fashion &amp; lifestyle followers 2022</a:t>
            </a:r>
          </a:p>
        </p:txBody>
      </p:sp>
      <p:sp>
        <p:nvSpPr>
          <p:cNvPr id="64" name="New shape" title=""/>
          <p:cNvSpPr/>
          <p:nvPr/>
        </p:nvSpPr>
        <p:spPr>
          <a:xfrm>
            <a:off x="10915200" y="394602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2" action="ppaction://hlinksldjump">
                  <a:extLst>
                    <a:ext uri="{A12FA001-AC4F-418D-AE19-62706E023703}">
                      <ahyp:hlinkClr xmlns:ahyp="http://schemas.microsoft.com/office/drawing/2018/hyperlinkcolor" val="tx"/>
                    </a:ext>
                  </a:extLst>
                </a:hlinkClick>
              </a:rPr>
              <a:t>71</a:t>
            </a:r>
          </a:p>
        </p:txBody>
      </p:sp>
      <p:sp>
        <p:nvSpPr>
          <p:cNvPr id="65" name="New shape" title=""/>
          <p:cNvSpPr/>
          <p:nvPr/>
        </p:nvSpPr>
        <p:spPr>
          <a:xfrm>
            <a:off x="5958000" y="394602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Share of influencer subscribers on social media Germany 2021</a:t>
            </a:r>
          </a:p>
        </p:txBody>
      </p:sp>
      <p:sp>
        <p:nvSpPr>
          <p:cNvPr id="66" name="New shape" title=""/>
          <p:cNvSpPr/>
          <p:nvPr/>
        </p:nvSpPr>
        <p:spPr>
          <a:xfrm>
            <a:off x="10915200" y="411630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3" action="ppaction://hlinksldjump">
                  <a:extLst>
                    <a:ext uri="{A12FA001-AC4F-418D-AE19-62706E023703}">
                      <ahyp:hlinkClr xmlns:ahyp="http://schemas.microsoft.com/office/drawing/2018/hyperlinkcolor" val="tx"/>
                    </a:ext>
                  </a:extLst>
                </a:hlinkClick>
              </a:rPr>
              <a:t>72</a:t>
            </a:r>
          </a:p>
        </p:txBody>
      </p:sp>
      <p:sp>
        <p:nvSpPr>
          <p:cNvPr id="67" name="New shape" title=""/>
          <p:cNvSpPr/>
          <p:nvPr/>
        </p:nvSpPr>
        <p:spPr>
          <a:xfrm>
            <a:off x="5958000" y="411630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Engagement rates among Instagram influencers in France 2020-2021, by profile size</a:t>
            </a:r>
          </a:p>
        </p:txBody>
      </p:sp>
      <p:sp>
        <p:nvSpPr>
          <p:cNvPr id="68" name="New shape" title=""/>
          <p:cNvSpPr/>
          <p:nvPr/>
        </p:nvSpPr>
        <p:spPr>
          <a:xfrm>
            <a:off x="5958000" y="4413579"/>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09 Marketing and advertising</a:t>
            </a:r>
          </a:p>
        </p:txBody>
      </p:sp>
      <p:sp>
        <p:nvSpPr>
          <p:cNvPr id="69" name="New shape" title=""/>
          <p:cNvSpPr/>
          <p:nvPr/>
        </p:nvSpPr>
        <p:spPr>
          <a:xfrm>
            <a:off x="10915200" y="464702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4" action="ppaction://hlinksldjump">
                  <a:extLst>
                    <a:ext uri="{A12FA001-AC4F-418D-AE19-62706E023703}">
                      <ahyp:hlinkClr xmlns:ahyp="http://schemas.microsoft.com/office/drawing/2018/hyperlinkcolor" val="tx"/>
                    </a:ext>
                  </a:extLst>
                </a:hlinkClick>
              </a:rPr>
              <a:t>74</a:t>
            </a:r>
          </a:p>
        </p:txBody>
      </p:sp>
      <p:sp>
        <p:nvSpPr>
          <p:cNvPr id="70" name="New shape" title=""/>
          <p:cNvSpPr/>
          <p:nvPr/>
        </p:nvSpPr>
        <p:spPr>
          <a:xfrm>
            <a:off x="5958000" y="464702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Digital Market Outlook: social media advertising spending in European countries 2022</a:t>
            </a:r>
          </a:p>
        </p:txBody>
      </p:sp>
      <p:sp>
        <p:nvSpPr>
          <p:cNvPr id="71" name="New shape" title=""/>
          <p:cNvSpPr/>
          <p:nvPr/>
        </p:nvSpPr>
        <p:spPr>
          <a:xfrm>
            <a:off x="10915200" y="48173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5" action="ppaction://hlinksldjump">
                  <a:extLst>
                    <a:ext uri="{A12FA001-AC4F-418D-AE19-62706E023703}">
                      <ahyp:hlinkClr xmlns:ahyp="http://schemas.microsoft.com/office/drawing/2018/hyperlinkcolor" val="tx"/>
                    </a:ext>
                  </a:extLst>
                </a:hlinkClick>
              </a:rPr>
              <a:t>75</a:t>
            </a:r>
          </a:p>
        </p:txBody>
      </p:sp>
      <p:sp>
        <p:nvSpPr>
          <p:cNvPr id="72" name="New shape" title=""/>
          <p:cNvSpPr/>
          <p:nvPr/>
        </p:nvSpPr>
        <p:spPr>
          <a:xfrm>
            <a:off x="5958000" y="48173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media usage of enterprises in the European Union 2021, by type and activity</a:t>
            </a:r>
          </a:p>
        </p:txBody>
      </p:sp>
      <p:sp>
        <p:nvSpPr>
          <p:cNvPr id="73" name="New shape" title=""/>
          <p:cNvSpPr/>
          <p:nvPr/>
        </p:nvSpPr>
        <p:spPr>
          <a:xfrm>
            <a:off x="10915200" y="49875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6" action="ppaction://hlinksldjump">
                  <a:extLst>
                    <a:ext uri="{A12FA001-AC4F-418D-AE19-62706E023703}">
                      <ahyp:hlinkClr xmlns:ahyp="http://schemas.microsoft.com/office/drawing/2018/hyperlinkcolor" val="tx"/>
                    </a:ext>
                  </a:extLst>
                </a:hlinkClick>
              </a:rPr>
              <a:t>76</a:t>
            </a:r>
          </a:p>
        </p:txBody>
      </p:sp>
      <p:sp>
        <p:nvSpPr>
          <p:cNvPr id="74" name="New shape" title=""/>
          <p:cNvSpPr/>
          <p:nvPr/>
        </p:nvSpPr>
        <p:spPr>
          <a:xfrm>
            <a:off x="5958000" y="49875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media usage of enterprises in the European Union 2021, by type and size</a:t>
            </a:r>
          </a:p>
        </p:txBody>
      </p:sp>
      <p:sp>
        <p:nvSpPr>
          <p:cNvPr id="75" name="New shape" title=""/>
          <p:cNvSpPr/>
          <p:nvPr/>
        </p:nvSpPr>
        <p:spPr>
          <a:xfrm>
            <a:off x="10915200" y="51578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7" action="ppaction://hlinksldjump">
                  <a:extLst>
                    <a:ext uri="{A12FA001-AC4F-418D-AE19-62706E023703}">
                      <ahyp:hlinkClr xmlns:ahyp="http://schemas.microsoft.com/office/drawing/2018/hyperlinkcolor" val="tx"/>
                    </a:ext>
                  </a:extLst>
                </a:hlinkClick>
              </a:rPr>
              <a:t>77</a:t>
            </a:r>
          </a:p>
        </p:txBody>
      </p:sp>
      <p:sp>
        <p:nvSpPr>
          <p:cNvPr id="76" name="New shape" title=""/>
          <p:cNvSpPr/>
          <p:nvPr/>
        </p:nvSpPr>
        <p:spPr>
          <a:xfrm>
            <a:off x="5958000" y="51578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network usage of countries inside the European Union 2014-2021, by country</a:t>
            </a:r>
          </a:p>
        </p:txBody>
      </p:sp>
      <p:sp>
        <p:nvSpPr>
          <p:cNvPr id="77" name="New shape" title=""/>
          <p:cNvSpPr/>
          <p:nvPr/>
        </p:nvSpPr>
        <p:spPr>
          <a:xfrm>
            <a:off x="10915200" y="532813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8" action="ppaction://hlinksldjump">
                  <a:extLst>
                    <a:ext uri="{A12FA001-AC4F-418D-AE19-62706E023703}">
                      <ahyp:hlinkClr xmlns:ahyp="http://schemas.microsoft.com/office/drawing/2018/hyperlinkcolor" val="tx"/>
                    </a:ext>
                  </a:extLst>
                </a:hlinkClick>
              </a:rPr>
              <a:t>78</a:t>
            </a:r>
          </a:p>
        </p:txBody>
      </p:sp>
      <p:sp>
        <p:nvSpPr>
          <p:cNvPr id="78" name="New shape" title=""/>
          <p:cNvSpPr/>
          <p:nvPr/>
        </p:nvSpPr>
        <p:spPr>
          <a:xfrm>
            <a:off x="5958000" y="532813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Social media ad spend in Europe 2019-2021, by format</a:t>
            </a: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Overview</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01</a:t>
            </a: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there were 5.16 billion internet users worldwide, which is 64.4 percent of the global population. Of this total, 4.76 billion, or 59.4 percent of the world's population, were social media users.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social media users may not represent unique individuals</a:t>
            </a:r>
          </a:p>
          <a:p>
            <a:r>
              <a:rPr sz="600" b="1">
                <a:solidFill>
                  <a:srgbClr val="0F2741"/>
                </a:solidFill>
                <a:latin typeface="Open Sans"/>
              </a:rPr>
              <a:t>Source(s): </a:t>
            </a:r>
            <a:r>
              <a:rPr sz="600" b="0">
                <a:solidFill>
                  <a:srgbClr val="0F2741"/>
                </a:solidFill>
                <a:latin typeface="Open Sans"/>
              </a:rPr>
              <a:t>DataReportal; Meltwater;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internet and social media users worldwide as of January 2023 (in billions)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Worldwide digital population 2023</a:t>
            </a: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Northern Europe ranked first in the internet penetration rate, with over 97 percent of the population using the internet. Western Europe followed with 93.5 percent. Overall, the global average internet penetration rate was roughly 64.4 percent.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2022</a:t>
            </a:r>
          </a:p>
          <a:p>
            <a:r>
              <a:rPr sz="600" b="1">
                <a:solidFill>
                  <a:srgbClr val="0F2741"/>
                </a:solidFill>
                <a:latin typeface="Open Sans"/>
              </a:rPr>
              <a:t>Source(s): </a:t>
            </a:r>
            <a:r>
              <a:rPr sz="600" b="0">
                <a:solidFill>
                  <a:srgbClr val="0F2741"/>
                </a:solidFill>
                <a:latin typeface="Open Sans"/>
              </a:rPr>
              <a:t>DataReportal; GWI; Meltwater;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38"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262950" y="1882800"/>
            <a:ext cx="16637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Penetration rate</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Global internet penetration rate as of January 2023, by region</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Internet penetration rate worldwide 2023, by region</a:t>
            </a: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January 2023, Northern Europe was the region with the highest social network penetration rate, with a reach of 83.6 percent. Western Europe followed closely with 83.3 percent, and Southern Europe ranked third with a penetration rate of 76.7 percent. In Eastern and Middle Africa, social media penetration stood at 8.4 percent and 7.4 percent, respectively. Globally, approximately six out of every ten people use social media.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January 2023; social media users as a share of total population</a:t>
            </a:r>
          </a:p>
          <a:p>
            <a:r>
              <a:rPr sz="600" b="1">
                <a:solidFill>
                  <a:srgbClr val="0F2741"/>
                </a:solidFill>
                <a:latin typeface="Open Sans"/>
              </a:rPr>
              <a:t>Source(s): </a:t>
            </a:r>
            <a:r>
              <a:rPr sz="600" b="0">
                <a:solidFill>
                  <a:srgbClr val="0F2741"/>
                </a:solidFill>
                <a:latin typeface="Open Sans"/>
              </a:rPr>
              <a:t>DataReportal; Meltwater;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39"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123250" y="1882800"/>
            <a:ext cx="19431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population</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Global social network penetration rate as of January 2023, by region</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media: global penetration rate 2023, by region</a:t>
            </a: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Since 2014 the share of enterprises across the European Union (EU-27) that used social networking apps and services increased significantly from 31 percent to 56 percent in 2021. Enterprises in Malta, Norway, and Sweden have the highest share of enterprises making use of social networking. Germany, France, and Spain have a relatively low share of such enterprises with around 53, and 60 percent respectively. This was nevertheless a significant increase since 2014, one that can be seen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Europe; 2014, 2019, and 2021; The survey population consists of enterprises with 10 or more employees and self-employed persons.; * Data refers to 2015, no 2014 data available Data provided in this domain are collected on a yearly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Eurostat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0"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078800" y="1882800"/>
            <a:ext cx="20320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enterprises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enterprises using social networks in the European Union in 2014, 2019, and 2021, by country</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network usage of countries inside the European Union 2014-2021, by country</a:t>
            </a: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highest social media penetration rate in Central and Eastern Europe in 2022 was observed in Latvia, with 86 percent of the population using social networks. Due to its smaller population, the number of social media users in the country was lower compared to other countries in the region.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CEE; 2022</a:t>
            </a:r>
          </a:p>
          <a:p>
            <a:r>
              <a:rPr sz="600" b="1">
                <a:solidFill>
                  <a:srgbClr val="0F2741"/>
                </a:solidFill>
                <a:latin typeface="Open Sans"/>
              </a:rPr>
              <a:t>Source(s): </a:t>
            </a:r>
            <a:r>
              <a:rPr sz="600" b="0">
                <a:solidFill>
                  <a:srgbClr val="0F2741"/>
                </a:solidFill>
                <a:latin typeface="Open Sans"/>
              </a:rPr>
              <a:t>Statista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1"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3535750" y="1882800"/>
            <a:ext cx="51181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Social media users as a percentage of the total population</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8</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Social media penetration rate in selected Central and Eastern European (CEE) countries in 2022</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media penetration rate in CEE 2022, by country</a:t>
            </a: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June 2022, Facebook was the leading social media platform in Europe in terms of user numbers with approximately 457 million users. Instagram followed, with around 281 million users in the region. Video-based TikTok had about 227 million users, whilst micro-blogging platform Twitter had 9.2 million users in Europe.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Europe; 2017 to 2022; * Forecast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Statista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9</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users of selected social media platforms in Europe from 2017 to 2027, by platform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Digital Market Outlook: social media users in Europe 2017-2017, by platform</a:t>
            </a: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December 2022, Meta's Facebook held over 78 percent of the social media market in Europe, whilst Instagram accounted for 8.47 percent of website visits in Europe. Twitter made up 5.64 percent of website visits, and YouTube accounted for 1.66 percent.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Europe; December 2022; includes desktop, mobile, tablet and console use</a:t>
            </a:r>
          </a:p>
          <a:p>
            <a:r>
              <a:rPr sz="600" b="1">
                <a:solidFill>
                  <a:srgbClr val="0F2741"/>
                </a:solidFill>
                <a:latin typeface="Open Sans"/>
              </a:rPr>
              <a:t>Source(s): </a:t>
            </a:r>
            <a:r>
              <a:rPr sz="600" b="0">
                <a:solidFill>
                  <a:srgbClr val="0F2741"/>
                </a:solidFill>
                <a:latin typeface="Open Sans"/>
              </a:rPr>
              <a:t>StatCounter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332800" y="1882800"/>
            <a:ext cx="15240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visits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10</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social media platforms by share of website visits in Europe as of December 2022</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social networks by share of visits in Europe 2022</a:t>
            </a:r>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This statistic shows the number of monthly active mobile social media users in European countries as of January 2021. During that month, 49.6 million users in France accessed online services via mobile device. First-ranked Russia accounted for 99 million mobile social network users. Meanwhile, Germany was ranked second with 66 million mobile social media users.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Europe; January 2021</a:t>
            </a:r>
          </a:p>
          <a:p>
            <a:r>
              <a:rPr sz="600" b="1">
                <a:solidFill>
                  <a:srgbClr val="0F2741"/>
                </a:solidFill>
                <a:latin typeface="Open Sans"/>
              </a:rPr>
              <a:t>Source(s): </a:t>
            </a:r>
            <a:r>
              <a:rPr sz="600" b="0">
                <a:solidFill>
                  <a:srgbClr val="0F2741"/>
                </a:solidFill>
                <a:latin typeface="Open Sans"/>
              </a:rPr>
              <a:t>DataReportal; Hootsuite;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2"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3611950" y="1882800"/>
            <a:ext cx="49657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monthly active mobile social users in millions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11</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monthly active mobile social media users in Europe as of January 2021, by country (in millions)</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Monthly active mobile social media users in European countries 2021</a:t>
            </a:r>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2021, users in five of the most important markets in the European regions spent 26 percent of their time on the internet engaging with social media platforms and content. This represented a small decrease from the previous year, when users spent 28 percent of their online time on social media. In the most recently measured year, users in France, Germany, Italy, Spain, and the United Kingdom spent 22 percent of their time online on entertainment platforms. Additionally, visiting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France, Germany, Italy, Spain, United Kingdom; 2020 and 2021</a:t>
            </a:r>
          </a:p>
          <a:p>
            <a:r>
              <a:rPr sz="600" b="1">
                <a:solidFill>
                  <a:srgbClr val="0F2741"/>
                </a:solidFill>
                <a:latin typeface="Open Sans"/>
              </a:rPr>
              <a:t>Source(s): </a:t>
            </a:r>
            <a:r>
              <a:rPr sz="600" b="0">
                <a:solidFill>
                  <a:srgbClr val="0F2741"/>
                </a:solidFill>
                <a:latin typeface="Open Sans"/>
              </a:rPr>
              <a:t>comScore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3"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110550" y="1882800"/>
            <a:ext cx="19685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time spent</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12</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Distribution of time spent online in selected European countries in 2020 and 2021, by category</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Share of time spent online in selected European markets 2020-2021, by category</a:t>
            </a:r>
          </a:p>
        </p:txBody>
      </p:sp>
    </p:spTree>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Social media platform usage</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02</a:t>
            </a:r>
          </a:p>
        </p:txBody>
      </p:sp>
    </p:spTree>
  </p:cSld>
  <p:clrMapOvr>
    <a:masterClrMapping/>
  </p:clrMapOvr>
  <p:transition/>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72 percent of UK respondents answer our survey on "Most used social media platforms by type" with "Instant messengers (e.g. WhatsApp, Facebook Messenger, WeChat)". The survey was conducted in 2022, among 4,032 consumers.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Kingdom; four waves from 06 January 2022 to 14 December 2022; 4032 respondents; 18-64 years</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14</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Most used social media platforms by type in the UK in 2022</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used social media platforms by type in the UK 2022</a:t>
            </a:r>
          </a:p>
        </p:txBody>
      </p:sp>
    </p:spTree>
  </p:cSld>
  <p:clrMapOvr>
    <a:masterClrMapping/>
  </p:clrMapOvr>
  <p:transition/>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68 percent of German respondents answer our survey on "Most used social media platforms by type" with "Instant messengers (e.g. WhatsApp, Facebook Messenger, WeChat)". The survey was conducted in 2022, among 6,028 consumers.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Germany; four waves from 06 January 2022 to 18 December 2022; 6028 respondents; 18-64 years</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15</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Most used social media platforms by type in Germany in 2022</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used social media platforms by type in Germany 2022</a:t>
            </a:r>
          </a:p>
        </p:txBody>
      </p:sp>
    </p:spTree>
  </p:cSld>
  <p:clrMapOvr>
    <a:masterClrMapping/>
  </p:clrMapOvr>
  <p:transition/>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66 percent of French respondents answer our survey on "Most used social media platforms by type" with "Social networks (e.g. Facebook)". The survey was conducted in 2022, among 2,034 consumers.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France; four waves from 06 January 2022 to 13 December 2022; 2034 respondents; 18-64 years</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16</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Most used social media platforms by type in France in 2022</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used social media platforms by type in France 2022</a:t>
            </a:r>
          </a:p>
        </p:txBody>
      </p:sp>
    </p:spTree>
  </p:cSld>
  <p:clrMapOvr>
    <a:masterClrMapping/>
  </p:clrMapOvr>
  <p:transition/>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83 percent of Italian respondents answer our survey on "Most used social media platforms by type" with "Instant messengers (e.g. WhatsApp, Facebook Messenger, WeChat)". The survey was conducted in 2022, among 2,032 consumers.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Italy; four waves from 07 January 2022 to 12 December 2022; 2032 respondents; 18-64 years</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17</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Most used social media platforms by type in Italy in 2022</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used social media platforms by type in Italy 2022</a:t>
            </a:r>
          </a:p>
        </p:txBody>
      </p:sp>
    </p:spTree>
  </p:cSld>
  <p:clrMapOvr>
    <a:masterClrMapping/>
  </p:clrMapOvr>
  <p:transition/>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83 percent of Spanish respondents answer our survey on "Most used social media platforms by type" with "Instant messengers (e.g. WhatsApp, Facebook Messenger, WeChat)". The survey was conducted in 2022, among 2,031 consumers.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Spain; four waves from 06 January 2022 to 12 December 2022; 2031 respondents; 18-64 years</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18</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Most used social media platforms by type in Spain in 2022</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used social media platforms by type in Spain 2022</a:t>
            </a:r>
          </a:p>
        </p:txBody>
      </p:sp>
    </p:spTree>
  </p:cSld>
  <p:clrMapOvr>
    <a:masterClrMapping/>
  </p:clrMapOvr>
  <p:transition/>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Social media activities</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03</a:t>
            </a:r>
          </a:p>
        </p:txBody>
      </p:sp>
    </p:spTree>
  </p:cSld>
  <p:clrMapOvr>
    <a:masterClrMapping/>
  </p:clrMapOvr>
  <p:transition/>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"Liked posts by other users" and "Sent private messages" are the top 2 answers among UK consumers in our survey on the subject of "Most common social media activities".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Kingdom; four waves from 06 January 2022 to 14 December 2022; 24191 respondents; 18-64 years</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20</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Most common social media activities in the UK in 2022</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common social media activities in the UK 2022</a:t>
            </a:r>
          </a:p>
        </p:txBody>
      </p:sp>
    </p:spTree>
  </p:cSld>
  <p:clrMapOvr>
    <a:masterClrMapping/>
  </p:clrMapOvr>
  <p:transition/>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"Sent private messages" and "Liked posts by other users" are the top 2 answers among German consumers in our survey on the subject of "Most common social media activities".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Germany; four waves from 06 January 2022 to 18 December 2022; 36171 respondents; 18-64 years</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21</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Most common social media activities in Germany in 2022</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common social media activities in Germany 2022</a:t>
            </a:r>
          </a:p>
        </p:txBody>
      </p:sp>
    </p:spTree>
  </p:cSld>
  <p:clrMapOvr>
    <a:masterClrMapping/>
  </p:clrMapOvr>
  <p:transition/>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"Sent private messages" and "Liked posts by other users" are the top 2 answers among French consumers in our survey on the subject of "Most common social media activities".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France; four waves from 06 January 2022 to 13 December 2022; 12195 respondents; 18-64 years</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22</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Most common social media activities in France in 2022</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common social media activities in France 2022</a:t>
            </a:r>
          </a:p>
        </p:txBody>
      </p:sp>
    </p:spTree>
  </p:cSld>
  <p:clrMapOvr>
    <a:masterClrMapping/>
  </p:clrMapOvr>
  <p:transition/>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"Liked posts by other users" and "Sent private messages" are the top 2 answers among Italian consumers in our survey on the subject of "Most common social media activities".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Italy; four waves from 07 January 2022 to 12 December 2022; 12181 respondents; 18-64 years</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23</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Most common social media activities in Italy in 2022</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common social media activities in Italy 2022</a:t>
            </a:r>
          </a:p>
        </p:txBody>
      </p:sp>
    </p:spTree>
  </p:cSld>
  <p:clrMapOvr>
    <a:masterClrMapping/>
  </p:clrMapOvr>
  <p:transition/>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"Sent private messages" and "Liked posts by other users" are the top 2 answers among Spanish consumers in our survey on the subject of "Most common social media activities".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Spain; four waves from 06 January 2022 to 12 December 2022; 12197 respondents; 18-64 years</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24</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Most common social media activities in Spain in 2022</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Most common social media activities in Spain 2022</a:t>
            </a:r>
          </a:p>
        </p:txBody>
      </p:sp>
    </p:spTree>
  </p:cSld>
  <p:clrMapOvr>
    <a:masterClrMapping/>
  </p:clrMapOvr>
  <p:transition/>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Social media behavior</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04</a:t>
            </a:r>
          </a:p>
        </p:txBody>
      </p:sp>
    </p:spTree>
  </p:cSld>
  <p:clrMapOvr>
    <a:masterClrMapping/>
  </p:clrMapOvr>
  <p:transition/>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survey conducted in the United Kingdom in the third quarter of 2022, the main reason for using social media was to keep in touch with family and friends, with 53.1 percent of internet users choosing this reason. Overall, 36.7 percent of internet users in the UK said their main reason for accessing social media platforms was to fill spare time.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Kingdom; Q3 2022; 16 to 64 years</a:t>
            </a:r>
          </a:p>
          <a:p>
            <a:r>
              <a:rPr sz="600" b="1">
                <a:solidFill>
                  <a:srgbClr val="0F2741"/>
                </a:solidFill>
                <a:latin typeface="Open Sans"/>
              </a:rPr>
              <a:t>Source(s): </a:t>
            </a:r>
            <a:r>
              <a:rPr sz="600" b="0">
                <a:solidFill>
                  <a:srgbClr val="0F2741"/>
                </a:solidFill>
                <a:latin typeface="Open Sans"/>
              </a:rPr>
              <a:t>DataReportal; GWI; Meltwater;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26</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Most popular reasons for internet users in the United Kingdom (UK) to use social media as of 3rd quarter 2022</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social media usage reasons in UK 2022</a:t>
            </a:r>
          </a:p>
        </p:txBody>
      </p:sp>
    </p:spTree>
  </p:cSld>
  <p:clrMapOvr>
    <a:masterClrMapping/>
  </p:clrMapOvr>
  <p:transition/>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survey conducted in Germany during the third quarter of 2022, 45.7 percent of internet users said that their main reason for using social media was to keep in touch with family and friends. Additionally, 37.9 percent of internet users in Germany said their main reason for accessing social media platforms was to read news stories, and just under a third said they used social networks as a way to fill spare time.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Germany; Q3 2022; 16 to 64 years</a:t>
            </a:r>
          </a:p>
          <a:p>
            <a:r>
              <a:rPr sz="600" b="1">
                <a:solidFill>
                  <a:srgbClr val="0F2741"/>
                </a:solidFill>
                <a:latin typeface="Open Sans"/>
              </a:rPr>
              <a:t>Source(s): </a:t>
            </a:r>
            <a:r>
              <a:rPr sz="600" b="0">
                <a:solidFill>
                  <a:srgbClr val="0F2741"/>
                </a:solidFill>
                <a:latin typeface="Open Sans"/>
              </a:rPr>
              <a:t>DataReportal; GWI; Meltwater;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27</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Most popular reasons for internet users in Germany to use social media as of 3rd quarter 2022</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social media usage reasons in Germany 2022</a:t>
            </a:r>
          </a:p>
        </p:txBody>
      </p:sp>
    </p:spTree>
  </p:cSld>
  <p:clrMapOvr>
    <a:masterClrMapping/>
  </p:clrMapOvr>
  <p:transition/>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 survey conducted in the third quarter of 2021 found that more than half of internet users in France used social media to stay in touch with friends and family. Filling spare time and reading news stories also appeared to be among the main reasons for using social media, while just over 15.8 percent of respondents reported using social media platforms to follow celebrities or influencers.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France; Q3 2021; 16 to 64 years</a:t>
            </a:r>
          </a:p>
          <a:p>
            <a:r>
              <a:rPr sz="600" b="1">
                <a:solidFill>
                  <a:srgbClr val="0F2741"/>
                </a:solidFill>
                <a:latin typeface="Open Sans"/>
              </a:rPr>
              <a:t>Source(s): </a:t>
            </a:r>
            <a:r>
              <a:rPr sz="600" b="0">
                <a:solidFill>
                  <a:srgbClr val="0F2741"/>
                </a:solidFill>
                <a:latin typeface="Open Sans"/>
              </a:rPr>
              <a:t>DataReportal; GWI; Hootsuite;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28</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Most popular reasons for internet users in France to use social media as of 3rd quarter 2021</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social media usage reasons in France 2021</a:t>
            </a:r>
          </a:p>
        </p:txBody>
      </p:sp>
    </p:spTree>
  </p:cSld>
  <p:clrMapOvr>
    <a:masterClrMapping/>
  </p:clrMapOvr>
  <p:transition/>
  <p:timing/>
</p:sld>
</file>

<file path=ppt/slides/slide3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survey conducted in the third quarter of 2022 among internet users in Italy, almost half of respondents use social media for reading news stories. Filling spare time was the second most common reason for users in Italy to engage with social media platforms, with 47 percent of respondents reporting doing so for this particular reason. Additionally, just over 46 percent of respondents reported using social media platforms to keep in touch with friends and family.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Italy; Q3 2022; 16 to 64 years; internet users</a:t>
            </a:r>
          </a:p>
          <a:p>
            <a:r>
              <a:rPr sz="600" b="1">
                <a:solidFill>
                  <a:srgbClr val="0F2741"/>
                </a:solidFill>
                <a:latin typeface="Open Sans"/>
              </a:rPr>
              <a:t>Source(s): </a:t>
            </a:r>
            <a:r>
              <a:rPr sz="600" b="0">
                <a:solidFill>
                  <a:srgbClr val="0F2741"/>
                </a:solidFill>
                <a:latin typeface="Open Sans"/>
              </a:rPr>
              <a:t>DataReportal; GWI; Meltwater;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29</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Most popular reasons for internet users in Italy to use social media as of 3rd quarter 2022</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social media usage reasons in Italy 2022</a:t>
            </a:r>
          </a:p>
        </p:txBody>
      </p:sp>
    </p:spTree>
  </p:cSld>
  <p:clrMapOvr>
    <a:masterClrMapping/>
  </p:clrMapOvr>
  <p:transition/>
  <p:timing/>
</p:sld>
</file>

<file path=ppt/slides/slide3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 survey conducted in the third quarter of 2021 found that more than half of internet users in Spain used social media to stay in touch with friends and family. Filling spare time and reading news stories were also among the main reasons for using social media, representing around 45 and 43 percent of users, respectively. Looking for things to buy was also important for around 29 percent of the respondents while on social platforms, as well as finding products to purchase and finding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Spain; Q3 2021; 14-64 years; internet users</a:t>
            </a:r>
          </a:p>
          <a:p>
            <a:r>
              <a:rPr sz="600" b="1">
                <a:solidFill>
                  <a:srgbClr val="0F2741"/>
                </a:solidFill>
                <a:latin typeface="Open Sans"/>
              </a:rPr>
              <a:t>Source(s): </a:t>
            </a:r>
            <a:r>
              <a:rPr sz="600" b="0">
                <a:solidFill>
                  <a:srgbClr val="0F2741"/>
                </a:solidFill>
                <a:latin typeface="Open Sans"/>
              </a:rPr>
              <a:t>DataReportal; GWI; Hootsuite;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30</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Most popular reasons for internet users in Spain to use social media as of 3rd quarter 2021</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social media usage reasons in Spain 2021</a:t>
            </a:r>
          </a:p>
        </p:txBody>
      </p:sp>
    </p:spTree>
  </p:cSld>
  <p:clrMapOvr>
    <a:masterClrMapping/>
  </p:clrMapOvr>
  <p:transition/>
  <p:timing/>
</p:sld>
</file>

<file path=ppt/slides/slide3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Millennials and Generation Z incorporate social media in their cooking and eating behavior. A widespread 2022 survey accross several European countries shows that more than half of European 13-39 year olds cooked meals that were trending on social media. In addition, nearly a third of respondents turned to social media for recipes.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February and March 2022; 1,300 respondents; 13-39 years</a:t>
            </a:r>
          </a:p>
          <a:p>
            <a:r>
              <a:rPr sz="600" b="1">
                <a:solidFill>
                  <a:srgbClr val="0F2741"/>
                </a:solidFill>
                <a:latin typeface="Open Sans"/>
              </a:rPr>
              <a:t>Source(s): </a:t>
            </a:r>
            <a:r>
              <a:rPr sz="600" b="0">
                <a:solidFill>
                  <a:srgbClr val="0F2741"/>
                </a:solidFill>
                <a:latin typeface="Open Sans"/>
              </a:rPr>
              <a:t>Ypulse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31</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Popular social media food activities of Millennials and Generation Z in Europe in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media food behavior of young consumers in Europe in 2022</a:t>
            </a:r>
          </a:p>
        </p:txBody>
      </p:sp>
    </p:spTree>
  </p:cSld>
  <p:clrMapOvr>
    <a:masterClrMapping/>
  </p:clrMapOvr>
  <p:transition/>
  <p:timing/>
</p:sld>
</file>

<file path=ppt/slides/slide3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survey conducted in February 23-27, 2021, 41 percent of the respondents in the United Kingdom (UK) claimed using online streaming more since COVID-19 started, while five percent of the respondents said they have just started using online streaming in the midst of the pandemic. The use of videoconference for professional purposes increased as well since the start of the pandemic, with 11 percent of respondents using it more and a further share of 11 percent of respondent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Kingdom; February 23-27, 2021; 1,027 respondents; 18 years and older</a:t>
            </a:r>
          </a:p>
          <a:p>
            <a:r>
              <a:rPr sz="600" b="1">
                <a:solidFill>
                  <a:srgbClr val="0F2741"/>
                </a:solidFill>
                <a:latin typeface="Open Sans"/>
              </a:rPr>
              <a:t>Source(s): </a:t>
            </a:r>
            <a:r>
              <a:rPr sz="600" b="0">
                <a:solidFill>
                  <a:srgbClr val="0F2741"/>
                </a:solidFill>
                <a:latin typeface="Open Sans"/>
              </a:rPr>
              <a:t>McKinsey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4"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32</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Online behaviors of consumers in the United Kingdom during the coronavirus (COVID-19) as of February 27, 2021</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Online behaviors of consumers during COVID-19 in the United Kingdom 2021</a:t>
            </a:r>
          </a:p>
        </p:txBody>
      </p:sp>
    </p:spTree>
  </p:cSld>
  <p:clrMapOvr>
    <a:masterClrMapping/>
  </p:clrMapOvr>
  <p:transition/>
  <p:timing/>
</p:sld>
</file>

<file path=ppt/slides/slide3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survey among internet users in Italy, as of the third quarter of 2021, over 22 percent of respondents used voice-enabled assistants on weekly basis for their online searches through any device, and 23 percent of responders reported using image recognition tools on monthly basis on their mobile devices. Additionally, more than 30 percent stated visiting social networks to look for information about brands and products.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Italy; Q3 2021; 18-64 years; among internet users</a:t>
            </a:r>
          </a:p>
          <a:p>
            <a:r>
              <a:rPr sz="600" b="1">
                <a:solidFill>
                  <a:srgbClr val="0F2741"/>
                </a:solidFill>
                <a:latin typeface="Open Sans"/>
              </a:rPr>
              <a:t>Source(s): </a:t>
            </a:r>
            <a:r>
              <a:rPr sz="600" b="0">
                <a:solidFill>
                  <a:srgbClr val="0F2741"/>
                </a:solidFill>
                <a:latin typeface="Open Sans"/>
              </a:rPr>
              <a:t>DataReportal; GWI; Hootsuite;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internet users in Italy who used different tools or platforms for online searches as of 3rd quarter 2021</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Tools and platforms used for online search in Italy Q3 2021</a:t>
            </a:r>
          </a:p>
        </p:txBody>
      </p:sp>
    </p:spTree>
  </p:cSld>
  <p:clrMapOvr>
    <a:masterClrMapping/>
  </p:clrMapOvr>
  <p:transition/>
  <p:timing/>
</p:sld>
</file>

<file path=ppt/slides/slide3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the third quarter of 2021, the most common type of social media account followed by internet users in Spain were closer contacts like friends, family, and people they knew - about six in ten Spanish online users did so. Bands, singers, and musicians were the second most followed type of social media accounts in the country with approximately a third of internet users in Spain following such accounts.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Spain; Q3 2021; 14-64 years</a:t>
            </a:r>
          </a:p>
          <a:p>
            <a:r>
              <a:rPr sz="600" b="1">
                <a:solidFill>
                  <a:srgbClr val="0F2741"/>
                </a:solidFill>
                <a:latin typeface="Open Sans"/>
              </a:rPr>
              <a:t>Source(s): </a:t>
            </a:r>
            <a:r>
              <a:rPr sz="600" b="0">
                <a:solidFill>
                  <a:srgbClr val="0F2741"/>
                </a:solidFill>
                <a:latin typeface="Open Sans"/>
              </a:rPr>
              <a:t>DataReportal; GWI; Hootsuite;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34</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Main types of social media accounts followed by internet users in Spain as of 3d quarter 2021</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Spain: types of social media accounts followed Q3 2021</a:t>
            </a:r>
          </a:p>
        </p:txBody>
      </p:sp>
    </p:spTree>
  </p:cSld>
  <p:clrMapOvr>
    <a:masterClrMapping/>
  </p:clrMapOvr>
  <p:transition/>
  <p:timing/>
</p:sld>
</file>

<file path=ppt/slides/slide3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Facebook</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05</a:t>
            </a:r>
          </a:p>
        </p:txBody>
      </p:sp>
    </p:spTree>
  </p:cSld>
  <p:clrMapOvr>
    <a:masterClrMapping/>
  </p:clrMapOvr>
  <p:transition/>
  <p:timing/>
</p:sld>
</file>

<file path=ppt/slides/slide3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global number of Facebook users was forecast to continuously increase between 2023 and 2027 by in total 391 million users (+14.36 percent). After the fourth consecutive increasing year, the Facebook user base is estimated to reach 3.1 billion users and therefore a new peak in 2027. Notably, the number of Facebook users was continuously increasing over the past years.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2017 to 2027; internet users who access their facebook account via any device at least once per month; * Forecast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Statista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36</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Number of Facebook users worldwide from 2017 to 2027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users worldwide 2017-2027</a:t>
            </a:r>
          </a:p>
        </p:txBody>
      </p:sp>
    </p:spTree>
  </p:cSld>
  <p:clrMapOvr>
    <a:masterClrMapping/>
  </p:clrMapOvr>
  <p:transition/>
  <p:timing/>
</p:sld>
</file>

<file path=ppt/slides/slide3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May 2022, North America had the highest active Facebook usage rate with 82.3 percent of the population accessing the social media platform. Overall, Facebook penetration was lowest in Africa, where only 20.83 percent of the population used the social network. In addition, the global penetration rate of Facebook was just under 40 percent.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May 2022; *Facebook is banned in China, depressing Facebook penetration in Asia as a whole.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Facebook; Internet World Stats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443800" y="1882800"/>
            <a:ext cx="33020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population using Facebook</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37</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Percentage of global population using Facebook as of May 2022, by region</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global penetration as of May 2022, by region</a:t>
            </a:r>
          </a:p>
        </p:txBody>
      </p:sp>
    </p:spTree>
  </p:cSld>
  <p:clrMapOvr>
    <a:masterClrMapping/>
  </p:clrMapOvr>
  <p:transition/>
  <p:timing/>
</p:sld>
</file>

<file path=ppt/slides/slide3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This statistic shows a ranking of the estimated number of Facebook users in 2022 in Europe, differentiated by country. The user numbers have been estimated by taking into account company filings or press material, secondary research, app downloads and traffic data. They refer to the average monthly active users over the period and count multiple accounts by persons only once.The shown data are an excerpt of Statista's Key Market Indicators (KMI). The KMI are a collection of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Europe; 2022</a:t>
            </a:r>
          </a:p>
          <a:p>
            <a:r>
              <a:rPr sz="600" b="1">
                <a:solidFill>
                  <a:srgbClr val="0F2741"/>
                </a:solidFill>
                <a:latin typeface="Open Sans"/>
              </a:rPr>
              <a:t>Source(s): </a:t>
            </a:r>
            <a:r>
              <a:rPr sz="600" b="0">
                <a:solidFill>
                  <a:srgbClr val="0F2741"/>
                </a:solidFill>
                <a:latin typeface="Open Sans"/>
              </a:rPr>
              <a:t>Statista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5"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4793050" y="1882800"/>
            <a:ext cx="26035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users in millions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38</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Number of Facebook users in Europe 2022, by country (in millions)</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Europe: Facebook users 2022, by country</a:t>
            </a:r>
          </a:p>
        </p:txBody>
      </p:sp>
    </p:spTree>
  </p:cSld>
  <p:clrMapOvr>
    <a:masterClrMapping/>
  </p:clrMapOvr>
  <p:transition/>
  <p:timing/>
</p:sld>
</file>

<file path=ppt/slides/slide4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the fourth quarter of 2022, Meta's Facebook had 407 million monthly active users (MAUs) in Europe, an increase of one million users when compared to the previous quarter. Although the platform saw an increase in users throughout 2021, MAU's have now returned to early 2020 numbers.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Europe; Q4 2012 to Q4 2022</a:t>
            </a:r>
          </a:p>
          <a:p>
            <a:r>
              <a:rPr sz="600" b="1">
                <a:solidFill>
                  <a:srgbClr val="0F2741"/>
                </a:solidFill>
                <a:latin typeface="Open Sans"/>
              </a:rPr>
              <a:t>Source(s): </a:t>
            </a:r>
            <a:r>
              <a:rPr sz="600" b="0">
                <a:solidFill>
                  <a:srgbClr val="0F2741"/>
                </a:solidFill>
                <a:latin typeface="Open Sans"/>
              </a:rPr>
              <a:t>Meta Platforms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39</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Facebook monthly active users (MAU) in Europe as of 4th quarter 2022 (in million MAU)</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monthly active users in Europe 2012-2022</a:t>
            </a:r>
          </a:p>
        </p:txBody>
      </p:sp>
    </p:spTree>
  </p:cSld>
  <p:clrMapOvr>
    <a:masterClrMapping/>
  </p:clrMapOvr>
  <p:transition/>
  <p:timing/>
</p:sld>
</file>

<file path=ppt/slides/slide4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the fourth quarter of 2022, about 304 million people in Europe used Meta's Facebook on a daily basis, unchanged when compared to the previous quarter, and a year-over-year decrease of 1.6 percent. Overall, the number of DAU in Europe has remained relatively stable since the beginning of 2020.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Europe; Q4 2012 to Q4 2022</a:t>
            </a:r>
          </a:p>
          <a:p>
            <a:r>
              <a:rPr sz="600" b="1">
                <a:solidFill>
                  <a:srgbClr val="0F2741"/>
                </a:solidFill>
                <a:latin typeface="Open Sans"/>
              </a:rPr>
              <a:t>Source(s): </a:t>
            </a:r>
            <a:r>
              <a:rPr sz="600" b="0">
                <a:solidFill>
                  <a:srgbClr val="0F2741"/>
                </a:solidFill>
                <a:latin typeface="Open Sans"/>
              </a:rPr>
              <a:t>Meta Platforms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40</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Facebook daily active users (DAU) in Europe from 4th quarter 2012 to 4th quarter 2022 (in million DAU)</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quarterly DAU in Europe 2012-2022</a:t>
            </a:r>
          </a:p>
        </p:txBody>
      </p:sp>
    </p:spTree>
  </p:cSld>
  <p:clrMapOvr>
    <a:masterClrMapping/>
  </p:clrMapOvr>
  <p:transition/>
  <p:timing/>
</p:sld>
</file>

<file path=ppt/slides/slide4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 statistic illustrates Facebook's quarterly revenue in Europe as of the third quarter of 2021, sorted by segment. In most recently reported period, Facebook's advertising revenue across the European markets amounted to over 6.8 billion U.S. dollars.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Europe; Q1 2010 to Q3 2021</a:t>
            </a:r>
          </a:p>
          <a:p>
            <a:r>
              <a:rPr sz="600" b="1">
                <a:solidFill>
                  <a:srgbClr val="0F2741"/>
                </a:solidFill>
                <a:latin typeface="Open Sans"/>
              </a:rPr>
              <a:t>Source(s): </a:t>
            </a:r>
            <a:r>
              <a:rPr sz="600" b="0">
                <a:solidFill>
                  <a:srgbClr val="0F2741"/>
                </a:solidFill>
                <a:latin typeface="Open Sans"/>
              </a:rPr>
              <a:t>Facebook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41</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Facebook's revenue in Europe from 1st quarter 2010 to 3rd quarter 2021, by segment (in million U.S. dollars)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quarterly revenue in Europe 2010-2021, by segment</a:t>
            </a:r>
          </a:p>
        </p:txBody>
      </p:sp>
    </p:spTree>
  </p:cSld>
  <p:clrMapOvr>
    <a:masterClrMapping/>
  </p:clrMapOvr>
  <p:transition/>
  <p:timing/>
</p:sld>
</file>

<file path=ppt/slides/slide4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2"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Facebook`s efforts to monetize its users have vastly differing results across global regions. In the fourth quarter of 2022, Facebook's average revenue per user (ARPU) in the Asia Pacific region was 4.61 U.S. dollars. This result pales in comparison to the combined U.S. and Canada market, where Facebook`s APRU amounted to 58.77 U.S. dollars.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Q4 2011 to Q4 2022</a:t>
            </a:r>
          </a:p>
          <a:p>
            <a:r>
              <a:rPr sz="600" b="1">
                <a:solidFill>
                  <a:srgbClr val="0F2741"/>
                </a:solidFill>
                <a:latin typeface="Open Sans"/>
              </a:rPr>
              <a:t>Source(s): </a:t>
            </a:r>
            <a:r>
              <a:rPr sz="600" b="0">
                <a:solidFill>
                  <a:srgbClr val="0F2741"/>
                </a:solidFill>
                <a:latin typeface="Open Sans"/>
              </a:rPr>
              <a:t>Meta Platforms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New Table" title=""/>
          <p:cNvGraphicFramePr>
            <a:graphicFrameLocks noGrp="1"/>
          </p:cNvGraphicFramePr>
          <p:nvPr/>
        </p:nvGraphicFramePr>
        <p:xfrm>
          <a:off x="586800" y="1882799"/>
          <a:ext cx="11016000" cy="3886200"/>
        </p:xfrm>
        <a:graphic>
          <a:graphicData uri="http://schemas.openxmlformats.org/drawingml/2006/table">
            <a:tbl>
              <a:tblPr firstRow="1" bandRow="1">
                <a:tableStyleId>{5C22544A-7EE6-4342-B048-85BDC9FD1C3A}</a:tableStyleId>
              </a:tblPr>
              <a:tblGrid>
                <a:gridCol w="3159450"/>
                <a:gridCol w="1446850"/>
                <a:gridCol w="2031050"/>
                <a:gridCol w="1154750"/>
                <a:gridCol w="1573850"/>
                <a:gridCol w="1650050"/>
              </a:tblGrid>
              <a:tr h="0">
                <a:tc>
                  <a:txBody>
                    <a:bodyPr/>
                    <a:lstStyle/>
                    <a:p>
                      <a:pPr algn="l"/>
                      <a:endParaRPr sz="1100" b="1">
                        <a:solidFill>
                          <a:srgbClr val="0F2741"/>
                        </a:solidFill>
                        <a:latin typeface="Open Sans"/>
                      </a:endParaRP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Worldwide</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U.S. and Canada</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Europe</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Asia Pacific</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Rest of world</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Q4 '11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1.38</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0.56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0.41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Q4 '12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1.54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4.08</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1.71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0.69</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0.56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Q4 '13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2.14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6.03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2.61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0.95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0.84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Q4 '14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2.81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9</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3.45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1.27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0.94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Q4 '15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3.73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13.7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4.56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Q4 '16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4.83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19.81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5.98</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2.07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1.41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Q4 '17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6.18</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26.76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8.86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2.54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1.86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Q4 '18</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7.37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34.86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10.98</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2.96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2.11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Q4 '19</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8.52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41.41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13.21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3.57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2.48</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Q1 '20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6.95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34.18</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10.64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3.06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1.99</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Q2 '20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7.05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36.49</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11.03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2.99</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1.78</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Q3 '20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7.89</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39.63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12.41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3.67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2.22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Q4 '20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10.14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53.56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16.87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4.05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2.77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Q4 '21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11.57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60.57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19.68</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4.89</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3.43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bl>
          </a:graphicData>
        </a:graphic>
      </p:graphicFrame>
      <p:sp>
        <p:nvSpPr>
          <p:cNvPr id="5" name="New shape" title=""/>
          <p:cNvSpPr/>
          <p:nvPr/>
        </p:nvSpPr>
        <p:spPr>
          <a:xfrm>
            <a:off x="523300" y="5339925"/>
            <a:ext cx="11143000" cy="691425"/>
          </a:xfrm>
          <a:prstGeom prst="rect">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6" r:id="rId7" imgW="2203200" imgH="629486" progId=".xls">
                  <p:embed/>
                </p:oleObj>
              </mc:Choice>
              <mc:Fallback>
                <p:oleObj r:id="rId7" imgW="2203200" imgH="629486" progId=".xls">
                  <p:embed/>
                  <p:pic>
                    <p:nvPicPr>
                      <p:cNvPr id="0" name="OLE substitute image"/>
                      <p:cNvPicPr/>
                      <p:nvPr/>
                    </p:nvPicPr>
                    <p:blipFill>
                      <a:blip r:embed="rId9"/>
                      <a:srcRect t="100000"/>
                      <a:tile tx="0" ty="0" sx="100000" sy="100000" flip="none" algn="tl"/>
                    </p:blipFill>
                    <p:spPr>
                      <a:xfrm>
                        <a:off x="9399600" y="5401865"/>
                        <a:ext cx="2203200" cy="629486"/>
                      </a:xfrm>
                      <a:prstGeom prst="rect">
                        <a:avLst/>
                      </a:prstGeom>
                      <a:blipFill>
                        <a:blip r:embed="rId8"/>
                        <a:stretch>
                          <a:fillRect/>
                        </a:stretch>
                      </a:blipFill>
                      <a:ln>
                        <a:noFill/>
                      </a:ln>
                    </p:spPr>
                  </p:pic>
                </p:oleObj>
              </mc:Fallback>
            </mc:AlternateContent>
          </a:graphicData>
        </a:graphic>
      </p:graphicFrame>
      <p:sp>
        <p:nvSpPr>
          <p:cNvPr id="7"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42</a:t>
            </a:r>
          </a:p>
        </p:txBody>
      </p:sp>
      <p:sp>
        <p:nvSpPr>
          <p:cNvPr id="8"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Facebook average revenue per user (ARPU) as of 4th quarter 2022, by region (in U.S. dollars)</a:t>
            </a:r>
          </a:p>
        </p:txBody>
      </p:sp>
      <p:sp>
        <p:nvSpPr>
          <p:cNvPr id="9"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average revenue per user 2011-2022, by region</a:t>
            </a:r>
          </a:p>
        </p:txBody>
      </p:sp>
    </p:spTree>
  </p:cSld>
  <p:clrMapOvr>
    <a:masterClrMapping/>
  </p:clrMapOvr>
  <p:transition/>
  <p:timing/>
</p:sld>
</file>

<file path=ppt/slides/slide4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How high is the brand awareness of Facebook in the UK?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Kingdom; May 12 to 18, 2022; 1189 respondents; 18 to 64 years; respondents who use social media</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Facebook brand awareness, usage, popularity, loyalty, and buzz among social media users in the United Kingdom in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brand profile in the UK 2022</a:t>
            </a:r>
          </a:p>
        </p:txBody>
      </p:sp>
    </p:spTree>
  </p:cSld>
  <p:clrMapOvr>
    <a:masterClrMapping/>
  </p:clrMapOvr>
  <p:transition/>
  <p:timing/>
</p:sld>
</file>

<file path=ppt/slides/slide4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How high is the brand awareness of Facebook in Germany?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Germany; May 12 to 18, 2022; 1189 respondents; 18 to 64 years; respondents who use social media</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Facebook brand awareness, usage, popularity, loyalty, and buzz among social media users in Germany in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Facebook brand profile in Germany 2022</a:t>
            </a:r>
          </a:p>
        </p:txBody>
      </p:sp>
    </p:spTree>
  </p:cSld>
  <p:clrMapOvr>
    <a:masterClrMapping/>
  </p:clrMapOvr>
  <p:transition/>
  <p:timing/>
</p:sld>
</file>

<file path=ppt/slides/slide4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Instagram</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06</a:t>
            </a:r>
          </a:p>
        </p:txBody>
      </p:sp>
    </p:spTree>
  </p:cSld>
  <p:clrMapOvr>
    <a:masterClrMapping/>
  </p:clrMapOvr>
  <p:transition/>
  <p:timing/>
</p:sld>
</file>

<file path=ppt/slides/slide4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2022, Instagram user numbers in Europe were estimated at 281.3 million, making it one of the biggest social media platforms in the region. Between 2021 and 2022, Instagram experienced a 14.5% decrease in European users. By 2027, it is estimated that the platform will reach around 321 million users in Europe.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Europe; 2017 to 2022; * Forecast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Statista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46</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Instagram users in Europe from 2017 to 2027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Digital Market Outlook: Instagram user numbers in Europe 2017-2027</a:t>
            </a:r>
          </a:p>
        </p:txBody>
      </p:sp>
    </p:spTree>
  </p:cSld>
  <p:clrMapOvr>
    <a:masterClrMapping/>
  </p:clrMapOvr>
  <p:transition/>
  <p:timing/>
</p:sld>
</file>

<file path=ppt/slides/slide4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December 2022, Instagram's monthly social network market share in Europe was 8.47 percent, up from 7.61 in the previous month. Instagram's European web share increased significantly since December 2021, when Instagram held just 3.31 the social media website share in Europe.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Europe; August 2021 to December 2022; includes desktop, mobile, tablet and console use</a:t>
            </a:r>
          </a:p>
          <a:p>
            <a:r>
              <a:rPr sz="600" b="1">
                <a:solidFill>
                  <a:srgbClr val="0F2741"/>
                </a:solidFill>
                <a:latin typeface="Open Sans"/>
              </a:rPr>
              <a:t>Source(s): </a:t>
            </a:r>
            <a:r>
              <a:rPr sz="600" b="0">
                <a:solidFill>
                  <a:srgbClr val="0F2741"/>
                </a:solidFill>
                <a:latin typeface="Open Sans"/>
              </a:rPr>
              <a:t>StatCounter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47</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Social media website visit share held by Instagram in Europe from August 2021 to December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Instagram: share of social network web visits in Europe 2021-2022</a:t>
            </a:r>
          </a:p>
        </p:txBody>
      </p:sp>
    </p:spTree>
  </p:cSld>
  <p:clrMapOvr>
    <a:masterClrMapping/>
  </p:clrMapOvr>
  <p:transition/>
  <p:timing/>
</p:sld>
</file>

<file path=ppt/slides/slide4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August 2022, Meta's Instagram had a total of 30.74 million active users in Germany. In August 2021, the social media platform had 25.55 million active users, demonstrating an overall increase of around five million users in Germany within one year. Overall, Instagram's largest audience in Germany can be found in the 25 to 34 year age group.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Germany; September 2018 to August 2022; 13 years and older</a:t>
            </a:r>
          </a:p>
          <a:p>
            <a:r>
              <a:rPr sz="600" b="1">
                <a:solidFill>
                  <a:srgbClr val="0F2741"/>
                </a:solidFill>
                <a:latin typeface="Open Sans"/>
              </a:rPr>
              <a:t>Source(s): </a:t>
            </a:r>
            <a:r>
              <a:rPr sz="600" b="0">
                <a:solidFill>
                  <a:srgbClr val="0F2741"/>
                </a:solidFill>
                <a:latin typeface="Open Sans"/>
              </a:rPr>
              <a:t>NapoleonCat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48</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Instagram users in Germany from September 2018 to March 2022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Germany Instagram users 2018-2022</a:t>
            </a:r>
          </a:p>
        </p:txBody>
      </p:sp>
    </p:spTree>
  </p:cSld>
  <p:clrMapOvr>
    <a:masterClrMapping/>
  </p:clrMapOvr>
  <p:transition/>
  <p:timing/>
</p:sld>
</file>

<file path=ppt/slides/slide5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August 2022, the number of Instagram users in Germany stood at around 30 million individuals. The largest share of Instagram users in Germany are individuals aged between 25 and 34 years old, with Instagram`s popularity decreasing among older respondents. Those over 65 years of age made up 2.3 percent of users. Additionally, Instagram had slightly more female users in Germany than male users.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Germany; August 2022; 13 years and older</a:t>
            </a:r>
          </a:p>
          <a:p>
            <a:r>
              <a:rPr sz="600" b="1">
                <a:solidFill>
                  <a:srgbClr val="0F2741"/>
                </a:solidFill>
                <a:latin typeface="Open Sans"/>
              </a:rPr>
              <a:t>Source(s): </a:t>
            </a:r>
            <a:r>
              <a:rPr sz="600" b="0">
                <a:solidFill>
                  <a:srgbClr val="0F2741"/>
                </a:solidFill>
                <a:latin typeface="Open Sans"/>
              </a:rPr>
              <a:t>NapoleonCat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49</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Distribution of Instagram users in Germany as of August 2022, by age group</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Germany Instagram users 2022, by age group</a:t>
            </a:r>
          </a:p>
        </p:txBody>
      </p:sp>
    </p:spTree>
  </p:cSld>
  <p:clrMapOvr>
    <a:masterClrMapping/>
  </p:clrMapOvr>
  <p:transition/>
  <p:timing/>
</p:sld>
</file>

<file path=ppt/slides/slide5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December 2022, there were 31.16 million Instagram users in the United Kingdom (UK). Instagram reached 34.74 million UK users in March 2022, the largest audience the service has ever seen in the country.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Kingdom; September 2018 to December 2022; 13 years and older</a:t>
            </a:r>
          </a:p>
          <a:p>
            <a:r>
              <a:rPr sz="600" b="1">
                <a:solidFill>
                  <a:srgbClr val="0F2741"/>
                </a:solidFill>
                <a:latin typeface="Open Sans"/>
              </a:rPr>
              <a:t>Source(s): </a:t>
            </a:r>
            <a:r>
              <a:rPr sz="600" b="0">
                <a:solidFill>
                  <a:srgbClr val="0F2741"/>
                </a:solidFill>
                <a:latin typeface="Open Sans"/>
              </a:rPr>
              <a:t>NapoleonCat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50</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Instagram users in the United Kingdom (UK) from September 2018 to December 2022 (in 1,000s)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UK: monthly Instagram users 2018-2022</a:t>
            </a:r>
          </a:p>
        </p:txBody>
      </p:sp>
    </p:spTree>
  </p:cSld>
  <p:clrMapOvr>
    <a:masterClrMapping/>
  </p:clrMapOvr>
  <p:transition/>
  <p:timing/>
</p:sld>
</file>

<file path=ppt/slides/slide5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September 2022, Instagram had around 32 million users in the United Kingdom (UK). The largest share of Instagram users were individuals aged between 25 and 34 years old, at almost 31 percent. This was followed by users within the 18 to 24 years old category. Individuals over 65 years old, were less likely to use the social media platform, making up the smallest share of Instagram users during this period.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Kingdom; September 2022; 13 years and older</a:t>
            </a:r>
          </a:p>
          <a:p>
            <a:r>
              <a:rPr sz="600" b="1">
                <a:solidFill>
                  <a:srgbClr val="0F2741"/>
                </a:solidFill>
                <a:latin typeface="Open Sans"/>
              </a:rPr>
              <a:t>Source(s): </a:t>
            </a:r>
            <a:r>
              <a:rPr sz="600" b="0">
                <a:solidFill>
                  <a:srgbClr val="0F2741"/>
                </a:solidFill>
                <a:latin typeface="Open Sans"/>
              </a:rPr>
              <a:t>NapoleonCat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307400" y="1882800"/>
            <a:ext cx="15748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users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51</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Distribution of Instagram users in the United Kingdom (UK) as of September 2022, by age group</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UK: Instagram users 2022, by age group</a:t>
            </a:r>
          </a:p>
        </p:txBody>
      </p:sp>
    </p:spTree>
  </p:cSld>
  <p:clrMapOvr>
    <a:masterClrMapping/>
  </p:clrMapOvr>
  <p:transition/>
  <p:timing/>
</p:sld>
</file>

<file path=ppt/slides/slide5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How high is the brand awareness of Instagram in the UK?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Kingdom; May 12 to 18, 2022; 1189 respondents; 18 to 64 years; respondents who use social media</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52</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Instagram brand awareness, usage, popularity, loyalty, and buzz among social media users in the United Kingdom in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Instagram brand profile in the UK 2022</a:t>
            </a:r>
          </a:p>
        </p:txBody>
      </p:sp>
    </p:spTree>
  </p:cSld>
  <p:clrMapOvr>
    <a:masterClrMapping/>
  </p:clrMapOvr>
  <p:transition/>
  <p:timing/>
</p:sld>
</file>

<file path=ppt/slides/slide5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How high is the brand awareness of Instagram in Germany?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Germany; May 12 to 18, 2022; 1189 respondents; 18 to 64 years; respondents who use social media</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Instagram brand awareness, usage, popularity, loyalty, and buzz among social media users in Germany in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Instagram brand profile in Germany 2022</a:t>
            </a:r>
          </a:p>
        </p:txBody>
      </p:sp>
    </p:spTree>
  </p:cSld>
  <p:clrMapOvr>
    <a:masterClrMapping/>
  </p:clrMapOvr>
  <p:transition/>
  <p:timing/>
</p:sld>
</file>

<file path=ppt/slides/slide5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TikTok</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07</a:t>
            </a:r>
          </a:p>
        </p:txBody>
      </p:sp>
    </p:spTree>
  </p:cSld>
  <p:clrMapOvr>
    <a:masterClrMapping/>
  </p:clrMapOvr>
  <p:transition/>
  <p:timing/>
</p:sld>
</file>

<file path=ppt/slides/slide5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June 2022, there were 227.81 million TikTok users in Europe, up from 181 million users in 2020. By 2027, it is estimated that TikTok users in Europe will amount to around 281 million users, indicating continued yet slower growth for the mobile-first social video platform in coming years.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Europe; 2017 to 2022; * Forecast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Statista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Number of TikTok users in Europe from 2017 to 2027 (in millions)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Digital Market Outlook: TikTok users in Europe 2017-2027</a:t>
            </a:r>
          </a:p>
        </p:txBody>
      </p:sp>
    </p:spTree>
  </p:cSld>
  <p:clrMapOvr>
    <a:masterClrMapping/>
  </p:clrMapOvr>
  <p:transition/>
  <p:timing/>
</p:sld>
</file>

<file path=ppt/slides/slide5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the second quarter of 2021, 40 percent of the TikTok users from North America used the social platform worldwide to share or post videos. It is the fastest growth regarding this topic compared to users from other parts of the world. European users accounted for up to 37 percent, while those from Latin America and Middle-east and Africa have had similar percentages and lesser growth throughout the analyzed period.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Q4 2020 to Q2 2021; 165,619 respondents; 14-64 years; TikTok users across 46 markets</a:t>
            </a:r>
          </a:p>
          <a:p>
            <a:r>
              <a:rPr sz="600" b="1">
                <a:solidFill>
                  <a:srgbClr val="0F2741"/>
                </a:solidFill>
                <a:latin typeface="Open Sans"/>
              </a:rPr>
              <a:t>Source(s): </a:t>
            </a:r>
            <a:r>
              <a:rPr sz="600" b="0">
                <a:solidFill>
                  <a:srgbClr val="0F2741"/>
                </a:solidFill>
                <a:latin typeface="Open Sans"/>
              </a:rPr>
              <a:t>GWI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56</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users who use TikTok to post or share videos as of 2nd quarter 2021, by region</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TikTok users who share and post videos worldwide Q2 2021, by region</a:t>
            </a:r>
          </a:p>
        </p:txBody>
      </p:sp>
    </p:spTree>
  </p:cSld>
  <p:clrMapOvr>
    <a:masterClrMapping/>
  </p:clrMapOvr>
  <p:transition/>
  <p:timing/>
</p:sld>
</file>

<file path=ppt/slides/slide5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the third quarter of 2021, the number of monthly active users (MAU) of TikTok in the Asia-Pacific region increased by 159 percent compared to the corresponding quarter of 2020. The Middle East/North Africa region followed with a growth of 122.3 percent year-over-year. Latin America saw an increase of 91.2 percent in TikTok MAU in the evaluated period. The short-form video platform TikTok was first launched as Douyin in China, and is owned by Chinese company ByteDance.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Worldwide; Q3 2020 and Q3 2021</a:t>
            </a:r>
          </a:p>
          <a:p>
            <a:r>
              <a:rPr sz="600" b="1">
                <a:solidFill>
                  <a:srgbClr val="0F2741"/>
                </a:solidFill>
                <a:latin typeface="Open Sans"/>
              </a:rPr>
              <a:t>Source(s): </a:t>
            </a:r>
            <a:r>
              <a:rPr sz="600" b="0">
                <a:solidFill>
                  <a:srgbClr val="0F2741"/>
                </a:solidFill>
                <a:latin typeface="Open Sans"/>
              </a:rPr>
              <a:t>Ampere Analysis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57</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Year-over-year growth of TikTok monthly active users (MAU) worldwide in Q3 2021, by region</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Yearly TikTok MAU growth worldwide 2021, by region</a:t>
            </a:r>
          </a:p>
        </p:txBody>
      </p:sp>
    </p:spTree>
  </p:cSld>
  <p:clrMapOvr>
    <a:masterClrMapping/>
  </p:clrMapOvr>
  <p:transition/>
  <p:timing/>
</p:sld>
</file>

<file path=ppt/slides/slide5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2022, the most popular TikTok video in the United Kingdom was posted by the user @samdracot_farrier, a professional farrier documenting his daily work. The informative and oddly satisfying short-form video featuring generated nearly approximately 270 million views. The video by @sadiessepsisjourney, which documents the 35-year-old Sadie's recovery from sepsis, had 244 million views and was the second most popular TikTok video in the country. @kiki_n_rohy ranked third,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Kingdom; 2022</a:t>
            </a:r>
          </a:p>
          <a:p>
            <a:r>
              <a:rPr sz="600" b="1">
                <a:solidFill>
                  <a:srgbClr val="0F2741"/>
                </a:solidFill>
                <a:latin typeface="Open Sans"/>
              </a:rPr>
              <a:t>Source(s): </a:t>
            </a:r>
            <a:r>
              <a:rPr sz="600" b="0">
                <a:solidFill>
                  <a:srgbClr val="0F2741"/>
                </a:solidFill>
                <a:latin typeface="Open Sans"/>
              </a:rPr>
              <a:t>Sky News; TikTok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793050" y="1882800"/>
            <a:ext cx="26035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views in millions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58</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Most popular TikTok videos in the United Kingdom in 2022, by views (in millions)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UK most popular TikTok videos 2022, by views</a:t>
            </a:r>
          </a:p>
        </p:txBody>
      </p:sp>
    </p:spTree>
  </p:cSld>
  <p:clrMapOvr>
    <a:masterClrMapping/>
  </p:clrMapOvr>
  <p:transition/>
  <p:timing/>
</p:sld>
</file>

<file path=ppt/slides/slide6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September 2022, youneszarou had the most TikTok followers in Germany at 48.51 million. The ranking shows the most popular TikTok accounts in Germany in 2022 based on the number of followers.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Austria, Germany, Switzerland; As of September, 2021; Creators with international content</a:t>
            </a:r>
          </a:p>
          <a:p>
            <a:r>
              <a:rPr sz="600" b="1">
                <a:solidFill>
                  <a:srgbClr val="0F2741"/>
                </a:solidFill>
                <a:latin typeface="Open Sans"/>
              </a:rPr>
              <a:t>Source(s): </a:t>
            </a:r>
            <a:r>
              <a:rPr sz="600" b="0">
                <a:solidFill>
                  <a:srgbClr val="0F2741"/>
                </a:solidFill>
                <a:latin typeface="Open Sans"/>
              </a:rPr>
              <a:t>OMR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659700" y="1882800"/>
            <a:ext cx="28702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followers in millions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59</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TikTok accounts in Germany in September 2022, by number of followers (in millions)</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Leading TikTok accounts Germany 2022, by number of followers</a:t>
            </a:r>
          </a:p>
        </p:txBody>
      </p:sp>
    </p:spTree>
  </p:cSld>
  <p:clrMapOvr>
    <a:masterClrMapping/>
  </p:clrMapOvr>
  <p:transition/>
  <p:timing/>
</p:sld>
</file>

<file path=ppt/slides/slide6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2021, women aged between 18 and 24 years represented the largest demographic on social video app TikTok, with over 30 percent of the platform's user base being women in this age group. Men in the same age group accounted for almost 10 percent of the platform's audience in France.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France; 2021</a:t>
            </a:r>
          </a:p>
          <a:p>
            <a:r>
              <a:rPr sz="600" b="1">
                <a:solidFill>
                  <a:srgbClr val="0F2741"/>
                </a:solidFill>
                <a:latin typeface="Open Sans"/>
              </a:rPr>
              <a:t>Source(s): </a:t>
            </a:r>
            <a:r>
              <a:rPr sz="600" b="0">
                <a:solidFill>
                  <a:srgbClr val="0F2741"/>
                </a:solidFill>
                <a:latin typeface="Open Sans"/>
              </a:rPr>
              <a:t>HypeAuditor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60</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TikTok usage in France in the 1st quarter 2021, by age and gender</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TikTok usage in France 2021, by age and gender</a:t>
            </a:r>
          </a:p>
        </p:txBody>
      </p:sp>
    </p:spTree>
  </p:cSld>
  <p:clrMapOvr>
    <a:masterClrMapping/>
  </p:clrMapOvr>
  <p:transition/>
  <p:timing/>
</p:sld>
</file>

<file path=ppt/slides/slide6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survey of children and teenagers in France, as of January 2022, approximately 66 percent male younger users were engaging with the mobile video app TikTok. By comparison, 60 percent of female users aged between 11 and 18 years old reported using the popular social video platform.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France; September 1, 2021 to January 21, 2022; 17,013 respondents; 11-18 years</a:t>
            </a:r>
          </a:p>
          <a:p>
            <a:r>
              <a:rPr sz="600" b="1">
                <a:solidFill>
                  <a:srgbClr val="0F2741"/>
                </a:solidFill>
                <a:latin typeface="Open Sans"/>
              </a:rPr>
              <a:t>Source(s): </a:t>
            </a:r>
            <a:r>
              <a:rPr sz="600" b="0">
                <a:solidFill>
                  <a:srgbClr val="0F2741"/>
                </a:solidFill>
                <a:latin typeface="Open Sans"/>
              </a:rPr>
              <a:t>Génération numérique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61</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TikTok usage among kids and teenagers in France as of January 2022, by gender</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Kids and teens using TikTok in France 2022, by gender</a:t>
            </a:r>
          </a:p>
        </p:txBody>
      </p:sp>
    </p:spTree>
  </p:cSld>
  <p:clrMapOvr>
    <a:masterClrMapping/>
  </p:clrMapOvr>
  <p:transition/>
  <p:timing/>
</p:sld>
</file>

<file path=ppt/slides/slide6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How high is the brand awareness of TikTok in the UK?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Kingdom; May 12 to 18, 2022; 1189 respondents; 18 to 64 years; respondents who use social media</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62</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TikTok brand awareness, usage, popularity, loyalty, and buzz among social media users in the United Kingdom in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TikTok brand profile in the UK 2022</a:t>
            </a:r>
          </a:p>
        </p:txBody>
      </p:sp>
    </p:spTree>
  </p:cSld>
  <p:clrMapOvr>
    <a:masterClrMapping/>
  </p:clrMapOvr>
  <p:transition/>
  <p:timing/>
</p:sld>
</file>

<file path=ppt/slides/slide6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How high is the brand awareness of TikTok in Germany?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Germany; May 12 to 18, 2022; 1189 respondents; 18 to 64 years; respondents who use social media</a:t>
            </a:r>
          </a:p>
          <a:p>
            <a:r>
              <a:rPr sz="600" b="1">
                <a:solidFill>
                  <a:srgbClr val="0F2741"/>
                </a:solidFill>
                <a:latin typeface="Open Sans"/>
              </a:rPr>
              <a:t>Source(s): </a:t>
            </a:r>
            <a:r>
              <a:rPr sz="600" b="0">
                <a:solidFill>
                  <a:srgbClr val="0F2741"/>
                </a:solidFill>
                <a:latin typeface="Open Sans"/>
              </a:rPr>
              <a:t>Statista Consumer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TikTok brand awareness, usage, popularity, loyalty, and buzz among social media users in Germany in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TikTok brand profile in Germany 2022</a:t>
            </a:r>
          </a:p>
        </p:txBody>
      </p:sp>
    </p:spTree>
  </p:cSld>
  <p:clrMapOvr>
    <a:masterClrMapping/>
  </p:clrMapOvr>
  <p:transition/>
  <p:timing/>
</p:sld>
</file>

<file path=ppt/slides/slide6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Influencers</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08</a:t>
            </a:r>
          </a:p>
        </p:txBody>
      </p:sp>
    </p:spTree>
  </p:cSld>
  <p:clrMapOvr>
    <a:masterClrMapping/>
  </p:clrMapOvr>
  <p:transition/>
  <p:timing/>
</p:sld>
</file>

<file path=ppt/slides/slide6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During a survey carried out among Italian consumers who follow at least one influencer on social media in September 2022, 69 percent of respondents said they followed an influencer because of the topics they discussed. The social network used the most by respondents was cited as influential towards following a certain influencer by 34 percent of them, while 21 percent said they followed an influencer based on the advice of friends.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Italy; September 2022; 1,000 respondents; among consumers who follow at least one influencer on social media</a:t>
            </a:r>
          </a:p>
          <a:p>
            <a:r>
              <a:rPr sz="600" b="1">
                <a:solidFill>
                  <a:srgbClr val="0F2741"/>
                </a:solidFill>
                <a:latin typeface="Open Sans"/>
              </a:rPr>
              <a:t>Source(s): </a:t>
            </a:r>
            <a:r>
              <a:rPr sz="600" b="0">
                <a:solidFill>
                  <a:srgbClr val="0F2741"/>
                </a:solidFill>
                <a:latin typeface="Open Sans"/>
              </a:rPr>
              <a:t>Toluna Corporate; UPA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02600" y="1882800"/>
            <a:ext cx="21844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 </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65</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Leading factors based on which Italian consumers followed influencers as of September 2022</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Reasons why Italians follow influencers 2022</a:t>
            </a:r>
          </a:p>
        </p:txBody>
      </p:sp>
    </p:spTree>
  </p:cSld>
  <p:clrMapOvr>
    <a:masterClrMapping/>
  </p:clrMapOvr>
  <p:transition/>
  <p:timing/>
</p:sld>
</file>

<file path=ppt/slides/slide6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As of the third quarter of 2022, over half of social media users in Italy followed closer contacts like friends, family, and people they knew. Bands, singers, or musicians were the second most followed type of social media accounts in the country with approximately 33 percent of internet users in Italy reporting doing so. Restaurant, chefs, and foodies accounts were followed by roughly 26 percent of social media users during the examined period.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Spain; Q3 2022; 14-64 years</a:t>
            </a:r>
          </a:p>
          <a:p>
            <a:r>
              <a:rPr sz="600" b="1">
                <a:solidFill>
                  <a:srgbClr val="0F2741"/>
                </a:solidFill>
                <a:latin typeface="Open Sans"/>
              </a:rPr>
              <a:t>Source(s): </a:t>
            </a:r>
            <a:r>
              <a:rPr sz="600" b="0">
                <a:solidFill>
                  <a:srgbClr val="0F2741"/>
                </a:solidFill>
                <a:latin typeface="Open Sans"/>
              </a:rPr>
              <a:t>DataReportal; GWI; Meltwater; We Are Social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28000" y="1882800"/>
            <a:ext cx="2133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respondents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66</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Main types of social media accounts followed by internet users in Italy as of 3rd quarter 2022</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Italy: types of social media accounts followed 2022</a:t>
            </a:r>
          </a:p>
        </p:txBody>
      </p:sp>
    </p:spTree>
  </p:cSld>
  <p:clrMapOvr>
    <a:masterClrMapping/>
  </p:clrMapOvr>
  <p:transition/>
  <p:timing/>
</p:sld>
</file>

<file path=ppt/slides/slide6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During a 2022 survey, eight percent of responding social media users from Spain who followed influencers on social media stated the influencers they followed were very credible; another 39 percent said they were quite credible. On the other hand, 10 percent said they were not very or not at all credible.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Spain; April 2022; 295 respondents; 12-70 years; aong social media user who follow influencers on social media</a:t>
            </a:r>
          </a:p>
          <a:p>
            <a:r>
              <a:rPr sz="600" b="1">
                <a:solidFill>
                  <a:srgbClr val="0F2741"/>
                </a:solidFill>
                <a:latin typeface="Open Sans"/>
              </a:rPr>
              <a:t>Source(s): </a:t>
            </a:r>
            <a:r>
              <a:rPr sz="600" b="0">
                <a:solidFill>
                  <a:srgbClr val="0F2741"/>
                </a:solidFill>
                <a:latin typeface="Open Sans"/>
              </a:rPr>
              <a:t>Elogia; IAB Spain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67</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Credibility of influencers according to their followers in Spain as of April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Credibility of influencers in Spain 2022</a:t>
            </a:r>
          </a:p>
        </p:txBody>
      </p:sp>
    </p:spTree>
  </p:cSld>
  <p:clrMapOvr>
    <a:masterClrMapping/>
  </p:clrMapOvr>
  <p:transition/>
  <p:timing/>
</p:sld>
</file>

<file path=ppt/slides/slide6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During a 2022 survey, 12 percent of responding social media users from Spain who followed influencers on social media stated that the comments of the influencers they followed were very much of a promotional nature; another 22 percent said the comments were quite promotional. On the other hand, 20 percent said that they were not very or not at all of promotional nature.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Spain; April 2022; 295 respondents; 12-70 years; aong social media user who follow influencers on social media</a:t>
            </a:r>
          </a:p>
          <a:p>
            <a:r>
              <a:rPr sz="600" b="1">
                <a:solidFill>
                  <a:srgbClr val="0F2741"/>
                </a:solidFill>
                <a:latin typeface="Open Sans"/>
              </a:rPr>
              <a:t>Source(s): </a:t>
            </a:r>
            <a:r>
              <a:rPr sz="600" b="0">
                <a:solidFill>
                  <a:srgbClr val="0F2741"/>
                </a:solidFill>
                <a:latin typeface="Open Sans"/>
              </a:rPr>
              <a:t>Elogia; IAB Spain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68</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Promotional nature of influencers according to their followers in Spain as of April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Advertising nature of influencers in Spain 2022</a:t>
            </a:r>
          </a:p>
        </p:txBody>
      </p:sp>
    </p:spTree>
  </p:cSld>
  <p:clrMapOvr>
    <a:masterClrMapping/>
  </p:clrMapOvr>
  <p:transition/>
  <p:timing/>
</p:sld>
</file>

<file path=ppt/slides/slide7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During a 2022 survey, 30 percent of responding brand followers stated they believed influencers should post on social media once a day; 25 percent said their preferred frequency was two or three times a week.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Spain; April 2022; 1,043 respondents; 12-70 years; among social media users following brands on social media</a:t>
            </a:r>
          </a:p>
          <a:p>
            <a:r>
              <a:rPr sz="600" b="1">
                <a:solidFill>
                  <a:srgbClr val="0F2741"/>
                </a:solidFill>
                <a:latin typeface="Open Sans"/>
              </a:rPr>
              <a:t>Source(s): </a:t>
            </a:r>
            <a:r>
              <a:rPr sz="600" b="0">
                <a:solidFill>
                  <a:srgbClr val="0F2741"/>
                </a:solidFill>
                <a:latin typeface="Open Sans"/>
              </a:rPr>
              <a:t>Elogia; IAB Spain; Various sources (@Protecmedia_)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69</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Preferred frequency of influencers posting on social media according to followers in Spain as of April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Preferred frequency of influencers posting on social media in Spain 2022</a:t>
            </a:r>
          </a:p>
        </p:txBody>
      </p:sp>
    </p:spTree>
  </p:cSld>
  <p:clrMapOvr>
    <a:masterClrMapping/>
  </p:clrMapOvr>
  <p:transition/>
  <p:timing/>
</p:sld>
</file>

<file path=ppt/slides/slide7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During a 2022 survey carried out in the United Kingdom, around one in three fashion and lifestyle consumers stated that they have no preference of influencers in terms of their number of followers. The majority of those respondents who do are most likely to follow micro influencers who account for ten thousand up to 99 thousand followers. Mega influencers - with more than one million followers - only attract less than 12 percent of responding consumers in the country.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Kingdom; spring 2022; 1,008 respondents; 18 years and older</a:t>
            </a:r>
          </a:p>
          <a:p>
            <a:r>
              <a:rPr sz="600" b="1">
                <a:solidFill>
                  <a:srgbClr val="0F2741"/>
                </a:solidFill>
                <a:latin typeface="Open Sans"/>
              </a:rPr>
              <a:t>Source(s): </a:t>
            </a:r>
            <a:r>
              <a:rPr sz="600" b="0">
                <a:solidFill>
                  <a:srgbClr val="0F2741"/>
                </a:solidFill>
                <a:latin typeface="Open Sans"/>
              </a:rPr>
              <a:t>Cure Media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70</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Type of influencers most likely to be followed by fashion and lifestyle buyers in the United Kingdom as of spring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Type of influencers by number of UK fashion &amp; lifestyle followers 2022</a:t>
            </a:r>
          </a:p>
        </p:txBody>
      </p:sp>
    </p:spTree>
  </p:cSld>
  <p:clrMapOvr>
    <a:masterClrMapping/>
  </p:clrMapOvr>
  <p:transition/>
  <p:timing/>
</p:sld>
</file>

<file path=ppt/slides/slide7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2021, 21 percent of the German population subscribed to influencer accounts on social media. 78.7 percent did not. The survey is based on the Verbrauchs- und Medienanalyse (VuMA), which provides information on more than 1,000 brands and almost all products advertised in the media. The reports presents data on usage and purchase behavior, media usage as well as attitudes of the German-speaking population aged 14 years and older.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Germany; 2021; 22,563 respondents; 14 years and older; German-speaking population</a:t>
            </a:r>
          </a:p>
          <a:p>
            <a:r>
              <a:rPr sz="600" b="1">
                <a:solidFill>
                  <a:srgbClr val="0F2741"/>
                </a:solidFill>
                <a:latin typeface="Open Sans"/>
              </a:rPr>
              <a:t>Source(s): </a:t>
            </a:r>
            <a:r>
              <a:rPr sz="600" b="0">
                <a:solidFill>
                  <a:srgbClr val="0F2741"/>
                </a:solidFill>
                <a:latin typeface="Open Sans"/>
              </a:rPr>
              <a:t>VuMA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71</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the population subscribing to influencer accounts on social media in Germany in 2021</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Share of influencer subscribers on social media Germany 2021</a:t>
            </a:r>
          </a:p>
        </p:txBody>
      </p:sp>
    </p:spTree>
  </p:cSld>
  <p:clrMapOvr>
    <a:masterClrMapping/>
  </p:clrMapOvr>
  <p:transition/>
  <p:timing/>
</p:sld>
</file>

<file path=ppt/slides/slide7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Instagram nano-influencers with 1,000 to 5,000 followers enjoyed the highest engagement rate (ER) in France in 2021, with 5.85 percent. Micro-influencers with 5,000 to 20,000 followers followed with an ER of 2.98 percent. On average, the engagement rate for Instagram influencers in France stood at 3.67 percent in 2021.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France; 2020 and 2021</a:t>
            </a:r>
          </a:p>
          <a:p>
            <a:r>
              <a:rPr sz="600" b="1">
                <a:solidFill>
                  <a:srgbClr val="0F2741"/>
                </a:solidFill>
                <a:latin typeface="Open Sans"/>
              </a:rPr>
              <a:t>Source(s): </a:t>
            </a:r>
            <a:r>
              <a:rPr sz="600" b="0">
                <a:solidFill>
                  <a:srgbClr val="0F2741"/>
                </a:solidFill>
                <a:latin typeface="Open Sans"/>
              </a:rPr>
              <a:t>HypeAuditor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72</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Engagement rate of Instagram influencers in France in 2020 and 2021, by number of followers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Engagement rates among Instagram influencers in France 2020-2021, by profile size</a:t>
            </a:r>
          </a:p>
        </p:txBody>
      </p:sp>
    </p:spTree>
  </p:cSld>
  <p:clrMapOvr>
    <a:masterClrMapping/>
  </p:clrMapOvr>
  <p:transition/>
  <p:timing/>
</p:sld>
</file>

<file path=ppt/slides/slide7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Marketing and advertising</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09</a:t>
            </a:r>
          </a:p>
        </p:txBody>
      </p:sp>
    </p:spTree>
  </p:cSld>
  <p:clrMapOvr>
    <a:masterClrMapping/>
  </p:clrMapOvr>
  <p:transition/>
  <p:timing/>
</p:sld>
</file>

<file path=ppt/slides/slide7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2022, the United Kingdom (UK) was forecast to see the highest social media advertising revenue out of all European markets. With approximately 12 billion U.S. dollars in revenue, the UK was projected to report higher figures than its five closest competitors combined.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Austria, Belgium, Denmark, Finland, France, Germany, Ireland, Italy, Netherlands, Norway, Portugal, Spain, Sweden, Switzerland, United Kingdom</a:t>
            </a:r>
          </a:p>
          <a:p>
            <a:r>
              <a:rPr sz="600" b="1">
                <a:solidFill>
                  <a:srgbClr val="0F2741"/>
                </a:solidFill>
                <a:latin typeface="Open Sans"/>
              </a:rPr>
              <a:t>Source(s): </a:t>
            </a:r>
            <a:r>
              <a:rPr sz="600" b="0">
                <a:solidFill>
                  <a:srgbClr val="0F2741"/>
                </a:solidFill>
                <a:latin typeface="Open Sans"/>
              </a:rPr>
              <a:t>Statista; Statista Digital Market Insights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7"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4647000" y="1882800"/>
            <a:ext cx="28956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Spending in million U.S. dollars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74</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Social media advertising spending in selected countries in Europe in 2022 (in million U.S. dollars)</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Digital Market Outlook: social media advertising spending in European countries 2022</a:t>
            </a:r>
          </a:p>
        </p:txBody>
      </p:sp>
    </p:spTree>
  </p:cSld>
  <p:clrMapOvr>
    <a:masterClrMapping/>
  </p:clrMapOvr>
  <p:transition/>
  <p:timing/>
</p:sld>
</file>

<file path=ppt/slides/slide7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Enterprises across all segment where in 2021 most likely to used social media networks as part of their social media usage. Second most widespread was the use of multimedia content sharing websites. 54 percent of businesses in the accommodation sector for example did so. Only a small portion of enterprises used blogs or wiki based knowledge sharing tools. Only enterprises in the Information and communications sector used such tools to a significantly high amount.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Europe; * Data refers to 2019 Data provided in this domain are collected on a yearly basis by the National Statistical Institutes and are based on the annual Eurostat model questionnaires on ICT (Information and Communication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Eurostat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078800" y="1882800"/>
            <a:ext cx="20320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enterprises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75</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enterprises using social media in the European Union (EU-27) in 2021, by type and activity</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media usage of enterprises in the European Union 2021, by type and activity</a:t>
            </a:r>
          </a:p>
        </p:txBody>
      </p:sp>
    </p:spTree>
  </p:cSld>
  <p:clrMapOvr>
    <a:masterClrMapping/>
  </p:clrMapOvr>
  <p:transition/>
  <p:timing/>
</p:sld>
</file>

<file path=ppt/slides/slide7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2021, more than half of enterprises in the EU-27 used social networks. Large enterprises with more than 250 employees were more likely to do so. While only around six percent of enterprises in the EU used wiki-based sharing tools, about 22 percent of large enterprises did so.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Europe; 2021</a:t>
            </a:r>
          </a:p>
          <a:p>
            <a:r>
              <a:rPr sz="600" b="1">
                <a:solidFill>
                  <a:srgbClr val="0F2741"/>
                </a:solidFill>
                <a:latin typeface="Open Sans"/>
              </a:rPr>
              <a:t>Source(s): </a:t>
            </a:r>
            <a:r>
              <a:rPr sz="600" b="0">
                <a:solidFill>
                  <a:srgbClr val="0F2741"/>
                </a:solidFill>
                <a:latin typeface="Open Sans"/>
              </a:rPr>
              <a:t>Eurostat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76</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enterprises using social media in the European Union (EU-27) in 2021, by type and size</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media usage of enterprises in the European Union 2021, by type and size</a:t>
            </a:r>
          </a:p>
        </p:txBody>
      </p:sp>
    </p:spTree>
  </p:cSld>
  <p:clrMapOvr>
    <a:masterClrMapping/>
  </p:clrMapOvr>
  <p:transition/>
  <p:timing/>
</p:sld>
</file>

<file path=ppt/slides/slide7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Since 2014 the share of enterprises across the European Union (EU-27) that used social networking apps and services increased significantly from 31 percent to 56 percent in 2021. Enterprises in Malta, Norway, and Sweden have the highest share of enterprises making use of social networking. Germany, France, and Spain have a relatively low share of such enterprises with around 53, and 60 percent respectively. This was nevertheless a significant increase since 2014, one that can be seen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Europe; 2014, 2019, and 2021; The survey population consists of enterprises with 10 or more employees and self-employed persons.; * Data refers to 2015, no 2014 data available Data provided in this domain are collected on a yearly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Eurostat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8"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078800" y="1882800"/>
            <a:ext cx="20320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Share of enterprises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77</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enterprises using social networks in the European Union in 2014, 2019, and 2021, by country</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network usage of countries inside the European Union 2014-2021, by country</a:t>
            </a:r>
          </a:p>
        </p:txBody>
      </p:sp>
    </p:spTree>
  </p:cSld>
  <p:clrMapOvr>
    <a:masterClrMapping/>
  </p:clrMapOvr>
  <p:transition/>
  <p:timing/>
</p:sld>
</file>

<file path=ppt/slides/slide7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2021, video ads on social media in Europe attracted an investment of 10.9 billion euros, up from 7.2 billion a year earlier. Traditional ads (e.g. static display) garnered 12 billion euros, up from 8.7 billion in 2020.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Europe; 2019 to 2021</a:t>
            </a:r>
          </a:p>
          <a:p>
            <a:r>
              <a:rPr sz="600" b="1">
                <a:solidFill>
                  <a:srgbClr val="0F2741"/>
                </a:solidFill>
                <a:latin typeface="Open Sans"/>
              </a:rPr>
              <a:t>Source(s): </a:t>
            </a:r>
            <a:r>
              <a:rPr sz="600" b="0">
                <a:solidFill>
                  <a:srgbClr val="0F2741"/>
                </a:solidFill>
                <a:latin typeface="Open Sans"/>
              </a:rPr>
              <a:t>IAB Europe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78</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Social media advertising spending in Europe from 2019 to 2021, by format (in billion euros)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Social media ad spend in Europe 2019-2021, by format</a:t>
            </a:r>
          </a:p>
        </p:txBody>
      </p:sp>
    </p:spTree>
  </p:cSld>
  <p:clrMapOvr>
    <a:masterClrMapping/>
  </p:clrMapOvr>
  <p:transition/>
  <p:timing/>
</p:sld>
</file>

<file path=ppt/slides/slide8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6"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5"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Sources</a:t>
            </a:r>
          </a:p>
        </p:txBody>
      </p:sp>
      <p:sp>
        <p:nvSpPr>
          <p:cNvPr id="3"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79</a:t>
            </a:r>
          </a:p>
        </p:txBody>
      </p:sp>
      <p:sp>
        <p:nvSpPr>
          <p:cNvPr id="7" name="New shape" title=""/>
          <p:cNvSpPr/>
          <p:nvPr/>
        </p:nvSpPr>
        <p:spPr>
          <a:xfrm>
            <a:off x="496800" y="188280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Ampere Analysis</a:t>
            </a:r>
          </a:p>
        </p:txBody>
      </p:sp>
      <p:sp>
        <p:nvSpPr>
          <p:cNvPr id="8" name="New shape" title=""/>
          <p:cNvSpPr/>
          <p:nvPr/>
        </p:nvSpPr>
        <p:spPr>
          <a:xfrm>
            <a:off x="496800" y="205274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comScore</a:t>
            </a:r>
          </a:p>
        </p:txBody>
      </p:sp>
      <p:sp>
        <p:nvSpPr>
          <p:cNvPr id="9" name="New shape" title=""/>
          <p:cNvSpPr/>
          <p:nvPr/>
        </p:nvSpPr>
        <p:spPr>
          <a:xfrm>
            <a:off x="496800" y="222268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Cure Media</a:t>
            </a:r>
          </a:p>
        </p:txBody>
      </p:sp>
      <p:sp>
        <p:nvSpPr>
          <p:cNvPr id="10" name="New shape" title=""/>
          <p:cNvSpPr/>
          <p:nvPr/>
        </p:nvSpPr>
        <p:spPr>
          <a:xfrm>
            <a:off x="496800" y="239262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DataReportal</a:t>
            </a:r>
          </a:p>
        </p:txBody>
      </p:sp>
      <p:sp>
        <p:nvSpPr>
          <p:cNvPr id="11" name="New shape" title=""/>
          <p:cNvSpPr/>
          <p:nvPr/>
        </p:nvSpPr>
        <p:spPr>
          <a:xfrm>
            <a:off x="496800" y="256257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Elogia</a:t>
            </a:r>
          </a:p>
        </p:txBody>
      </p:sp>
      <p:sp>
        <p:nvSpPr>
          <p:cNvPr id="12" name="New shape" title=""/>
          <p:cNvSpPr/>
          <p:nvPr/>
        </p:nvSpPr>
        <p:spPr>
          <a:xfrm>
            <a:off x="496800" y="273251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Eurostat</a:t>
            </a:r>
          </a:p>
        </p:txBody>
      </p:sp>
      <p:sp>
        <p:nvSpPr>
          <p:cNvPr id="13" name="New shape" title=""/>
          <p:cNvSpPr/>
          <p:nvPr/>
        </p:nvSpPr>
        <p:spPr>
          <a:xfrm>
            <a:off x="496800" y="290245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Facebook</a:t>
            </a:r>
          </a:p>
        </p:txBody>
      </p:sp>
      <p:sp>
        <p:nvSpPr>
          <p:cNvPr id="14" name="New shape" title=""/>
          <p:cNvSpPr/>
          <p:nvPr/>
        </p:nvSpPr>
        <p:spPr>
          <a:xfrm>
            <a:off x="496800" y="307240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Génération numérique</a:t>
            </a:r>
          </a:p>
        </p:txBody>
      </p:sp>
      <p:sp>
        <p:nvSpPr>
          <p:cNvPr id="15" name="New shape" title=""/>
          <p:cNvSpPr/>
          <p:nvPr/>
        </p:nvSpPr>
        <p:spPr>
          <a:xfrm>
            <a:off x="496800" y="3242345"/>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GfK Media and Communication Research</a:t>
            </a:r>
          </a:p>
        </p:txBody>
      </p:sp>
      <p:sp>
        <p:nvSpPr>
          <p:cNvPr id="16" name="New shape" title=""/>
          <p:cNvSpPr/>
          <p:nvPr/>
        </p:nvSpPr>
        <p:spPr>
          <a:xfrm>
            <a:off x="496800" y="3412288"/>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GWI</a:t>
            </a:r>
          </a:p>
        </p:txBody>
      </p:sp>
      <p:sp>
        <p:nvSpPr>
          <p:cNvPr id="17" name="New shape" title=""/>
          <p:cNvSpPr/>
          <p:nvPr/>
        </p:nvSpPr>
        <p:spPr>
          <a:xfrm>
            <a:off x="496800" y="3582231"/>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Hootsuite</a:t>
            </a:r>
          </a:p>
        </p:txBody>
      </p:sp>
      <p:sp>
        <p:nvSpPr>
          <p:cNvPr id="18" name="New shape" title=""/>
          <p:cNvSpPr/>
          <p:nvPr/>
        </p:nvSpPr>
        <p:spPr>
          <a:xfrm>
            <a:off x="496800" y="3752174"/>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HypeAuditor</a:t>
            </a:r>
          </a:p>
        </p:txBody>
      </p:sp>
      <p:sp>
        <p:nvSpPr>
          <p:cNvPr id="19" name="New shape" title=""/>
          <p:cNvSpPr/>
          <p:nvPr/>
        </p:nvSpPr>
        <p:spPr>
          <a:xfrm>
            <a:off x="496800" y="3922117"/>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IAB Europe</a:t>
            </a:r>
          </a:p>
        </p:txBody>
      </p:sp>
      <p:sp>
        <p:nvSpPr>
          <p:cNvPr id="20" name="New shape" title=""/>
          <p:cNvSpPr/>
          <p:nvPr/>
        </p:nvSpPr>
        <p:spPr>
          <a:xfrm>
            <a:off x="496800" y="409206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IAB Spain</a:t>
            </a:r>
          </a:p>
        </p:txBody>
      </p:sp>
      <p:sp>
        <p:nvSpPr>
          <p:cNvPr id="21" name="New shape" title=""/>
          <p:cNvSpPr/>
          <p:nvPr/>
        </p:nvSpPr>
        <p:spPr>
          <a:xfrm>
            <a:off x="496800" y="426200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IFAK</a:t>
            </a:r>
          </a:p>
        </p:txBody>
      </p:sp>
      <p:sp>
        <p:nvSpPr>
          <p:cNvPr id="22" name="New shape" title=""/>
          <p:cNvSpPr/>
          <p:nvPr/>
        </p:nvSpPr>
        <p:spPr>
          <a:xfrm>
            <a:off x="496800" y="4431947"/>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Internet World Stats</a:t>
            </a:r>
          </a:p>
        </p:txBody>
      </p:sp>
      <p:sp>
        <p:nvSpPr>
          <p:cNvPr id="23" name="New shape" title=""/>
          <p:cNvSpPr/>
          <p:nvPr/>
        </p:nvSpPr>
        <p:spPr>
          <a:xfrm>
            <a:off x="496800" y="460189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Ipsos</a:t>
            </a:r>
          </a:p>
        </p:txBody>
      </p:sp>
      <p:sp>
        <p:nvSpPr>
          <p:cNvPr id="24" name="New shape" title=""/>
          <p:cNvSpPr/>
          <p:nvPr/>
        </p:nvSpPr>
        <p:spPr>
          <a:xfrm>
            <a:off x="496800" y="477183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McKinsey</a:t>
            </a:r>
          </a:p>
        </p:txBody>
      </p:sp>
      <p:sp>
        <p:nvSpPr>
          <p:cNvPr id="25" name="New shape" title=""/>
          <p:cNvSpPr/>
          <p:nvPr/>
        </p:nvSpPr>
        <p:spPr>
          <a:xfrm>
            <a:off x="496800" y="494177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Meltwater</a:t>
            </a:r>
          </a:p>
        </p:txBody>
      </p:sp>
      <p:sp>
        <p:nvSpPr>
          <p:cNvPr id="26" name="New shape" title=""/>
          <p:cNvSpPr/>
          <p:nvPr/>
        </p:nvSpPr>
        <p:spPr>
          <a:xfrm>
            <a:off x="496800" y="511171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Meta Platforms</a:t>
            </a:r>
          </a:p>
        </p:txBody>
      </p:sp>
      <p:sp>
        <p:nvSpPr>
          <p:cNvPr id="27" name="New shape" title=""/>
          <p:cNvSpPr/>
          <p:nvPr/>
        </p:nvSpPr>
        <p:spPr>
          <a:xfrm>
            <a:off x="496800" y="528166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NapoleonCat</a:t>
            </a:r>
          </a:p>
        </p:txBody>
      </p:sp>
      <p:sp>
        <p:nvSpPr>
          <p:cNvPr id="28" name="New shape" title=""/>
          <p:cNvSpPr/>
          <p:nvPr/>
        </p:nvSpPr>
        <p:spPr>
          <a:xfrm>
            <a:off x="496800" y="5451605"/>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OMR</a:t>
            </a:r>
          </a:p>
        </p:txBody>
      </p:sp>
      <p:sp>
        <p:nvSpPr>
          <p:cNvPr id="29" name="New shape" title=""/>
          <p:cNvSpPr/>
          <p:nvPr/>
        </p:nvSpPr>
        <p:spPr>
          <a:xfrm>
            <a:off x="6094800" y="188280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Sky News</a:t>
            </a:r>
          </a:p>
        </p:txBody>
      </p:sp>
      <p:sp>
        <p:nvSpPr>
          <p:cNvPr id="30" name="New shape" title=""/>
          <p:cNvSpPr/>
          <p:nvPr/>
        </p:nvSpPr>
        <p:spPr>
          <a:xfrm>
            <a:off x="6094800" y="205274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StatCounter</a:t>
            </a:r>
          </a:p>
        </p:txBody>
      </p:sp>
      <p:sp>
        <p:nvSpPr>
          <p:cNvPr id="31" name="New shape" title=""/>
          <p:cNvSpPr/>
          <p:nvPr/>
        </p:nvSpPr>
        <p:spPr>
          <a:xfrm>
            <a:off x="6094800" y="222268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Statista</a:t>
            </a:r>
          </a:p>
        </p:txBody>
      </p:sp>
      <p:sp>
        <p:nvSpPr>
          <p:cNvPr id="32" name="New shape" title=""/>
          <p:cNvSpPr/>
          <p:nvPr/>
        </p:nvSpPr>
        <p:spPr>
          <a:xfrm>
            <a:off x="6094800" y="239262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Statista Consumer Insights</a:t>
            </a:r>
          </a:p>
        </p:txBody>
      </p:sp>
      <p:sp>
        <p:nvSpPr>
          <p:cNvPr id="33" name="New shape" title=""/>
          <p:cNvSpPr/>
          <p:nvPr/>
        </p:nvSpPr>
        <p:spPr>
          <a:xfrm>
            <a:off x="6094800" y="256257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Statista Digital Market Insights</a:t>
            </a:r>
          </a:p>
        </p:txBody>
      </p:sp>
      <p:sp>
        <p:nvSpPr>
          <p:cNvPr id="34" name="New shape" title=""/>
          <p:cNvSpPr/>
          <p:nvPr/>
        </p:nvSpPr>
        <p:spPr>
          <a:xfrm>
            <a:off x="6094800" y="273251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TikTok</a:t>
            </a:r>
          </a:p>
        </p:txBody>
      </p:sp>
      <p:sp>
        <p:nvSpPr>
          <p:cNvPr id="35" name="New shape" title=""/>
          <p:cNvSpPr/>
          <p:nvPr/>
        </p:nvSpPr>
        <p:spPr>
          <a:xfrm>
            <a:off x="6094800" y="290245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Toluna Corporate</a:t>
            </a:r>
          </a:p>
        </p:txBody>
      </p:sp>
      <p:sp>
        <p:nvSpPr>
          <p:cNvPr id="36" name="New shape" title=""/>
          <p:cNvSpPr/>
          <p:nvPr/>
        </p:nvSpPr>
        <p:spPr>
          <a:xfrm>
            <a:off x="6094800" y="307240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UPA</a:t>
            </a:r>
          </a:p>
        </p:txBody>
      </p:sp>
      <p:sp>
        <p:nvSpPr>
          <p:cNvPr id="37" name="New shape" title=""/>
          <p:cNvSpPr/>
          <p:nvPr/>
        </p:nvSpPr>
        <p:spPr>
          <a:xfrm>
            <a:off x="6094800" y="3242345"/>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Various sources (@Protecmedia_)</a:t>
            </a:r>
          </a:p>
        </p:txBody>
      </p:sp>
      <p:sp>
        <p:nvSpPr>
          <p:cNvPr id="38" name="New shape" title=""/>
          <p:cNvSpPr/>
          <p:nvPr/>
        </p:nvSpPr>
        <p:spPr>
          <a:xfrm>
            <a:off x="6094800" y="3412288"/>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VuMA</a:t>
            </a:r>
          </a:p>
        </p:txBody>
      </p:sp>
      <p:sp>
        <p:nvSpPr>
          <p:cNvPr id="39" name="New shape" title=""/>
          <p:cNvSpPr/>
          <p:nvPr/>
        </p:nvSpPr>
        <p:spPr>
          <a:xfrm>
            <a:off x="6094800" y="3582231"/>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We Are Social</a:t>
            </a:r>
          </a:p>
        </p:txBody>
      </p:sp>
      <p:sp>
        <p:nvSpPr>
          <p:cNvPr id="40" name="New shape" title=""/>
          <p:cNvSpPr/>
          <p:nvPr/>
        </p:nvSpPr>
        <p:spPr>
          <a:xfrm>
            <a:off x="6094800" y="3752174"/>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Ypulse</a:t>
            </a:r>
          </a:p>
        </p:txBody>
      </p:sp>
    </p:spTree>
  </p:cSld>
  <p:clrMapOvr>
    <a:masterClrMapping/>
  </p:clrMapOvr>
  <p:transition/>
  <p:timing/>
</p:sld>
</file>

<file path=ppt/tags/tag1.xml><?xml version="1.0" encoding="utf-8"?>
<p:tagLst xmlns:p="http://schemas.openxmlformats.org/presentationml/2006/main">
  <p:tag name="AS_NET" val="4.0.30319.42000"/>
  <p:tag name="AS_OS" val="Microsoft Windows NT 6.2.9200.0"/>
  <p:tag name="AS_RELEASE_DATE" val="2022.07.14"/>
  <p:tag name="AS_TITLE" val="Aspose.Slides for .NET 4.0 Client Profile"/>
  <p:tag name="AS_VERSION" val="22.7"/>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resentationFormat>On-screen Show (4:3)</PresentationFormat>
  <Paragraphs>639</Paragraphs>
  <Slides>80</Slides>
  <Notes>0</Notes>
  <TotalTime>1</TotalTime>
  <HiddenSlides>0</HiddenSlides>
  <MMClips>0</MMClips>
  <ScaleCrop>0</ScaleCrop>
  <HeadingPairs>
    <vt:vector baseType="variant" size="6">
      <vt:variant>
        <vt:lpstr>Fonts used</vt:lpstr>
      </vt:variant>
      <vt:variant>
        <vt:i4>4</vt:i4>
      </vt:variant>
      <vt:variant>
        <vt:lpstr>Theme</vt:lpstr>
      </vt:variant>
      <vt:variant>
        <vt:i4>1</vt:i4>
      </vt:variant>
      <vt:variant>
        <vt:lpstr>Slide Titles</vt:lpstr>
      </vt:variant>
      <vt:variant>
        <vt:i4>80</vt:i4>
      </vt:variant>
    </vt:vector>
  </HeadingPairs>
  <TitlesOfParts>
    <vt:vector baseType="lpstr" size="85">
      <vt:lpstr>Arial</vt:lpstr>
      <vt:lpstr>Calibri</vt:lpstr>
      <vt:lpstr>Open Sans</vt:lpstr>
      <vt:lpstr>Open Sans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22.0700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2023-03-28T15:42:27.717</cp:lastPrinted>
  <dcterms:created xsi:type="dcterms:W3CDTF">2023-03-28T13:42:27Z</dcterms:created>
  <dcterms:modified xsi:type="dcterms:W3CDTF">2023-03-28T13:42:28Z</dcterms:modified>
</cp:coreProperties>
</file>