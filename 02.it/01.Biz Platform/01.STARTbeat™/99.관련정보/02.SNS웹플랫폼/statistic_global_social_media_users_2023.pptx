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xlsx" ContentType="application/vnd.openxmlformats-officedocument.spreadsheetml.sheet"/>
  <Default Extension="png" ContentType="image/png"/>
  <Default Extension="emf" ContentType="image/x-emf"/>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Lst>
  <p:sldSz cx="1219212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ags" Target="tags/tag1.xml"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txPr>
              <a:bodyPr/>
              <a:p>
                <a:pPr>
                  <a:defRPr sz="1000" b="0" smtId="4294967295">
                    <a:solidFill>
                      <a:srgbClr val="0F283E"/>
                    </a:solidFill>
                    <a:latin typeface="Open Sans Light"/>
                  </a:defRPr>
                </a:pPr>
                <a:endParaRPr sz="10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000" b="0">
                    <a:solidFill>
                      <a:srgbClr val="0F283E"/>
                    </a:solidFill>
                    <a:latin typeface="Open Sans Light"/>
                  </a:rPr>
                  <a:t>Number of users in billions</a:t>
                </a:r>
              </a:p>
            </c:rich>
          </c:tx>
          <c:overlay val="0"/>
        </c:title>
        <c:numFmt formatCode="#,##0" sourceLinked="0"/>
        <c:majorTickMark val="none"/>
        <c:minorTickMark val="none"/>
        <c:tickLblPos val="low"/>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txPr>
              <a:bodyPr/>
              <a:p>
                <a:pPr>
                  <a:defRPr sz="1000" b="0" smtId="4294967295">
                    <a:solidFill>
                      <a:srgbClr val="0F283E"/>
                    </a:solidFill>
                    <a:latin typeface="Open Sans Light"/>
                  </a:defRPr>
                </a:pPr>
                <a:endParaRPr sz="10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000" b="0">
                    <a:solidFill>
                      <a:srgbClr val="0F283E"/>
                    </a:solidFill>
                    <a:latin typeface="Open Sans Light"/>
                  </a:rPr>
                  <a:t>Number of users in billions</a:t>
                </a:r>
              </a:p>
            </c:rich>
          </c:tx>
          <c:overlay val="0"/>
        </c:title>
        <c:numFmt formatCode="#,##0" sourceLinked="0"/>
        <c:majorTickMark val="none"/>
        <c:minorTickMark val="none"/>
        <c:tickLblPos val="low"/>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txPr>
              <a:bodyPr/>
              <a:p>
                <a:pPr>
                  <a:defRPr sz="1000" b="0" smtId="4294967295">
                    <a:solidFill>
                      <a:srgbClr val="0F283E"/>
                    </a:solidFill>
                    <a:latin typeface="Open Sans Light"/>
                  </a:defRPr>
                </a:pPr>
                <a:endParaRPr sz="10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outEnd"/>
              <c:showLegendKey val="0"/>
              <c:showVal val="1"/>
              <c:showCatName val="0"/>
              <c:showSerName val="0"/>
              <c:showPercent val="0"/>
              <c:showBubbleSize val="0"/>
              <c:extLst/>
            </c:dLbl>
            <c:txPr>
              <a:bodyPr/>
              <a:p>
                <a:pPr>
                  <a:defRPr sz="1000" b="0" smtId="4294967295">
                    <a:solidFill>
                      <a:srgbClr val="0F283E"/>
                    </a:solidFill>
                    <a:latin typeface="Open Sans Light"/>
                  </a:defRPr>
                </a:pPr>
                <a:endParaRPr sz="10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t"/>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t"/>
              <c:showLegendKey val="0"/>
              <c:showVal val="1"/>
              <c:showCatName val="0"/>
              <c:showSerName val="0"/>
              <c:showPercent val="0"/>
              <c:showBubbleSize val="0"/>
              <c:extLst/>
            </c:dLbl>
            <c:txPr>
              <a:bodyPr/>
              <a:p>
                <a:pPr>
                  <a:defRPr sz="800" b="0" smtId="4294967295">
                    <a:solidFill>
                      <a:srgbClr val="0F283E"/>
                    </a:solidFill>
                    <a:latin typeface="Open Sans Light"/>
                  </a:defRPr>
                </a:pPr>
                <a:endParaRPr sz="8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4.7"/>
        </c:scaling>
        <c:delete val="0"/>
        <c:axPos val="l"/>
        <c:majorGridlines>
          <c:spPr>
            <a:ln w="9525">
              <a:solidFill>
                <a:srgbClr val="2F2F2F"/>
              </a:solidFill>
              <a:prstDash val="dot"/>
            </a:ln>
          </c:spPr>
        </c:majorGridlines>
        <c:title>
          <c:tx>
            <c:rich>
              <a:bodyPr/>
              <a:lstStyle/>
              <a:p>
                <a:pPr>
                  <a:defRPr/>
                </a:pPr>
                <a:r>
                  <a:rPr sz="1000" b="0">
                    <a:solidFill>
                      <a:srgbClr val="0F283E"/>
                    </a:solidFill>
                    <a:latin typeface="Open Sans Light"/>
                  </a:rPr>
                  <a:t>Number of users in billions</a:t>
                </a:r>
              </a:p>
            </c:rich>
          </c:tx>
          <c:overlay val="0"/>
        </c:title>
        <c:numFmt formatCode="#,##0.0" sourceLinked="0"/>
        <c:majorTickMark val="none"/>
        <c:minorTickMark val="none"/>
        <c:tickLblPos val="low"/>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800" smtId="4294967295"/>
      </a:pPr>
      <a:endParaRPr sz="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t"/>
              <c:showLegendKey val="0"/>
              <c:showVal val="1"/>
              <c:showCatName val="0"/>
              <c:showSerName val="0"/>
              <c:showPercent val="0"/>
              <c:showBubbleSize val="0"/>
              <c:extLst/>
            </c:dLbl>
            <c:dLbl>
              <c:idx val="1"/>
              <c:numFmt formatCode="#,##0.00" sourceLinked="0"/>
              <c:txPr>
                <a:bodyPr/>
                <a:p>
                  <a:pPr>
                    <a:defRPr sz="1000" b="0" smtId="4294967295">
                      <a:solidFill>
                        <a:srgbClr val="0F283E"/>
                      </a:solidFill>
                      <a:latin typeface="Open Sans Light"/>
                    </a:defRPr>
                  </a:pPr>
                  <a:endParaRPr sz="1000" b="0" smtId="4294967295">
                    <a:solidFill>
                      <a:srgbClr val="0F283E"/>
                    </a:solidFill>
                    <a:latin typeface="Open Sans Light"/>
                  </a:endParaRPr>
                </a:p>
              </c:txPr>
              <c:dLblPos val="t"/>
              <c:showLegendKey val="0"/>
              <c:showVal val="1"/>
              <c:showCatName val="0"/>
              <c:showSerName val="0"/>
              <c:showPercent val="0"/>
              <c:showBubbleSize val="0"/>
              <c:extLst/>
            </c:dLbl>
            <c:txPr>
              <a:bodyPr/>
              <a:p>
                <a:pPr>
                  <a:defRPr sz="800" b="0" smtId="4294967295">
                    <a:solidFill>
                      <a:srgbClr val="0F283E"/>
                    </a:solidFill>
                    <a:latin typeface="Open Sans Light"/>
                  </a:defRPr>
                </a:pPr>
                <a:endParaRPr sz="800" b="0" smtId="4294967295">
                  <a:solidFill>
                    <a:srgbClr val="0F283E"/>
                  </a:solidFill>
                  <a:latin typeface="Open Sans Light"/>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6437120"/>
        <c:crosses val="autoZero"/>
        <c:auto val="0"/>
        <c:lblAlgn val="ctr"/>
        <c:lblOffset/>
        <c:noMultiLvlLbl val="0"/>
      </c:catAx>
      <c:valAx>
        <c:axId val="66437120"/>
        <c:scaling>
          <c:orientation/>
          <c:min val="4.7"/>
        </c:scaling>
        <c:delete val="0"/>
        <c:axPos val="l"/>
        <c:majorGridlines>
          <c:spPr>
            <a:ln w="9525">
              <a:solidFill>
                <a:srgbClr val="2F2F2F"/>
              </a:solidFill>
              <a:prstDash val="dot"/>
            </a:ln>
          </c:spPr>
        </c:majorGridlines>
        <c:title>
          <c:tx>
            <c:rich>
              <a:bodyPr/>
              <a:lstStyle/>
              <a:p>
                <a:pPr>
                  <a:defRPr/>
                </a:pPr>
                <a:r>
                  <a:rPr sz="1000" b="0">
                    <a:solidFill>
                      <a:srgbClr val="0F283E"/>
                    </a:solidFill>
                    <a:latin typeface="Open Sans Light"/>
                  </a:rPr>
                  <a:t>Number of users in billions</a:t>
                </a:r>
              </a:p>
            </c:rich>
          </c:tx>
          <c:overlay val="0"/>
        </c:title>
        <c:numFmt formatCode="#,##0.0" sourceLinked="0"/>
        <c:majorTickMark val="none"/>
        <c:minorTickMark val="none"/>
        <c:tickLblPos val="low"/>
        <c:spPr>
          <a:ln>
            <a:noFill/>
          </a:ln>
        </c:spPr>
        <c:txPr>
          <a:bodyPr/>
          <a:p>
            <a:pPr>
              <a:defRPr sz="1000" b="0" smtId="4294967295">
                <a:solidFill>
                  <a:srgbClr val="0F283E"/>
                </a:solidFill>
                <a:latin typeface="Open Sans Light"/>
              </a:defRPr>
            </a:pPr>
            <a:endParaRPr sz="1000" b="0" smtId="4294967295">
              <a:solidFill>
                <a:srgbClr val="0F283E"/>
              </a:solidFill>
              <a:latin typeface="Open Sans Light"/>
            </a:endParaRPr>
          </a:p>
        </c:txPr>
        <c:crossAx val="67451136"/>
        <c:crosses val="autoZero"/>
        <c:crossBetween val="between"/>
      </c:valAx>
    </c:plotArea>
    <c:plotVisOnly val="1"/>
    <c:dispBlanksAs val="gap"/>
    <c:showDLblsOverMax val="1"/>
  </c:chart>
  <c:txPr>
    <a:bodyPr/>
    <a:p>
      <a:pPr>
        <a:defRPr sz="800" smtId="4294967295"/>
      </a:pPr>
      <a:endParaRPr sz="800" smtId="4294967295"/>
    </a:p>
  </c:txPr>
  <c:externalData r:id="rId1"/>
</c:chartSpace>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8C4EF381-5920-47D2-8F6C-3ADB1FA4A64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10DAB7E7-423E-4624-A35B-56D9CCEC434D}"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A9BA2DE9-DE55-4C13-A7CC-C18CF2B7FD75}"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521D22E2-FFCD-4E83-BB13-3A84CEFF34C2}"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15179930-4C4C-4185-AA8C-DF3654AC7E85}"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FE571818-BC19-4747-982D-33A1216E15C3}"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1981C47F-9396-4FE4-A1D8-B375FF230FEA}"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AFD48150-D34F-46E6-B6AD-F14E94A39540}"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5733DFBA-B98F-42C2-8B6A-CAE39AA93777}"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3DC6D352-FFFA-467D-BF7D-EF269B097C03}"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70957162-8C7E-41E8-9171-81E5E51C20E3}"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emf" /><Relationship Id="rId4" Type="http://schemas.openxmlformats.org/officeDocument/2006/relationships/image" Target="../media/image3.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slide" Target="slide8.xml" TargetMode="Internal"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4.png" /><Relationship Id="rId3" Type="http://schemas.openxmlformats.org/officeDocument/2006/relationships/image" Target="../media/image5.emf" /><Relationship Id="rId4" Type="http://schemas.openxmlformats.org/officeDocument/2006/relationships/hyperlink" Target="http://www.statista.com/statistics/617136/digital-population-worldwide/" TargetMode="Externa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9939600" y="6141600"/>
            <a:ext cx="1501200" cy="306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763200" y="5986800"/>
            <a:ext cx="10692000" cy="324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0" y="0"/>
            <a:ext cx="12204001" cy="43704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4874400"/>
            <a:ext cx="108144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200">
                <a:solidFill>
                  <a:srgbClr val="0F283E"/>
                </a:solidFill>
                <a:latin typeface="Open Sans"/>
              </a:rPr>
              <a:t>Number of internet and social media users worldwide as of January 2023 (in billions)</a:t>
            </a:r>
          </a:p>
        </p:txBody>
      </p:sp>
      <p:sp>
        <p:nvSpPr>
          <p:cNvPr id="3" name="New shape" title=""/>
          <p:cNvSpPr/>
          <p:nvPr/>
        </p:nvSpPr>
        <p:spPr>
          <a:xfrm>
            <a:off x="676800" y="4564800"/>
            <a:ext cx="3186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algn="l">
              <a:lnSpc>
                <a:spcPct val="100000"/>
              </a:lnSpc>
              <a:spcAft>
                <a:spcPct val="20000"/>
              </a:spcAft>
            </a:pPr>
            <a:r>
              <a:rPr sz="1400" b="1">
                <a:solidFill>
                  <a:srgbClr val="0A85E6"/>
                </a:solidFill>
                <a:latin typeface="Open Sans"/>
              </a:rPr>
              <a:t>DEMOGRAPHICS &amp; USE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8"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1882800"/>
          <a:ext cx="10742400" cy="4104000"/>
        </p:xfrm>
        <a:graphic>
          <a:graphicData uri="http://schemas.openxmlformats.org/drawingml/2006/chart">
            <c:chart xmlns:c="http://schemas.openxmlformats.org/drawingml/2006/chart" r:id="rId6"/>
          </a:graphicData>
        </a:graphic>
      </p:graphicFrame>
      <p:sp>
        <p:nvSpPr>
          <p:cNvPr id="6"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2</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1882800"/>
          <a:ext cx="7158000" cy="4104000"/>
        </p:xfrm>
        <a:graphic>
          <a:graphicData uri="http://schemas.openxmlformats.org/drawingml/2006/chart">
            <c:chart xmlns:c="http://schemas.openxmlformats.org/drawingml/2006/chart" r:id="rId6"/>
          </a:graphicData>
        </a:graphic>
      </p:graphicFrame>
      <p:sp>
        <p:nvSpPr>
          <p:cNvPr id="6" name="New shape" title=""/>
          <p:cNvSpPr/>
          <p:nvPr/>
        </p:nvSpPr>
        <p:spPr>
          <a:xfrm>
            <a:off x="7982400" y="1882800"/>
            <a:ext cx="3424140" cy="410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lstStyle/>
          <a:p>
            <a:pPr algn="l">
              <a:spcAft>
                <a:spcPct val="20000"/>
              </a:spcAft>
            </a:pPr>
            <a:r>
              <a:rPr sz="1000" b="1">
                <a:solidFill>
                  <a:srgbClr val="0F283E"/>
                </a:solidFill>
                <a:latin typeface="Open Sans Light"/>
              </a:rPr>
              <a:t>Your Headline</a:t>
            </a:r>
          </a:p>
          <a:p>
            <a:pPr algn="l"/>
            <a:r>
              <a:rPr sz="800">
                <a:solidFill>
                  <a:srgbClr val="0F283E"/>
                </a:solidFill>
                <a:latin typeface="Open Sans Light"/>
              </a:rPr>
              <a:t>Your Notes:</a:t>
            </a:r>
          </a:p>
        </p:txBody>
      </p:sp>
      <p:sp>
        <p:nvSpPr>
          <p:cNvPr id="7" name="New shape" title=""/>
          <p:cNvSpPr/>
          <p:nvPr/>
        </p:nvSpPr>
        <p:spPr>
          <a:xfrm flipH="1">
            <a:off x="7928400" y="1882800"/>
            <a:ext cx="0" cy="4104000"/>
          </a:xfrm>
          <a:prstGeom prst="rect">
            <a:avLst/>
          </a:prstGeom>
          <a:solidFill>
            <a:srgbClr val="0F283E"/>
          </a:solidFill>
          <a:ln w="6350">
            <a:solidFill>
              <a:srgbClr val="0F2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3</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9"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2086000"/>
          <a:ext cx="10742400" cy="3900800"/>
        </p:xfrm>
        <a:graphic>
          <a:graphicData uri="http://schemas.openxmlformats.org/drawingml/2006/chart">
            <c:chart xmlns:c="http://schemas.openxmlformats.org/drawingml/2006/chart" r:id="rId6"/>
          </a:graphicData>
        </a:graphic>
      </p:graphicFrame>
      <p:sp>
        <p:nvSpPr>
          <p:cNvPr id="6" name="New shape" title=""/>
          <p:cNvSpPr/>
          <p:nvPr/>
        </p:nvSpPr>
        <p:spPr>
          <a:xfrm>
            <a:off x="4822450" y="1882800"/>
            <a:ext cx="2451100"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000">
                <a:solidFill>
                  <a:srgbClr val="0F283E"/>
                </a:solidFill>
                <a:latin typeface="Open Sans Light"/>
              </a:rPr>
              <a:t>Number of users in billions</a:t>
            </a:r>
          </a:p>
        </p:txBody>
      </p:sp>
      <p:sp>
        <p:nvSpPr>
          <p:cNvPr id="7"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4</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2086000"/>
          <a:ext cx="7158000" cy="3900800"/>
        </p:xfrm>
        <a:graphic>
          <a:graphicData uri="http://schemas.openxmlformats.org/drawingml/2006/chart">
            <c:chart xmlns:c="http://schemas.openxmlformats.org/drawingml/2006/chart" r:id="rId6"/>
          </a:graphicData>
        </a:graphic>
      </p:graphicFrame>
      <p:sp>
        <p:nvSpPr>
          <p:cNvPr id="6" name="New shape" title=""/>
          <p:cNvSpPr/>
          <p:nvPr/>
        </p:nvSpPr>
        <p:spPr>
          <a:xfrm>
            <a:off x="3030250" y="1882800"/>
            <a:ext cx="2451100" cy="20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000">
                <a:solidFill>
                  <a:srgbClr val="0F283E"/>
                </a:solidFill>
                <a:latin typeface="Open Sans Light"/>
              </a:rPr>
              <a:t>Number of users in billions</a:t>
            </a:r>
          </a:p>
        </p:txBody>
      </p:sp>
      <p:sp>
        <p:nvSpPr>
          <p:cNvPr id="7" name="New shape" title=""/>
          <p:cNvSpPr/>
          <p:nvPr/>
        </p:nvSpPr>
        <p:spPr>
          <a:xfrm>
            <a:off x="7982400" y="1882800"/>
            <a:ext cx="3424140" cy="410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lstStyle/>
          <a:p>
            <a:pPr algn="l">
              <a:spcAft>
                <a:spcPct val="20000"/>
              </a:spcAft>
            </a:pPr>
            <a:r>
              <a:rPr sz="1000" b="1">
                <a:solidFill>
                  <a:srgbClr val="0F283E"/>
                </a:solidFill>
                <a:latin typeface="Open Sans Light"/>
              </a:rPr>
              <a:t>Your Headline</a:t>
            </a:r>
          </a:p>
          <a:p>
            <a:pPr algn="l"/>
            <a:r>
              <a:rPr sz="800">
                <a:solidFill>
                  <a:srgbClr val="0F283E"/>
                </a:solidFill>
                <a:latin typeface="Open Sans Light"/>
              </a:rPr>
              <a:t>Your Notes:</a:t>
            </a:r>
          </a:p>
        </p:txBody>
      </p:sp>
      <p:sp>
        <p:nvSpPr>
          <p:cNvPr id="8" name="New shape" title=""/>
          <p:cNvSpPr/>
          <p:nvPr/>
        </p:nvSpPr>
        <p:spPr>
          <a:xfrm flipH="1">
            <a:off x="7928400" y="1882800"/>
            <a:ext cx="0" cy="4104000"/>
          </a:xfrm>
          <a:prstGeom prst="rect">
            <a:avLst/>
          </a:prstGeom>
          <a:solidFill>
            <a:srgbClr val="0F283E"/>
          </a:solidFill>
          <a:ln w="6350">
            <a:solidFill>
              <a:srgbClr val="0F2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5</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8"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1882800"/>
          <a:ext cx="10742400" cy="4104000"/>
        </p:xfrm>
        <a:graphic>
          <a:graphicData uri="http://schemas.openxmlformats.org/drawingml/2006/chart">
            <c:chart xmlns:c="http://schemas.openxmlformats.org/drawingml/2006/chart" r:id="rId6"/>
          </a:graphicData>
        </a:graphic>
      </p:graphicFrame>
      <p:sp>
        <p:nvSpPr>
          <p:cNvPr id="6"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6</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sp>
        <p:nvSpPr>
          <p:cNvPr id="4" name="New shape" title=""/>
          <p:cNvSpPr/>
          <p:nvPr/>
        </p:nvSpPr>
        <p:spPr>
          <a:xfrm>
            <a:off x="1044000" y="5986800"/>
            <a:ext cx="8280000" cy="73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800" b="1">
                <a:solidFill>
                  <a:srgbClr val="555555"/>
                </a:solidFill>
                <a:latin typeface="Open Sans"/>
              </a:rPr>
              <a:t>Note(s):</a:t>
            </a:r>
            <a:r>
              <a:rPr sz="800">
                <a:solidFill>
                  <a:srgbClr val="555555"/>
                </a:solidFill>
                <a:latin typeface="Open Sans"/>
              </a:rPr>
              <a:t> Worldwide; January 2023; social media users may not represent unique individuals</a:t>
            </a:r>
          </a:p>
          <a:p>
            <a:pPr algn="l"/>
            <a:r>
              <a:rPr sz="800">
                <a:solidFill>
                  <a:srgbClr val="555555"/>
                </a:solidFill>
                <a:latin typeface="Open Sans"/>
              </a:rPr>
              <a:t>Further information regarding this statistic can be found on </a:t>
            </a:r>
            <a:r>
              <a:rPr sz="800">
                <a:solidFill>
                  <a:srgbClr val="555555"/>
                </a:solidFill>
                <a:latin typeface="Open Sans"/>
                <a:hlinkClick r:id="rId4" action="ppaction://hlinksldjump">
                  <a:extLst>
                    <a:ext uri="{A12FA001-AC4F-418D-AE19-62706E023703}">
                      <ahyp:hlinkClr xmlns:ahyp="http://schemas.microsoft.com/office/drawing/2018/hyperlinkcolor" val="tx"/>
                    </a:ext>
                  </a:extLst>
                </a:hlinkClick>
              </a:rPr>
              <a:t>page 8</a:t>
            </a:r>
            <a:r>
              <a:rPr sz="800">
                <a:solidFill>
                  <a:srgbClr val="555555"/>
                </a:solidFill>
                <a:latin typeface="Open Sans"/>
              </a:rPr>
              <a:t>.</a:t>
            </a:r>
          </a:p>
          <a:p>
            <a:pPr algn="l"/>
            <a:r>
              <a:rPr sz="800" b="1">
                <a:solidFill>
                  <a:srgbClr val="555555"/>
                </a:solidFill>
                <a:latin typeface="Open Sans"/>
              </a:rPr>
              <a:t>Source(s): </a:t>
            </a:r>
            <a:r>
              <a:rPr sz="800">
                <a:solidFill>
                  <a:srgbClr val="555555"/>
                </a:solidFill>
                <a:latin typeface="Open Sans"/>
              </a:rPr>
              <a:t>We Are Social; DataReportal; Meltwater; </a:t>
            </a:r>
            <a:r>
              <a:rPr sz="800">
                <a:solidFill>
                  <a:srgbClr val="555555"/>
                </a:solidFill>
                <a:latin typeface="Open Sans"/>
                <a:hlinkClick r:id="rId5">
                  <a:extLst>
                    <a:ext uri="{A12FA001-AC4F-418D-AE19-62706E023703}">
                      <ahyp:hlinkClr xmlns:ahyp="http://schemas.microsoft.com/office/drawing/2018/hyperlinkcolor" val="tx"/>
                    </a:ext>
                  </a:extLst>
                </a:hlinkClick>
              </a:rPr>
              <a:t>ID 617136</a:t>
            </a:r>
          </a:p>
        </p:txBody>
      </p:sp>
      <p:graphicFrame>
        <p:nvGraphicFramePr>
          <p:cNvPr id="5" name="ChartObject" title=""/>
          <p:cNvGraphicFramePr/>
          <p:nvPr/>
        </p:nvGraphicFramePr>
        <p:xfrm>
          <a:off x="676800" y="1882800"/>
          <a:ext cx="7158000" cy="4104000"/>
        </p:xfrm>
        <a:graphic>
          <a:graphicData uri="http://schemas.openxmlformats.org/drawingml/2006/chart">
            <c:chart xmlns:c="http://schemas.openxmlformats.org/drawingml/2006/chart" r:id="rId6"/>
          </a:graphicData>
        </a:graphic>
      </p:graphicFrame>
      <p:sp>
        <p:nvSpPr>
          <p:cNvPr id="6" name="New shape" title=""/>
          <p:cNvSpPr/>
          <p:nvPr/>
        </p:nvSpPr>
        <p:spPr>
          <a:xfrm>
            <a:off x="7982400" y="1882800"/>
            <a:ext cx="3424140" cy="410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lstStyle/>
          <a:p>
            <a:pPr algn="l">
              <a:spcAft>
                <a:spcPct val="20000"/>
              </a:spcAft>
            </a:pPr>
            <a:r>
              <a:rPr sz="1000" b="1">
                <a:solidFill>
                  <a:srgbClr val="0F283E"/>
                </a:solidFill>
                <a:latin typeface="Open Sans Light"/>
              </a:rPr>
              <a:t>Your Headline</a:t>
            </a:r>
          </a:p>
          <a:p>
            <a:pPr algn="l"/>
            <a:r>
              <a:rPr sz="800">
                <a:solidFill>
                  <a:srgbClr val="0F283E"/>
                </a:solidFill>
                <a:latin typeface="Open Sans Light"/>
              </a:rPr>
              <a:t>Your Notes:</a:t>
            </a:r>
          </a:p>
        </p:txBody>
      </p:sp>
      <p:sp>
        <p:nvSpPr>
          <p:cNvPr id="7" name="New shape" title=""/>
          <p:cNvSpPr/>
          <p:nvPr/>
        </p:nvSpPr>
        <p:spPr>
          <a:xfrm flipH="1">
            <a:off x="7928400" y="1882800"/>
            <a:ext cx="0" cy="4104000"/>
          </a:xfrm>
          <a:prstGeom prst="rect">
            <a:avLst/>
          </a:prstGeom>
          <a:solidFill>
            <a:srgbClr val="0F283E"/>
          </a:solidFill>
          <a:ln w="6350">
            <a:solidFill>
              <a:srgbClr val="0F2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7</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9" name="New shape" title=""/>
          <p:cNvSpPr/>
          <p:nvPr/>
        </p:nvSpPr>
        <p:spPr>
          <a:xfrm>
            <a:off x="10868400" y="6465600"/>
            <a:ext cx="752400" cy="1548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63200" y="6465600"/>
            <a:ext cx="219600" cy="399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676800" y="630000"/>
            <a:ext cx="10836000" cy="58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65000" lnSpcReduction="20000"/>
          </a:bodyPr>
          <a:lstStyle/>
          <a:p>
            <a:pPr algn="l">
              <a:lnSpc>
                <a:spcPct val="100000"/>
              </a:lnSpc>
              <a:spcAft>
                <a:spcPct val="20000"/>
              </a:spcAft>
            </a:pPr>
            <a:r>
              <a:rPr sz="3200">
                <a:solidFill>
                  <a:srgbClr val="0A85E6"/>
                </a:solidFill>
                <a:latin typeface="Open Sans Light"/>
              </a:rPr>
              <a:t>Number of internet and social media users worldwide as of January 2023 (in billions)</a:t>
            </a:r>
          </a:p>
        </p:txBody>
      </p:sp>
      <p:sp>
        <p:nvSpPr>
          <p:cNvPr id="3" name="New shape" title=""/>
          <p:cNvSpPr/>
          <p:nvPr/>
        </p:nvSpPr>
        <p:spPr>
          <a:xfrm>
            <a:off x="676800" y="1231200"/>
            <a:ext cx="10836000" cy="32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lnSpcReduction="20000"/>
          </a:bodyPr>
          <a:lstStyle/>
          <a:p>
            <a:pPr algn="l">
              <a:lnSpc>
                <a:spcPct val="100000"/>
              </a:lnSpc>
              <a:spcAft>
                <a:spcPct val="20000"/>
              </a:spcAft>
            </a:pPr>
            <a:r>
              <a:rPr sz="1600">
                <a:solidFill>
                  <a:srgbClr val="919191"/>
                </a:solidFill>
                <a:latin typeface="Open Sans"/>
              </a:rPr>
              <a:t>Worldwide digital population 2023</a:t>
            </a:r>
          </a:p>
        </p:txBody>
      </p:sp>
      <p:graphicFrame>
        <p:nvGraphicFramePr>
          <p:cNvPr id="4" name="New Table" title=""/>
          <p:cNvGraphicFramePr>
            <a:graphicFrameLocks noGrp="1"/>
          </p:cNvGraphicFramePr>
          <p:nvPr/>
        </p:nvGraphicFramePr>
        <p:xfrm>
          <a:off x="676800" y="1882800"/>
          <a:ext cx="5334000" cy="2804160"/>
        </p:xfrm>
        <a:graphic>
          <a:graphicData uri="http://schemas.openxmlformats.org/drawingml/2006/table">
            <a:tbl>
              <a:tblPr firstRow="1" bandRow="1">
                <a:tableStyleId>{5C22544A-7EE6-4342-B048-85BDC9FD1C3A}</a:tableStyleId>
              </a:tblPr>
              <a:tblGrid>
                <a:gridCol w="1778000"/>
                <a:gridCol w="3556000"/>
              </a:tblGrid>
              <a:tr h="0">
                <a:tc gridSpan="2">
                  <a:txBody>
                    <a:bodyPr/>
                    <a:lstStyle/>
                    <a:p>
                      <a:pPr algn="l"/>
                      <a:r>
                        <a:rPr sz="1000" b="1">
                          <a:solidFill>
                            <a:srgbClr val="0F283E"/>
                          </a:solidFill>
                          <a:latin typeface="Open Sans Light"/>
                        </a:rPr>
                        <a:t>Source and methodology information</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hMerge="1">
                  <a:txBody>
                    <a:bodyPr/>
                    <a:lstStyle/>
                    <a:p/>
                  </a:txBody>
                  <a:tcPr>
                    <a:lnL>
                      <a:solidFill>
                        <a:srgbClr val="FFFFFF">
                          <a:alpha val="0"/>
                        </a:srgbClr>
                      </a:solidFill>
                    </a:lnL>
                    <a:lnB>
                      <a:solidFill>
                        <a:srgbClr val="FFFFFF">
                          <a:alpha val="0"/>
                        </a:srgbClr>
                      </a:solidFill>
                    </a:lnB>
                  </a:tcPr>
                </a:tc>
              </a:tr>
              <a:tr h="0">
                <a:tc>
                  <a:txBody>
                    <a:bodyPr/>
                    <a:lstStyle/>
                    <a:p>
                      <a:r>
                        <a:rPr sz="800">
                          <a:solidFill>
                            <a:srgbClr val="0F283E"/>
                          </a:solidFill>
                          <a:latin typeface="Open Sans Light"/>
                        </a:rPr>
                        <a:t>Source(s)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We Are Social</a:t>
                      </a:r>
                      <a:r>
                        <a:rPr sz="800">
                          <a:solidFill>
                            <a:srgbClr val="0F283E"/>
                          </a:solidFill>
                          <a:latin typeface="Open Sans Light"/>
                        </a:rPr>
                        <a:t>; </a:t>
                      </a:r>
                      <a:r>
                        <a:rPr sz="800">
                          <a:solidFill>
                            <a:srgbClr val="0F283E"/>
                          </a:solidFill>
                          <a:latin typeface="Open Sans Light"/>
                        </a:rPr>
                        <a:t>DataReportal</a:t>
                      </a:r>
                      <a:r>
                        <a:rPr sz="800">
                          <a:solidFill>
                            <a:srgbClr val="0F283E"/>
                          </a:solidFill>
                          <a:latin typeface="Open Sans Light"/>
                        </a:rPr>
                        <a:t>; </a:t>
                      </a:r>
                      <a:r>
                        <a:rPr sz="800">
                          <a:solidFill>
                            <a:srgbClr val="0F283E"/>
                          </a:solidFill>
                          <a:latin typeface="Open Sans Light"/>
                        </a:rPr>
                        <a:t>Meltwater</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Conducted by</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DataReportal</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Survey period</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January 2023</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Region(s)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Worldwide</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Number of respondents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i="1">
                          <a:solidFill>
                            <a:srgbClr val="0F283E"/>
                          </a:solidFill>
                          <a:latin typeface="Open Sans Light"/>
                        </a:rPr>
                        <a:t>n.a.</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Age group</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i="1">
                          <a:solidFill>
                            <a:srgbClr val="0F283E"/>
                          </a:solidFill>
                          <a:latin typeface="Open Sans Light"/>
                        </a:rPr>
                        <a:t>n.a.</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Special characteristics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social media users may not represent unique individuals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Published by</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DataReportal</a:t>
                      </a:r>
                      <a:r>
                        <a:rPr sz="800">
                          <a:solidFill>
                            <a:srgbClr val="0F283E"/>
                          </a:solidFill>
                          <a:latin typeface="Open Sans Light"/>
                        </a:rPr>
                        <a:t>; </a:t>
                      </a:r>
                      <a:r>
                        <a:rPr sz="800">
                          <a:solidFill>
                            <a:srgbClr val="0F283E"/>
                          </a:solidFill>
                          <a:latin typeface="Open Sans Light"/>
                        </a:rPr>
                        <a:t>Meltwater</a:t>
                      </a:r>
                      <a:r>
                        <a:rPr sz="800">
                          <a:solidFill>
                            <a:srgbClr val="0F283E"/>
                          </a:solidFill>
                          <a:latin typeface="Open Sans Light"/>
                        </a:rPr>
                        <a:t>; </a:t>
                      </a:r>
                      <a:r>
                        <a:rPr sz="800">
                          <a:solidFill>
                            <a:srgbClr val="0F283E"/>
                          </a:solidFill>
                          <a:latin typeface="Open Sans Light"/>
                        </a:rPr>
                        <a:t>We Are Social</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Publication date</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January 2023</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Original source</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rPr>
                        <a:t>Digital 2023: Global Overview Report, page 10</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Website URL</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a:solidFill>
                            <a:srgbClr val="0F283E"/>
                          </a:solidFill>
                          <a:latin typeface="Open Sans Light"/>
                          <a:hlinkClick r:id="rId4"/>
                        </a:rPr>
                        <a:t>visit the website</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r h="0">
                <a:tc>
                  <a:txBody>
                    <a:bodyPr/>
                    <a:lstStyle/>
                    <a:p>
                      <a:r>
                        <a:rPr sz="800">
                          <a:solidFill>
                            <a:srgbClr val="0F283E"/>
                          </a:solidFill>
                          <a:latin typeface="Open Sans Light"/>
                        </a:rPr>
                        <a:t>Notes:</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c>
                  <a:txBody>
                    <a:bodyPr/>
                    <a:lstStyle/>
                    <a:p>
                      <a:r>
                        <a:rPr sz="800" i="1">
                          <a:solidFill>
                            <a:srgbClr val="0F283E"/>
                          </a:solidFill>
                          <a:latin typeface="Open Sans Light"/>
                        </a:rPr>
                        <a:t>n.a.</a:t>
                      </a:r>
                    </a:p>
                  </a:txBody>
                  <a:tcPr>
                    <a:lnL>
                      <a:solidFill>
                        <a:srgbClr val="FFFFFF">
                          <a:alpha val="0"/>
                        </a:srgbClr>
                      </a:solidFill>
                    </a:lnL>
                    <a:lnR>
                      <a:solidFill>
                        <a:srgbClr val="FFFFFF">
                          <a:alpha val="0"/>
                        </a:srgbClr>
                      </a:solidFill>
                    </a:lnR>
                    <a:lnT>
                      <a:solidFill>
                        <a:srgbClr val="FFFFFF">
                          <a:alpha val="0"/>
                        </a:srgbClr>
                      </a:solidFill>
                    </a:lnT>
                    <a:lnB>
                      <a:solidFill>
                        <a:srgbClr val="FFFFFF">
                          <a:alpha val="0"/>
                        </a:srgbClr>
                      </a:solidFill>
                    </a:lnB>
                    <a:solidFill>
                      <a:srgbClr val="FFFFFF">
                        <a:alpha val="0"/>
                      </a:srgbClr>
                    </a:solidFill>
                  </a:tcPr>
                </a:tc>
              </a:tr>
            </a:tbl>
          </a:graphicData>
        </a:graphic>
      </p:graphicFrame>
      <p:sp>
        <p:nvSpPr>
          <p:cNvPr id="5" name="New shape" title=""/>
          <p:cNvSpPr/>
          <p:nvPr/>
        </p:nvSpPr>
        <p:spPr>
          <a:xfrm>
            <a:off x="6138000" y="1882800"/>
            <a:ext cx="5281200" cy="410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lstStyle/>
          <a:p>
            <a:pPr algn="l">
              <a:lnSpc>
                <a:spcPct val="1200"/>
              </a:lnSpc>
              <a:spcAft>
                <a:spcPct val="20000"/>
              </a:spcAft>
            </a:pPr>
            <a:r>
              <a:rPr sz="1000" b="1">
                <a:solidFill>
                  <a:srgbClr val="0F283E"/>
                </a:solidFill>
                <a:latin typeface="Open Sans Light"/>
              </a:rPr>
              <a:t>Description</a:t>
            </a:r>
          </a:p>
          <a:p>
            <a:pPr algn="l"/>
            <a:endParaRPr sz="800">
              <a:solidFill>
                <a:srgbClr val="0F283E"/>
              </a:solidFill>
              <a:latin typeface="Open Sans Light"/>
            </a:endParaRPr>
          </a:p>
          <a:p>
            <a:pPr algn="l"/>
            <a:r>
              <a:rPr sz="800">
                <a:solidFill>
                  <a:srgbClr val="0F283E"/>
                </a:solidFill>
                <a:latin typeface="Open Sans Light"/>
              </a:rPr>
              <a:t>As of January 2023, there were 5.16 billion internet users worldwide, which is 64.4 percent of the global population. Of this total, 4.76 billion, or 59.4 percent of the world's population, were social media users.
</a:t>
            </a:r>
          </a:p>
          <a:p>
            <a:pPr algn="l"/>
            <a:r>
              <a:rPr sz="800">
                <a:solidFill>
                  <a:srgbClr val="0F283E"/>
                </a:solidFill>
                <a:latin typeface="Open Sans Light"/>
              </a:rPr>
              <a:t>
</a:t>
            </a:r>
          </a:p>
          <a:p>
            <a:pPr algn="l"/>
            <a:r>
              <a:rPr sz="800">
                <a:solidFill>
                  <a:srgbClr val="0F283E"/>
                </a:solidFill>
                <a:latin typeface="Open Sans Light"/>
              </a:rPr>
              <a:t> Global internet usage 
</a:t>
            </a:r>
          </a:p>
          <a:p>
            <a:pPr algn="l"/>
            <a:r>
              <a:rPr sz="800">
                <a:solidFill>
                  <a:srgbClr val="0F283E"/>
                </a:solidFill>
                <a:latin typeface="Open Sans Light"/>
              </a:rPr>
              <a:t>It is now impossible to imagine a world without the internet. Connecting billions of people worldwide, the internet is a core pillar of the modern information society. Northern Europe 269329 ranked first by the share of the population using the internet in 2023. In Ireland, Norway, Saudi Arabia, and the United Arab Emirates, 99 percent of the population used the internet as of January 2023. 227082 At the opposite end of the spectrum is North Korea with virtually no online usage penetration among the general population , ranking last worldwide.
</a:t>
            </a:r>
          </a:p>
          <a:p>
            <a:pPr algn="l"/>
            <a:r>
              <a:rPr sz="800">
                <a:solidFill>
                  <a:srgbClr val="0F283E"/>
                </a:solidFill>
                <a:latin typeface="Open Sans Light"/>
              </a:rPr>
              <a:t> 
</a:t>
            </a:r>
          </a:p>
          <a:p>
            <a:pPr algn="l"/>
            <a:r>
              <a:rPr sz="800">
                <a:solidFill>
                  <a:srgbClr val="0F283E"/>
                </a:solidFill>
                <a:latin typeface="Open Sans Light"/>
              </a:rPr>
              <a:t>As of 2022, Asia was home to the biggest number of online users worldwide – over 2.9 billion at the latest count. Europe ranked second with around 750 million internet users. China, India, and the United States rank ahead of all other countries by the number of internet users.
</a:t>
            </a:r>
          </a:p>
          <a:p>
            <a:pPr algn="l"/>
            <a:r>
              <a:rPr sz="800">
                <a:solidFill>
                  <a:srgbClr val="0F283E"/>
                </a:solidFill>
                <a:latin typeface="Open Sans Light"/>
              </a:rPr>
              <a:t>
</a:t>
            </a:r>
          </a:p>
          <a:p>
            <a:pPr algn="l"/>
            <a:r>
              <a:rPr sz="800">
                <a:solidFill>
                  <a:srgbClr val="0F283E"/>
                </a:solidFill>
                <a:latin typeface="Open Sans Light"/>
              </a:rPr>
              <a:t> Worldwide internet user demographics 
</a:t>
            </a:r>
          </a:p>
          <a:p>
            <a:pPr algn="l"/>
            <a:r>
              <a:rPr sz="800">
                <a:solidFill>
                  <a:srgbClr val="0F283E"/>
                </a:solidFill>
                <a:latin typeface="Open Sans Light"/>
              </a:rPr>
              <a:t>
</a:t>
            </a:r>
          </a:p>
          <a:p>
            <a:pPr algn="l"/>
            <a:r>
              <a:rPr sz="800">
                <a:solidFill>
                  <a:srgbClr val="0F283E"/>
                </a:solidFill>
                <a:latin typeface="Open Sans Light"/>
              </a:rPr>
              <a:t>As of 2022, the share of female internet users worldwide was 63 percent, six percent less than that of men. Gender disparity in internet usage was bigger in the Arab States and Africa, with around a ten percent difference. Worldwide regions, like the Commonwealth of Independent States and Europe, showed a smaller gender gap. As of 2022, global internet usage was higher among individuals between 15 and 24 years across all regions , with young people in Europe representing the most significant usage penetration, 98 percent. In comparison, the worldwide average for the age group 15-24 years was 75 percent. The income level of the countries was also an essential factor for internet access, as 92 percent of the population of the countries with high-income reportedly used the internet, as opposed to only 26 percent of the low-income markets.</a:t>
            </a:r>
            <a:endParaRPr sz="800" i="1">
              <a:solidFill>
                <a:srgbClr val="0F283E"/>
              </a:solidFill>
              <a:latin typeface="Open Sans Light"/>
            </a:endParaRPr>
          </a:p>
        </p:txBody>
      </p:sp>
      <p:sp>
        <p:nvSpPr>
          <p:cNvPr id="6" name="New shape" title=""/>
          <p:cNvSpPr/>
          <p:nvPr/>
        </p:nvSpPr>
        <p:spPr>
          <a:xfrm flipH="1">
            <a:off x="6048000" y="1882800"/>
            <a:ext cx="0" cy="4104000"/>
          </a:xfrm>
          <a:prstGeom prst="rect">
            <a:avLst/>
          </a:prstGeom>
          <a:solidFill>
            <a:srgbClr val="0F283E"/>
          </a:solidFill>
          <a:ln w="6350">
            <a:solidFill>
              <a:srgbClr val="0F2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New shape" title=""/>
          <p:cNvSpPr/>
          <p:nvPr/>
        </p:nvSpPr>
        <p:spPr>
          <a:xfrm>
            <a:off x="637200" y="6494400"/>
            <a:ext cx="457200" cy="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ctr">
              <a:spcAft>
                <a:spcPct val="20000"/>
              </a:spcAft>
            </a:pPr>
            <a:r>
              <a:rPr sz="1000">
                <a:solidFill>
                  <a:srgbClr val="FFFFFF"/>
                </a:solidFill>
                <a:latin typeface="Open Sans"/>
              </a:rPr>
              <a:t>8</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60</Paragraphs>
  <Slides>8</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8</vt:i4>
      </vt:variant>
    </vt:vector>
  </HeadingPairs>
  <TitlesOfParts>
    <vt:vector baseType="lpstr" size="13">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2023-03-27T00:14:17.138</cp:lastPrinted>
  <dcterms:created xsi:type="dcterms:W3CDTF">2023-03-26T22:14:17Z</dcterms:created>
  <dcterms:modified xsi:type="dcterms:W3CDTF">2023-03-26T22:14:17Z</dcterms:modified>
</cp:coreProperties>
</file>