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 id="332" r:id="rId39"/>
    <p:sldId id="334" r:id="rId40"/>
    <p:sldId id="336" r:id="rId41"/>
    <p:sldId id="338" r:id="rId42"/>
    <p:sldId id="340" r:id="rId43"/>
    <p:sldId id="342" r:id="rId44"/>
    <p:sldId id="344" r:id="rId45"/>
    <p:sldId id="346" r:id="rId46"/>
    <p:sldId id="348" r:id="rId47"/>
    <p:sldId id="350" r:id="rId48"/>
    <p:sldId id="352" r:id="rId49"/>
    <p:sldId id="354" r:id="rId50"/>
    <p:sldId id="356" r:id="rId51"/>
    <p:sldId id="358" r:id="rId52"/>
    <p:sldId id="360" r:id="rId53"/>
    <p:sldId id="362" r:id="rId54"/>
    <p:sldId id="364" r:id="rId55"/>
    <p:sldId id="366" r:id="rId56"/>
    <p:sldId id="368" r:id="rId57"/>
    <p:sldId id="370" r:id="rId58"/>
    <p:sldId id="372" r:id="rId59"/>
    <p:sldId id="374" r:id="rId60"/>
    <p:sldId id="376" r:id="rId61"/>
    <p:sldId id="378" r:id="rId62"/>
    <p:sldId id="380" r:id="rId63"/>
    <p:sldId id="382" r:id="rId64"/>
    <p:sldId id="384" r:id="rId65"/>
    <p:sldId id="386" r:id="rId66"/>
    <p:sldId id="388" r:id="rId67"/>
    <p:sldId id="390" r:id="rId68"/>
    <p:sldId id="392" r:id="rId69"/>
    <p:sldId id="394" r:id="rId70"/>
    <p:sldId id="396" r:id="rId71"/>
    <p:sldId id="398" r:id="rId72"/>
    <p:sldId id="400" r:id="rId73"/>
    <p:sldId id="402" r:id="rId74"/>
    <p:sldId id="404" r:id="rId75"/>
    <p:sldId id="406" r:id="rId76"/>
    <p:sldId id="408" r:id="rId77"/>
    <p:sldId id="410" r:id="rId78"/>
    <p:sldId id="412" r:id="rId79"/>
    <p:sldId id="414" r:id="rId80"/>
    <p:sldId id="416" r:id="rId81"/>
    <p:sldId id="418" r:id="rId82"/>
    <p:sldId id="420" r:id="rId83"/>
    <p:sldId id="422" r:id="rId84"/>
    <p:sldId id="424" r:id="rId85"/>
    <p:sldId id="426" r:id="rId86"/>
    <p:sldId id="428" r:id="rId87"/>
    <p:sldId id="430" r:id="rId88"/>
    <p:sldId id="432" r:id="rId89"/>
    <p:sldId id="434" r:id="rId90"/>
    <p:sldId id="436" r:id="rId91"/>
  </p:sldIdLst>
  <p:sldSz cx="12192000" cy="6858000"/>
  <p:notesSz cx="6858000" cy="9144000"/>
  <p:custDataLst>
    <p:tags r:id="rId9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p:restoredTop sz="0"/>
  </p:normalViewPr>
  <p:slideViewPr>
    <p:cSldViewPr>
      <p:cViewPr varScale="1">
        <p:scale>
          <a:sx n="130" d="100"/>
          <a:sy n="130" d="100"/>
        </p:scale>
        <p:origin x="125" y="298"/>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 Jaehoon" userId="966c597570e402b5" providerId="LiveId" clId="{0DC75F7B-08EA-4801-992A-00A49B2DC082}"/>
    <pc:docChg chg="undo custSel modSld">
      <pc:chgData name="Jang Jaehoon" userId="966c597570e402b5" providerId="LiveId" clId="{0DC75F7B-08EA-4801-992A-00A49B2DC082}" dt="2023-04-06T08:56:13.626" v="5" actId="1076"/>
      <pc:docMkLst>
        <pc:docMk/>
      </pc:docMkLst>
      <pc:sldChg chg="modSp mod">
        <pc:chgData name="Jang Jaehoon" userId="966c597570e402b5" providerId="LiveId" clId="{0DC75F7B-08EA-4801-992A-00A49B2DC082}" dt="2023-04-06T08:56:13.626" v="5" actId="1076"/>
        <pc:sldMkLst>
          <pc:docMk/>
          <pc:sldMk cId="0" sldId="268"/>
        </pc:sldMkLst>
        <pc:graphicFrameChg chg="mod">
          <ac:chgData name="Jang Jaehoon" userId="966c597570e402b5" providerId="LiveId" clId="{0DC75F7B-08EA-4801-992A-00A49B2DC082}" dt="2023-04-06T08:56:13.626" v="5" actId="1076"/>
          <ac:graphicFrameMkLst>
            <pc:docMk/>
            <pc:sldMk cId="0" sldId="268"/>
            <ac:graphicFrameMk id="4"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63.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64.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65.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66.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72.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7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3972-49FD-A4F6-3F3F7C946B8E}"/>
                </c:ext>
              </c:extLst>
            </c:dLbl>
            <c:dLbl>
              <c:idx val="1"/>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972-49FD-A4F6-3F3F7C946B8E}"/>
                </c:ext>
              </c:extLst>
            </c:dLbl>
            <c:dLbl>
              <c:idx val="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3972-49FD-A4F6-3F3F7C946B8E}"/>
                </c:ext>
              </c:extLst>
            </c:dLbl>
            <c:dLbl>
              <c:idx val="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3972-49FD-A4F6-3F3F7C946B8E}"/>
                </c:ext>
              </c:extLst>
            </c:dLbl>
            <c:dLbl>
              <c:idx val="4"/>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3972-49FD-A4F6-3F3F7C946B8E}"/>
                </c:ext>
              </c:extLst>
            </c:dLbl>
            <c:dLbl>
              <c:idx val="5"/>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3972-49FD-A4F6-3F3F7C946B8E}"/>
                </c:ext>
              </c:extLst>
            </c:dLbl>
            <c:dLbl>
              <c:idx val="6"/>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3972-49FD-A4F6-3F3F7C946B8E}"/>
                </c:ext>
              </c:extLst>
            </c:dLbl>
            <c:dLbl>
              <c:idx val="7"/>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3972-49FD-A4F6-3F3F7C946B8E}"/>
                </c:ext>
              </c:extLst>
            </c:dLbl>
            <c:dLbl>
              <c:idx val="8"/>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3972-49FD-A4F6-3F3F7C946B8E}"/>
                </c:ext>
              </c:extLst>
            </c:dLbl>
            <c:dLbl>
              <c:idx val="9"/>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3972-49FD-A4F6-3F3F7C946B8E}"/>
                </c:ext>
              </c:extLst>
            </c:dLbl>
            <c:dLbl>
              <c:idx val="1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3972-49FD-A4F6-3F3F7C946B8E}"/>
                </c:ext>
              </c:extLst>
            </c:dLbl>
            <c:dLbl>
              <c:idx val="1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3972-49FD-A4F6-3F3F7C946B8E}"/>
                </c:ext>
              </c:extLst>
            </c:dLbl>
            <c:dLbl>
              <c:idx val="1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3972-49FD-A4F6-3F3F7C946B8E}"/>
                </c:ext>
              </c:extLst>
            </c:dLbl>
            <c:dLbl>
              <c:idx val="1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3972-49FD-A4F6-3F3F7C946B8E}"/>
                </c:ext>
              </c:extLst>
            </c:dLbl>
            <c:dLbl>
              <c:idx val="14"/>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3972-49FD-A4F6-3F3F7C946B8E}"/>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UAE</c:v>
                </c:pt>
                <c:pt idx="1">
                  <c:v>South Korea</c:v>
                </c:pt>
                <c:pt idx="2">
                  <c:v>Hong Kong</c:v>
                </c:pt>
                <c:pt idx="3">
                  <c:v>Netherlands</c:v>
                </c:pt>
                <c:pt idx="4">
                  <c:v>Canada</c:v>
                </c:pt>
                <c:pt idx="5">
                  <c:v>Spain</c:v>
                </c:pt>
                <c:pt idx="6">
                  <c:v>Germany</c:v>
                </c:pt>
                <c:pt idx="7">
                  <c:v>Singapore</c:v>
                </c:pt>
                <c:pt idx="8">
                  <c:v>Norway</c:v>
                </c:pt>
                <c:pt idx="9">
                  <c:v>Taiwan</c:v>
                </c:pt>
                <c:pt idx="10">
                  <c:v>UK</c:v>
                </c:pt>
                <c:pt idx="11">
                  <c:v>Chile</c:v>
                </c:pt>
                <c:pt idx="12">
                  <c:v>Denmark</c:v>
                </c:pt>
                <c:pt idx="13">
                  <c:v>Switzerland</c:v>
                </c:pt>
                <c:pt idx="14">
                  <c:v>Sweden</c:v>
                </c:pt>
              </c:strCache>
            </c:strRef>
          </c:cat>
          <c:val>
            <c:numRef>
              <c:f>Sheet1!$B$2:$B$16</c:f>
              <c:numCache>
                <c:formatCode>General</c:formatCode>
                <c:ptCount val="15"/>
                <c:pt idx="0">
                  <c:v>1.0549999999999999</c:v>
                </c:pt>
                <c:pt idx="1">
                  <c:v>0.92</c:v>
                </c:pt>
                <c:pt idx="2">
                  <c:v>0.89900000000000002</c:v>
                </c:pt>
                <c:pt idx="3">
                  <c:v>0.88100000000000001</c:v>
                </c:pt>
                <c:pt idx="4">
                  <c:v>0.85699999999999998</c:v>
                </c:pt>
                <c:pt idx="5">
                  <c:v>0.85599999999999998</c:v>
                </c:pt>
                <c:pt idx="6">
                  <c:v>0.85099999999999998</c:v>
                </c:pt>
                <c:pt idx="7">
                  <c:v>0.84699999999999998</c:v>
                </c:pt>
                <c:pt idx="8">
                  <c:v>0.84699999999999998</c:v>
                </c:pt>
                <c:pt idx="9">
                  <c:v>0.84499999999999997</c:v>
                </c:pt>
                <c:pt idx="10">
                  <c:v>0.84399999999999997</c:v>
                </c:pt>
                <c:pt idx="11">
                  <c:v>0.84399999999999997</c:v>
                </c:pt>
                <c:pt idx="12">
                  <c:v>0.83799999999999997</c:v>
                </c:pt>
                <c:pt idx="13">
                  <c:v>0.83099999999999996</c:v>
                </c:pt>
                <c:pt idx="14">
                  <c:v>0.82199999999999995</c:v>
                </c:pt>
              </c:numCache>
            </c:numRef>
          </c:val>
          <c:extLst>
            <c:ext xmlns:c16="http://schemas.microsoft.com/office/drawing/2014/chart" uri="{C3380CC4-5D6E-409C-BE32-E72D297353CC}">
              <c16:uniqueId val="{0000000F-3972-49FD-A4F6-3F3F7C946B8E}"/>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11"/>
            <c:invertIfNegative val="0"/>
            <c:bubble3D val="0"/>
            <c:spPr>
              <a:solidFill>
                <a:srgbClr val="C0C0C0"/>
              </a:solidFill>
            </c:spPr>
            <c:extLst>
              <c:ext xmlns:c16="http://schemas.microsoft.com/office/drawing/2014/chart" uri="{C3380CC4-5D6E-409C-BE32-E72D297353CC}">
                <c16:uniqueId val="{00000001-1F1B-41E1-B128-36EDF1AF4D7D}"/>
              </c:ext>
            </c:extLst>
          </c:dPt>
          <c:dLbls>
            <c:dLbl>
              <c:idx val="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F1B-41E1-B128-36EDF1AF4D7D}"/>
                </c:ext>
              </c:extLst>
            </c:dLbl>
            <c:dLbl>
              <c:idx val="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F1B-41E1-B128-36EDF1AF4D7D}"/>
                </c:ext>
              </c:extLst>
            </c:dLbl>
            <c:dLbl>
              <c:idx val="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1F1B-41E1-B128-36EDF1AF4D7D}"/>
                </c:ext>
              </c:extLst>
            </c:dLbl>
            <c:dLbl>
              <c:idx val="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1F1B-41E1-B128-36EDF1AF4D7D}"/>
                </c:ext>
              </c:extLst>
            </c:dLbl>
            <c:dLbl>
              <c:idx val="4"/>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1F1B-41E1-B128-36EDF1AF4D7D}"/>
                </c:ext>
              </c:extLst>
            </c:dLbl>
            <c:dLbl>
              <c:idx val="5"/>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1F1B-41E1-B128-36EDF1AF4D7D}"/>
                </c:ext>
              </c:extLst>
            </c:dLbl>
            <c:dLbl>
              <c:idx val="6"/>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1F1B-41E1-B128-36EDF1AF4D7D}"/>
                </c:ext>
              </c:extLst>
            </c:dLbl>
            <c:dLbl>
              <c:idx val="7"/>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1F1B-41E1-B128-36EDF1AF4D7D}"/>
                </c:ext>
              </c:extLst>
            </c:dLbl>
            <c:dLbl>
              <c:idx val="8"/>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1F1B-41E1-B128-36EDF1AF4D7D}"/>
                </c:ext>
              </c:extLst>
            </c:dLbl>
            <c:dLbl>
              <c:idx val="9"/>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1F1B-41E1-B128-36EDF1AF4D7D}"/>
                </c:ext>
              </c:extLst>
            </c:dLbl>
            <c:dLbl>
              <c:idx val="10"/>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1F1B-41E1-B128-36EDF1AF4D7D}"/>
                </c:ext>
              </c:extLst>
            </c:dLbl>
            <c:dLbl>
              <c:idx val="1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F1B-41E1-B128-36EDF1AF4D7D}"/>
                </c:ext>
              </c:extLst>
            </c:dLbl>
            <c:dLbl>
              <c:idx val="1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1F1B-41E1-B128-36EDF1AF4D7D}"/>
                </c:ext>
              </c:extLst>
            </c:dLbl>
            <c:dLbl>
              <c:idx val="1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1F1B-41E1-B128-36EDF1AF4D7D}"/>
                </c:ext>
              </c:extLst>
            </c:dLbl>
            <c:dLbl>
              <c:idx val="14"/>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1F1B-41E1-B128-36EDF1AF4D7D}"/>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Northern Europe</c:v>
                </c:pt>
                <c:pt idx="1">
                  <c:v>Western Europe</c:v>
                </c:pt>
                <c:pt idx="2">
                  <c:v>Southern Europe</c:v>
                </c:pt>
                <c:pt idx="3">
                  <c:v>Northern America</c:v>
                </c:pt>
                <c:pt idx="4">
                  <c:v>Eastern Asia</c:v>
                </c:pt>
                <c:pt idx="5">
                  <c:v>Southern America</c:v>
                </c:pt>
                <c:pt idx="6">
                  <c:v>Eastern Europe</c:v>
                </c:pt>
                <c:pt idx="7">
                  <c:v>Central America</c:v>
                </c:pt>
                <c:pt idx="8">
                  <c:v>Southeastern Asia</c:v>
                </c:pt>
                <c:pt idx="9">
                  <c:v>Western Asia</c:v>
                </c:pt>
                <c:pt idx="10">
                  <c:v>Oceania</c:v>
                </c:pt>
                <c:pt idx="11">
                  <c:v>Global</c:v>
                </c:pt>
                <c:pt idx="12">
                  <c:v>Caribbean</c:v>
                </c:pt>
                <c:pt idx="13">
                  <c:v>Northern Africa</c:v>
                </c:pt>
                <c:pt idx="14">
                  <c:v>Southern Africa</c:v>
                </c:pt>
              </c:strCache>
            </c:strRef>
          </c:cat>
          <c:val>
            <c:numRef>
              <c:f>Sheet1!$B$2:$B$16</c:f>
              <c:numCache>
                <c:formatCode>General</c:formatCode>
                <c:ptCount val="15"/>
                <c:pt idx="0">
                  <c:v>0.83599999999999997</c:v>
                </c:pt>
                <c:pt idx="1">
                  <c:v>0.83299999999999996</c:v>
                </c:pt>
                <c:pt idx="2">
                  <c:v>0.76700000000000002</c:v>
                </c:pt>
                <c:pt idx="3">
                  <c:v>0.73899999999999999</c:v>
                </c:pt>
                <c:pt idx="4">
                  <c:v>0.72</c:v>
                </c:pt>
                <c:pt idx="5">
                  <c:v>0.71299999999999997</c:v>
                </c:pt>
                <c:pt idx="6">
                  <c:v>0.70499999999999996</c:v>
                </c:pt>
                <c:pt idx="7">
                  <c:v>0.67500000000000004</c:v>
                </c:pt>
                <c:pt idx="8">
                  <c:v>0.63700000000000001</c:v>
                </c:pt>
                <c:pt idx="9">
                  <c:v>0.63600000000000001</c:v>
                </c:pt>
                <c:pt idx="10">
                  <c:v>0.62</c:v>
                </c:pt>
                <c:pt idx="11">
                  <c:v>0.59399999999999997</c:v>
                </c:pt>
                <c:pt idx="12">
                  <c:v>0.50600000000000001</c:v>
                </c:pt>
                <c:pt idx="13">
                  <c:v>0.48799999999999999</c:v>
                </c:pt>
                <c:pt idx="14">
                  <c:v>0.41299999999999998</c:v>
                </c:pt>
              </c:numCache>
            </c:numRef>
          </c:val>
          <c:extLst>
            <c:ext xmlns:c16="http://schemas.microsoft.com/office/drawing/2014/chart" uri="{C3380CC4-5D6E-409C-BE32-E72D297353CC}">
              <c16:uniqueId val="{00000010-1F1B-41E1-B128-36EDF1AF4D7D}"/>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2027*</c:v>
                </c:pt>
              </c:strCache>
            </c:strRef>
          </c:tx>
          <c:spPr>
            <a:solidFill>
              <a:srgbClr val="0F283E"/>
            </a:solidFill>
            <a:ln>
              <a:solidFill>
                <a:srgbClr val="0F283E"/>
              </a:solidFill>
            </a:ln>
          </c:spPr>
          <c:invertIfNegative val="0"/>
          <c:dLbls>
            <c:dLbl>
              <c:idx val="0"/>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A12A-4065-9C32-B513A1866653}"/>
                </c:ext>
              </c:extLst>
            </c:dLbl>
            <c:dLbl>
              <c:idx val="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A12A-4065-9C32-B513A1866653}"/>
                </c:ext>
              </c:extLst>
            </c:dLbl>
            <c:dLbl>
              <c:idx val="2"/>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A12A-4065-9C32-B513A1866653}"/>
                </c:ext>
              </c:extLst>
            </c:dLbl>
            <c:dLbl>
              <c:idx val="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A12A-4065-9C32-B513A1866653}"/>
                </c:ext>
              </c:extLst>
            </c:dLbl>
            <c:dLbl>
              <c:idx val="4"/>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A12A-4065-9C32-B513A1866653}"/>
                </c:ext>
              </c:extLst>
            </c:dLbl>
            <c:dLbl>
              <c:idx val="5"/>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A12A-4065-9C32-B513A1866653}"/>
                </c:ext>
              </c:extLst>
            </c:dLbl>
            <c:dLbl>
              <c:idx val="6"/>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A12A-4065-9C32-B513A1866653}"/>
                </c:ext>
              </c:extLst>
            </c:dLbl>
            <c:dLbl>
              <c:idx val="7"/>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A12A-4065-9C32-B513A1866653}"/>
                </c:ext>
              </c:extLst>
            </c:dLbl>
            <c:dLbl>
              <c:idx val="8"/>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A12A-4065-9C32-B513A1866653}"/>
                </c:ext>
              </c:extLst>
            </c:dLbl>
            <c:dLbl>
              <c:idx val="9"/>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A12A-4065-9C32-B513A1866653}"/>
                </c:ext>
              </c:extLst>
            </c:dLbl>
            <c:dLbl>
              <c:idx val="10"/>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A12A-4065-9C32-B513A1866653}"/>
                </c:ext>
              </c:extLst>
            </c:dLbl>
            <c:dLbl>
              <c:idx val="11"/>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A12A-4065-9C32-B513A1866653}"/>
                </c:ext>
              </c:extLst>
            </c:dLbl>
            <c:dLbl>
              <c:idx val="12"/>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A12A-4065-9C32-B513A1866653}"/>
                </c:ext>
              </c:extLst>
            </c:dLbl>
            <c:dLbl>
              <c:idx val="13"/>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A12A-4065-9C32-B513A1866653}"/>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Sheet1!$A$2:$A$15</c:f>
              <c:strCache>
                <c:ptCount val="14"/>
                <c:pt idx="0">
                  <c:v>China</c:v>
                </c:pt>
                <c:pt idx="1">
                  <c:v>India</c:v>
                </c:pt>
                <c:pt idx="2">
                  <c:v>United States</c:v>
                </c:pt>
                <c:pt idx="3">
                  <c:v>Indonesia</c:v>
                </c:pt>
                <c:pt idx="4">
                  <c:v>Brazil</c:v>
                </c:pt>
                <c:pt idx="5">
                  <c:v>Russia</c:v>
                </c:pt>
                <c:pt idx="6">
                  <c:v>Japan</c:v>
                </c:pt>
                <c:pt idx="7">
                  <c:v>Mexico</c:v>
                </c:pt>
                <c:pt idx="8">
                  <c:v>Philippines</c:v>
                </c:pt>
                <c:pt idx="9">
                  <c:v>Vietnam</c:v>
                </c:pt>
                <c:pt idx="10">
                  <c:v>Turkey</c:v>
                </c:pt>
                <c:pt idx="11">
                  <c:v>United Kingdom</c:v>
                </c:pt>
                <c:pt idx="12">
                  <c:v>Germany</c:v>
                </c:pt>
                <c:pt idx="13">
                  <c:v>Thailand</c:v>
                </c:pt>
              </c:strCache>
            </c:strRef>
          </c:cat>
          <c:val>
            <c:numRef>
              <c:f>Sheet1!$B$2:$B$15</c:f>
              <c:numCache>
                <c:formatCode>General</c:formatCode>
                <c:ptCount val="14"/>
                <c:pt idx="0">
                  <c:v>1212.3800000000001</c:v>
                </c:pt>
                <c:pt idx="1">
                  <c:v>1177.5</c:v>
                </c:pt>
                <c:pt idx="2">
                  <c:v>327.22000000000003</c:v>
                </c:pt>
                <c:pt idx="3">
                  <c:v>261.7</c:v>
                </c:pt>
                <c:pt idx="4">
                  <c:v>188.35</c:v>
                </c:pt>
                <c:pt idx="5">
                  <c:v>126.37</c:v>
                </c:pt>
                <c:pt idx="6">
                  <c:v>113.03</c:v>
                </c:pt>
                <c:pt idx="7">
                  <c:v>122.07</c:v>
                </c:pt>
                <c:pt idx="8">
                  <c:v>92.68</c:v>
                </c:pt>
                <c:pt idx="9">
                  <c:v>81.63</c:v>
                </c:pt>
                <c:pt idx="10">
                  <c:v>76.58</c:v>
                </c:pt>
                <c:pt idx="11">
                  <c:v>65.23</c:v>
                </c:pt>
                <c:pt idx="12">
                  <c:v>73.150000000000006</c:v>
                </c:pt>
                <c:pt idx="13">
                  <c:v>59.32</c:v>
                </c:pt>
              </c:numCache>
            </c:numRef>
          </c:val>
          <c:extLst>
            <c:ext xmlns:c16="http://schemas.microsoft.com/office/drawing/2014/chart" uri="{C3380CC4-5D6E-409C-BE32-E72D297353CC}">
              <c16:uniqueId val="{0000000E-A12A-4065-9C32-B513A1866653}"/>
            </c:ext>
          </c:extLst>
        </c:ser>
        <c:ser>
          <c:idx val="1"/>
          <c:order val="1"/>
          <c:tx>
            <c:strRef>
              <c:f>Sheet1!$C$1</c:f>
              <c:strCache>
                <c:ptCount val="1"/>
                <c:pt idx="0">
                  <c:v>2022</c:v>
                </c:pt>
              </c:strCache>
            </c:strRef>
          </c:tx>
          <c:spPr>
            <a:solidFill>
              <a:srgbClr val="2875DD"/>
            </a:solidFill>
            <a:ln>
              <a:solidFill>
                <a:srgbClr val="2875DD"/>
              </a:solidFill>
            </a:ln>
          </c:spPr>
          <c:invertIfNegative val="0"/>
          <c:dLbls>
            <c:dLbl>
              <c:idx val="0"/>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A12A-4065-9C32-B513A1866653}"/>
                </c:ext>
              </c:extLst>
            </c:dLbl>
            <c:dLbl>
              <c:idx val="1"/>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A12A-4065-9C32-B513A1866653}"/>
                </c:ext>
              </c:extLst>
            </c:dLbl>
            <c:dLbl>
              <c:idx val="2"/>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1-A12A-4065-9C32-B513A1866653}"/>
                </c:ext>
              </c:extLst>
            </c:dLbl>
            <c:dLbl>
              <c:idx val="3"/>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2-A12A-4065-9C32-B513A1866653}"/>
                </c:ext>
              </c:extLst>
            </c:dLbl>
            <c:dLbl>
              <c:idx val="4"/>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3-A12A-4065-9C32-B513A1866653}"/>
                </c:ext>
              </c:extLst>
            </c:dLbl>
            <c:dLbl>
              <c:idx val="5"/>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4-A12A-4065-9C32-B513A1866653}"/>
                </c:ext>
              </c:extLst>
            </c:dLbl>
            <c:dLbl>
              <c:idx val="6"/>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5-A12A-4065-9C32-B513A1866653}"/>
                </c:ext>
              </c:extLst>
            </c:dLbl>
            <c:dLbl>
              <c:idx val="7"/>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6-A12A-4065-9C32-B513A1866653}"/>
                </c:ext>
              </c:extLst>
            </c:dLbl>
            <c:dLbl>
              <c:idx val="8"/>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7-A12A-4065-9C32-B513A1866653}"/>
                </c:ext>
              </c:extLst>
            </c:dLbl>
            <c:dLbl>
              <c:idx val="9"/>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8-A12A-4065-9C32-B513A1866653}"/>
                </c:ext>
              </c:extLst>
            </c:dLbl>
            <c:dLbl>
              <c:idx val="10"/>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9-A12A-4065-9C32-B513A1866653}"/>
                </c:ext>
              </c:extLst>
            </c:dLbl>
            <c:dLbl>
              <c:idx val="11"/>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A-A12A-4065-9C32-B513A1866653}"/>
                </c:ext>
              </c:extLst>
            </c:dLbl>
            <c:dLbl>
              <c:idx val="12"/>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B-A12A-4065-9C32-B513A1866653}"/>
                </c:ext>
              </c:extLst>
            </c:dLbl>
            <c:dLbl>
              <c:idx val="13"/>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C-A12A-4065-9C32-B513A1866653}"/>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Sheet1!$A$2:$A$15</c:f>
              <c:strCache>
                <c:ptCount val="14"/>
                <c:pt idx="0">
                  <c:v>China</c:v>
                </c:pt>
                <c:pt idx="1">
                  <c:v>India</c:v>
                </c:pt>
                <c:pt idx="2">
                  <c:v>United States</c:v>
                </c:pt>
                <c:pt idx="3">
                  <c:v>Indonesia</c:v>
                </c:pt>
                <c:pt idx="4">
                  <c:v>Brazil</c:v>
                </c:pt>
                <c:pt idx="5">
                  <c:v>Russia</c:v>
                </c:pt>
                <c:pt idx="6">
                  <c:v>Japan</c:v>
                </c:pt>
                <c:pt idx="7">
                  <c:v>Mexico</c:v>
                </c:pt>
                <c:pt idx="8">
                  <c:v>Philippines</c:v>
                </c:pt>
                <c:pt idx="9">
                  <c:v>Vietnam</c:v>
                </c:pt>
                <c:pt idx="10">
                  <c:v>Turkey</c:v>
                </c:pt>
                <c:pt idx="11">
                  <c:v>United Kingdom</c:v>
                </c:pt>
                <c:pt idx="12">
                  <c:v>Germany</c:v>
                </c:pt>
                <c:pt idx="13">
                  <c:v>Thailand</c:v>
                </c:pt>
              </c:strCache>
            </c:strRef>
          </c:cat>
          <c:val>
            <c:numRef>
              <c:f>Sheet1!$C$2:$C$15</c:f>
              <c:numCache>
                <c:formatCode>General</c:formatCode>
                <c:ptCount val="14"/>
                <c:pt idx="0">
                  <c:v>1021.96</c:v>
                </c:pt>
                <c:pt idx="1">
                  <c:v>755.47</c:v>
                </c:pt>
                <c:pt idx="2">
                  <c:v>302.25</c:v>
                </c:pt>
                <c:pt idx="3">
                  <c:v>217.53</c:v>
                </c:pt>
                <c:pt idx="4">
                  <c:v>165.45</c:v>
                </c:pt>
                <c:pt idx="5">
                  <c:v>115.05</c:v>
                </c:pt>
                <c:pt idx="6">
                  <c:v>101.98</c:v>
                </c:pt>
                <c:pt idx="7">
                  <c:v>98.21</c:v>
                </c:pt>
                <c:pt idx="8">
                  <c:v>84.07</c:v>
                </c:pt>
                <c:pt idx="9">
                  <c:v>72.290000000000006</c:v>
                </c:pt>
                <c:pt idx="10">
                  <c:v>67.11</c:v>
                </c:pt>
                <c:pt idx="11">
                  <c:v>61.67</c:v>
                </c:pt>
                <c:pt idx="12">
                  <c:v>60.88</c:v>
                </c:pt>
                <c:pt idx="13">
                  <c:v>56.27</c:v>
                </c:pt>
              </c:numCache>
            </c:numRef>
          </c:val>
          <c:extLst>
            <c:ext xmlns:c16="http://schemas.microsoft.com/office/drawing/2014/chart" uri="{C3380CC4-5D6E-409C-BE32-E72D297353CC}">
              <c16:uniqueId val="{0000001D-A12A-4065-9C32-B513A1866653}"/>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132D-4779-9652-37D7E5972DBA}"/>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32D-4779-9652-37D7E5972DBA}"/>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32D-4779-9652-37D7E5972DBA}"/>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32D-4779-9652-37D7E5972DBA}"/>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132D-4779-9652-37D7E5972DBA}"/>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132D-4779-9652-37D7E5972DBA}"/>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132D-4779-9652-37D7E5972DBA}"/>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132D-4779-9652-37D7E5972DBA}"/>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132D-4779-9652-37D7E5972DBA}"/>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132D-4779-9652-37D7E5972DBA}"/>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2019</c:v>
                </c:pt>
                <c:pt idx="1">
                  <c:v>2020</c:v>
                </c:pt>
                <c:pt idx="2">
                  <c:v>2021</c:v>
                </c:pt>
                <c:pt idx="3">
                  <c:v>2022</c:v>
                </c:pt>
                <c:pt idx="4">
                  <c:v>2023</c:v>
                </c:pt>
                <c:pt idx="5">
                  <c:v>2024</c:v>
                </c:pt>
                <c:pt idx="6">
                  <c:v>2025</c:v>
                </c:pt>
                <c:pt idx="7">
                  <c:v>2026</c:v>
                </c:pt>
                <c:pt idx="8">
                  <c:v>2027</c:v>
                </c:pt>
                <c:pt idx="9">
                  <c:v>2028</c:v>
                </c:pt>
              </c:numCache>
            </c:numRef>
          </c:cat>
          <c:val>
            <c:numRef>
              <c:f>Sheet1!$B$2:$B$11</c:f>
              <c:numCache>
                <c:formatCode>General</c:formatCode>
                <c:ptCount val="10"/>
                <c:pt idx="0">
                  <c:v>278.35000000000002</c:v>
                </c:pt>
                <c:pt idx="1">
                  <c:v>288.02999999999997</c:v>
                </c:pt>
                <c:pt idx="2">
                  <c:v>295.48</c:v>
                </c:pt>
                <c:pt idx="3">
                  <c:v>302.25</c:v>
                </c:pt>
                <c:pt idx="4">
                  <c:v>308.27</c:v>
                </c:pt>
                <c:pt idx="5">
                  <c:v>313.68</c:v>
                </c:pt>
                <c:pt idx="6">
                  <c:v>318.58</c:v>
                </c:pt>
                <c:pt idx="7">
                  <c:v>323.07</c:v>
                </c:pt>
                <c:pt idx="8">
                  <c:v>327.22000000000003</c:v>
                </c:pt>
                <c:pt idx="9">
                  <c:v>331.09</c:v>
                </c:pt>
              </c:numCache>
            </c:numRef>
          </c:val>
          <c:extLst>
            <c:ext xmlns:c16="http://schemas.microsoft.com/office/drawing/2014/chart" uri="{C3380CC4-5D6E-409C-BE32-E72D297353CC}">
              <c16:uniqueId val="{0000000A-132D-4779-9652-37D7E5972DBA}"/>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lang="en-US"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545-46B1-AE4C-B36E3239CFB1}"/>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545-46B1-AE4C-B36E3239CFB1}"/>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545-46B1-AE4C-B36E3239CFB1}"/>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545-46B1-AE4C-B36E3239CFB1}"/>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545-46B1-AE4C-B36E3239CFB1}"/>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545-46B1-AE4C-B36E3239CFB1}"/>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2545-46B1-AE4C-B36E3239CFB1}"/>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2545-46B1-AE4C-B36E3239CFB1}"/>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2545-46B1-AE4C-B36E3239CFB1}"/>
                </c:ext>
              </c:extLst>
            </c:dLbl>
            <c:dLbl>
              <c:idx val="9"/>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2545-46B1-AE4C-B36E3239CFB1}"/>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Sheet1!$A$2:$A$11</c:f>
              <c:strCache>
                <c:ptCount val="10"/>
                <c:pt idx="0">
                  <c:v>2018</c:v>
                </c:pt>
                <c:pt idx="1">
                  <c:v>2019</c:v>
                </c:pt>
                <c:pt idx="2">
                  <c:v>2020</c:v>
                </c:pt>
                <c:pt idx="3">
                  <c:v>2021</c:v>
                </c:pt>
                <c:pt idx="4">
                  <c:v>2022</c:v>
                </c:pt>
                <c:pt idx="5">
                  <c:v>2023*</c:v>
                </c:pt>
                <c:pt idx="6">
                  <c:v>2024*</c:v>
                </c:pt>
                <c:pt idx="7">
                  <c:v>2025*</c:v>
                </c:pt>
                <c:pt idx="8">
                  <c:v>2026*</c:v>
                </c:pt>
                <c:pt idx="9">
                  <c:v>2027*</c:v>
                </c:pt>
              </c:strCache>
            </c:strRef>
          </c:cat>
          <c:val>
            <c:numRef>
              <c:f>Sheet1!$B$2:$B$11</c:f>
              <c:numCache>
                <c:formatCode>General</c:formatCode>
                <c:ptCount val="10"/>
                <c:pt idx="0">
                  <c:v>0.82</c:v>
                </c:pt>
                <c:pt idx="1">
                  <c:v>0.84</c:v>
                </c:pt>
                <c:pt idx="2">
                  <c:v>0.87</c:v>
                </c:pt>
                <c:pt idx="3">
                  <c:v>0.88</c:v>
                </c:pt>
                <c:pt idx="4">
                  <c:v>0.9</c:v>
                </c:pt>
                <c:pt idx="5">
                  <c:v>0.91</c:v>
                </c:pt>
                <c:pt idx="6">
                  <c:v>0.92</c:v>
                </c:pt>
                <c:pt idx="7">
                  <c:v>0.93</c:v>
                </c:pt>
                <c:pt idx="8">
                  <c:v>0.94</c:v>
                </c:pt>
                <c:pt idx="9">
                  <c:v>0.95</c:v>
                </c:pt>
              </c:numCache>
            </c:numRef>
          </c:val>
          <c:extLst>
            <c:ext xmlns:c16="http://schemas.microsoft.com/office/drawing/2014/chart" uri="{C3380CC4-5D6E-409C-BE32-E72D297353CC}">
              <c16:uniqueId val="{0000000A-2545-46B1-AE4C-B36E3239CFB1}"/>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BAC1-4338-8C07-5EA111C0023B}"/>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BAC1-4338-8C07-5EA111C0023B}"/>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BAC1-4338-8C07-5EA111C0023B}"/>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BAC1-4338-8C07-5EA111C0023B}"/>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BAC1-4338-8C07-5EA111C0023B}"/>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BAC1-4338-8C07-5EA111C0023B}"/>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BAC1-4338-8C07-5EA111C0023B}"/>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BAC1-4338-8C07-5EA111C0023B}"/>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BAC1-4338-8C07-5EA111C0023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Sheet1!$A$2:$A$10</c:f>
              <c:strCache>
                <c:ptCount val="9"/>
                <c:pt idx="0">
                  <c:v>Social networks (e.g. Facebook)</c:v>
                </c:pt>
                <c:pt idx="1">
                  <c:v>Media sharing (e.g. Snapchat, Instagram, YouTube, Pinterest)</c:v>
                </c:pt>
                <c:pt idx="2">
                  <c:v>Instant messengers (e.g. WhatsApp, Facebook Messenger, WeChat)</c:v>
                </c:pt>
                <c:pt idx="3">
                  <c:v>(Micro-)blogging (e.g. Twitter, Tumblr, WordPress)</c:v>
                </c:pt>
                <c:pt idx="4">
                  <c:v>Business networks (e.g. LinkedIn)</c:v>
                </c:pt>
                <c:pt idx="5">
                  <c:v>Discussion forums (e.g. Reddit, Quora)</c:v>
                </c:pt>
                <c:pt idx="6">
                  <c:v>Consumer review networks (e.g. Yelp, TripAdvisor)</c:v>
                </c:pt>
                <c:pt idx="7">
                  <c:v>I do not use social media regularly</c:v>
                </c:pt>
                <c:pt idx="8">
                  <c:v>Other</c:v>
                </c:pt>
              </c:strCache>
            </c:strRef>
          </c:cat>
          <c:val>
            <c:numRef>
              <c:f>Sheet1!$B$2:$B$10</c:f>
              <c:numCache>
                <c:formatCode>General</c:formatCode>
                <c:ptCount val="9"/>
                <c:pt idx="0">
                  <c:v>0.66</c:v>
                </c:pt>
                <c:pt idx="1">
                  <c:v>0.6</c:v>
                </c:pt>
                <c:pt idx="2">
                  <c:v>0.55000000000000004</c:v>
                </c:pt>
                <c:pt idx="3">
                  <c:v>0.23</c:v>
                </c:pt>
                <c:pt idx="4">
                  <c:v>0.2</c:v>
                </c:pt>
                <c:pt idx="5">
                  <c:v>0.19</c:v>
                </c:pt>
                <c:pt idx="6">
                  <c:v>0.16</c:v>
                </c:pt>
                <c:pt idx="7">
                  <c:v>0.08</c:v>
                </c:pt>
                <c:pt idx="8">
                  <c:v>0.04</c:v>
                </c:pt>
              </c:numCache>
            </c:numRef>
          </c:val>
          <c:extLst>
            <c:ext xmlns:c16="http://schemas.microsoft.com/office/drawing/2014/chart" uri="{C3380CC4-5D6E-409C-BE32-E72D297353CC}">
              <c16:uniqueId val="{00000009-BAC1-4338-8C07-5EA111C0023B}"/>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0.72199999999999998"/>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Lbls>
            <c:dLbl>
              <c:idx val="0"/>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297-4603-A6D8-FDA129F4436E}"/>
                </c:ext>
              </c:extLst>
            </c:dLbl>
            <c:dLbl>
              <c:idx val="1"/>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297-4603-A6D8-FDA129F4436E}"/>
                </c:ext>
              </c:extLst>
            </c:dLbl>
            <c:dLbl>
              <c:idx val="2"/>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297-4603-A6D8-FDA129F4436E}"/>
                </c:ext>
              </c:extLst>
            </c:dLbl>
            <c:dLbl>
              <c:idx val="3"/>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297-4603-A6D8-FDA129F4436E}"/>
                </c:ext>
              </c:extLst>
            </c:dLbl>
            <c:dLbl>
              <c:idx val="4"/>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297-4603-A6D8-FDA129F4436E}"/>
                </c:ext>
              </c:extLst>
            </c:dLbl>
            <c:dLbl>
              <c:idx val="5"/>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297-4603-A6D8-FDA129F4436E}"/>
                </c:ext>
              </c:extLst>
            </c:dLbl>
            <c:dLbl>
              <c:idx val="6"/>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2297-4603-A6D8-FDA129F4436E}"/>
                </c:ext>
              </c:extLst>
            </c:dLbl>
            <c:dLbl>
              <c:idx val="7"/>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2297-4603-A6D8-FDA129F4436E}"/>
                </c:ext>
              </c:extLst>
            </c:dLbl>
            <c:dLbl>
              <c:idx val="8"/>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2297-4603-A6D8-FDA129F4436E}"/>
                </c:ext>
              </c:extLst>
            </c:dLbl>
            <c:dLbl>
              <c:idx val="9"/>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2297-4603-A6D8-FDA129F4436E}"/>
                </c:ext>
              </c:extLst>
            </c:dLbl>
            <c:dLbl>
              <c:idx val="10"/>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2297-4603-A6D8-FDA129F4436E}"/>
                </c:ext>
              </c:extLst>
            </c:dLbl>
            <c:dLbl>
              <c:idx val="11"/>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2297-4603-A6D8-FDA129F4436E}"/>
                </c:ext>
              </c:extLst>
            </c:dLbl>
            <c:dLbl>
              <c:idx val="12"/>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2297-4603-A6D8-FDA129F4436E}"/>
                </c:ext>
              </c:extLst>
            </c:dLbl>
            <c:dLbl>
              <c:idx val="13"/>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2297-4603-A6D8-FDA129F4436E}"/>
                </c:ext>
              </c:extLst>
            </c:dLbl>
            <c:dLbl>
              <c:idx val="14"/>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2297-4603-A6D8-FDA129F4436E}"/>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Facebook</c:v>
                </c:pt>
                <c:pt idx="1">
                  <c:v>YouTube</c:v>
                </c:pt>
                <c:pt idx="2">
                  <c:v>Instagram</c:v>
                </c:pt>
                <c:pt idx="3">
                  <c:v>TikTok</c:v>
                </c:pt>
                <c:pt idx="4">
                  <c:v>Snapchat</c:v>
                </c:pt>
                <c:pt idx="5">
                  <c:v>Twitter</c:v>
                </c:pt>
                <c:pt idx="6">
                  <c:v>Pinterest</c:v>
                </c:pt>
                <c:pt idx="7">
                  <c:v>LinkedIn</c:v>
                </c:pt>
                <c:pt idx="8">
                  <c:v>Reddit</c:v>
                </c:pt>
                <c:pt idx="9">
                  <c:v>Twitch</c:v>
                </c:pt>
                <c:pt idx="10">
                  <c:v>Yelp</c:v>
                </c:pt>
                <c:pt idx="11">
                  <c:v>Clubhouse</c:v>
                </c:pt>
                <c:pt idx="12">
                  <c:v>Foursquare</c:v>
                </c:pt>
                <c:pt idx="13">
                  <c:v>Tumblr</c:v>
                </c:pt>
                <c:pt idx="14">
                  <c:v>Flickr</c:v>
                </c:pt>
              </c:strCache>
            </c:strRef>
          </c:cat>
          <c:val>
            <c:numRef>
              <c:f>Sheet1!$B$2:$B$16</c:f>
              <c:numCache>
                <c:formatCode>General</c:formatCode>
                <c:ptCount val="15"/>
                <c:pt idx="0">
                  <c:v>0.78</c:v>
                </c:pt>
                <c:pt idx="1">
                  <c:v>0.68</c:v>
                </c:pt>
                <c:pt idx="2">
                  <c:v>0.54</c:v>
                </c:pt>
                <c:pt idx="3">
                  <c:v>0.41</c:v>
                </c:pt>
                <c:pt idx="4">
                  <c:v>0.33</c:v>
                </c:pt>
                <c:pt idx="5">
                  <c:v>0.32</c:v>
                </c:pt>
                <c:pt idx="6">
                  <c:v>0.3</c:v>
                </c:pt>
                <c:pt idx="7">
                  <c:v>0.21</c:v>
                </c:pt>
                <c:pt idx="8">
                  <c:v>0.18</c:v>
                </c:pt>
                <c:pt idx="9">
                  <c:v>0.1</c:v>
                </c:pt>
                <c:pt idx="10">
                  <c:v>7.0000000000000007E-2</c:v>
                </c:pt>
                <c:pt idx="11">
                  <c:v>0.06</c:v>
                </c:pt>
                <c:pt idx="12">
                  <c:v>0.06</c:v>
                </c:pt>
                <c:pt idx="13">
                  <c:v>0.06</c:v>
                </c:pt>
                <c:pt idx="14">
                  <c:v>0.05</c:v>
                </c:pt>
              </c:numCache>
            </c:numRef>
          </c:val>
          <c:extLst>
            <c:ext xmlns:c16="http://schemas.microsoft.com/office/drawing/2014/chart" uri="{C3380CC4-5D6E-409C-BE32-E72D297353CC}">
              <c16:uniqueId val="{0000000F-2297-4603-A6D8-FDA129F4436E}"/>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0.85599999999999998"/>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F95-49E7-B2B7-040FFBAF5949}"/>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F95-49E7-B2B7-040FFBAF5949}"/>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0F95-49E7-B2B7-040FFBAF5949}"/>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0F95-49E7-B2B7-040FFBAF5949}"/>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0F95-49E7-B2B7-040FFBAF5949}"/>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0F95-49E7-B2B7-040FFBAF5949}"/>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0F95-49E7-B2B7-040FFBAF5949}"/>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0F95-49E7-B2B7-040FFBAF5949}"/>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0F95-49E7-B2B7-040FFBAF5949}"/>
                </c:ext>
              </c:extLst>
            </c:dLbl>
            <c:dLbl>
              <c:idx val="9"/>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0F95-49E7-B2B7-040FFBAF5949}"/>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Sheet1!$A$2:$A$11</c:f>
              <c:strCache>
                <c:ptCount val="10"/>
                <c:pt idx="0">
                  <c:v>Instagram</c:v>
                </c:pt>
                <c:pt idx="1">
                  <c:v>WhatsApp</c:v>
                </c:pt>
                <c:pt idx="2">
                  <c:v>Messenger</c:v>
                </c:pt>
                <c:pt idx="3">
                  <c:v>Facebook</c:v>
                </c:pt>
                <c:pt idx="4">
                  <c:v>Telegram</c:v>
                </c:pt>
                <c:pt idx="5">
                  <c:v>Twitter</c:v>
                </c:pt>
                <c:pt idx="6">
                  <c:v>Bereal</c:v>
                </c:pt>
                <c:pt idx="7">
                  <c:v>Reddit</c:v>
                </c:pt>
                <c:pt idx="8">
                  <c:v>Discord</c:v>
                </c:pt>
                <c:pt idx="9">
                  <c:v>Life360</c:v>
                </c:pt>
              </c:strCache>
            </c:strRef>
          </c:cat>
          <c:val>
            <c:numRef>
              <c:f>Sheet1!$B$2:$B$11</c:f>
              <c:numCache>
                <c:formatCode>General</c:formatCode>
                <c:ptCount val="10"/>
                <c:pt idx="0">
                  <c:v>72</c:v>
                </c:pt>
                <c:pt idx="1">
                  <c:v>63</c:v>
                </c:pt>
                <c:pt idx="2">
                  <c:v>46.3</c:v>
                </c:pt>
                <c:pt idx="3">
                  <c:v>45.5</c:v>
                </c:pt>
                <c:pt idx="4">
                  <c:v>40</c:v>
                </c:pt>
                <c:pt idx="5">
                  <c:v>33</c:v>
                </c:pt>
                <c:pt idx="6">
                  <c:v>31</c:v>
                </c:pt>
                <c:pt idx="7">
                  <c:v>28.3</c:v>
                </c:pt>
                <c:pt idx="8">
                  <c:v>28</c:v>
                </c:pt>
                <c:pt idx="9">
                  <c:v>23</c:v>
                </c:pt>
              </c:numCache>
            </c:numRef>
          </c:val>
          <c:extLst>
            <c:ext xmlns:c16="http://schemas.microsoft.com/office/drawing/2014/chart" uri="{C3380CC4-5D6E-409C-BE32-E72D297353CC}">
              <c16:uniqueId val="{0000000A-0F95-49E7-B2B7-040FFBAF5949}"/>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A2F2-4630-863A-185CCF57CAF2}"/>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A2F2-4630-863A-185CCF57CAF2}"/>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A2F2-4630-863A-185CCF57CAF2}"/>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A2F2-4630-863A-185CCF57CAF2}"/>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A2F2-4630-863A-185CCF57CAF2}"/>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A2F2-4630-863A-185CCF57CAF2}"/>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A2F2-4630-863A-185CCF57CAF2}"/>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A2F2-4630-863A-185CCF57CAF2}"/>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A2F2-4630-863A-185CCF57CAF2}"/>
                </c:ext>
              </c:extLst>
            </c:dLbl>
            <c:dLbl>
              <c:idx val="9"/>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A2F2-4630-863A-185CCF57CAF2}"/>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Sheet1!$A$2:$A$11</c:f>
              <c:strCache>
                <c:ptCount val="10"/>
                <c:pt idx="0">
                  <c:v>BeReal. Your friends for real.</c:v>
                </c:pt>
                <c:pt idx="1">
                  <c:v>WhatsApp Messenger</c:v>
                </c:pt>
                <c:pt idx="2">
                  <c:v>Facebook</c:v>
                </c:pt>
                <c:pt idx="3">
                  <c:v>Telegram Messenger</c:v>
                </c:pt>
                <c:pt idx="4">
                  <c:v>Messenger</c:v>
                </c:pt>
                <c:pt idx="5">
                  <c:v>Life360: Find Family &amp; Friends</c:v>
                </c:pt>
                <c:pt idx="6">
                  <c:v>Discord - Chat, Talk &amp; Hangout</c:v>
                </c:pt>
                <c:pt idx="7">
                  <c:v>Google Duo</c:v>
                </c:pt>
                <c:pt idx="8">
                  <c:v>GroupMe</c:v>
                </c:pt>
                <c:pt idx="9">
                  <c:v>Locket Widget</c:v>
                </c:pt>
              </c:strCache>
            </c:strRef>
          </c:cat>
          <c:val>
            <c:numRef>
              <c:f>Sheet1!$B$2:$B$11</c:f>
              <c:numCache>
                <c:formatCode>General</c:formatCode>
                <c:ptCount val="10"/>
                <c:pt idx="0">
                  <c:v>7258133</c:v>
                </c:pt>
                <c:pt idx="1">
                  <c:v>1924877</c:v>
                </c:pt>
                <c:pt idx="2">
                  <c:v>1317340</c:v>
                </c:pt>
                <c:pt idx="3">
                  <c:v>1073326</c:v>
                </c:pt>
                <c:pt idx="4">
                  <c:v>1029853</c:v>
                </c:pt>
                <c:pt idx="5">
                  <c:v>704513</c:v>
                </c:pt>
                <c:pt idx="6">
                  <c:v>659141</c:v>
                </c:pt>
                <c:pt idx="7">
                  <c:v>416678</c:v>
                </c:pt>
                <c:pt idx="8">
                  <c:v>412583</c:v>
                </c:pt>
                <c:pt idx="9">
                  <c:v>371507</c:v>
                </c:pt>
              </c:numCache>
            </c:numRef>
          </c:val>
          <c:extLst>
            <c:ext xmlns:c16="http://schemas.microsoft.com/office/drawing/2014/chart" uri="{C3380CC4-5D6E-409C-BE32-E72D297353CC}">
              <c16:uniqueId val="{0000000A-A2F2-4630-863A-185CCF57CAF2}"/>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F1FD-4C34-B3E7-40EB4DB202BD}"/>
                </c:ext>
              </c:extLst>
            </c:dLbl>
            <c:dLbl>
              <c:idx val="1"/>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1FD-4C34-B3E7-40EB4DB202BD}"/>
                </c:ext>
              </c:extLst>
            </c:dLbl>
            <c:dLbl>
              <c:idx val="2"/>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F1FD-4C34-B3E7-40EB4DB202BD}"/>
                </c:ext>
              </c:extLst>
            </c:dLbl>
            <c:dLbl>
              <c:idx val="3"/>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F1FD-4C34-B3E7-40EB4DB202BD}"/>
                </c:ext>
              </c:extLst>
            </c:dLbl>
            <c:dLbl>
              <c:idx val="4"/>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F1FD-4C34-B3E7-40EB4DB202BD}"/>
                </c:ext>
              </c:extLst>
            </c:dLbl>
            <c:dLbl>
              <c:idx val="5"/>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F1FD-4C34-B3E7-40EB4DB202BD}"/>
                </c:ext>
              </c:extLst>
            </c:dLbl>
            <c:dLbl>
              <c:idx val="6"/>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F1FD-4C34-B3E7-40EB4DB202BD}"/>
                </c:ext>
              </c:extLst>
            </c:dLbl>
            <c:dLbl>
              <c:idx val="7"/>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F1FD-4C34-B3E7-40EB4DB202BD}"/>
                </c:ext>
              </c:extLst>
            </c:dLbl>
            <c:dLbl>
              <c:idx val="8"/>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F1FD-4C34-B3E7-40EB4DB202BD}"/>
                </c:ext>
              </c:extLst>
            </c:dLbl>
            <c:dLbl>
              <c:idx val="9"/>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F1FD-4C34-B3E7-40EB4DB202BD}"/>
                </c:ext>
              </c:extLst>
            </c:dLbl>
            <c:dLbl>
              <c:idx val="10"/>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F1FD-4C34-B3E7-40EB4DB202BD}"/>
                </c:ext>
              </c:extLst>
            </c:dLbl>
            <c:dLbl>
              <c:idx val="11"/>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F1FD-4C34-B3E7-40EB4DB202BD}"/>
                </c:ext>
              </c:extLst>
            </c:dLbl>
            <c:dLbl>
              <c:idx val="12"/>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F1FD-4C34-B3E7-40EB4DB202BD}"/>
                </c:ext>
              </c:extLst>
            </c:dLbl>
            <c:dLbl>
              <c:idx val="1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F1FD-4C34-B3E7-40EB4DB202BD}"/>
                </c:ext>
              </c:extLst>
            </c:dLbl>
            <c:dLbl>
              <c:idx val="14"/>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F1FD-4C34-B3E7-40EB4DB202BD}"/>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YouTube</c:v>
                </c:pt>
                <c:pt idx="1">
                  <c:v>Gmail</c:v>
                </c:pt>
                <c:pt idx="2">
                  <c:v>Facebook</c:v>
                </c:pt>
                <c:pt idx="3">
                  <c:v>Google Search</c:v>
                </c:pt>
                <c:pt idx="4">
                  <c:v>Google Maps</c:v>
                </c:pt>
                <c:pt idx="5">
                  <c:v>Amazon Mobile</c:v>
                </c:pt>
                <c:pt idx="6">
                  <c:v>Facebook Messenger</c:v>
                </c:pt>
                <c:pt idx="7">
                  <c:v>Google Play</c:v>
                </c:pt>
                <c:pt idx="8">
                  <c:v>Instagram</c:v>
                </c:pt>
                <c:pt idx="9">
                  <c:v>Spotify</c:v>
                </c:pt>
                <c:pt idx="10">
                  <c:v>TikTok</c:v>
                </c:pt>
                <c:pt idx="11">
                  <c:v>Apple Maps</c:v>
                </c:pt>
                <c:pt idx="12">
                  <c:v>Google Photos</c:v>
                </c:pt>
                <c:pt idx="13">
                  <c:v>Walmart</c:v>
                </c:pt>
                <c:pt idx="14">
                  <c:v>PayPal</c:v>
                </c:pt>
              </c:strCache>
            </c:strRef>
          </c:cat>
          <c:val>
            <c:numRef>
              <c:f>Sheet1!$B$2:$B$16</c:f>
              <c:numCache>
                <c:formatCode>General</c:formatCode>
                <c:ptCount val="15"/>
                <c:pt idx="0">
                  <c:v>157.88</c:v>
                </c:pt>
                <c:pt idx="1">
                  <c:v>128.82</c:v>
                </c:pt>
                <c:pt idx="2">
                  <c:v>126.16</c:v>
                </c:pt>
                <c:pt idx="3">
                  <c:v>123.47</c:v>
                </c:pt>
                <c:pt idx="4">
                  <c:v>122.16</c:v>
                </c:pt>
                <c:pt idx="5">
                  <c:v>120.38</c:v>
                </c:pt>
                <c:pt idx="6">
                  <c:v>97.76</c:v>
                </c:pt>
                <c:pt idx="7">
                  <c:v>85.14</c:v>
                </c:pt>
                <c:pt idx="8">
                  <c:v>83.77</c:v>
                </c:pt>
                <c:pt idx="9">
                  <c:v>76.08</c:v>
                </c:pt>
                <c:pt idx="10">
                  <c:v>74.650000000000006</c:v>
                </c:pt>
                <c:pt idx="11">
                  <c:v>72.319999999999993</c:v>
                </c:pt>
                <c:pt idx="12">
                  <c:v>71.03</c:v>
                </c:pt>
                <c:pt idx="13">
                  <c:v>67.7</c:v>
                </c:pt>
                <c:pt idx="14">
                  <c:v>65.239999999999995</c:v>
                </c:pt>
              </c:numCache>
            </c:numRef>
          </c:val>
          <c:extLst>
            <c:ext xmlns:c16="http://schemas.microsoft.com/office/drawing/2014/chart" uri="{C3380CC4-5D6E-409C-BE32-E72D297353CC}">
              <c16:uniqueId val="{0000000F-F1FD-4C34-B3E7-40EB4DB202BD}"/>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2AF-43A5-809E-8E3ACAD66E0A}"/>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2AF-43A5-809E-8E3ACAD66E0A}"/>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2AF-43A5-809E-8E3ACAD66E0A}"/>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2AF-43A5-809E-8E3ACAD66E0A}"/>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D2AF-43A5-809E-8E3ACAD66E0A}"/>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D2AF-43A5-809E-8E3ACAD66E0A}"/>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Sheet1!$A$2:$A$7</c:f>
              <c:strCache>
                <c:ptCount val="6"/>
                <c:pt idx="0">
                  <c:v>Facebook</c:v>
                </c:pt>
                <c:pt idx="1">
                  <c:v>Pinterest</c:v>
                </c:pt>
                <c:pt idx="2">
                  <c:v>Twitter</c:v>
                </c:pt>
                <c:pt idx="3">
                  <c:v>Instagram</c:v>
                </c:pt>
                <c:pt idx="4">
                  <c:v>YouTube</c:v>
                </c:pt>
                <c:pt idx="5">
                  <c:v>reddit</c:v>
                </c:pt>
              </c:strCache>
            </c:strRef>
          </c:cat>
          <c:val>
            <c:numRef>
              <c:f>Sheet1!$B$2:$B$7</c:f>
              <c:numCache>
                <c:formatCode>General</c:formatCode>
                <c:ptCount val="6"/>
                <c:pt idx="0">
                  <c:v>0.49930000000000002</c:v>
                </c:pt>
                <c:pt idx="1">
                  <c:v>0.1585</c:v>
                </c:pt>
                <c:pt idx="2">
                  <c:v>0.1487</c:v>
                </c:pt>
                <c:pt idx="3">
                  <c:v>0.1484</c:v>
                </c:pt>
                <c:pt idx="4">
                  <c:v>2.1299999999999999E-2</c:v>
                </c:pt>
                <c:pt idx="5">
                  <c:v>1.55E-2</c:v>
                </c:pt>
              </c:numCache>
            </c:numRef>
          </c:val>
          <c:extLst>
            <c:ext xmlns:c16="http://schemas.microsoft.com/office/drawing/2014/chart" uri="{C3380CC4-5D6E-409C-BE32-E72D297353CC}">
              <c16:uniqueId val="{00000006-D2AF-43A5-809E-8E3ACAD66E0A}"/>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one"/>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Instagram</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C4B0-4C1E-9ACB-332F4235CB6C}"/>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C4B0-4C1E-9ACB-332F4235CB6C}"/>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C4B0-4C1E-9ACB-332F4235CB6C}"/>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C4B0-4C1E-9ACB-332F4235CB6C}"/>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C4B0-4C1E-9ACB-332F4235CB6C}"/>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C4B0-4C1E-9ACB-332F4235CB6C}"/>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C4B0-4C1E-9ACB-332F4235CB6C}"/>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C4B0-4C1E-9ACB-332F4235CB6C}"/>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C4B0-4C1E-9ACB-332F4235CB6C}"/>
                </c:ext>
              </c:extLst>
            </c:dLbl>
            <c:dLbl>
              <c:idx val="9"/>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C4B0-4C1E-9ACB-332F4235CB6C}"/>
                </c:ext>
              </c:extLst>
            </c:dLbl>
            <c:dLbl>
              <c:idx val="1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C4B0-4C1E-9ACB-332F4235CB6C}"/>
                </c:ext>
              </c:extLst>
            </c:dLbl>
            <c:dLbl>
              <c:idx val="1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C4B0-4C1E-9ACB-332F4235CB6C}"/>
                </c:ext>
              </c:extLst>
            </c:dLbl>
            <c:dLbl>
              <c:idx val="1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C4B0-4C1E-9ACB-332F4235CB6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Sheet1!$A$2:$A$14</c:f>
              <c:strCache>
                <c:ptCount val="13"/>
                <c:pt idx="0">
                  <c:v>Jan 2020</c:v>
                </c:pt>
                <c:pt idx="1">
                  <c:v>Feb 2020</c:v>
                </c:pt>
                <c:pt idx="2">
                  <c:v>March 2020</c:v>
                </c:pt>
                <c:pt idx="3">
                  <c:v>April 2020</c:v>
                </c:pt>
                <c:pt idx="4">
                  <c:v>May 2020</c:v>
                </c:pt>
                <c:pt idx="5">
                  <c:v>June 2020</c:v>
                </c:pt>
                <c:pt idx="6">
                  <c:v>July 2020</c:v>
                </c:pt>
                <c:pt idx="7">
                  <c:v>Aug 2020</c:v>
                </c:pt>
                <c:pt idx="8">
                  <c:v>Sep 2020</c:v>
                </c:pt>
                <c:pt idx="9">
                  <c:v>Oct 2020</c:v>
                </c:pt>
                <c:pt idx="10">
                  <c:v>Nov 2020</c:v>
                </c:pt>
                <c:pt idx="11">
                  <c:v>Dec 2020</c:v>
                </c:pt>
                <c:pt idx="12">
                  <c:v>Jan 2021</c:v>
                </c:pt>
              </c:strCache>
            </c:strRef>
          </c:cat>
          <c:val>
            <c:numRef>
              <c:f>Sheet1!$B$2:$B$14</c:f>
              <c:numCache>
                <c:formatCode>General</c:formatCode>
                <c:ptCount val="13"/>
                <c:pt idx="0">
                  <c:v>0.44</c:v>
                </c:pt>
                <c:pt idx="1">
                  <c:v>0.44</c:v>
                </c:pt>
                <c:pt idx="2">
                  <c:v>0.44</c:v>
                </c:pt>
                <c:pt idx="3">
                  <c:v>0.41</c:v>
                </c:pt>
                <c:pt idx="4">
                  <c:v>0.41</c:v>
                </c:pt>
                <c:pt idx="5">
                  <c:v>0.39</c:v>
                </c:pt>
                <c:pt idx="6">
                  <c:v>0.41</c:v>
                </c:pt>
                <c:pt idx="7">
                  <c:v>0.42</c:v>
                </c:pt>
                <c:pt idx="8">
                  <c:v>0.41</c:v>
                </c:pt>
                <c:pt idx="9">
                  <c:v>0.44</c:v>
                </c:pt>
                <c:pt idx="10">
                  <c:v>0.45</c:v>
                </c:pt>
                <c:pt idx="11">
                  <c:v>0.4</c:v>
                </c:pt>
                <c:pt idx="12">
                  <c:v>0.41</c:v>
                </c:pt>
              </c:numCache>
            </c:numRef>
          </c:val>
          <c:extLst>
            <c:ext xmlns:c16="http://schemas.microsoft.com/office/drawing/2014/chart" uri="{C3380CC4-5D6E-409C-BE32-E72D297353CC}">
              <c16:uniqueId val="{0000000D-C4B0-4C1E-9ACB-332F4235CB6C}"/>
            </c:ext>
          </c:extLst>
        </c:ser>
        <c:ser>
          <c:idx val="1"/>
          <c:order val="1"/>
          <c:tx>
            <c:strRef>
              <c:f>Sheet1!$C$1</c:f>
              <c:strCache>
                <c:ptCount val="1"/>
                <c:pt idx="0">
                  <c:v>TikTok</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C4B0-4C1E-9ACB-332F4235CB6C}"/>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C4B0-4C1E-9ACB-332F4235CB6C}"/>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C4B0-4C1E-9ACB-332F4235CB6C}"/>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1-C4B0-4C1E-9ACB-332F4235CB6C}"/>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2-C4B0-4C1E-9ACB-332F4235CB6C}"/>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3-C4B0-4C1E-9ACB-332F4235CB6C}"/>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4-C4B0-4C1E-9ACB-332F4235CB6C}"/>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5-C4B0-4C1E-9ACB-332F4235CB6C}"/>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6-C4B0-4C1E-9ACB-332F4235CB6C}"/>
                </c:ext>
              </c:extLst>
            </c:dLbl>
            <c:dLbl>
              <c:idx val="9"/>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7-C4B0-4C1E-9ACB-332F4235CB6C}"/>
                </c:ext>
              </c:extLst>
            </c:dLbl>
            <c:dLbl>
              <c:idx val="1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8-C4B0-4C1E-9ACB-332F4235CB6C}"/>
                </c:ext>
              </c:extLst>
            </c:dLbl>
            <c:dLbl>
              <c:idx val="1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9-C4B0-4C1E-9ACB-332F4235CB6C}"/>
                </c:ext>
              </c:extLst>
            </c:dLbl>
            <c:dLbl>
              <c:idx val="1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A-C4B0-4C1E-9ACB-332F4235CB6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Sheet1!$A$2:$A$14</c:f>
              <c:strCache>
                <c:ptCount val="13"/>
                <c:pt idx="0">
                  <c:v>Jan 2020</c:v>
                </c:pt>
                <c:pt idx="1">
                  <c:v>Feb 2020</c:v>
                </c:pt>
                <c:pt idx="2">
                  <c:v>March 2020</c:v>
                </c:pt>
                <c:pt idx="3">
                  <c:v>April 2020</c:v>
                </c:pt>
                <c:pt idx="4">
                  <c:v>May 2020</c:v>
                </c:pt>
                <c:pt idx="5">
                  <c:v>June 2020</c:v>
                </c:pt>
                <c:pt idx="6">
                  <c:v>July 2020</c:v>
                </c:pt>
                <c:pt idx="7">
                  <c:v>Aug 2020</c:v>
                </c:pt>
                <c:pt idx="8">
                  <c:v>Sep 2020</c:v>
                </c:pt>
                <c:pt idx="9">
                  <c:v>Oct 2020</c:v>
                </c:pt>
                <c:pt idx="10">
                  <c:v>Nov 2020</c:v>
                </c:pt>
                <c:pt idx="11">
                  <c:v>Dec 2020</c:v>
                </c:pt>
                <c:pt idx="12">
                  <c:v>Jan 2021</c:v>
                </c:pt>
              </c:strCache>
            </c:strRef>
          </c:cat>
          <c:val>
            <c:numRef>
              <c:f>Sheet1!$C$2:$C$14</c:f>
              <c:numCache>
                <c:formatCode>General</c:formatCode>
                <c:ptCount val="13"/>
                <c:pt idx="0">
                  <c:v>0.09</c:v>
                </c:pt>
                <c:pt idx="1">
                  <c:v>0.11</c:v>
                </c:pt>
                <c:pt idx="2">
                  <c:v>0.11</c:v>
                </c:pt>
                <c:pt idx="3">
                  <c:v>0.12</c:v>
                </c:pt>
                <c:pt idx="4">
                  <c:v>0.12</c:v>
                </c:pt>
                <c:pt idx="5">
                  <c:v>0.13</c:v>
                </c:pt>
                <c:pt idx="6">
                  <c:v>0.14000000000000001</c:v>
                </c:pt>
                <c:pt idx="7">
                  <c:v>0.16</c:v>
                </c:pt>
                <c:pt idx="8">
                  <c:v>0.14000000000000001</c:v>
                </c:pt>
                <c:pt idx="9">
                  <c:v>0.14000000000000001</c:v>
                </c:pt>
                <c:pt idx="10">
                  <c:v>0.16</c:v>
                </c:pt>
                <c:pt idx="11">
                  <c:v>0.14000000000000001</c:v>
                </c:pt>
                <c:pt idx="12">
                  <c:v>0.18</c:v>
                </c:pt>
              </c:numCache>
            </c:numRef>
          </c:val>
          <c:extLst>
            <c:ext xmlns:c16="http://schemas.microsoft.com/office/drawing/2014/chart" uri="{C3380CC4-5D6E-409C-BE32-E72D297353CC}">
              <c16:uniqueId val="{0000001B-C4B0-4C1E-9ACB-332F4235CB6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Snapchat</c:v>
                </c:pt>
              </c:strCache>
            </c:strRef>
          </c:tx>
          <c:spPr>
            <a:ln>
              <a:solidFill>
                <a:srgbClr val="2875DD"/>
              </a:solidFill>
            </a:ln>
          </c:spPr>
          <c:marker>
            <c:symbol val="circle"/>
            <c:size val="5"/>
            <c:spPr>
              <a:solidFill>
                <a:srgbClr val="2875DD"/>
              </a:solidFill>
              <a:ln>
                <a:solidFill>
                  <a:srgbClr val="2875DD"/>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38.1</c:v>
                </c:pt>
                <c:pt idx="1">
                  <c:v>42</c:v>
                </c:pt>
                <c:pt idx="2">
                  <c:v>44.5</c:v>
                </c:pt>
                <c:pt idx="3">
                  <c:v>47</c:v>
                </c:pt>
                <c:pt idx="4">
                  <c:v>49.6</c:v>
                </c:pt>
                <c:pt idx="5">
                  <c:v>49.5</c:v>
                </c:pt>
              </c:numCache>
            </c:numRef>
          </c:val>
          <c:smooth val="0"/>
          <c:extLst>
            <c:ext xmlns:c16="http://schemas.microsoft.com/office/drawing/2014/chart" uri="{C3380CC4-5D6E-409C-BE32-E72D297353CC}">
              <c16:uniqueId val="{00000006-557F-4EC8-9F1F-37580AC97427}"/>
            </c:ext>
          </c:extLst>
        </c:ser>
        <c:ser>
          <c:idx val="1"/>
          <c:order val="1"/>
          <c:tx>
            <c:strRef>
              <c:f>Sheet1!$C$1</c:f>
              <c:strCache>
                <c:ptCount val="1"/>
                <c:pt idx="0">
                  <c:v>Instagram</c:v>
                </c:pt>
              </c:strCache>
            </c:strRef>
          </c:tx>
          <c:spPr>
            <a:ln>
              <a:solidFill>
                <a:srgbClr val="0F283E"/>
              </a:solidFill>
            </a:ln>
          </c:spPr>
          <c:marker>
            <c:symbol val="circle"/>
            <c:size val="5"/>
            <c:spPr>
              <a:solidFill>
                <a:srgbClr val="0F283E"/>
              </a:solidFill>
              <a:ln>
                <a:solidFill>
                  <a:srgbClr val="0F283E"/>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General</c:formatCode>
                <c:ptCount val="6"/>
                <c:pt idx="0">
                  <c:v>30</c:v>
                </c:pt>
                <c:pt idx="1">
                  <c:v>33.299999999999997</c:v>
                </c:pt>
                <c:pt idx="2">
                  <c:v>37.299999999999997</c:v>
                </c:pt>
                <c:pt idx="3">
                  <c:v>41.4</c:v>
                </c:pt>
                <c:pt idx="4">
                  <c:v>45.7</c:v>
                </c:pt>
                <c:pt idx="5">
                  <c:v>48.3</c:v>
                </c:pt>
              </c:numCache>
            </c:numRef>
          </c:val>
          <c:smooth val="0"/>
          <c:extLst>
            <c:ext xmlns:c16="http://schemas.microsoft.com/office/drawing/2014/chart" uri="{C3380CC4-5D6E-409C-BE32-E72D297353CC}">
              <c16:uniqueId val="{0000000D-557F-4EC8-9F1F-37580AC97427}"/>
            </c:ext>
          </c:extLst>
        </c:ser>
        <c:ser>
          <c:idx val="2"/>
          <c:order val="2"/>
          <c:tx>
            <c:strRef>
              <c:f>Sheet1!$D$1</c:f>
              <c:strCache>
                <c:ptCount val="1"/>
                <c:pt idx="0">
                  <c:v>TikTok</c:v>
                </c:pt>
              </c:strCache>
            </c:strRef>
          </c:tx>
          <c:spPr>
            <a:ln>
              <a:solidFill>
                <a:srgbClr val="BABABA"/>
              </a:solidFill>
            </a:ln>
          </c:spPr>
          <c:marker>
            <c:symbol val="circle"/>
            <c:size val="5"/>
            <c:spPr>
              <a:solidFill>
                <a:srgbClr val="BABABA"/>
              </a:solidFill>
              <a:ln>
                <a:solidFill>
                  <a:srgbClr val="BABABA"/>
                </a:solidFill>
              </a:ln>
            </c:spPr>
          </c:marker>
          <c:cat>
            <c:strRef>
              <c:f>Sheet1!$A$2:$A$7</c:f>
              <c:strCache>
                <c:ptCount val="6"/>
                <c:pt idx="0">
                  <c:v>2020</c:v>
                </c:pt>
                <c:pt idx="1">
                  <c:v>2021*</c:v>
                </c:pt>
                <c:pt idx="2">
                  <c:v>2022*</c:v>
                </c:pt>
                <c:pt idx="3">
                  <c:v>2023*</c:v>
                </c:pt>
                <c:pt idx="4">
                  <c:v>2024*</c:v>
                </c:pt>
                <c:pt idx="5">
                  <c:v>2025*</c:v>
                </c:pt>
              </c:strCache>
            </c:strRef>
          </c:cat>
          <c:val>
            <c:numRef>
              <c:f>Sheet1!$D$2:$D$7</c:f>
              <c:numCache>
                <c:formatCode>General</c:formatCode>
                <c:ptCount val="6"/>
                <c:pt idx="0">
                  <c:v>29.5</c:v>
                </c:pt>
                <c:pt idx="1">
                  <c:v>37.299999999999997</c:v>
                </c:pt>
                <c:pt idx="2">
                  <c:v>41.4</c:v>
                </c:pt>
                <c:pt idx="3">
                  <c:v>45</c:v>
                </c:pt>
                <c:pt idx="4">
                  <c:v>48.2</c:v>
                </c:pt>
                <c:pt idx="5">
                  <c:v>48.8</c:v>
                </c:pt>
              </c:numCache>
            </c:numRef>
          </c:val>
          <c:smooth val="0"/>
          <c:extLst>
            <c:ext xmlns:c16="http://schemas.microsoft.com/office/drawing/2014/chart" uri="{C3380CC4-5D6E-409C-BE32-E72D297353CC}">
              <c16:uniqueId val="{00000014-557F-4EC8-9F1F-37580AC97427}"/>
            </c:ext>
          </c:extLst>
        </c:ser>
        <c:ser>
          <c:idx val="3"/>
          <c:order val="3"/>
          <c:tx>
            <c:strRef>
              <c:f>Sheet1!$E$1</c:f>
              <c:strCache>
                <c:ptCount val="1"/>
                <c:pt idx="0">
                  <c:v>Facebook</c:v>
                </c:pt>
              </c:strCache>
            </c:strRef>
          </c:tx>
          <c:spPr>
            <a:ln>
              <a:solidFill>
                <a:srgbClr val="A60B0B"/>
              </a:solidFill>
            </a:ln>
          </c:spPr>
          <c:marker>
            <c:symbol val="circle"/>
            <c:size val="5"/>
            <c:spPr>
              <a:solidFill>
                <a:srgbClr val="A60B0B"/>
              </a:solidFill>
              <a:ln>
                <a:solidFill>
                  <a:srgbClr val="A60B0B"/>
                </a:solidFill>
              </a:ln>
            </c:spPr>
          </c:marker>
          <c:cat>
            <c:strRef>
              <c:f>Sheet1!$A$2:$A$7</c:f>
              <c:strCache>
                <c:ptCount val="6"/>
                <c:pt idx="0">
                  <c:v>2020</c:v>
                </c:pt>
                <c:pt idx="1">
                  <c:v>2021*</c:v>
                </c:pt>
                <c:pt idx="2">
                  <c:v>2022*</c:v>
                </c:pt>
                <c:pt idx="3">
                  <c:v>2023*</c:v>
                </c:pt>
                <c:pt idx="4">
                  <c:v>2024*</c:v>
                </c:pt>
                <c:pt idx="5">
                  <c:v>2025*</c:v>
                </c:pt>
              </c:strCache>
            </c:strRef>
          </c:cat>
          <c:val>
            <c:numRef>
              <c:f>Sheet1!$E$2:$E$7</c:f>
              <c:numCache>
                <c:formatCode>General</c:formatCode>
                <c:ptCount val="6"/>
                <c:pt idx="0">
                  <c:v>26.8</c:v>
                </c:pt>
                <c:pt idx="1">
                  <c:v>28.7</c:v>
                </c:pt>
                <c:pt idx="2">
                  <c:v>31.8</c:v>
                </c:pt>
                <c:pt idx="3">
                  <c:v>35</c:v>
                </c:pt>
                <c:pt idx="4">
                  <c:v>38.299999999999997</c:v>
                </c:pt>
                <c:pt idx="5">
                  <c:v>40.700000000000003</c:v>
                </c:pt>
              </c:numCache>
            </c:numRef>
          </c:val>
          <c:smooth val="0"/>
          <c:extLst>
            <c:ext xmlns:c16="http://schemas.microsoft.com/office/drawing/2014/chart" uri="{C3380CC4-5D6E-409C-BE32-E72D297353CC}">
              <c16:uniqueId val="{0000001B-557F-4EC8-9F1F-37580AC97427}"/>
            </c:ext>
          </c:extLst>
        </c:ser>
        <c:ser>
          <c:idx val="4"/>
          <c:order val="4"/>
          <c:tx>
            <c:strRef>
              <c:f>Sheet1!$F$1</c:f>
              <c:strCache>
                <c:ptCount val="1"/>
                <c:pt idx="0">
                  <c:v>Pinterest</c:v>
                </c:pt>
              </c:strCache>
            </c:strRef>
          </c:tx>
          <c:spPr>
            <a:ln>
              <a:solidFill>
                <a:srgbClr val="87BC24"/>
              </a:solidFill>
            </a:ln>
          </c:spPr>
          <c:marker>
            <c:symbol val="circle"/>
            <c:size val="5"/>
            <c:spPr>
              <a:solidFill>
                <a:srgbClr val="87BC24"/>
              </a:solidFill>
              <a:ln>
                <a:solidFill>
                  <a:srgbClr val="87BC24"/>
                </a:solidFill>
              </a:ln>
            </c:spPr>
          </c:marker>
          <c:cat>
            <c:strRef>
              <c:f>Sheet1!$A$2:$A$7</c:f>
              <c:strCache>
                <c:ptCount val="6"/>
                <c:pt idx="0">
                  <c:v>2020</c:v>
                </c:pt>
                <c:pt idx="1">
                  <c:v>2021*</c:v>
                </c:pt>
                <c:pt idx="2">
                  <c:v>2022*</c:v>
                </c:pt>
                <c:pt idx="3">
                  <c:v>2023*</c:v>
                </c:pt>
                <c:pt idx="4">
                  <c:v>2024*</c:v>
                </c:pt>
                <c:pt idx="5">
                  <c:v>2025*</c:v>
                </c:pt>
              </c:strCache>
            </c:strRef>
          </c:cat>
          <c:val>
            <c:numRef>
              <c:f>Sheet1!$F$2:$F$7</c:f>
              <c:numCache>
                <c:formatCode>General</c:formatCode>
                <c:ptCount val="6"/>
                <c:pt idx="0">
                  <c:v>16.7</c:v>
                </c:pt>
                <c:pt idx="1">
                  <c:v>18.899999999999999</c:v>
                </c:pt>
                <c:pt idx="2">
                  <c:v>20.9</c:v>
                </c:pt>
                <c:pt idx="3">
                  <c:v>23</c:v>
                </c:pt>
                <c:pt idx="4">
                  <c:v>25.1</c:v>
                </c:pt>
                <c:pt idx="5">
                  <c:v>26.1</c:v>
                </c:pt>
              </c:numCache>
            </c:numRef>
          </c:val>
          <c:smooth val="0"/>
          <c:extLst>
            <c:ext xmlns:c16="http://schemas.microsoft.com/office/drawing/2014/chart" uri="{C3380CC4-5D6E-409C-BE32-E72D297353CC}">
              <c16:uniqueId val="{00000022-557F-4EC8-9F1F-37580AC97427}"/>
            </c:ext>
          </c:extLst>
        </c:ser>
        <c:ser>
          <c:idx val="5"/>
          <c:order val="5"/>
          <c:tx>
            <c:strRef>
              <c:f>Sheet1!$G$1</c:f>
              <c:strCache>
                <c:ptCount val="1"/>
                <c:pt idx="0">
                  <c:v>Twitter</c:v>
                </c:pt>
              </c:strCache>
            </c:strRef>
          </c:tx>
          <c:spPr>
            <a:ln>
              <a:solidFill>
                <a:srgbClr val="EBB523"/>
              </a:solidFill>
            </a:ln>
          </c:spPr>
          <c:marker>
            <c:symbol val="circle"/>
            <c:size val="5"/>
            <c:spPr>
              <a:solidFill>
                <a:srgbClr val="EBB523"/>
              </a:solidFill>
              <a:ln>
                <a:solidFill>
                  <a:srgbClr val="EBB523"/>
                </a:solidFill>
              </a:ln>
            </c:spPr>
          </c:marker>
          <c:cat>
            <c:strRef>
              <c:f>Sheet1!$A$2:$A$7</c:f>
              <c:strCache>
                <c:ptCount val="6"/>
                <c:pt idx="0">
                  <c:v>2020</c:v>
                </c:pt>
                <c:pt idx="1">
                  <c:v>2021*</c:v>
                </c:pt>
                <c:pt idx="2">
                  <c:v>2022*</c:v>
                </c:pt>
                <c:pt idx="3">
                  <c:v>2023*</c:v>
                </c:pt>
                <c:pt idx="4">
                  <c:v>2024*</c:v>
                </c:pt>
                <c:pt idx="5">
                  <c:v>2025*</c:v>
                </c:pt>
              </c:strCache>
            </c:strRef>
          </c:cat>
          <c:val>
            <c:numRef>
              <c:f>Sheet1!$G$2:$G$7</c:f>
              <c:numCache>
                <c:formatCode>General</c:formatCode>
                <c:ptCount val="6"/>
                <c:pt idx="0">
                  <c:v>14.4</c:v>
                </c:pt>
                <c:pt idx="1">
                  <c:v>15.8</c:v>
                </c:pt>
                <c:pt idx="2">
                  <c:v>16.7</c:v>
                </c:pt>
                <c:pt idx="3">
                  <c:v>17.8</c:v>
                </c:pt>
                <c:pt idx="4">
                  <c:v>18.8</c:v>
                </c:pt>
                <c:pt idx="5">
                  <c:v>19.2</c:v>
                </c:pt>
              </c:numCache>
            </c:numRef>
          </c:val>
          <c:smooth val="0"/>
          <c:extLst>
            <c:ext xmlns:c16="http://schemas.microsoft.com/office/drawing/2014/chart" uri="{C3380CC4-5D6E-409C-BE32-E72D297353CC}">
              <c16:uniqueId val="{00000029-557F-4EC8-9F1F-37580AC97427}"/>
            </c:ext>
          </c:extLst>
        </c:ser>
        <c:ser>
          <c:idx val="6"/>
          <c:order val="6"/>
          <c:tx>
            <c:strRef>
              <c:f>Sheet1!$H$1</c:f>
              <c:strCache>
                <c:ptCount val="1"/>
                <c:pt idx="0">
                  <c:v>Reddit</c:v>
                </c:pt>
              </c:strCache>
            </c:strRef>
          </c:tx>
          <c:spPr>
            <a:ln>
              <a:solidFill>
                <a:srgbClr val="5D2B76"/>
              </a:solidFill>
            </a:ln>
          </c:spPr>
          <c:marker>
            <c:symbol val="circle"/>
            <c:size val="5"/>
            <c:spPr>
              <a:solidFill>
                <a:srgbClr val="5D2B76"/>
              </a:solidFill>
              <a:ln>
                <a:solidFill>
                  <a:srgbClr val="5D2B76"/>
                </a:solidFill>
              </a:ln>
            </c:spPr>
          </c:marker>
          <c:cat>
            <c:strRef>
              <c:f>Sheet1!$A$2:$A$7</c:f>
              <c:strCache>
                <c:ptCount val="6"/>
                <c:pt idx="0">
                  <c:v>2020</c:v>
                </c:pt>
                <c:pt idx="1">
                  <c:v>2021*</c:v>
                </c:pt>
                <c:pt idx="2">
                  <c:v>2022*</c:v>
                </c:pt>
                <c:pt idx="3">
                  <c:v>2023*</c:v>
                </c:pt>
                <c:pt idx="4">
                  <c:v>2024*</c:v>
                </c:pt>
                <c:pt idx="5">
                  <c:v>2025*</c:v>
                </c:pt>
              </c:strCache>
            </c:strRef>
          </c:cat>
          <c:val>
            <c:numRef>
              <c:f>Sheet1!$H$2:$H$7</c:f>
              <c:numCache>
                <c:formatCode>General</c:formatCode>
                <c:ptCount val="6"/>
                <c:pt idx="0">
                  <c:v>8.4</c:v>
                </c:pt>
                <c:pt idx="1">
                  <c:v>10.3</c:v>
                </c:pt>
                <c:pt idx="2">
                  <c:v>11.9</c:v>
                </c:pt>
                <c:pt idx="3">
                  <c:v>13.6</c:v>
                </c:pt>
                <c:pt idx="4">
                  <c:v>15.4</c:v>
                </c:pt>
                <c:pt idx="5">
                  <c:v>17.100000000000001</c:v>
                </c:pt>
              </c:numCache>
            </c:numRef>
          </c:val>
          <c:smooth val="0"/>
          <c:extLst>
            <c:ext xmlns:c16="http://schemas.microsoft.com/office/drawing/2014/chart" uri="{C3380CC4-5D6E-409C-BE32-E72D297353CC}">
              <c16:uniqueId val="{00000030-557F-4EC8-9F1F-37580AC97427}"/>
            </c:ext>
          </c:extLst>
        </c:ser>
        <c:dLbls>
          <c:showLegendKey val="0"/>
          <c:showVal val="0"/>
          <c:showCatName val="0"/>
          <c:showSerName val="0"/>
          <c:showPercent val="0"/>
          <c:showBubbleSize val="0"/>
        </c:dLbls>
        <c:marker val="1"/>
        <c:smooth val="0"/>
        <c:axId val="67451136"/>
        <c:axId val="66437120"/>
      </c:line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active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Instagram</c:v>
                </c:pt>
              </c:strCache>
            </c:strRef>
          </c:tx>
          <c:spPr>
            <a:solidFill>
              <a:srgbClr val="2875DD"/>
            </a:solidFill>
            <a:ln>
              <a:solidFill>
                <a:srgbClr val="2875DD"/>
              </a:solidFill>
            </a:ln>
          </c:spPr>
          <c:invertIfNegative val="0"/>
          <c:cat>
            <c:numRef>
              <c:f>Sheet1!$A$2:$A$4</c:f>
              <c:numCache>
                <c:formatCode>General</c:formatCode>
                <c:ptCount val="3"/>
                <c:pt idx="0">
                  <c:v>2019</c:v>
                </c:pt>
                <c:pt idx="1">
                  <c:v>2020</c:v>
                </c:pt>
                <c:pt idx="2">
                  <c:v>2021</c:v>
                </c:pt>
              </c:numCache>
            </c:numRef>
          </c:cat>
          <c:val>
            <c:numRef>
              <c:f>Sheet1!$B$2:$B$4</c:f>
              <c:numCache>
                <c:formatCode>General</c:formatCode>
                <c:ptCount val="3"/>
                <c:pt idx="0">
                  <c:v>0.64</c:v>
                </c:pt>
                <c:pt idx="1">
                  <c:v>0.61</c:v>
                </c:pt>
                <c:pt idx="2">
                  <c:v>0.56999999999999995</c:v>
                </c:pt>
              </c:numCache>
            </c:numRef>
          </c:val>
          <c:extLst>
            <c:ext xmlns:c16="http://schemas.microsoft.com/office/drawing/2014/chart" uri="{C3380CC4-5D6E-409C-BE32-E72D297353CC}">
              <c16:uniqueId val="{00000003-130D-4F82-91C5-23865E43805D}"/>
            </c:ext>
          </c:extLst>
        </c:ser>
        <c:ser>
          <c:idx val="1"/>
          <c:order val="1"/>
          <c:tx>
            <c:strRef>
              <c:f>Sheet1!$C$1</c:f>
              <c:strCache>
                <c:ptCount val="1"/>
                <c:pt idx="0">
                  <c:v>Snapchat</c:v>
                </c:pt>
              </c:strCache>
            </c:strRef>
          </c:tx>
          <c:spPr>
            <a:solidFill>
              <a:srgbClr val="0F283E"/>
            </a:solidFill>
            <a:ln>
              <a:solidFill>
                <a:srgbClr val="0F283E"/>
              </a:solidFill>
            </a:ln>
          </c:spPr>
          <c:invertIfNegative val="0"/>
          <c:cat>
            <c:numRef>
              <c:f>Sheet1!$A$2:$A$4</c:f>
              <c:numCache>
                <c:formatCode>General</c:formatCode>
                <c:ptCount val="3"/>
                <c:pt idx="0">
                  <c:v>2019</c:v>
                </c:pt>
                <c:pt idx="1">
                  <c:v>2020</c:v>
                </c:pt>
                <c:pt idx="2">
                  <c:v>2021</c:v>
                </c:pt>
              </c:numCache>
            </c:numRef>
          </c:cat>
          <c:val>
            <c:numRef>
              <c:f>Sheet1!$C$2:$C$4</c:f>
              <c:numCache>
                <c:formatCode>General</c:formatCode>
                <c:ptCount val="3"/>
                <c:pt idx="0">
                  <c:v>0.6</c:v>
                </c:pt>
                <c:pt idx="1">
                  <c:v>0.54</c:v>
                </c:pt>
                <c:pt idx="2">
                  <c:v>0.54</c:v>
                </c:pt>
              </c:numCache>
            </c:numRef>
          </c:val>
          <c:extLst>
            <c:ext xmlns:c16="http://schemas.microsoft.com/office/drawing/2014/chart" uri="{C3380CC4-5D6E-409C-BE32-E72D297353CC}">
              <c16:uniqueId val="{00000007-130D-4F82-91C5-23865E43805D}"/>
            </c:ext>
          </c:extLst>
        </c:ser>
        <c:ser>
          <c:idx val="2"/>
          <c:order val="2"/>
          <c:tx>
            <c:strRef>
              <c:f>Sheet1!$D$1</c:f>
              <c:strCache>
                <c:ptCount val="1"/>
                <c:pt idx="0">
                  <c:v>TikTok</c:v>
                </c:pt>
              </c:strCache>
            </c:strRef>
          </c:tx>
          <c:spPr>
            <a:solidFill>
              <a:srgbClr val="BABABA"/>
            </a:solidFill>
            <a:ln>
              <a:solidFill>
                <a:srgbClr val="BABABA"/>
              </a:solidFill>
            </a:ln>
          </c:spPr>
          <c:invertIfNegative val="0"/>
          <c:cat>
            <c:numRef>
              <c:f>Sheet1!$A$2:$A$4</c:f>
              <c:numCache>
                <c:formatCode>General</c:formatCode>
                <c:ptCount val="3"/>
                <c:pt idx="0">
                  <c:v>2019</c:v>
                </c:pt>
                <c:pt idx="1">
                  <c:v>2020</c:v>
                </c:pt>
                <c:pt idx="2">
                  <c:v>2021</c:v>
                </c:pt>
              </c:numCache>
            </c:numRef>
          </c:cat>
          <c:val>
            <c:numRef>
              <c:f>Sheet1!$D$2:$D$4</c:f>
              <c:numCache>
                <c:formatCode>General</c:formatCode>
                <c:ptCount val="3"/>
                <c:pt idx="1">
                  <c:v>0.5</c:v>
                </c:pt>
                <c:pt idx="2">
                  <c:v>0.63</c:v>
                </c:pt>
              </c:numCache>
            </c:numRef>
          </c:val>
          <c:extLst>
            <c:ext xmlns:c16="http://schemas.microsoft.com/office/drawing/2014/chart" uri="{C3380CC4-5D6E-409C-BE32-E72D297353CC}">
              <c16:uniqueId val="{0000000B-130D-4F82-91C5-23865E43805D}"/>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2022</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B73D-492B-9473-33146DF69040}"/>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B73D-492B-9473-33146DF69040}"/>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B73D-492B-9473-33146DF69040}"/>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B73D-492B-9473-33146DF69040}"/>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B73D-492B-9473-33146DF69040}"/>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B73D-492B-9473-33146DF69040}"/>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B73D-492B-9473-33146DF69040}"/>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B73D-492B-9473-33146DF69040}"/>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Sheet1!$A$2:$A$9</c:f>
              <c:strCache>
                <c:ptCount val="8"/>
                <c:pt idx="0">
                  <c:v>Time spent using the internet</c:v>
                </c:pt>
                <c:pt idx="1">
                  <c:v>Time spent watching television (broadcasting and streaming)</c:v>
                </c:pt>
                <c:pt idx="2">
                  <c:v>Time spent using social media</c:v>
                </c:pt>
                <c:pt idx="3">
                  <c:v>Time spent listening to music streaming services</c:v>
                </c:pt>
                <c:pt idx="4">
                  <c:v>Time spent reading press media (online and physical print)</c:v>
                </c:pt>
                <c:pt idx="5">
                  <c:v>Time spent using a games console</c:v>
                </c:pt>
                <c:pt idx="6">
                  <c:v>Time spent listening to broadcast radio*</c:v>
                </c:pt>
                <c:pt idx="7">
                  <c:v>Time spent listening to podcasts</c:v>
                </c:pt>
              </c:strCache>
            </c:strRef>
          </c:cat>
          <c:val>
            <c:numRef>
              <c:f>Sheet1!$B$2:$B$9</c:f>
              <c:numCache>
                <c:formatCode>General</c:formatCode>
                <c:ptCount val="8"/>
                <c:pt idx="0">
                  <c:v>6.59</c:v>
                </c:pt>
                <c:pt idx="1">
                  <c:v>4.42</c:v>
                </c:pt>
                <c:pt idx="2">
                  <c:v>2.16</c:v>
                </c:pt>
                <c:pt idx="3">
                  <c:v>1.59</c:v>
                </c:pt>
                <c:pt idx="4">
                  <c:v>1.48</c:v>
                </c:pt>
                <c:pt idx="5">
                  <c:v>1.25</c:v>
                </c:pt>
                <c:pt idx="6">
                  <c:v>1.1000000000000001</c:v>
                </c:pt>
                <c:pt idx="7">
                  <c:v>1.02</c:v>
                </c:pt>
              </c:numCache>
            </c:numRef>
          </c:val>
          <c:extLst>
            <c:ext xmlns:c16="http://schemas.microsoft.com/office/drawing/2014/chart" uri="{C3380CC4-5D6E-409C-BE32-E72D297353CC}">
              <c16:uniqueId val="{00000008-B73D-492B-9473-33146DF69040}"/>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9C24-4CC2-91F7-B629AC497491}"/>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9C24-4CC2-91F7-B629AC497491}"/>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9C24-4CC2-91F7-B629AC497491}"/>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9C24-4CC2-91F7-B629AC497491}"/>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9C24-4CC2-91F7-B629AC497491}"/>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9C24-4CC2-91F7-B629AC497491}"/>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9C24-4CC2-91F7-B629AC497491}"/>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9C24-4CC2-91F7-B629AC497491}"/>
                </c:ext>
              </c:extLst>
            </c:dLbl>
            <c:dLbl>
              <c:idx val="8"/>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9C24-4CC2-91F7-B629AC497491}"/>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Sheet1!$A$2:$A$10</c:f>
              <c:strCache>
                <c:ptCount val="9"/>
                <c:pt idx="0">
                  <c:v>Streaming video</c:v>
                </c:pt>
                <c:pt idx="1">
                  <c:v>Online gaming</c:v>
                </c:pt>
                <c:pt idx="2">
                  <c:v>Streaming music</c:v>
                </c:pt>
                <c:pt idx="3">
                  <c:v>Video calls for work</c:v>
                </c:pt>
                <c:pt idx="4">
                  <c:v>Video calls for socializing</c:v>
                </c:pt>
                <c:pt idx="5">
                  <c:v>Video calls for school</c:v>
                </c:pt>
                <c:pt idx="6">
                  <c:v>Online shopping</c:v>
                </c:pt>
                <c:pt idx="7">
                  <c:v>Online dating</c:v>
                </c:pt>
                <c:pt idx="8">
                  <c:v>Virtual appointments</c:v>
                </c:pt>
              </c:strCache>
            </c:strRef>
          </c:cat>
          <c:val>
            <c:numRef>
              <c:f>Sheet1!$B$2:$B$10</c:f>
              <c:numCache>
                <c:formatCode>General</c:formatCode>
                <c:ptCount val="9"/>
                <c:pt idx="0">
                  <c:v>18.899999999999999</c:v>
                </c:pt>
                <c:pt idx="1">
                  <c:v>16.8</c:v>
                </c:pt>
                <c:pt idx="2">
                  <c:v>14.2</c:v>
                </c:pt>
                <c:pt idx="3">
                  <c:v>9.1</c:v>
                </c:pt>
                <c:pt idx="4">
                  <c:v>8.5</c:v>
                </c:pt>
                <c:pt idx="5">
                  <c:v>8.4</c:v>
                </c:pt>
                <c:pt idx="6">
                  <c:v>8.1</c:v>
                </c:pt>
                <c:pt idx="7">
                  <c:v>7.5</c:v>
                </c:pt>
                <c:pt idx="8">
                  <c:v>5.2</c:v>
                </c:pt>
              </c:numCache>
            </c:numRef>
          </c:val>
          <c:extLst>
            <c:ext xmlns:c16="http://schemas.microsoft.com/office/drawing/2014/chart" uri="{C3380CC4-5D6E-409C-BE32-E72D297353CC}">
              <c16:uniqueId val="{00000009-9C24-4CC2-91F7-B629AC497491}"/>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9EE6-4885-9574-6DC2E3CE2AA0}"/>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9EE6-4885-9574-6DC2E3CE2AA0}"/>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9EE6-4885-9574-6DC2E3CE2AA0}"/>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9EE6-4885-9574-6DC2E3CE2AA0}"/>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9EE6-4885-9574-6DC2E3CE2AA0}"/>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9EE6-4885-9574-6DC2E3CE2AA0}"/>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9EE6-4885-9574-6DC2E3CE2AA0}"/>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9EE6-4885-9574-6DC2E3CE2AA0}"/>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9EE6-4885-9574-6DC2E3CE2AA0}"/>
                </c:ext>
              </c:extLst>
            </c:dLbl>
            <c:dLbl>
              <c:idx val="9"/>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9EE6-4885-9574-6DC2E3CE2AA0}"/>
                </c:ext>
              </c:extLst>
            </c:dLbl>
            <c:dLbl>
              <c:idx val="1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9EE6-4885-9574-6DC2E3CE2AA0}"/>
                </c:ext>
              </c:extLst>
            </c:dLbl>
            <c:dLbl>
              <c:idx val="1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9EE6-4885-9574-6DC2E3CE2AA0}"/>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Sheet1!$A$2:$A$13</c:f>
              <c:strCache>
                <c:ptCount val="12"/>
                <c:pt idx="0">
                  <c:v>Liked posts by other users</c:v>
                </c:pt>
                <c:pt idx="1">
                  <c:v>Sent private messages</c:v>
                </c:pt>
                <c:pt idx="2">
                  <c:v>Commented on posts</c:v>
                </c:pt>
                <c:pt idx="3">
                  <c:v>Followed people</c:v>
                </c:pt>
                <c:pt idx="4">
                  <c:v>Posted pictures / videos</c:v>
                </c:pt>
                <c:pt idx="5">
                  <c:v>Shared posts by other users</c:v>
                </c:pt>
                <c:pt idx="6">
                  <c:v>Posted texts / status updates</c:v>
                </c:pt>
                <c:pt idx="7">
                  <c:v>Liked company posts</c:v>
                </c:pt>
                <c:pt idx="8">
                  <c:v>Followed companies</c:v>
                </c:pt>
                <c:pt idx="9">
                  <c:v>Shared company posts</c:v>
                </c:pt>
                <c:pt idx="10">
                  <c:v>I have used social media only passively</c:v>
                </c:pt>
                <c:pt idx="11">
                  <c:v>I haven't used social media</c:v>
                </c:pt>
              </c:strCache>
            </c:strRef>
          </c:cat>
          <c:val>
            <c:numRef>
              <c:f>Sheet1!$B$2:$B$13</c:f>
              <c:numCache>
                <c:formatCode>General</c:formatCode>
                <c:ptCount val="12"/>
                <c:pt idx="0">
                  <c:v>0.53</c:v>
                </c:pt>
                <c:pt idx="1">
                  <c:v>0.49</c:v>
                </c:pt>
                <c:pt idx="2">
                  <c:v>0.48</c:v>
                </c:pt>
                <c:pt idx="3">
                  <c:v>0.42</c:v>
                </c:pt>
                <c:pt idx="4">
                  <c:v>0.41</c:v>
                </c:pt>
                <c:pt idx="5">
                  <c:v>0.35</c:v>
                </c:pt>
                <c:pt idx="6">
                  <c:v>0.33</c:v>
                </c:pt>
                <c:pt idx="7">
                  <c:v>0.25</c:v>
                </c:pt>
                <c:pt idx="8">
                  <c:v>0.2</c:v>
                </c:pt>
                <c:pt idx="9">
                  <c:v>0.15</c:v>
                </c:pt>
                <c:pt idx="10">
                  <c:v>0.09</c:v>
                </c:pt>
                <c:pt idx="11">
                  <c:v>0.09</c:v>
                </c:pt>
              </c:numCache>
            </c:numRef>
          </c:val>
          <c:extLst>
            <c:ext xmlns:c16="http://schemas.microsoft.com/office/drawing/2014/chart" uri="{C3380CC4-5D6E-409C-BE32-E72D297353CC}">
              <c16:uniqueId val="{0000000C-9EE6-4885-9574-6DC2E3CE2AA0}"/>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0.57399999999999995"/>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4B96-4756-9287-8A9AD00E277C}"/>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4B96-4756-9287-8A9AD00E277C}"/>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4B96-4756-9287-8A9AD00E277C}"/>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4B96-4756-9287-8A9AD00E277C}"/>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4B96-4756-9287-8A9AD00E277C}"/>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4B96-4756-9287-8A9AD00E277C}"/>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4B96-4756-9287-8A9AD00E277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TikTok</c:v>
                </c:pt>
                <c:pt idx="1">
                  <c:v>YouTube</c:v>
                </c:pt>
                <c:pt idx="2">
                  <c:v>Twitter</c:v>
                </c:pt>
                <c:pt idx="3">
                  <c:v>Snapchat</c:v>
                </c:pt>
                <c:pt idx="4">
                  <c:v>Facebook</c:v>
                </c:pt>
                <c:pt idx="5">
                  <c:v>Instagram</c:v>
                </c:pt>
                <c:pt idx="6">
                  <c:v>Reddit</c:v>
                </c:pt>
              </c:strCache>
            </c:strRef>
          </c:cat>
          <c:val>
            <c:numRef>
              <c:f>Sheet1!$B$2:$B$8</c:f>
              <c:numCache>
                <c:formatCode>General</c:formatCode>
                <c:ptCount val="7"/>
                <c:pt idx="0">
                  <c:v>45.8</c:v>
                </c:pt>
                <c:pt idx="1">
                  <c:v>45.6</c:v>
                </c:pt>
                <c:pt idx="2">
                  <c:v>34.799999999999997</c:v>
                </c:pt>
                <c:pt idx="3">
                  <c:v>30.4</c:v>
                </c:pt>
                <c:pt idx="4">
                  <c:v>30.1</c:v>
                </c:pt>
                <c:pt idx="5">
                  <c:v>30.1</c:v>
                </c:pt>
                <c:pt idx="6">
                  <c:v>23.8</c:v>
                </c:pt>
              </c:numCache>
            </c:numRef>
          </c:val>
          <c:extLst>
            <c:ext xmlns:c16="http://schemas.microsoft.com/office/drawing/2014/chart" uri="{C3380CC4-5D6E-409C-BE32-E72D297353CC}">
              <c16:uniqueId val="{00000007-4B96-4756-9287-8A9AD00E277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Time spent in minutes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9A5-4F24-B5D9-D435AA42F1DF}"/>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9A5-4F24-B5D9-D435AA42F1DF}"/>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9A5-4F24-B5D9-D435AA42F1DF}"/>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9A5-4F24-B5D9-D435AA42F1DF}"/>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9A5-4F24-B5D9-D435AA42F1DF}"/>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9A5-4F24-B5D9-D435AA42F1DF}"/>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29A5-4F24-B5D9-D435AA42F1DF}"/>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Heard-Depp trial</c:v>
                </c:pt>
                <c:pt idx="1">
                  <c:v>Elon Musk</c:v>
                </c:pt>
                <c:pt idx="2">
                  <c:v>Joe Biden</c:v>
                </c:pt>
                <c:pt idx="3">
                  <c:v>Abortion</c:v>
                </c:pt>
                <c:pt idx="4">
                  <c:v>Russia-Ukraine war</c:v>
                </c:pt>
                <c:pt idx="5">
                  <c:v>Inflation</c:v>
                </c:pt>
                <c:pt idx="6">
                  <c:v>COVID-19</c:v>
                </c:pt>
              </c:strCache>
            </c:strRef>
          </c:cat>
          <c:val>
            <c:numRef>
              <c:f>Sheet1!$B$2:$B$8</c:f>
              <c:numCache>
                <c:formatCode>General</c:formatCode>
                <c:ptCount val="7"/>
                <c:pt idx="0">
                  <c:v>508</c:v>
                </c:pt>
                <c:pt idx="1">
                  <c:v>417</c:v>
                </c:pt>
                <c:pt idx="2">
                  <c:v>170</c:v>
                </c:pt>
                <c:pt idx="3">
                  <c:v>141</c:v>
                </c:pt>
                <c:pt idx="4">
                  <c:v>91</c:v>
                </c:pt>
                <c:pt idx="5">
                  <c:v>70</c:v>
                </c:pt>
                <c:pt idx="6">
                  <c:v>44</c:v>
                </c:pt>
              </c:numCache>
            </c:numRef>
          </c:val>
          <c:extLst>
            <c:ext xmlns:c16="http://schemas.microsoft.com/office/drawing/2014/chart" uri="{C3380CC4-5D6E-409C-BE32-E72D297353CC}">
              <c16:uniqueId val="{00000007-29A5-4F24-B5D9-D435AA42F1DF}"/>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7D72-464C-B4B5-E0108A3220C9}"/>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7D72-464C-B4B5-E0108A3220C9}"/>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7D72-464C-B4B5-E0108A3220C9}"/>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7D72-464C-B4B5-E0108A3220C9}"/>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7D72-464C-B4B5-E0108A3220C9}"/>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7D72-464C-B4B5-E0108A3220C9}"/>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7D72-464C-B4B5-E0108A3220C9}"/>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7D72-464C-B4B5-E0108A3220C9}"/>
                </c:ext>
              </c:extLst>
            </c:dLbl>
            <c:dLbl>
              <c:idx val="8"/>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7D72-464C-B4B5-E0108A3220C9}"/>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Sheet1!$A$2:$A$10</c:f>
              <c:strCache>
                <c:ptCount val="9"/>
                <c:pt idx="0">
                  <c:v>YouTube</c:v>
                </c:pt>
                <c:pt idx="1">
                  <c:v>Facebook</c:v>
                </c:pt>
                <c:pt idx="2">
                  <c:v>TikTok</c:v>
                </c:pt>
                <c:pt idx="3">
                  <c:v>Instagram</c:v>
                </c:pt>
                <c:pt idx="4">
                  <c:v>Snapchat</c:v>
                </c:pt>
                <c:pt idx="5">
                  <c:v>Twitter</c:v>
                </c:pt>
                <c:pt idx="6">
                  <c:v>Pinterest</c:v>
                </c:pt>
                <c:pt idx="7">
                  <c:v>LinkedIn</c:v>
                </c:pt>
                <c:pt idx="8">
                  <c:v>Other</c:v>
                </c:pt>
              </c:strCache>
            </c:strRef>
          </c:cat>
          <c:val>
            <c:numRef>
              <c:f>Sheet1!$B$2:$B$10</c:f>
              <c:numCache>
                <c:formatCode>General</c:formatCode>
                <c:ptCount val="9"/>
                <c:pt idx="0">
                  <c:v>0.77900000000000003</c:v>
                </c:pt>
                <c:pt idx="1">
                  <c:v>0.60799999999999998</c:v>
                </c:pt>
                <c:pt idx="2">
                  <c:v>0.53900000000000003</c:v>
                </c:pt>
                <c:pt idx="3">
                  <c:v>0.52400000000000002</c:v>
                </c:pt>
                <c:pt idx="4">
                  <c:v>0.36699999999999999</c:v>
                </c:pt>
                <c:pt idx="5">
                  <c:v>0.27800000000000002</c:v>
                </c:pt>
                <c:pt idx="6">
                  <c:v>0.189</c:v>
                </c:pt>
                <c:pt idx="7">
                  <c:v>0.107</c:v>
                </c:pt>
                <c:pt idx="8">
                  <c:v>6.0000000000000001E-3</c:v>
                </c:pt>
              </c:numCache>
            </c:numRef>
          </c:val>
          <c:extLst>
            <c:ext xmlns:c16="http://schemas.microsoft.com/office/drawing/2014/chart" uri="{C3380CC4-5D6E-409C-BE32-E72D297353CC}">
              <c16:uniqueId val="{00000009-7D72-464C-B4B5-E0108A3220C9}"/>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8 to 12</c:v>
                </c:pt>
              </c:strCache>
            </c:strRef>
          </c:tx>
          <c:spPr>
            <a:solidFill>
              <a:srgbClr val="BFBFBF"/>
            </a:solidFill>
            <a:ln>
              <a:solidFill>
                <a:srgbClr val="BFBFBF"/>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BA73-46E0-8FE6-376AE8B33A48}"/>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BA73-46E0-8FE6-376AE8B33A48}"/>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BA73-46E0-8FE6-376AE8B33A48}"/>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BA73-46E0-8FE6-376AE8B33A48}"/>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BA73-46E0-8FE6-376AE8B33A48}"/>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BA73-46E0-8FE6-376AE8B33A48}"/>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BA73-46E0-8FE6-376AE8B33A48}"/>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BA73-46E0-8FE6-376AE8B33A48}"/>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Sheet1!$A$2:$A$9</c:f>
              <c:strCache>
                <c:ptCount val="8"/>
                <c:pt idx="0">
                  <c:v>Watching television</c:v>
                </c:pt>
                <c:pt idx="1">
                  <c:v>Watching online videos</c:v>
                </c:pt>
                <c:pt idx="2">
                  <c:v>Playing video games on a smartphone or tablet</c:v>
                </c:pt>
                <c:pt idx="3">
                  <c:v>Reading for enjoyment</c:v>
                </c:pt>
                <c:pt idx="4">
                  <c:v>Playing video games on a console, portable player, or computer</c:v>
                </c:pt>
                <c:pt idx="5">
                  <c:v>Using social media</c:v>
                </c:pt>
                <c:pt idx="6">
                  <c:v>Listening to podcasts</c:v>
                </c:pt>
                <c:pt idx="7">
                  <c:v>Using virtual reality</c:v>
                </c:pt>
              </c:strCache>
            </c:strRef>
          </c:cat>
          <c:val>
            <c:numRef>
              <c:f>Sheet1!$B$2:$B$9</c:f>
              <c:numCache>
                <c:formatCode>General</c:formatCode>
                <c:ptCount val="8"/>
                <c:pt idx="0">
                  <c:v>0.65</c:v>
                </c:pt>
                <c:pt idx="1">
                  <c:v>0.6</c:v>
                </c:pt>
                <c:pt idx="2">
                  <c:v>0.47</c:v>
                </c:pt>
                <c:pt idx="3">
                  <c:v>0.37</c:v>
                </c:pt>
                <c:pt idx="4">
                  <c:v>0.26</c:v>
                </c:pt>
                <c:pt idx="5">
                  <c:v>0.17</c:v>
                </c:pt>
                <c:pt idx="6">
                  <c:v>0.03</c:v>
                </c:pt>
                <c:pt idx="7">
                  <c:v>0.03</c:v>
                </c:pt>
              </c:numCache>
            </c:numRef>
          </c:val>
          <c:extLst>
            <c:ext xmlns:c16="http://schemas.microsoft.com/office/drawing/2014/chart" uri="{C3380CC4-5D6E-409C-BE32-E72D297353CC}">
              <c16:uniqueId val="{00000008-BA73-46E0-8FE6-376AE8B33A48}"/>
            </c:ext>
          </c:extLst>
        </c:ser>
        <c:ser>
          <c:idx val="1"/>
          <c:order val="1"/>
          <c:tx>
            <c:strRef>
              <c:f>Sheet1!$C$1</c:f>
              <c:strCache>
                <c:ptCount val="1"/>
                <c:pt idx="0">
                  <c:v>13 to 18</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BA73-46E0-8FE6-376AE8B33A48}"/>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BA73-46E0-8FE6-376AE8B33A48}"/>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BA73-46E0-8FE6-376AE8B33A48}"/>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BA73-46E0-8FE6-376AE8B33A48}"/>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BA73-46E0-8FE6-376AE8B33A48}"/>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BA73-46E0-8FE6-376AE8B33A48}"/>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BA73-46E0-8FE6-376AE8B33A48}"/>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BA73-46E0-8FE6-376AE8B33A48}"/>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Sheet1!$A$2:$A$9</c:f>
              <c:strCache>
                <c:ptCount val="8"/>
                <c:pt idx="0">
                  <c:v>Watching television</c:v>
                </c:pt>
                <c:pt idx="1">
                  <c:v>Watching online videos</c:v>
                </c:pt>
                <c:pt idx="2">
                  <c:v>Playing video games on a smartphone or tablet</c:v>
                </c:pt>
                <c:pt idx="3">
                  <c:v>Reading for enjoyment</c:v>
                </c:pt>
                <c:pt idx="4">
                  <c:v>Playing video games on a console, portable player, or computer</c:v>
                </c:pt>
                <c:pt idx="5">
                  <c:v>Using social media</c:v>
                </c:pt>
                <c:pt idx="6">
                  <c:v>Listening to podcasts</c:v>
                </c:pt>
                <c:pt idx="7">
                  <c:v>Using virtual reality</c:v>
                </c:pt>
              </c:strCache>
            </c:strRef>
          </c:cat>
          <c:val>
            <c:numRef>
              <c:f>Sheet1!$C$2:$C$9</c:f>
              <c:numCache>
                <c:formatCode>General</c:formatCode>
                <c:ptCount val="8"/>
                <c:pt idx="0">
                  <c:v>0.55000000000000004</c:v>
                </c:pt>
                <c:pt idx="1">
                  <c:v>0.79</c:v>
                </c:pt>
                <c:pt idx="2">
                  <c:v>0.38</c:v>
                </c:pt>
                <c:pt idx="3">
                  <c:v>0.21</c:v>
                </c:pt>
                <c:pt idx="4">
                  <c:v>0.31</c:v>
                </c:pt>
                <c:pt idx="5">
                  <c:v>0.59</c:v>
                </c:pt>
                <c:pt idx="6">
                  <c:v>0.08</c:v>
                </c:pt>
                <c:pt idx="7">
                  <c:v>0.04</c:v>
                </c:pt>
              </c:numCache>
            </c:numRef>
          </c:val>
          <c:extLst>
            <c:ext xmlns:c16="http://schemas.microsoft.com/office/drawing/2014/chart" uri="{C3380CC4-5D6E-409C-BE32-E72D297353CC}">
              <c16:uniqueId val="{00000011-BA73-46E0-8FE6-376AE8B33A48}"/>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F315-4374-B56F-50534E6AD356}"/>
                </c:ext>
              </c:extLst>
            </c:dLbl>
            <c:dLbl>
              <c:idx val="1"/>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315-4374-B56F-50534E6AD356}"/>
                </c:ext>
              </c:extLst>
            </c:dLbl>
            <c:dLbl>
              <c:idx val="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F315-4374-B56F-50534E6AD356}"/>
                </c:ext>
              </c:extLst>
            </c:dLbl>
            <c:dLbl>
              <c:idx val="3"/>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F315-4374-B56F-50534E6AD356}"/>
                </c:ext>
              </c:extLst>
            </c:dLbl>
            <c:dLbl>
              <c:idx val="4"/>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F315-4374-B56F-50534E6AD356}"/>
                </c:ext>
              </c:extLst>
            </c:dLbl>
            <c:dLbl>
              <c:idx val="5"/>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F315-4374-B56F-50534E6AD356}"/>
                </c:ext>
              </c:extLst>
            </c:dLbl>
            <c:dLbl>
              <c:idx val="6"/>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F315-4374-B56F-50534E6AD356}"/>
                </c:ext>
              </c:extLst>
            </c:dLbl>
            <c:dLbl>
              <c:idx val="7"/>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F315-4374-B56F-50534E6AD356}"/>
                </c:ext>
              </c:extLst>
            </c:dLbl>
            <c:dLbl>
              <c:idx val="8"/>
              <c:numFmt formatCode="#,##0.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F315-4374-B56F-50534E6AD356}"/>
                </c:ext>
              </c:extLst>
            </c:dLbl>
            <c:dLbl>
              <c:idx val="9"/>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F315-4374-B56F-50534E6AD356}"/>
                </c:ext>
              </c:extLst>
            </c:dLbl>
            <c:dLbl>
              <c:idx val="1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F315-4374-B56F-50534E6AD356}"/>
                </c:ext>
              </c:extLst>
            </c:dLbl>
            <c:dLbl>
              <c:idx val="1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F315-4374-B56F-50534E6AD356}"/>
                </c:ext>
              </c:extLst>
            </c:dLbl>
            <c:dLbl>
              <c:idx val="1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F315-4374-B56F-50534E6AD356}"/>
                </c:ext>
              </c:extLst>
            </c:dLbl>
            <c:dLbl>
              <c:idx val="1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F315-4374-B56F-50534E6AD356}"/>
                </c:ext>
              </c:extLst>
            </c:dLbl>
            <c:dLbl>
              <c:idx val="14"/>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F315-4374-B56F-50534E6AD356}"/>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India</c:v>
                </c:pt>
                <c:pt idx="1">
                  <c:v>United States</c:v>
                </c:pt>
                <c:pt idx="2">
                  <c:v>Indonesia</c:v>
                </c:pt>
                <c:pt idx="3">
                  <c:v>Brazil</c:v>
                </c:pt>
                <c:pt idx="4">
                  <c:v>Mexico</c:v>
                </c:pt>
                <c:pt idx="5">
                  <c:v>Philippines</c:v>
                </c:pt>
                <c:pt idx="6">
                  <c:v>Vietnam</c:v>
                </c:pt>
                <c:pt idx="7">
                  <c:v>Thailand</c:v>
                </c:pt>
                <c:pt idx="8">
                  <c:v>Bangladesh</c:v>
                </c:pt>
                <c:pt idx="9">
                  <c:v>Egypt</c:v>
                </c:pt>
                <c:pt idx="10">
                  <c:v>Pakistan</c:v>
                </c:pt>
                <c:pt idx="11">
                  <c:v>United Kingdom</c:v>
                </c:pt>
                <c:pt idx="12">
                  <c:v>Colombia</c:v>
                </c:pt>
                <c:pt idx="13">
                  <c:v>Turkey</c:v>
                </c:pt>
                <c:pt idx="14">
                  <c:v>France</c:v>
                </c:pt>
              </c:strCache>
            </c:strRef>
          </c:cat>
          <c:val>
            <c:numRef>
              <c:f>Sheet1!$B$2:$B$16</c:f>
              <c:numCache>
                <c:formatCode>General</c:formatCode>
                <c:ptCount val="15"/>
                <c:pt idx="0">
                  <c:v>314.60000000000002</c:v>
                </c:pt>
                <c:pt idx="1">
                  <c:v>175</c:v>
                </c:pt>
                <c:pt idx="2">
                  <c:v>119.9</c:v>
                </c:pt>
                <c:pt idx="3">
                  <c:v>109.05</c:v>
                </c:pt>
                <c:pt idx="4">
                  <c:v>83.75</c:v>
                </c:pt>
                <c:pt idx="5">
                  <c:v>80.3</c:v>
                </c:pt>
                <c:pt idx="6">
                  <c:v>66.2</c:v>
                </c:pt>
                <c:pt idx="7">
                  <c:v>48.1</c:v>
                </c:pt>
                <c:pt idx="8">
                  <c:v>43.25</c:v>
                </c:pt>
                <c:pt idx="9">
                  <c:v>42</c:v>
                </c:pt>
                <c:pt idx="10">
                  <c:v>37.299999999999997</c:v>
                </c:pt>
                <c:pt idx="11">
                  <c:v>34.4</c:v>
                </c:pt>
                <c:pt idx="12">
                  <c:v>33.5</c:v>
                </c:pt>
                <c:pt idx="13">
                  <c:v>32.799999999999997</c:v>
                </c:pt>
                <c:pt idx="14">
                  <c:v>30.4</c:v>
                </c:pt>
              </c:numCache>
            </c:numRef>
          </c:val>
          <c:extLst>
            <c:ext xmlns:c16="http://schemas.microsoft.com/office/drawing/2014/chart" uri="{C3380CC4-5D6E-409C-BE32-E72D297353CC}">
              <c16:uniqueId val="{0000000F-F315-4374-B56F-50534E6AD356}"/>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EA4F-461F-932C-C1A1959571FD}"/>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A4F-461F-932C-C1A1959571FD}"/>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EA4F-461F-932C-C1A1959571FD}"/>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EA4F-461F-932C-C1A1959571FD}"/>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EA4F-461F-932C-C1A1959571FD}"/>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EA4F-461F-932C-C1A1959571FD}"/>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EA4F-461F-932C-C1A1959571FD}"/>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EA4F-461F-932C-C1A1959571FD}"/>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EA4F-461F-932C-C1A1959571FD}"/>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EA4F-461F-932C-C1A1959571FD}"/>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221.72</c:v>
                </c:pt>
                <c:pt idx="1">
                  <c:v>223.42</c:v>
                </c:pt>
                <c:pt idx="2">
                  <c:v>235.36</c:v>
                </c:pt>
                <c:pt idx="3">
                  <c:v>238.03</c:v>
                </c:pt>
                <c:pt idx="4">
                  <c:v>240.83</c:v>
                </c:pt>
                <c:pt idx="5">
                  <c:v>243.58</c:v>
                </c:pt>
                <c:pt idx="6">
                  <c:v>246.3</c:v>
                </c:pt>
                <c:pt idx="7">
                  <c:v>248.99</c:v>
                </c:pt>
                <c:pt idx="8">
                  <c:v>251.65</c:v>
                </c:pt>
                <c:pt idx="9">
                  <c:v>254.26</c:v>
                </c:pt>
              </c:numCache>
            </c:numRef>
          </c:val>
          <c:extLst>
            <c:ext xmlns:c16="http://schemas.microsoft.com/office/drawing/2014/chart" uri="{C3380CC4-5D6E-409C-BE32-E72D297353CC}">
              <c16:uniqueId val="{0000000A-EA4F-461F-932C-C1A1959571FD}"/>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B6AA-4E0C-8B55-F0D957D41414}"/>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B6AA-4E0C-8B55-F0D957D41414}"/>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B6AA-4E0C-8B55-F0D957D41414}"/>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B6AA-4E0C-8B55-F0D957D41414}"/>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B6AA-4E0C-8B55-F0D957D41414}"/>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B6AA-4E0C-8B55-F0D957D41414}"/>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B6AA-4E0C-8B55-F0D957D41414}"/>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B6AA-4E0C-8B55-F0D957D41414}"/>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B6AA-4E0C-8B55-F0D957D41414}"/>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B6AA-4E0C-8B55-F0D957D41414}"/>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Sheet1!$A$2:$A$11</c:f>
              <c:strCache>
                <c:ptCount val="10"/>
                <c:pt idx="0">
                  <c:v>2018</c:v>
                </c:pt>
                <c:pt idx="1">
                  <c:v>2019</c:v>
                </c:pt>
                <c:pt idx="2">
                  <c:v>2020</c:v>
                </c:pt>
                <c:pt idx="3">
                  <c:v>2021</c:v>
                </c:pt>
                <c:pt idx="4">
                  <c:v>2022</c:v>
                </c:pt>
                <c:pt idx="5">
                  <c:v>2023*</c:v>
                </c:pt>
                <c:pt idx="6">
                  <c:v>2024*</c:v>
                </c:pt>
                <c:pt idx="7">
                  <c:v>2025*</c:v>
                </c:pt>
                <c:pt idx="8">
                  <c:v>2026*</c:v>
                </c:pt>
                <c:pt idx="9">
                  <c:v>2027*</c:v>
                </c:pt>
              </c:strCache>
            </c:strRef>
          </c:cat>
          <c:val>
            <c:numRef>
              <c:f>Sheet1!$B$2:$B$11</c:f>
              <c:numCache>
                <c:formatCode>General</c:formatCode>
                <c:ptCount val="10"/>
                <c:pt idx="0">
                  <c:v>0.67190000000000005</c:v>
                </c:pt>
                <c:pt idx="1">
                  <c:v>0.67300000000000004</c:v>
                </c:pt>
                <c:pt idx="2">
                  <c:v>0.69820000000000004</c:v>
                </c:pt>
                <c:pt idx="3">
                  <c:v>0.70179999999999998</c:v>
                </c:pt>
                <c:pt idx="4">
                  <c:v>0.71430000000000005</c:v>
                </c:pt>
                <c:pt idx="5">
                  <c:v>0.72130000000000005</c:v>
                </c:pt>
                <c:pt idx="6">
                  <c:v>0.73170000000000002</c:v>
                </c:pt>
                <c:pt idx="7">
                  <c:v>0.7399</c:v>
                </c:pt>
                <c:pt idx="8">
                  <c:v>0.74939999999999996</c:v>
                </c:pt>
                <c:pt idx="9">
                  <c:v>0.75790000000000002</c:v>
                </c:pt>
              </c:numCache>
            </c:numRef>
          </c:val>
          <c:extLst>
            <c:ext xmlns:c16="http://schemas.microsoft.com/office/drawing/2014/chart" uri="{C3380CC4-5D6E-409C-BE32-E72D297353CC}">
              <c16:uniqueId val="{0000000A-B6AA-4E0C-8B55-F0D957D41414}"/>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internet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Column1</c:v>
                </c:pt>
              </c:strCache>
            </c:strRef>
          </c:tx>
          <c:spPr>
            <a:ln>
              <a:solidFill>
                <a:srgbClr val="2875DD"/>
              </a:solidFill>
            </a:ln>
          </c:spPr>
          <c:marker>
            <c:symbol val="circle"/>
            <c:size val="5"/>
            <c:spPr>
              <a:solidFill>
                <a:srgbClr val="2875DD"/>
              </a:solidFill>
              <a:ln>
                <a:solidFill>
                  <a:srgbClr val="2875DD"/>
                </a:solidFill>
              </a:ln>
            </c:spPr>
          </c:marker>
          <c:cat>
            <c:strRef>
              <c:f>Sheet1!$A$2:$A$53</c:f>
              <c:strCache>
                <c:ptCount val="52"/>
                <c:pt idx="0">
                  <c:v>Q1 '10</c:v>
                </c:pt>
                <c:pt idx="1">
                  <c:v>Q2 '10</c:v>
                </c:pt>
                <c:pt idx="2">
                  <c:v>Q3 '10</c:v>
                </c:pt>
                <c:pt idx="3">
                  <c:v>Q4 '10</c:v>
                </c:pt>
                <c:pt idx="4">
                  <c:v>Q1 '11</c:v>
                </c:pt>
                <c:pt idx="5">
                  <c:v>Q2 '11</c:v>
                </c:pt>
                <c:pt idx="6">
                  <c:v>Q3 '11</c:v>
                </c:pt>
                <c:pt idx="7">
                  <c:v>Q4 '11</c:v>
                </c:pt>
                <c:pt idx="8">
                  <c:v>Q1 '12</c:v>
                </c:pt>
                <c:pt idx="9">
                  <c:v>Q2 '12</c:v>
                </c:pt>
                <c:pt idx="10">
                  <c:v>Q3 '12</c:v>
                </c:pt>
                <c:pt idx="11">
                  <c:v>Q4 '12</c:v>
                </c:pt>
                <c:pt idx="12">
                  <c:v>Q1 '13</c:v>
                </c:pt>
                <c:pt idx="13">
                  <c:v>Q2 '13</c:v>
                </c:pt>
                <c:pt idx="14">
                  <c:v>Q3 '13</c:v>
                </c:pt>
                <c:pt idx="15">
                  <c:v>Q4 '13</c:v>
                </c:pt>
                <c:pt idx="16">
                  <c:v>Q1 '14</c:v>
                </c:pt>
                <c:pt idx="17">
                  <c:v>Q2 '14</c:v>
                </c:pt>
                <c:pt idx="18">
                  <c:v>Q3 '14</c:v>
                </c:pt>
                <c:pt idx="19">
                  <c:v>Q4 '14</c:v>
                </c:pt>
                <c:pt idx="20">
                  <c:v>Q1 '15</c:v>
                </c:pt>
                <c:pt idx="21">
                  <c:v>Q2 '15</c:v>
                </c:pt>
                <c:pt idx="22">
                  <c:v>Q3 '15</c:v>
                </c:pt>
                <c:pt idx="23">
                  <c:v>Q4 '15</c:v>
                </c:pt>
                <c:pt idx="24">
                  <c:v>Q1 '16</c:v>
                </c:pt>
                <c:pt idx="25">
                  <c:v>Q2 '16</c:v>
                </c:pt>
                <c:pt idx="26">
                  <c:v>Q3 '16</c:v>
                </c:pt>
                <c:pt idx="27">
                  <c:v>Q4 '16</c:v>
                </c:pt>
                <c:pt idx="28">
                  <c:v>Q1 '17</c:v>
                </c:pt>
                <c:pt idx="29">
                  <c:v>Q2 '17</c:v>
                </c:pt>
                <c:pt idx="30">
                  <c:v>Q3 '17</c:v>
                </c:pt>
                <c:pt idx="31">
                  <c:v>Q4 '17</c:v>
                </c:pt>
                <c:pt idx="32">
                  <c:v>Q1 '18</c:v>
                </c:pt>
                <c:pt idx="33">
                  <c:v>Q2 '18</c:v>
                </c:pt>
                <c:pt idx="34">
                  <c:v>Q3 '18</c:v>
                </c:pt>
                <c:pt idx="35">
                  <c:v>Q4 '18</c:v>
                </c:pt>
                <c:pt idx="36">
                  <c:v>Q1 '19</c:v>
                </c:pt>
                <c:pt idx="37">
                  <c:v>Q2 '19</c:v>
                </c:pt>
                <c:pt idx="38">
                  <c:v>Q3 '19</c:v>
                </c:pt>
                <c:pt idx="39">
                  <c:v>Q4 '19</c:v>
                </c:pt>
                <c:pt idx="40">
                  <c:v>Q1 '20</c:v>
                </c:pt>
                <c:pt idx="41">
                  <c:v>Q2 '20</c:v>
                </c:pt>
                <c:pt idx="42">
                  <c:v>Q3 '20</c:v>
                </c:pt>
                <c:pt idx="43">
                  <c:v>Q4 '20</c:v>
                </c:pt>
                <c:pt idx="44">
                  <c:v>Q1 '21</c:v>
                </c:pt>
                <c:pt idx="45">
                  <c:v>Q2 '21</c:v>
                </c:pt>
                <c:pt idx="46">
                  <c:v>Q3 '21</c:v>
                </c:pt>
                <c:pt idx="47">
                  <c:v>Q4 '21</c:v>
                </c:pt>
                <c:pt idx="48">
                  <c:v>Q1 '22</c:v>
                </c:pt>
                <c:pt idx="49">
                  <c:v>Q2 '22</c:v>
                </c:pt>
                <c:pt idx="50">
                  <c:v>Q3 '22</c:v>
                </c:pt>
                <c:pt idx="51">
                  <c:v>Q4 '22</c:v>
                </c:pt>
              </c:strCache>
            </c:strRef>
          </c:cat>
          <c:val>
            <c:numRef>
              <c:f>Sheet1!$B$2:$B$53</c:f>
              <c:numCache>
                <c:formatCode>General</c:formatCode>
                <c:ptCount val="52"/>
                <c:pt idx="0">
                  <c:v>130</c:v>
                </c:pt>
                <c:pt idx="1">
                  <c:v>137</c:v>
                </c:pt>
                <c:pt idx="2">
                  <c:v>144</c:v>
                </c:pt>
                <c:pt idx="3">
                  <c:v>154</c:v>
                </c:pt>
                <c:pt idx="4">
                  <c:v>163</c:v>
                </c:pt>
                <c:pt idx="5">
                  <c:v>169</c:v>
                </c:pt>
                <c:pt idx="6">
                  <c:v>176</c:v>
                </c:pt>
                <c:pt idx="7">
                  <c:v>179</c:v>
                </c:pt>
                <c:pt idx="8">
                  <c:v>183</c:v>
                </c:pt>
                <c:pt idx="9">
                  <c:v>186</c:v>
                </c:pt>
                <c:pt idx="10">
                  <c:v>189</c:v>
                </c:pt>
                <c:pt idx="11">
                  <c:v>193</c:v>
                </c:pt>
                <c:pt idx="12">
                  <c:v>195</c:v>
                </c:pt>
                <c:pt idx="13">
                  <c:v>198</c:v>
                </c:pt>
                <c:pt idx="14">
                  <c:v>199</c:v>
                </c:pt>
                <c:pt idx="15">
                  <c:v>201</c:v>
                </c:pt>
                <c:pt idx="16">
                  <c:v>202</c:v>
                </c:pt>
                <c:pt idx="17">
                  <c:v>204</c:v>
                </c:pt>
                <c:pt idx="18">
                  <c:v>206</c:v>
                </c:pt>
                <c:pt idx="19">
                  <c:v>208</c:v>
                </c:pt>
                <c:pt idx="20">
                  <c:v>210</c:v>
                </c:pt>
                <c:pt idx="21">
                  <c:v>213</c:v>
                </c:pt>
                <c:pt idx="22">
                  <c:v>217</c:v>
                </c:pt>
                <c:pt idx="23">
                  <c:v>219</c:v>
                </c:pt>
                <c:pt idx="24">
                  <c:v>222</c:v>
                </c:pt>
                <c:pt idx="25">
                  <c:v>226</c:v>
                </c:pt>
                <c:pt idx="26">
                  <c:v>229</c:v>
                </c:pt>
                <c:pt idx="27">
                  <c:v>231</c:v>
                </c:pt>
                <c:pt idx="28">
                  <c:v>234</c:v>
                </c:pt>
                <c:pt idx="29">
                  <c:v>236</c:v>
                </c:pt>
                <c:pt idx="30">
                  <c:v>239</c:v>
                </c:pt>
                <c:pt idx="31">
                  <c:v>239</c:v>
                </c:pt>
                <c:pt idx="32">
                  <c:v>241</c:v>
                </c:pt>
                <c:pt idx="33">
                  <c:v>241</c:v>
                </c:pt>
                <c:pt idx="34">
                  <c:v>242</c:v>
                </c:pt>
                <c:pt idx="35">
                  <c:v>242</c:v>
                </c:pt>
                <c:pt idx="36">
                  <c:v>243</c:v>
                </c:pt>
                <c:pt idx="37">
                  <c:v>244</c:v>
                </c:pt>
                <c:pt idx="38">
                  <c:v>247</c:v>
                </c:pt>
                <c:pt idx="39">
                  <c:v>248</c:v>
                </c:pt>
                <c:pt idx="40">
                  <c:v>253</c:v>
                </c:pt>
                <c:pt idx="41">
                  <c:v>256</c:v>
                </c:pt>
                <c:pt idx="42">
                  <c:v>255</c:v>
                </c:pt>
                <c:pt idx="43">
                  <c:v>258</c:v>
                </c:pt>
                <c:pt idx="44">
                  <c:v>259</c:v>
                </c:pt>
                <c:pt idx="45">
                  <c:v>259</c:v>
                </c:pt>
                <c:pt idx="46">
                  <c:v>261</c:v>
                </c:pt>
                <c:pt idx="47">
                  <c:v>262</c:v>
                </c:pt>
                <c:pt idx="48">
                  <c:v>263</c:v>
                </c:pt>
                <c:pt idx="49">
                  <c:v>264</c:v>
                </c:pt>
                <c:pt idx="50">
                  <c:v>266</c:v>
                </c:pt>
                <c:pt idx="51">
                  <c:v>266</c:v>
                </c:pt>
              </c:numCache>
            </c:numRef>
          </c:val>
          <c:smooth val="0"/>
          <c:extLst>
            <c:ext xmlns:c16="http://schemas.microsoft.com/office/drawing/2014/chart" uri="{C3380CC4-5D6E-409C-BE32-E72D297353CC}">
              <c16:uniqueId val="{00000034-DC45-458D-87BA-E2AD74F642DB}"/>
            </c:ext>
          </c:extLst>
        </c:ser>
        <c:dLbls>
          <c:showLegendKey val="0"/>
          <c:showVal val="0"/>
          <c:showCatName val="0"/>
          <c:showSerName val="0"/>
          <c:showPercent val="0"/>
          <c:showBubbleSize val="0"/>
        </c:dLbls>
        <c:marker val="1"/>
        <c:smooth val="0"/>
        <c:axId val="67451136"/>
        <c:axId val="66437120"/>
      </c:line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1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Female</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69C1-4DC0-ABA2-9AB1E16A2E6B}"/>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69C1-4DC0-ABA2-9AB1E16A2E6B}"/>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69C1-4DC0-ABA2-9AB1E16A2E6B}"/>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69C1-4DC0-ABA2-9AB1E16A2E6B}"/>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69C1-4DC0-ABA2-9AB1E16A2E6B}"/>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69C1-4DC0-ABA2-9AB1E16A2E6B}"/>
                </c:ext>
              </c:extLst>
            </c:dLbl>
            <c:dLbl>
              <c:idx val="6"/>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69C1-4DC0-ABA2-9AB1E16A2E6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formatCode>General</c:formatCode>
                <c:ptCount val="7"/>
                <c:pt idx="0">
                  <c:v>2.1999999999999999E-2</c:v>
                </c:pt>
                <c:pt idx="1">
                  <c:v>9.6000000000000002E-2</c:v>
                </c:pt>
                <c:pt idx="2">
                  <c:v>0.11899999999999999</c:v>
                </c:pt>
                <c:pt idx="3">
                  <c:v>9.5000000000000001E-2</c:v>
                </c:pt>
                <c:pt idx="4">
                  <c:v>7.5999999999999998E-2</c:v>
                </c:pt>
                <c:pt idx="5">
                  <c:v>6.6000000000000003E-2</c:v>
                </c:pt>
                <c:pt idx="6">
                  <c:v>7.0000000000000007E-2</c:v>
                </c:pt>
              </c:numCache>
            </c:numRef>
          </c:val>
          <c:extLst>
            <c:ext xmlns:c16="http://schemas.microsoft.com/office/drawing/2014/chart" uri="{C3380CC4-5D6E-409C-BE32-E72D297353CC}">
              <c16:uniqueId val="{00000007-69C1-4DC0-ABA2-9AB1E16A2E6B}"/>
            </c:ext>
          </c:extLst>
        </c:ser>
        <c:ser>
          <c:idx val="1"/>
          <c:order val="1"/>
          <c:tx>
            <c:strRef>
              <c:f>Sheet1!$C$1</c:f>
              <c:strCache>
                <c:ptCount val="1"/>
                <c:pt idx="0">
                  <c:v>Male</c:v>
                </c:pt>
              </c:strCache>
            </c:strRef>
          </c:tx>
          <c:spPr>
            <a:solidFill>
              <a:srgbClr val="0F283E"/>
            </a:solidFill>
            <a:ln>
              <a:solidFill>
                <a:srgbClr val="0F283E"/>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69C1-4DC0-ABA2-9AB1E16A2E6B}"/>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69C1-4DC0-ABA2-9AB1E16A2E6B}"/>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69C1-4DC0-ABA2-9AB1E16A2E6B}"/>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69C1-4DC0-ABA2-9AB1E16A2E6B}"/>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69C1-4DC0-ABA2-9AB1E16A2E6B}"/>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69C1-4DC0-ABA2-9AB1E16A2E6B}"/>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69C1-4DC0-ABA2-9AB1E16A2E6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13-17</c:v>
                </c:pt>
                <c:pt idx="1">
                  <c:v>18-24</c:v>
                </c:pt>
                <c:pt idx="2">
                  <c:v>25-34</c:v>
                </c:pt>
                <c:pt idx="3">
                  <c:v>35-44</c:v>
                </c:pt>
                <c:pt idx="4">
                  <c:v>45-54</c:v>
                </c:pt>
                <c:pt idx="5">
                  <c:v>55-64</c:v>
                </c:pt>
                <c:pt idx="6">
                  <c:v>65+</c:v>
                </c:pt>
              </c:strCache>
            </c:strRef>
          </c:cat>
          <c:val>
            <c:numRef>
              <c:f>Sheet1!$C$2:$C$8</c:f>
              <c:numCache>
                <c:formatCode>General</c:formatCode>
                <c:ptCount val="7"/>
                <c:pt idx="0">
                  <c:v>1.7000000000000001E-2</c:v>
                </c:pt>
                <c:pt idx="1">
                  <c:v>8.4000000000000005E-2</c:v>
                </c:pt>
                <c:pt idx="2">
                  <c:v>0.11700000000000001</c:v>
                </c:pt>
                <c:pt idx="3">
                  <c:v>8.6999999999999994E-2</c:v>
                </c:pt>
                <c:pt idx="4">
                  <c:v>6.2E-2</c:v>
                </c:pt>
                <c:pt idx="5">
                  <c:v>4.7E-2</c:v>
                </c:pt>
                <c:pt idx="6">
                  <c:v>4.2999999999999997E-2</c:v>
                </c:pt>
              </c:numCache>
            </c:numRef>
          </c:val>
          <c:extLst>
            <c:ext xmlns:c16="http://schemas.microsoft.com/office/drawing/2014/chart" uri="{C3380CC4-5D6E-409C-BE32-E72D297353CC}">
              <c16:uniqueId val="{0000000F-69C1-4DC0-ABA2-9AB1E16A2E6B}"/>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CE03-4F92-BB9F-77C9474D8558}"/>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CE03-4F92-BB9F-77C9474D8558}"/>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Sheet1!$A$2:$A$3</c:f>
              <c:strCache>
                <c:ptCount val="2"/>
                <c:pt idx="0">
                  <c:v>Men</c:v>
                </c:pt>
                <c:pt idx="1">
                  <c:v>Women</c:v>
                </c:pt>
              </c:strCache>
            </c:strRef>
          </c:cat>
          <c:val>
            <c:numRef>
              <c:f>Sheet1!$B$2:$B$3</c:f>
              <c:numCache>
                <c:formatCode>General</c:formatCode>
                <c:ptCount val="2"/>
                <c:pt idx="0">
                  <c:v>0.61</c:v>
                </c:pt>
                <c:pt idx="1">
                  <c:v>0.77</c:v>
                </c:pt>
              </c:numCache>
            </c:numRef>
          </c:val>
          <c:extLst>
            <c:ext xmlns:c16="http://schemas.microsoft.com/office/drawing/2014/chart" uri="{C3380CC4-5D6E-409C-BE32-E72D297353CC}">
              <c16:uniqueId val="{00000002-CE03-4F92-BB9F-77C9474D8558}"/>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EB2-421C-95D9-2AD9E9DE0707}"/>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EB2-421C-95D9-2AD9E9DE0707}"/>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8EB2-421C-95D9-2AD9E9DE0707}"/>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8EB2-421C-95D9-2AD9E9DE0707}"/>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Sheet1!$A$2:$A$5</c:f>
              <c:strCache>
                <c:ptCount val="4"/>
                <c:pt idx="0">
                  <c:v>18-29</c:v>
                </c:pt>
                <c:pt idx="1">
                  <c:v>30-49</c:v>
                </c:pt>
                <c:pt idx="2">
                  <c:v>50-64</c:v>
                </c:pt>
                <c:pt idx="3">
                  <c:v>65+</c:v>
                </c:pt>
              </c:strCache>
            </c:strRef>
          </c:cat>
          <c:val>
            <c:numRef>
              <c:f>Sheet1!$B$2:$B$5</c:f>
              <c:numCache>
                <c:formatCode>General</c:formatCode>
                <c:ptCount val="4"/>
                <c:pt idx="0">
                  <c:v>0.7</c:v>
                </c:pt>
                <c:pt idx="1">
                  <c:v>0.77</c:v>
                </c:pt>
                <c:pt idx="2">
                  <c:v>0.73</c:v>
                </c:pt>
                <c:pt idx="3">
                  <c:v>0.5</c:v>
                </c:pt>
              </c:numCache>
            </c:numRef>
          </c:val>
          <c:extLst>
            <c:ext xmlns:c16="http://schemas.microsoft.com/office/drawing/2014/chart" uri="{C3380CC4-5D6E-409C-BE32-E72D297353CC}">
              <c16:uniqueId val="{00000004-8EB2-421C-95D9-2AD9E9DE0707}"/>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35F-4196-A7A6-BE10E895BB00}"/>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35F-4196-A7A6-BE10E895BB00}"/>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35F-4196-A7A6-BE10E895BB00}"/>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Sheet1!$A$2:$A$4</c:f>
              <c:strCache>
                <c:ptCount val="3"/>
                <c:pt idx="0">
                  <c:v>High school or less</c:v>
                </c:pt>
                <c:pt idx="1">
                  <c:v>Some college</c:v>
                </c:pt>
                <c:pt idx="2">
                  <c:v>College +</c:v>
                </c:pt>
              </c:strCache>
            </c:strRef>
          </c:cat>
          <c:val>
            <c:numRef>
              <c:f>Sheet1!$B$2:$B$4</c:f>
              <c:numCache>
                <c:formatCode>General</c:formatCode>
                <c:ptCount val="3"/>
                <c:pt idx="0">
                  <c:v>0.64</c:v>
                </c:pt>
                <c:pt idx="1">
                  <c:v>0.71</c:v>
                </c:pt>
                <c:pt idx="2">
                  <c:v>0.73</c:v>
                </c:pt>
              </c:numCache>
            </c:numRef>
          </c:val>
          <c:extLst>
            <c:ext xmlns:c16="http://schemas.microsoft.com/office/drawing/2014/chart" uri="{C3380CC4-5D6E-409C-BE32-E72D297353CC}">
              <c16:uniqueId val="{00000003-235F-4196-A7A6-BE10E895BB00}"/>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1204-42D6-AA84-2A279D38810D}"/>
                </c:ext>
              </c:extLst>
            </c:dLbl>
            <c:dLbl>
              <c:idx val="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204-42D6-AA84-2A279D38810D}"/>
                </c:ext>
              </c:extLst>
            </c:dLbl>
            <c:dLbl>
              <c:idx val="2"/>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204-42D6-AA84-2A279D38810D}"/>
                </c:ext>
              </c:extLst>
            </c:dLbl>
            <c:dLbl>
              <c:idx val="3"/>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204-42D6-AA84-2A279D38810D}"/>
                </c:ext>
              </c:extLst>
            </c:dLbl>
            <c:dLbl>
              <c:idx val="4"/>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1204-42D6-AA84-2A279D38810D}"/>
                </c:ext>
              </c:extLst>
            </c:dLbl>
            <c:dLbl>
              <c:idx val="5"/>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1204-42D6-AA84-2A279D38810D}"/>
                </c:ext>
              </c:extLst>
            </c:dLbl>
            <c:dLbl>
              <c:idx val="6"/>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1204-42D6-AA84-2A279D38810D}"/>
                </c:ext>
              </c:extLst>
            </c:dLbl>
            <c:dLbl>
              <c:idx val="7"/>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1204-42D6-AA84-2A279D38810D}"/>
                </c:ext>
              </c:extLst>
            </c:dLbl>
            <c:dLbl>
              <c:idx val="8"/>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1204-42D6-AA84-2A279D38810D}"/>
                </c:ext>
              </c:extLst>
            </c:dLbl>
            <c:dLbl>
              <c:idx val="9"/>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1204-42D6-AA84-2A279D38810D}"/>
                </c:ext>
              </c:extLst>
            </c:dLbl>
            <c:dLbl>
              <c:idx val="10"/>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1204-42D6-AA84-2A279D38810D}"/>
                </c:ext>
              </c:extLst>
            </c:dLbl>
            <c:dLbl>
              <c:idx val="11"/>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1204-42D6-AA84-2A279D38810D}"/>
                </c:ext>
              </c:extLst>
            </c:dLbl>
            <c:dLbl>
              <c:idx val="12"/>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1204-42D6-AA84-2A279D38810D}"/>
                </c:ext>
              </c:extLst>
            </c:dLbl>
            <c:dLbl>
              <c:idx val="13"/>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1204-42D6-AA84-2A279D38810D}"/>
                </c:ext>
              </c:extLst>
            </c:dLbl>
            <c:dLbl>
              <c:idx val="14"/>
              <c:numFmt formatCode="#,##0.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1204-42D6-AA84-2A279D38810D}"/>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youtube.com</c:v>
                </c:pt>
                <c:pt idx="1">
                  <c:v>tiktok.com</c:v>
                </c:pt>
                <c:pt idx="2">
                  <c:v>media1.tenor.co</c:v>
                </c:pt>
                <c:pt idx="3">
                  <c:v>gofundme.com</c:v>
                </c:pt>
                <c:pt idx="4">
                  <c:v>cbsnews.com</c:v>
                </c:pt>
                <c:pt idx="5">
                  <c:v>people.com</c:v>
                </c:pt>
                <c:pt idx="6">
                  <c:v>today.com</c:v>
                </c:pt>
                <c:pt idx="7">
                  <c:v>variety.com</c:v>
                </c:pt>
                <c:pt idx="8">
                  <c:v>tmz.com</c:v>
                </c:pt>
                <c:pt idx="9">
                  <c:v>dailymail.co.uk</c:v>
                </c:pt>
                <c:pt idx="10">
                  <c:v>amazon.com</c:v>
                </c:pt>
                <c:pt idx="11">
                  <c:v>onlyinyourstate.com</c:v>
                </c:pt>
                <c:pt idx="12">
                  <c:v>twitter.com</c:v>
                </c:pt>
                <c:pt idx="13">
                  <c:v>insider.com</c:v>
                </c:pt>
                <c:pt idx="14">
                  <c:v>cnn.com</c:v>
                </c:pt>
              </c:strCache>
            </c:strRef>
          </c:cat>
          <c:val>
            <c:numRef>
              <c:f>Sheet1!$B$2:$B$16</c:f>
              <c:numCache>
                <c:formatCode>General</c:formatCode>
                <c:ptCount val="15"/>
                <c:pt idx="0">
                  <c:v>170.5</c:v>
                </c:pt>
                <c:pt idx="1">
                  <c:v>113.9</c:v>
                </c:pt>
                <c:pt idx="2">
                  <c:v>111</c:v>
                </c:pt>
                <c:pt idx="3">
                  <c:v>103.7</c:v>
                </c:pt>
                <c:pt idx="4">
                  <c:v>82.1</c:v>
                </c:pt>
                <c:pt idx="5">
                  <c:v>81.599999999999994</c:v>
                </c:pt>
                <c:pt idx="6">
                  <c:v>73.900000000000006</c:v>
                </c:pt>
                <c:pt idx="7">
                  <c:v>72.400000000000006</c:v>
                </c:pt>
                <c:pt idx="8">
                  <c:v>69.2</c:v>
                </c:pt>
                <c:pt idx="9">
                  <c:v>61.2</c:v>
                </c:pt>
                <c:pt idx="10">
                  <c:v>60.6</c:v>
                </c:pt>
                <c:pt idx="11">
                  <c:v>59.3</c:v>
                </c:pt>
                <c:pt idx="12">
                  <c:v>57.8</c:v>
                </c:pt>
                <c:pt idx="13">
                  <c:v>56</c:v>
                </c:pt>
                <c:pt idx="14">
                  <c:v>55.2</c:v>
                </c:pt>
              </c:numCache>
            </c:numRef>
          </c:val>
          <c:extLst>
            <c:ext xmlns:c16="http://schemas.microsoft.com/office/drawing/2014/chart" uri="{C3380CC4-5D6E-409C-BE32-E72D297353CC}">
              <c16:uniqueId val="{0000000F-1204-42D6-AA84-2A279D38810D}"/>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5A50-4138-9F65-D99A3C2174DE}"/>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5A50-4138-9F65-D99A3C2174DE}"/>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5A50-4138-9F65-D99A3C2174DE}"/>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5A50-4138-9F65-D99A3C2174DE}"/>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5A50-4138-9F65-D99A3C2174DE}"/>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Posts from friends and people followed</c:v>
                </c:pt>
                <c:pt idx="1">
                  <c:v>Posts from groups joined</c:v>
                </c:pt>
                <c:pt idx="2">
                  <c:v>Posts from pages followed</c:v>
                </c:pt>
                <c:pt idx="3">
                  <c:v>Unconnected posts</c:v>
                </c:pt>
                <c:pt idx="4">
                  <c:v>Other</c:v>
                </c:pt>
              </c:strCache>
            </c:strRef>
          </c:cat>
          <c:val>
            <c:numRef>
              <c:f>Sheet1!$B$2:$B$6</c:f>
              <c:numCache>
                <c:formatCode>General</c:formatCode>
                <c:ptCount val="5"/>
                <c:pt idx="0">
                  <c:v>0.50700000000000001</c:v>
                </c:pt>
                <c:pt idx="1">
                  <c:v>0.156</c:v>
                </c:pt>
                <c:pt idx="2">
                  <c:v>8.2000000000000003E-2</c:v>
                </c:pt>
                <c:pt idx="3">
                  <c:v>0.16800000000000001</c:v>
                </c:pt>
                <c:pt idx="4">
                  <c:v>8.6999999999999994E-2</c:v>
                </c:pt>
              </c:numCache>
            </c:numRef>
          </c:val>
          <c:extLst>
            <c:ext xmlns:c16="http://schemas.microsoft.com/office/drawing/2014/chart" uri="{C3380CC4-5D6E-409C-BE32-E72D297353CC}">
              <c16:uniqueId val="{00000005-5A50-4138-9F65-D99A3C2174DE}"/>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Source of content views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39D-4B21-AF3E-96465C4A1A07}"/>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39D-4B21-AF3E-96465C4A1A07}"/>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39D-4B21-AF3E-96465C4A1A07}"/>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39D-4B21-AF3E-96465C4A1A07}"/>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39D-4B21-AF3E-96465C4A1A07}"/>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39D-4B21-AF3E-96465C4A1A07}"/>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Sheet1!$A$2:$A$7</c:f>
              <c:strCache>
                <c:ptCount val="6"/>
                <c:pt idx="0">
                  <c:v>Very favorable</c:v>
                </c:pt>
                <c:pt idx="1">
                  <c:v>Somewhat favorable</c:v>
                </c:pt>
                <c:pt idx="2">
                  <c:v>Somewhat unfavorable</c:v>
                </c:pt>
                <c:pt idx="3">
                  <c:v>Very unfavorable</c:v>
                </c:pt>
                <c:pt idx="4">
                  <c:v>Heard of, no opinion</c:v>
                </c:pt>
                <c:pt idx="5">
                  <c:v>Never heard of</c:v>
                </c:pt>
              </c:strCache>
            </c:strRef>
          </c:cat>
          <c:val>
            <c:numRef>
              <c:f>Sheet1!$B$2:$B$7</c:f>
              <c:numCache>
                <c:formatCode>General</c:formatCode>
                <c:ptCount val="6"/>
                <c:pt idx="0">
                  <c:v>0.2</c:v>
                </c:pt>
                <c:pt idx="1">
                  <c:v>0.33</c:v>
                </c:pt>
                <c:pt idx="2">
                  <c:v>0.2</c:v>
                </c:pt>
                <c:pt idx="3">
                  <c:v>0.19</c:v>
                </c:pt>
                <c:pt idx="4">
                  <c:v>0.06</c:v>
                </c:pt>
                <c:pt idx="5">
                  <c:v>0.01</c:v>
                </c:pt>
              </c:numCache>
            </c:numRef>
          </c:val>
          <c:extLst>
            <c:ext xmlns:c16="http://schemas.microsoft.com/office/drawing/2014/chart" uri="{C3380CC4-5D6E-409C-BE32-E72D297353CC}">
              <c16:uniqueId val="{00000006-239D-4B21-AF3E-96465C4A1A07}"/>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187E-4396-800A-E2CB38D09304}"/>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87E-4396-800A-E2CB38D09304}"/>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87E-4396-800A-E2CB38D09304}"/>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87E-4396-800A-E2CB38D09304}"/>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187E-4396-800A-E2CB38D09304}"/>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187E-4396-800A-E2CB38D09304}"/>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187E-4396-800A-E2CB38D09304}"/>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187E-4396-800A-E2CB38D09304}"/>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187E-4396-800A-E2CB38D09304}"/>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187E-4396-800A-E2CB38D09304}"/>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111.59</c:v>
                </c:pt>
                <c:pt idx="1">
                  <c:v>117.07</c:v>
                </c:pt>
                <c:pt idx="2">
                  <c:v>130.16999999999999</c:v>
                </c:pt>
                <c:pt idx="3">
                  <c:v>138.16</c:v>
                </c:pt>
                <c:pt idx="4">
                  <c:v>145.11000000000001</c:v>
                </c:pt>
                <c:pt idx="5">
                  <c:v>150.99</c:v>
                </c:pt>
                <c:pt idx="6">
                  <c:v>155.88999999999999</c:v>
                </c:pt>
                <c:pt idx="7">
                  <c:v>159.97</c:v>
                </c:pt>
                <c:pt idx="8">
                  <c:v>163.38</c:v>
                </c:pt>
                <c:pt idx="9">
                  <c:v>166.29</c:v>
                </c:pt>
              </c:numCache>
            </c:numRef>
          </c:val>
          <c:extLst>
            <c:ext xmlns:c16="http://schemas.microsoft.com/office/drawing/2014/chart" uri="{C3380CC4-5D6E-409C-BE32-E72D297353CC}">
              <c16:uniqueId val="{0000000A-187E-4396-800A-E2CB38D09304}"/>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19C-4AE5-8B35-50AA6D165DA9}"/>
                </c:ext>
              </c:extLst>
            </c:dLbl>
            <c:dLbl>
              <c:idx val="1"/>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19C-4AE5-8B35-50AA6D165DA9}"/>
                </c:ext>
              </c:extLst>
            </c:dLbl>
            <c:spPr>
              <a:noFill/>
              <a:ln>
                <a:noFill/>
              </a:ln>
              <a:effectLst/>
            </c:spPr>
            <c:txPr>
              <a:bodyPr/>
              <a:lstStyle/>
              <a:p>
                <a:pPr>
                  <a:defRPr sz="1100" b="0" smtId="4294967295">
                    <a:solidFill>
                      <a:prstClr val="black"/>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Sheet1!$A$2:$A$3</c:f>
              <c:strCache>
                <c:ptCount val="2"/>
                <c:pt idx="0">
                  <c:v>Women</c:v>
                </c:pt>
                <c:pt idx="1">
                  <c:v>Men</c:v>
                </c:pt>
              </c:strCache>
            </c:strRef>
          </c:cat>
          <c:val>
            <c:numRef>
              <c:f>Sheet1!$B$2:$B$3</c:f>
              <c:numCache>
                <c:formatCode>General</c:formatCode>
                <c:ptCount val="2"/>
                <c:pt idx="0">
                  <c:v>0.55700000000000005</c:v>
                </c:pt>
                <c:pt idx="1">
                  <c:v>0.443</c:v>
                </c:pt>
              </c:numCache>
            </c:numRef>
          </c:val>
          <c:extLst>
            <c:ext xmlns:c16="http://schemas.microsoft.com/office/drawing/2014/chart" uri="{C3380CC4-5D6E-409C-BE32-E72D297353CC}">
              <c16:uniqueId val="{00000002-D19C-4AE5-8B35-50AA6D165DA9}"/>
            </c:ext>
          </c:extLst>
        </c:ser>
        <c:dLbls>
          <c:showLegendKey val="0"/>
          <c:showVal val="0"/>
          <c:showCatName val="0"/>
          <c:showSerName val="0"/>
          <c:showPercent val="0"/>
          <c:showBubbleSize val="0"/>
        </c:dLbls>
        <c:gapWidth val="80"/>
        <c:overlap val="10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C258-40B8-9341-0EA3572CC189}"/>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C258-40B8-9341-0EA3572CC189}"/>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C258-40B8-9341-0EA3572CC189}"/>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C258-40B8-9341-0EA3572CC189}"/>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C258-40B8-9341-0EA3572CC189}"/>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C258-40B8-9341-0EA3572CC189}"/>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C258-40B8-9341-0EA3572CC189}"/>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formatCode>General</c:formatCode>
                <c:ptCount val="7"/>
                <c:pt idx="0">
                  <c:v>6.2E-2</c:v>
                </c:pt>
                <c:pt idx="1">
                  <c:v>0.25</c:v>
                </c:pt>
                <c:pt idx="2">
                  <c:v>0.27800000000000002</c:v>
                </c:pt>
                <c:pt idx="3">
                  <c:v>0.183</c:v>
                </c:pt>
                <c:pt idx="4">
                  <c:v>0.112</c:v>
                </c:pt>
                <c:pt idx="5">
                  <c:v>6.8000000000000005E-2</c:v>
                </c:pt>
                <c:pt idx="6">
                  <c:v>4.7E-2</c:v>
                </c:pt>
              </c:numCache>
            </c:numRef>
          </c:val>
          <c:extLst>
            <c:ext xmlns:c16="http://schemas.microsoft.com/office/drawing/2014/chart" uri="{C3380CC4-5D6E-409C-BE32-E72D297353CC}">
              <c16:uniqueId val="{00000007-C258-40B8-9341-0EA3572CC189}"/>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Instagram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A32-4568-9703-9EEEF8BEDC56}"/>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A32-4568-9703-9EEEF8BEDC56}"/>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8A32-4568-9703-9EEEF8BEDC56}"/>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8A32-4568-9703-9EEEF8BEDC56}"/>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Sheet1!$A$2:$A$5</c:f>
              <c:strCache>
                <c:ptCount val="4"/>
                <c:pt idx="0">
                  <c:v>18-29</c:v>
                </c:pt>
                <c:pt idx="1">
                  <c:v>30-49</c:v>
                </c:pt>
                <c:pt idx="2">
                  <c:v>50-64</c:v>
                </c:pt>
                <c:pt idx="3">
                  <c:v>65+</c:v>
                </c:pt>
              </c:strCache>
            </c:strRef>
          </c:cat>
          <c:val>
            <c:numRef>
              <c:f>Sheet1!$B$2:$B$5</c:f>
              <c:numCache>
                <c:formatCode>General</c:formatCode>
                <c:ptCount val="4"/>
                <c:pt idx="0">
                  <c:v>0.71</c:v>
                </c:pt>
                <c:pt idx="1">
                  <c:v>0.48</c:v>
                </c:pt>
                <c:pt idx="2">
                  <c:v>0.28999999999999998</c:v>
                </c:pt>
                <c:pt idx="3">
                  <c:v>0.13</c:v>
                </c:pt>
              </c:numCache>
            </c:numRef>
          </c:val>
          <c:extLst>
            <c:ext xmlns:c16="http://schemas.microsoft.com/office/drawing/2014/chart" uri="{C3380CC4-5D6E-409C-BE32-E72D297353CC}">
              <c16:uniqueId val="{00000004-8A32-4568-9703-9EEEF8BEDC56}"/>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title>
          <c:tx>
            <c:rich>
              <a:bodyPr/>
              <a:lstStyle/>
              <a:p>
                <a:pPr>
                  <a:defRPr/>
                </a:pPr>
                <a:r>
                  <a:rPr sz="1100" b="0">
                    <a:solidFill>
                      <a:srgbClr val="0F2741"/>
                    </a:solidFill>
                    <a:latin typeface="Open Sans"/>
                  </a:rPr>
                  <a:t>Age group</a:t>
                </a:r>
              </a:p>
            </c:rich>
          </c:tx>
          <c:overlay val="0"/>
        </c:title>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71B-4171-B8EA-542BCDB58714}"/>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71B-4171-B8EA-542BCDB58714}"/>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Sheet1!$A$2:$A$3</c:f>
              <c:strCache>
                <c:ptCount val="2"/>
                <c:pt idx="0">
                  <c:v>Men</c:v>
                </c:pt>
                <c:pt idx="1">
                  <c:v>Women</c:v>
                </c:pt>
              </c:strCache>
            </c:strRef>
          </c:cat>
          <c:val>
            <c:numRef>
              <c:f>Sheet1!$B$2:$B$3</c:f>
              <c:numCache>
                <c:formatCode>General</c:formatCode>
                <c:ptCount val="2"/>
                <c:pt idx="0">
                  <c:v>0.36</c:v>
                </c:pt>
                <c:pt idx="1">
                  <c:v>0.44</c:v>
                </c:pt>
              </c:numCache>
            </c:numRef>
          </c:val>
          <c:extLst>
            <c:ext xmlns:c16="http://schemas.microsoft.com/office/drawing/2014/chart" uri="{C3380CC4-5D6E-409C-BE32-E72D297353CC}">
              <c16:uniqueId val="{00000002-871B-4171-B8EA-542BCDB58714}"/>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title>
          <c:tx>
            <c:rich>
              <a:bodyPr/>
              <a:lstStyle/>
              <a:p>
                <a:pPr>
                  <a:defRPr/>
                </a:pPr>
                <a:r>
                  <a:rPr sz="1100" b="0">
                    <a:solidFill>
                      <a:srgbClr val="0F2741"/>
                    </a:solidFill>
                    <a:latin typeface="Open Sans"/>
                  </a:rPr>
                  <a:t>Gender</a:t>
                </a:r>
              </a:p>
            </c:rich>
          </c:tx>
          <c:overlay val="0"/>
        </c:title>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 internet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5E7-4EF4-B6D1-144527294DCD}"/>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5E7-4EF4-B6D1-144527294DCD}"/>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5E7-4EF4-B6D1-144527294DCD}"/>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5E7-4EF4-B6D1-144527294DCD}"/>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Sheet1!$A$2:$A$5</c:f>
              <c:strCache>
                <c:ptCount val="4"/>
                <c:pt idx="0">
                  <c:v>Inactive users</c:v>
                </c:pt>
                <c:pt idx="1">
                  <c:v>Light users</c:v>
                </c:pt>
                <c:pt idx="2">
                  <c:v>Middle users</c:v>
                </c:pt>
                <c:pt idx="3">
                  <c:v>Heavy users</c:v>
                </c:pt>
              </c:strCache>
            </c:strRef>
          </c:cat>
          <c:val>
            <c:numRef>
              <c:f>Sheet1!$B$2:$B$5</c:f>
              <c:numCache>
                <c:formatCode>General</c:formatCode>
                <c:ptCount val="4"/>
                <c:pt idx="0">
                  <c:v>0.14799999999999999</c:v>
                </c:pt>
                <c:pt idx="1">
                  <c:v>0.253</c:v>
                </c:pt>
                <c:pt idx="2">
                  <c:v>0.13700000000000001</c:v>
                </c:pt>
                <c:pt idx="3">
                  <c:v>0.46</c:v>
                </c:pt>
              </c:numCache>
            </c:numRef>
          </c:val>
          <c:extLst>
            <c:ext xmlns:c16="http://schemas.microsoft.com/office/drawing/2014/chart" uri="{C3380CC4-5D6E-409C-BE32-E72D297353CC}">
              <c16:uniqueId val="{00000004-D5E7-4EF4-B6D1-144527294DCD}"/>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439-423B-B553-E65EB1CE271C}"/>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439-423B-B553-E65EB1CE271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Sheet1!$A$2:$A$3</c:f>
              <c:strCache>
                <c:ptCount val="2"/>
                <c:pt idx="0">
                  <c:v>Daily active users (DAU)</c:v>
                </c:pt>
                <c:pt idx="1">
                  <c:v>Monthly active users (MAU)</c:v>
                </c:pt>
              </c:strCache>
            </c:strRef>
          </c:cat>
          <c:val>
            <c:numRef>
              <c:f>Sheet1!$B$2:$B$3</c:f>
              <c:numCache>
                <c:formatCode>General</c:formatCode>
                <c:ptCount val="2"/>
                <c:pt idx="0">
                  <c:v>0.621</c:v>
                </c:pt>
                <c:pt idx="1">
                  <c:v>0.85399999999999998</c:v>
                </c:pt>
              </c:numCache>
            </c:numRef>
          </c:val>
          <c:extLst>
            <c:ext xmlns:c16="http://schemas.microsoft.com/office/drawing/2014/chart" uri="{C3380CC4-5D6E-409C-BE32-E72D297353CC}">
              <c16:uniqueId val="{00000002-2439-423B-B553-E65EB1CE271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9245-4F63-B9BC-02500B582D0B}"/>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9245-4F63-B9BC-02500B582D0B}"/>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9245-4F63-B9BC-02500B582D0B}"/>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9245-4F63-B9BC-02500B582D0B}"/>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9245-4F63-B9BC-02500B582D0B}"/>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9245-4F63-B9BC-02500B582D0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Sheet1!$A$2:$A$7</c:f>
              <c:strCache>
                <c:ptCount val="6"/>
                <c:pt idx="0">
                  <c:v>Very favorable</c:v>
                </c:pt>
                <c:pt idx="1">
                  <c:v>Somewhat favorable</c:v>
                </c:pt>
                <c:pt idx="2">
                  <c:v>Somewhat unfavorable</c:v>
                </c:pt>
                <c:pt idx="3">
                  <c:v>Very unfavorable</c:v>
                </c:pt>
                <c:pt idx="4">
                  <c:v>Heard of, no opinion</c:v>
                </c:pt>
                <c:pt idx="5">
                  <c:v>Never heard of</c:v>
                </c:pt>
              </c:strCache>
            </c:strRef>
          </c:cat>
          <c:val>
            <c:numRef>
              <c:f>Sheet1!$B$2:$B$7</c:f>
              <c:numCache>
                <c:formatCode>General</c:formatCode>
                <c:ptCount val="6"/>
                <c:pt idx="0">
                  <c:v>0.16</c:v>
                </c:pt>
                <c:pt idx="1">
                  <c:v>0.33</c:v>
                </c:pt>
                <c:pt idx="2">
                  <c:v>0.14000000000000001</c:v>
                </c:pt>
                <c:pt idx="3">
                  <c:v>0.09</c:v>
                </c:pt>
                <c:pt idx="4">
                  <c:v>0.26</c:v>
                </c:pt>
                <c:pt idx="5">
                  <c:v>0.03</c:v>
                </c:pt>
              </c:numCache>
            </c:numRef>
          </c:val>
          <c:extLst>
            <c:ext xmlns:c16="http://schemas.microsoft.com/office/drawing/2014/chart" uri="{C3380CC4-5D6E-409C-BE32-E72D297353CC}">
              <c16:uniqueId val="{00000006-9245-4F63-B9BC-02500B582D0B}"/>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3457-4D0F-97DC-E853C491BB5F}"/>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457-4D0F-97DC-E853C491BB5F}"/>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3457-4D0F-97DC-E853C491BB5F}"/>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3457-4D0F-97DC-E853C491BB5F}"/>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3457-4D0F-97DC-E853C491BB5F}"/>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3457-4D0F-97DC-E853C491BB5F}"/>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3457-4D0F-97DC-E853C491BB5F}"/>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35.700000000000003</c:v>
                </c:pt>
                <c:pt idx="1">
                  <c:v>66.900000000000006</c:v>
                </c:pt>
                <c:pt idx="2">
                  <c:v>86.9</c:v>
                </c:pt>
                <c:pt idx="3">
                  <c:v>94.1</c:v>
                </c:pt>
                <c:pt idx="4">
                  <c:v>97.6</c:v>
                </c:pt>
                <c:pt idx="5">
                  <c:v>100.7</c:v>
                </c:pt>
                <c:pt idx="6">
                  <c:v>103.3</c:v>
                </c:pt>
              </c:numCache>
            </c:numRef>
          </c:val>
          <c:extLst>
            <c:ext xmlns:c16="http://schemas.microsoft.com/office/drawing/2014/chart" uri="{C3380CC4-5D6E-409C-BE32-E72D297353CC}">
              <c16:uniqueId val="{00000007-3457-4D0F-97DC-E853C491BB5F}"/>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active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Column1</c:v>
                </c:pt>
              </c:strCache>
            </c:strRef>
          </c:tx>
          <c:spPr>
            <a:ln>
              <a:solidFill>
                <a:srgbClr val="2875DD"/>
              </a:solidFill>
            </a:ln>
          </c:spPr>
          <c:marker>
            <c:symbol val="circle"/>
            <c:size val="5"/>
            <c:spPr>
              <a:solidFill>
                <a:srgbClr val="2875DD"/>
              </a:solidFill>
              <a:ln>
                <a:solidFill>
                  <a:srgbClr val="2875DD"/>
                </a:solidFill>
              </a:ln>
            </c:spPr>
          </c:marker>
          <c:dLbls>
            <c:dLbl>
              <c:idx val="0"/>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1149-4865-A138-6627A29D29AF}"/>
                </c:ext>
              </c:extLst>
            </c:dLbl>
            <c:dLbl>
              <c:idx val="1"/>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149-4865-A138-6627A29D29AF}"/>
                </c:ext>
              </c:extLst>
            </c:dLbl>
            <c:dLbl>
              <c:idx val="2"/>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149-4865-A138-6627A29D29AF}"/>
                </c:ext>
              </c:extLst>
            </c:dLbl>
            <c:dLbl>
              <c:idx val="3"/>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149-4865-A138-6627A29D29AF}"/>
                </c:ext>
              </c:extLst>
            </c:dLbl>
            <c:dLbl>
              <c:idx val="4"/>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1149-4865-A138-6627A29D29AF}"/>
                </c:ext>
              </c:extLst>
            </c:dLbl>
            <c:dLbl>
              <c:idx val="5"/>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1149-4865-A138-6627A29D29AF}"/>
                </c:ext>
              </c:extLst>
            </c:dLbl>
            <c:dLbl>
              <c:idx val="6"/>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1149-4865-A138-6627A29D29AF}"/>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0.89100000000000001</c:v>
                </c:pt>
                <c:pt idx="1">
                  <c:v>0.876</c:v>
                </c:pt>
                <c:pt idx="2">
                  <c:v>0.29199999999999998</c:v>
                </c:pt>
                <c:pt idx="3">
                  <c:v>8.2000000000000003E-2</c:v>
                </c:pt>
                <c:pt idx="4">
                  <c:v>3.7999999999999999E-2</c:v>
                </c:pt>
                <c:pt idx="5">
                  <c:v>3.2000000000000001E-2</c:v>
                </c:pt>
                <c:pt idx="6">
                  <c:v>2.5999999999999999E-2</c:v>
                </c:pt>
              </c:numCache>
            </c:numRef>
          </c:val>
          <c:smooth val="0"/>
          <c:extLst>
            <c:ext xmlns:c16="http://schemas.microsoft.com/office/drawing/2014/chart" uri="{C3380CC4-5D6E-409C-BE32-E72D297353CC}">
              <c16:uniqueId val="{00000007-1149-4865-A138-6627A29D29AF}"/>
            </c:ext>
          </c:extLst>
        </c:ser>
        <c:dLbls>
          <c:showLegendKey val="0"/>
          <c:showVal val="0"/>
          <c:showCatName val="0"/>
          <c:showSerName val="0"/>
          <c:showPercent val="0"/>
          <c:showBubbleSize val="0"/>
        </c:dLbls>
        <c:marker val="1"/>
        <c:smooth val="0"/>
        <c:axId val="67451136"/>
        <c:axId val="66437120"/>
      </c:line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 change from previous year</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800" smtId="4294967295"/>
      </a:pPr>
      <a:endParaRPr lang="ko-KR"/>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FD60-4236-90C6-EAAC3AF103B1}"/>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D60-4236-90C6-EAAC3AF103B1}"/>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FD60-4236-90C6-EAAC3AF103B1}"/>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FD60-4236-90C6-EAAC3AF103B1}"/>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FD60-4236-90C6-EAAC3AF103B1}"/>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FD60-4236-90C6-EAAC3AF103B1}"/>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FD60-4236-90C6-EAAC3AF103B1}"/>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FD60-4236-90C6-EAAC3AF103B1}"/>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Sheet1!$A$2:$A$9</c:f>
              <c:strCache>
                <c:ptCount val="8"/>
                <c:pt idx="0">
                  <c:v>0-11</c:v>
                </c:pt>
                <c:pt idx="1">
                  <c:v>12-17</c:v>
                </c:pt>
                <c:pt idx="2">
                  <c:v>18-24</c:v>
                </c:pt>
                <c:pt idx="3">
                  <c:v>25-34</c:v>
                </c:pt>
                <c:pt idx="4">
                  <c:v>35-44</c:v>
                </c:pt>
                <c:pt idx="5">
                  <c:v>45-54</c:v>
                </c:pt>
                <c:pt idx="6">
                  <c:v>55-64</c:v>
                </c:pt>
                <c:pt idx="7">
                  <c:v>65+</c:v>
                </c:pt>
              </c:strCache>
            </c:strRef>
          </c:cat>
          <c:val>
            <c:numRef>
              <c:f>Sheet1!$B$2:$B$9</c:f>
              <c:numCache>
                <c:formatCode>General</c:formatCode>
                <c:ptCount val="8"/>
                <c:pt idx="0">
                  <c:v>2.5000000000000001E-2</c:v>
                </c:pt>
                <c:pt idx="1">
                  <c:v>0.17699999999999999</c:v>
                </c:pt>
                <c:pt idx="2">
                  <c:v>0.23899999999999999</c:v>
                </c:pt>
                <c:pt idx="3">
                  <c:v>0.252</c:v>
                </c:pt>
                <c:pt idx="4">
                  <c:v>0.17100000000000001</c:v>
                </c:pt>
                <c:pt idx="5">
                  <c:v>6.7000000000000004E-2</c:v>
                </c:pt>
                <c:pt idx="6">
                  <c:v>5.1999999999999998E-2</c:v>
                </c:pt>
                <c:pt idx="7">
                  <c:v>1.7999999999999999E-2</c:v>
                </c:pt>
              </c:numCache>
            </c:numRef>
          </c:val>
          <c:extLst>
            <c:ext xmlns:c16="http://schemas.microsoft.com/office/drawing/2014/chart" uri="{C3380CC4-5D6E-409C-BE32-E72D297353CC}">
              <c16:uniqueId val="{00000008-FD60-4236-90C6-EAAC3AF103B1}"/>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TikTok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6720-4806-B8E5-F46057CF8F4C}"/>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6720-4806-B8E5-F46057CF8F4C}"/>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6720-4806-B8E5-F46057CF8F4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Sheet1!$A$2:$A$4</c:f>
              <c:strCache>
                <c:ptCount val="3"/>
                <c:pt idx="0">
                  <c:v>Nearly everyday</c:v>
                </c:pt>
                <c:pt idx="1">
                  <c:v>At least once a week</c:v>
                </c:pt>
                <c:pt idx="2">
                  <c:v>Not every week but at least once in the month</c:v>
                </c:pt>
              </c:strCache>
            </c:strRef>
          </c:cat>
          <c:val>
            <c:numRef>
              <c:f>Sheet1!$B$2:$B$4</c:f>
              <c:numCache>
                <c:formatCode>General</c:formatCode>
                <c:ptCount val="3"/>
                <c:pt idx="0">
                  <c:v>0.50639999999999996</c:v>
                </c:pt>
                <c:pt idx="1">
                  <c:v>0.2964</c:v>
                </c:pt>
                <c:pt idx="2">
                  <c:v>0.19900000000000001</c:v>
                </c:pt>
              </c:numCache>
            </c:numRef>
          </c:val>
          <c:extLst>
            <c:ext xmlns:c16="http://schemas.microsoft.com/office/drawing/2014/chart" uri="{C3380CC4-5D6E-409C-BE32-E72D297353CC}">
              <c16:uniqueId val="{00000003-6720-4806-B8E5-F46057CF8F4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Male</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5407-4BDF-BD24-2911FF218F7E}"/>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5407-4BDF-BD24-2911FF218F7E}"/>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5407-4BDF-BD24-2911FF218F7E}"/>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Sheet1!$A$2:$A$4</c:f>
              <c:strCache>
                <c:ptCount val="3"/>
                <c:pt idx="0">
                  <c:v>Nearly every day</c:v>
                </c:pt>
                <c:pt idx="1">
                  <c:v>At least once a week</c:v>
                </c:pt>
                <c:pt idx="2">
                  <c:v>Not every week but at least once in the month</c:v>
                </c:pt>
              </c:strCache>
            </c:strRef>
          </c:cat>
          <c:val>
            <c:numRef>
              <c:f>Sheet1!$B$2:$B$4</c:f>
              <c:numCache>
                <c:formatCode>General</c:formatCode>
                <c:ptCount val="3"/>
                <c:pt idx="0">
                  <c:v>0.52</c:v>
                </c:pt>
                <c:pt idx="1">
                  <c:v>0.32</c:v>
                </c:pt>
                <c:pt idx="2">
                  <c:v>0.17</c:v>
                </c:pt>
              </c:numCache>
            </c:numRef>
          </c:val>
          <c:extLst>
            <c:ext xmlns:c16="http://schemas.microsoft.com/office/drawing/2014/chart" uri="{C3380CC4-5D6E-409C-BE32-E72D297353CC}">
              <c16:uniqueId val="{00000003-5407-4BDF-BD24-2911FF218F7E}"/>
            </c:ext>
          </c:extLst>
        </c:ser>
        <c:ser>
          <c:idx val="1"/>
          <c:order val="1"/>
          <c:tx>
            <c:strRef>
              <c:f>Sheet1!$C$1</c:f>
              <c:strCache>
                <c:ptCount val="1"/>
                <c:pt idx="0">
                  <c:v>Female</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5407-4BDF-BD24-2911FF218F7E}"/>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5407-4BDF-BD24-2911FF218F7E}"/>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5407-4BDF-BD24-2911FF218F7E}"/>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Sheet1!$A$2:$A$4</c:f>
              <c:strCache>
                <c:ptCount val="3"/>
                <c:pt idx="0">
                  <c:v>Nearly every day</c:v>
                </c:pt>
                <c:pt idx="1">
                  <c:v>At least once a week</c:v>
                </c:pt>
                <c:pt idx="2">
                  <c:v>Not every week but at least once in the month</c:v>
                </c:pt>
              </c:strCache>
            </c:strRef>
          </c:cat>
          <c:val>
            <c:numRef>
              <c:f>Sheet1!$C$2:$C$4</c:f>
              <c:numCache>
                <c:formatCode>General</c:formatCode>
                <c:ptCount val="3"/>
                <c:pt idx="0">
                  <c:v>0.5</c:v>
                </c:pt>
                <c:pt idx="1">
                  <c:v>0.28999999999999998</c:v>
                </c:pt>
                <c:pt idx="2">
                  <c:v>0.22</c:v>
                </c:pt>
              </c:numCache>
            </c:numRef>
          </c:val>
          <c:extLst>
            <c:ext xmlns:c16="http://schemas.microsoft.com/office/drawing/2014/chart" uri="{C3380CC4-5D6E-409C-BE32-E72D297353CC}">
              <c16:uniqueId val="{00000007-5407-4BDF-BD24-2911FF218F7E}"/>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Not every week but at least once in the month</c:v>
                </c:pt>
              </c:strCache>
            </c:strRef>
          </c:tx>
          <c:spPr>
            <a:solidFill>
              <a:srgbClr val="BABABA"/>
            </a:solidFill>
            <a:ln>
              <a:solidFill>
                <a:srgbClr val="BABABA"/>
              </a:solidFill>
            </a:ln>
          </c:spPr>
          <c:invertIfNegative val="0"/>
          <c:cat>
            <c:strRef>
              <c:f>Sheet1!$A$2:$A$5</c:f>
              <c:strCache>
                <c:ptCount val="4"/>
                <c:pt idx="0">
                  <c:v>150k+ USD</c:v>
                </c:pt>
                <c:pt idx="1">
                  <c:v>100-150k USD</c:v>
                </c:pt>
                <c:pt idx="2">
                  <c:v>50-99k USD</c:v>
                </c:pt>
                <c:pt idx="3">
                  <c:v>Under 50k USD</c:v>
                </c:pt>
              </c:strCache>
            </c:strRef>
          </c:cat>
          <c:val>
            <c:numRef>
              <c:f>Sheet1!$B$2:$B$5</c:f>
              <c:numCache>
                <c:formatCode>General</c:formatCode>
                <c:ptCount val="4"/>
                <c:pt idx="0">
                  <c:v>0.17</c:v>
                </c:pt>
                <c:pt idx="1">
                  <c:v>0.13</c:v>
                </c:pt>
                <c:pt idx="2">
                  <c:v>0.24</c:v>
                </c:pt>
                <c:pt idx="3">
                  <c:v>0.2</c:v>
                </c:pt>
              </c:numCache>
            </c:numRef>
          </c:val>
          <c:extLst>
            <c:ext xmlns:c16="http://schemas.microsoft.com/office/drawing/2014/chart" uri="{C3380CC4-5D6E-409C-BE32-E72D297353CC}">
              <c16:uniqueId val="{00000004-FAC7-44D8-A02A-C313C70A8D1B}"/>
            </c:ext>
          </c:extLst>
        </c:ser>
        <c:ser>
          <c:idx val="1"/>
          <c:order val="1"/>
          <c:tx>
            <c:strRef>
              <c:f>Sheet1!$C$1</c:f>
              <c:strCache>
                <c:ptCount val="1"/>
                <c:pt idx="0">
                  <c:v>At least once a week</c:v>
                </c:pt>
              </c:strCache>
            </c:strRef>
          </c:tx>
          <c:spPr>
            <a:solidFill>
              <a:srgbClr val="0F283E"/>
            </a:solidFill>
            <a:ln>
              <a:solidFill>
                <a:srgbClr val="0F283E"/>
              </a:solidFill>
            </a:ln>
          </c:spPr>
          <c:invertIfNegative val="0"/>
          <c:cat>
            <c:strRef>
              <c:f>Sheet1!$A$2:$A$5</c:f>
              <c:strCache>
                <c:ptCount val="4"/>
                <c:pt idx="0">
                  <c:v>150k+ USD</c:v>
                </c:pt>
                <c:pt idx="1">
                  <c:v>100-150k USD</c:v>
                </c:pt>
                <c:pt idx="2">
                  <c:v>50-99k USD</c:v>
                </c:pt>
                <c:pt idx="3">
                  <c:v>Under 50k USD</c:v>
                </c:pt>
              </c:strCache>
            </c:strRef>
          </c:cat>
          <c:val>
            <c:numRef>
              <c:f>Sheet1!$C$2:$C$5</c:f>
              <c:numCache>
                <c:formatCode>General</c:formatCode>
                <c:ptCount val="4"/>
                <c:pt idx="0">
                  <c:v>0.3</c:v>
                </c:pt>
                <c:pt idx="1">
                  <c:v>0.22</c:v>
                </c:pt>
                <c:pt idx="2">
                  <c:v>0.36</c:v>
                </c:pt>
                <c:pt idx="3">
                  <c:v>0.28999999999999998</c:v>
                </c:pt>
              </c:numCache>
            </c:numRef>
          </c:val>
          <c:extLst>
            <c:ext xmlns:c16="http://schemas.microsoft.com/office/drawing/2014/chart" uri="{C3380CC4-5D6E-409C-BE32-E72D297353CC}">
              <c16:uniqueId val="{00000009-FAC7-44D8-A02A-C313C70A8D1B}"/>
            </c:ext>
          </c:extLst>
        </c:ser>
        <c:ser>
          <c:idx val="2"/>
          <c:order val="2"/>
          <c:tx>
            <c:strRef>
              <c:f>Sheet1!$D$1</c:f>
              <c:strCache>
                <c:ptCount val="1"/>
                <c:pt idx="0">
                  <c:v>Nearly every day</c:v>
                </c:pt>
              </c:strCache>
            </c:strRef>
          </c:tx>
          <c:spPr>
            <a:solidFill>
              <a:srgbClr val="2875DD"/>
            </a:solidFill>
            <a:ln>
              <a:solidFill>
                <a:srgbClr val="2875DD"/>
              </a:solidFill>
            </a:ln>
          </c:spPr>
          <c:invertIfNegative val="0"/>
          <c:cat>
            <c:strRef>
              <c:f>Sheet1!$A$2:$A$5</c:f>
              <c:strCache>
                <c:ptCount val="4"/>
                <c:pt idx="0">
                  <c:v>150k+ USD</c:v>
                </c:pt>
                <c:pt idx="1">
                  <c:v>100-150k USD</c:v>
                </c:pt>
                <c:pt idx="2">
                  <c:v>50-99k USD</c:v>
                </c:pt>
                <c:pt idx="3">
                  <c:v>Under 50k USD</c:v>
                </c:pt>
              </c:strCache>
            </c:strRef>
          </c:cat>
          <c:val>
            <c:numRef>
              <c:f>Sheet1!$D$2:$D$5</c:f>
              <c:numCache>
                <c:formatCode>General</c:formatCode>
                <c:ptCount val="4"/>
                <c:pt idx="0">
                  <c:v>0.53</c:v>
                </c:pt>
                <c:pt idx="1">
                  <c:v>0.65</c:v>
                </c:pt>
                <c:pt idx="2">
                  <c:v>0.4</c:v>
                </c:pt>
                <c:pt idx="3">
                  <c:v>0.5</c:v>
                </c:pt>
              </c:numCache>
            </c:numRef>
          </c:val>
          <c:extLst>
            <c:ext xmlns:c16="http://schemas.microsoft.com/office/drawing/2014/chart" uri="{C3380CC4-5D6E-409C-BE32-E72D297353CC}">
              <c16:uniqueId val="{0000000E-FAC7-44D8-A02A-C313C70A8D1B}"/>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F16-4A46-9F11-6BCDC038F34E}"/>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F16-4A46-9F11-6BCDC038F34E}"/>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Sheet1!$A$2:$A$3</c:f>
              <c:strCache>
                <c:ptCount val="2"/>
                <c:pt idx="0">
                  <c:v>Daily active users (DAU)</c:v>
                </c:pt>
                <c:pt idx="1">
                  <c:v>Monthly active users (MAU)</c:v>
                </c:pt>
              </c:strCache>
            </c:strRef>
          </c:cat>
          <c:val>
            <c:numRef>
              <c:f>Sheet1!$B$2:$B$3</c:f>
              <c:numCache>
                <c:formatCode>General</c:formatCode>
                <c:ptCount val="2"/>
                <c:pt idx="0">
                  <c:v>0.50600000000000001</c:v>
                </c:pt>
                <c:pt idx="1">
                  <c:v>0.77100000000000002</c:v>
                </c:pt>
              </c:numCache>
            </c:numRef>
          </c:val>
          <c:extLst>
            <c:ext xmlns:c16="http://schemas.microsoft.com/office/drawing/2014/chart" uri="{C3380CC4-5D6E-409C-BE32-E72D297353CC}">
              <c16:uniqueId val="{00000002-0F16-4A46-9F11-6BCDC038F34E}"/>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530-482D-873E-A86D5B305C7D}"/>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530-482D-873E-A86D5B305C7D}"/>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530-482D-873E-A86D5B305C7D}"/>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530-482D-873E-A86D5B305C7D}"/>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530-482D-873E-A86D5B305C7D}"/>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Very favorable</c:v>
                </c:pt>
                <c:pt idx="1">
                  <c:v>Somewhat favorable</c:v>
                </c:pt>
                <c:pt idx="2">
                  <c:v>Somewhat unfavorable</c:v>
                </c:pt>
                <c:pt idx="3">
                  <c:v>Very unfavorable</c:v>
                </c:pt>
                <c:pt idx="4">
                  <c:v>Don't know/No opinion</c:v>
                </c:pt>
              </c:strCache>
            </c:strRef>
          </c:cat>
          <c:val>
            <c:numRef>
              <c:f>Sheet1!$B$2:$B$6</c:f>
              <c:numCache>
                <c:formatCode>General</c:formatCode>
                <c:ptCount val="5"/>
                <c:pt idx="0">
                  <c:v>0.16</c:v>
                </c:pt>
                <c:pt idx="1">
                  <c:v>0.21</c:v>
                </c:pt>
                <c:pt idx="2">
                  <c:v>0.13</c:v>
                </c:pt>
                <c:pt idx="3">
                  <c:v>0.21</c:v>
                </c:pt>
                <c:pt idx="4">
                  <c:v>0.28999999999999998</c:v>
                </c:pt>
              </c:numCache>
            </c:numRef>
          </c:val>
          <c:extLst>
            <c:ext xmlns:c16="http://schemas.microsoft.com/office/drawing/2014/chart" uri="{C3380CC4-5D6E-409C-BE32-E72D297353CC}">
              <c16:uniqueId val="{00000005-2530-482D-873E-A86D5B305C7D}"/>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837F-4B3F-8E8D-4F2CEF79B35C}"/>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837F-4B3F-8E8D-4F2CEF79B35C}"/>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837F-4B3F-8E8D-4F2CEF79B35C}"/>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837F-4B3F-8E8D-4F2CEF79B35C}"/>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837F-4B3F-8E8D-4F2CEF79B35C}"/>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837F-4B3F-8E8D-4F2CEF79B35C}"/>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837F-4B3F-8E8D-4F2CEF79B35C}"/>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837F-4B3F-8E8D-4F2CEF79B35C}"/>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837F-4B3F-8E8D-4F2CEF79B35C}"/>
                </c:ext>
              </c:extLst>
            </c:dLbl>
            <c:dLbl>
              <c:idx val="9"/>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837F-4B3F-8E8D-4F2CEF79B35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67.5</c:v>
                </c:pt>
                <c:pt idx="1">
                  <c:v>69.849999999999994</c:v>
                </c:pt>
                <c:pt idx="2">
                  <c:v>72.489999999999995</c:v>
                </c:pt>
                <c:pt idx="3">
                  <c:v>74.790000000000006</c:v>
                </c:pt>
                <c:pt idx="4">
                  <c:v>76.540000000000006</c:v>
                </c:pt>
                <c:pt idx="5">
                  <c:v>77.900000000000006</c:v>
                </c:pt>
                <c:pt idx="6">
                  <c:v>79.08</c:v>
                </c:pt>
                <c:pt idx="7">
                  <c:v>80.150000000000006</c:v>
                </c:pt>
                <c:pt idx="8">
                  <c:v>81.150000000000006</c:v>
                </c:pt>
                <c:pt idx="9">
                  <c:v>82.1</c:v>
                </c:pt>
              </c:numCache>
            </c:numRef>
          </c:val>
          <c:extLst>
            <c:ext xmlns:c16="http://schemas.microsoft.com/office/drawing/2014/chart" uri="{C3380CC4-5D6E-409C-BE32-E72D297353CC}">
              <c16:uniqueId val="{0000000A-837F-4B3F-8E8D-4F2CEF79B35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411E-42EB-9287-DC7815B611C5}"/>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411E-42EB-9287-DC7815B611C5}"/>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411E-42EB-9287-DC7815B611C5}"/>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411E-42EB-9287-DC7815B611C5}"/>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411E-42EB-9287-DC7815B611C5}"/>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411E-42EB-9287-DC7815B611C5}"/>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411E-42EB-9287-DC7815B611C5}"/>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411E-42EB-9287-DC7815B611C5}"/>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411E-42EB-9287-DC7815B611C5}"/>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411E-42EB-9287-DC7815B611C5}"/>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155.94</c:v>
                </c:pt>
                <c:pt idx="1">
                  <c:v>169.45</c:v>
                </c:pt>
                <c:pt idx="2">
                  <c:v>180.95</c:v>
                </c:pt>
                <c:pt idx="3">
                  <c:v>184.23</c:v>
                </c:pt>
                <c:pt idx="4">
                  <c:v>187.32</c:v>
                </c:pt>
                <c:pt idx="5">
                  <c:v>190.21</c:v>
                </c:pt>
                <c:pt idx="6">
                  <c:v>192.94</c:v>
                </c:pt>
                <c:pt idx="7">
                  <c:v>195.5</c:v>
                </c:pt>
                <c:pt idx="8">
                  <c:v>197.94</c:v>
                </c:pt>
                <c:pt idx="9">
                  <c:v>200.24</c:v>
                </c:pt>
              </c:numCache>
            </c:numRef>
          </c:val>
          <c:extLst>
            <c:ext xmlns:c16="http://schemas.microsoft.com/office/drawing/2014/chart" uri="{C3380CC4-5D6E-409C-BE32-E72D297353CC}">
              <c16:uniqueId val="{0000000A-411E-42EB-9287-DC7815B611C5}"/>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2F06-4D2E-BE07-FE48CA34A566}"/>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F06-4D2E-BE07-FE48CA34A566}"/>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2F06-4D2E-BE07-FE48CA34A566}"/>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F06-4D2E-BE07-FE48CA34A566}"/>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2F06-4D2E-BE07-FE48CA34A566}"/>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F06-4D2E-BE07-FE48CA34A566}"/>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2F06-4D2E-BE07-FE48CA34A566}"/>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2F06-4D2E-BE07-FE48CA34A566}"/>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2F06-4D2E-BE07-FE48CA34A566}"/>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2F06-4D2E-BE07-FE48CA34A566}"/>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82</c:v>
                </c:pt>
                <c:pt idx="1">
                  <c:v>88</c:v>
                </c:pt>
                <c:pt idx="2">
                  <c:v>89.18</c:v>
                </c:pt>
                <c:pt idx="3">
                  <c:v>90.74</c:v>
                </c:pt>
                <c:pt idx="4">
                  <c:v>92.26</c:v>
                </c:pt>
                <c:pt idx="5">
                  <c:v>93.68</c:v>
                </c:pt>
                <c:pt idx="6">
                  <c:v>95.02</c:v>
                </c:pt>
                <c:pt idx="7">
                  <c:v>96.29</c:v>
                </c:pt>
                <c:pt idx="8">
                  <c:v>97.49</c:v>
                </c:pt>
                <c:pt idx="9">
                  <c:v>98.62</c:v>
                </c:pt>
              </c:numCache>
            </c:numRef>
          </c:val>
          <c:extLst>
            <c:ext xmlns:c16="http://schemas.microsoft.com/office/drawing/2014/chart" uri="{C3380CC4-5D6E-409C-BE32-E72D297353CC}">
              <c16:uniqueId val="{0000000A-2F06-4D2E-BE07-FE48CA34A566}"/>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B473-4E93-8644-2A75FFAFBCA9}"/>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B473-4E93-8644-2A75FFAFBCA9}"/>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B473-4E93-8644-2A75FFAFBCA9}"/>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B473-4E93-8644-2A75FFAFBCA9}"/>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B473-4E93-8644-2A75FFAFBCA9}"/>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B473-4E93-8644-2A75FFAFBCA9}"/>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B473-4E93-8644-2A75FFAFBCA9}"/>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B473-4E93-8644-2A75FFAFBCA9}"/>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B473-4E93-8644-2A75FFAFBCA9}"/>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B473-4E93-8644-2A75FFAFBCA9}"/>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129.16999999999999</c:v>
                </c:pt>
                <c:pt idx="1">
                  <c:v>168.31</c:v>
                </c:pt>
                <c:pt idx="2">
                  <c:v>180.3</c:v>
                </c:pt>
                <c:pt idx="3">
                  <c:v>184.61</c:v>
                </c:pt>
                <c:pt idx="4">
                  <c:v>187.85</c:v>
                </c:pt>
                <c:pt idx="5">
                  <c:v>190.77</c:v>
                </c:pt>
                <c:pt idx="6">
                  <c:v>193.51</c:v>
                </c:pt>
                <c:pt idx="7">
                  <c:v>196.08</c:v>
                </c:pt>
                <c:pt idx="8">
                  <c:v>198.52</c:v>
                </c:pt>
                <c:pt idx="9">
                  <c:v>200.84</c:v>
                </c:pt>
              </c:numCache>
            </c:numRef>
          </c:val>
          <c:extLst>
            <c:ext xmlns:c16="http://schemas.microsoft.com/office/drawing/2014/chart" uri="{C3380CC4-5D6E-409C-BE32-E72D297353CC}">
              <c16:uniqueId val="{0000000A-B473-4E93-8644-2A75FFAFBCA9}"/>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FF49-4FFA-B873-2764CCB6FB31}"/>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F49-4FFA-B873-2764CCB6FB31}"/>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FF49-4FFA-B873-2764CCB6FB31}"/>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FF49-4FFA-B873-2764CCB6FB31}"/>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FF49-4FFA-B873-2764CCB6FB31}"/>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FF49-4FFA-B873-2764CCB6FB31}"/>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FF49-4FFA-B873-2764CCB6FB31}"/>
                </c:ext>
              </c:extLst>
            </c:dLbl>
            <c:dLbl>
              <c:idx val="7"/>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FF49-4FFA-B873-2764CCB6FB31}"/>
                </c:ext>
              </c:extLst>
            </c:dLbl>
            <c:dLbl>
              <c:idx val="8"/>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FF49-4FFA-B873-2764CCB6FB31}"/>
                </c:ext>
              </c:extLst>
            </c:dLbl>
            <c:dLbl>
              <c:idx val="9"/>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FF49-4FFA-B873-2764CCB6FB31}"/>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91.18</c:v>
                </c:pt>
                <c:pt idx="1">
                  <c:v>93.25</c:v>
                </c:pt>
                <c:pt idx="2">
                  <c:v>96.55</c:v>
                </c:pt>
                <c:pt idx="3">
                  <c:v>99.49</c:v>
                </c:pt>
                <c:pt idx="4">
                  <c:v>101.83</c:v>
                </c:pt>
                <c:pt idx="5">
                  <c:v>103.69</c:v>
                </c:pt>
                <c:pt idx="6">
                  <c:v>105.28</c:v>
                </c:pt>
                <c:pt idx="7">
                  <c:v>106.73</c:v>
                </c:pt>
                <c:pt idx="8">
                  <c:v>108.07</c:v>
                </c:pt>
                <c:pt idx="9">
                  <c:v>109.33</c:v>
                </c:pt>
              </c:numCache>
            </c:numRef>
          </c:val>
          <c:extLst>
            <c:ext xmlns:c16="http://schemas.microsoft.com/office/drawing/2014/chart" uri="{C3380CC4-5D6E-409C-BE32-E72D297353CC}">
              <c16:uniqueId val="{0000000A-FF49-4FFA-B873-2764CCB6FB31}"/>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Lbls>
            <c:dLbl>
              <c:idx val="0"/>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29B-4B7A-9878-EDF25AFD561A}"/>
                </c:ext>
              </c:extLst>
            </c:dLbl>
            <c:dLbl>
              <c:idx val="1"/>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29B-4B7A-9878-EDF25AFD561A}"/>
                </c:ext>
              </c:extLst>
            </c:dLbl>
            <c:dLbl>
              <c:idx val="2"/>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29B-4B7A-9878-EDF25AFD561A}"/>
                </c:ext>
              </c:extLst>
            </c:dLbl>
            <c:dLbl>
              <c:idx val="3"/>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29B-4B7A-9878-EDF25AFD561A}"/>
                </c:ext>
              </c:extLst>
            </c:dLbl>
            <c:dLbl>
              <c:idx val="4"/>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D29B-4B7A-9878-EDF25AFD561A}"/>
                </c:ext>
              </c:extLst>
            </c:dLbl>
            <c:dLbl>
              <c:idx val="5"/>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D29B-4B7A-9878-EDF25AFD561A}"/>
                </c:ext>
              </c:extLst>
            </c:dLbl>
            <c:dLbl>
              <c:idx val="6"/>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D29B-4B7A-9878-EDF25AFD561A}"/>
                </c:ext>
              </c:extLst>
            </c:dLbl>
            <c:dLbl>
              <c:idx val="7"/>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D29B-4B7A-9878-EDF25AFD561A}"/>
                </c:ext>
              </c:extLst>
            </c:dLbl>
            <c:dLbl>
              <c:idx val="8"/>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D29B-4B7A-9878-EDF25AFD561A}"/>
                </c:ext>
              </c:extLst>
            </c:dLbl>
            <c:dLbl>
              <c:idx val="9"/>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D29B-4B7A-9878-EDF25AFD561A}"/>
                </c:ext>
              </c:extLst>
            </c:dLbl>
            <c:dLbl>
              <c:idx val="10"/>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D29B-4B7A-9878-EDF25AFD561A}"/>
                </c:ext>
              </c:extLst>
            </c:dLbl>
            <c:dLbl>
              <c:idx val="11"/>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D29B-4B7A-9878-EDF25AFD561A}"/>
                </c:ext>
              </c:extLst>
            </c:dLbl>
            <c:dLbl>
              <c:idx val="12"/>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D29B-4B7A-9878-EDF25AFD561A}"/>
                </c:ext>
              </c:extLst>
            </c:dLbl>
            <c:dLbl>
              <c:idx val="13"/>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D29B-4B7A-9878-EDF25AFD561A}"/>
                </c:ext>
              </c:extLst>
            </c:dLbl>
            <c:dLbl>
              <c:idx val="14"/>
              <c:numFmt formatCode="#,##0%" sourceLinked="0"/>
              <c:spPr/>
              <c:txPr>
                <a:bodyPr/>
                <a:lstStyle/>
                <a:p>
                  <a:pPr>
                    <a:defRPr sz="9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D29B-4B7A-9878-EDF25AFD561A}"/>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Sheet1!$A$2:$A$16</c:f>
              <c:strCache>
                <c:ptCount val="15"/>
                <c:pt idx="0">
                  <c:v>YouTube</c:v>
                </c:pt>
                <c:pt idx="1">
                  <c:v>Facebook</c:v>
                </c:pt>
                <c:pt idx="2">
                  <c:v>Instagram</c:v>
                </c:pt>
                <c:pt idx="3">
                  <c:v>TikTok</c:v>
                </c:pt>
                <c:pt idx="4">
                  <c:v>Twitter</c:v>
                </c:pt>
                <c:pt idx="5">
                  <c:v>Snapchat</c:v>
                </c:pt>
                <c:pt idx="6">
                  <c:v>Pinterest</c:v>
                </c:pt>
                <c:pt idx="7">
                  <c:v>LinkedIn</c:v>
                </c:pt>
                <c:pt idx="8">
                  <c:v>Reddit</c:v>
                </c:pt>
                <c:pt idx="9">
                  <c:v>Yelp</c:v>
                </c:pt>
                <c:pt idx="10">
                  <c:v>TumbIr</c:v>
                </c:pt>
                <c:pt idx="11">
                  <c:v>Twitch</c:v>
                </c:pt>
                <c:pt idx="12">
                  <c:v>Flickr</c:v>
                </c:pt>
                <c:pt idx="13">
                  <c:v>WeChat</c:v>
                </c:pt>
                <c:pt idx="14">
                  <c:v>Foursquare</c:v>
                </c:pt>
              </c:strCache>
            </c:strRef>
          </c:cat>
          <c:val>
            <c:numRef>
              <c:f>Sheet1!$B$2:$B$16</c:f>
              <c:numCache>
                <c:formatCode>General</c:formatCode>
                <c:ptCount val="15"/>
                <c:pt idx="0">
                  <c:v>0.92</c:v>
                </c:pt>
                <c:pt idx="1">
                  <c:v>0.92</c:v>
                </c:pt>
                <c:pt idx="2">
                  <c:v>0.88</c:v>
                </c:pt>
                <c:pt idx="3">
                  <c:v>0.86</c:v>
                </c:pt>
                <c:pt idx="4">
                  <c:v>0.84</c:v>
                </c:pt>
                <c:pt idx="5">
                  <c:v>0.82</c:v>
                </c:pt>
                <c:pt idx="6">
                  <c:v>0.77</c:v>
                </c:pt>
                <c:pt idx="7">
                  <c:v>0.68</c:v>
                </c:pt>
                <c:pt idx="8">
                  <c:v>0.66</c:v>
                </c:pt>
                <c:pt idx="9">
                  <c:v>0.66</c:v>
                </c:pt>
                <c:pt idx="10">
                  <c:v>0.57999999999999996</c:v>
                </c:pt>
                <c:pt idx="11">
                  <c:v>0.56000000000000005</c:v>
                </c:pt>
                <c:pt idx="12">
                  <c:v>0.43</c:v>
                </c:pt>
                <c:pt idx="13">
                  <c:v>0.38</c:v>
                </c:pt>
                <c:pt idx="14">
                  <c:v>0.33</c:v>
                </c:pt>
              </c:numCache>
            </c:numRef>
          </c:val>
          <c:extLst>
            <c:ext xmlns:c16="http://schemas.microsoft.com/office/drawing/2014/chart" uri="{C3380CC4-5D6E-409C-BE32-E72D297353CC}">
              <c16:uniqueId val="{0000000F-D29B-4B7A-9878-EDF25AFD561A}"/>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1"/>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5E47-4215-9463-45FF3ACF1321}"/>
              </c:ext>
            </c:extLst>
          </c:dPt>
          <c:dPt>
            <c:idx val="1"/>
            <c:invertIfNegative val="0"/>
            <c:bubble3D val="0"/>
            <c:spPr>
              <a:solidFill>
                <a:srgbClr val="0059A0"/>
              </a:solidFill>
            </c:spPr>
            <c:extLst>
              <c:ext xmlns:c16="http://schemas.microsoft.com/office/drawing/2014/chart" uri="{C3380CC4-5D6E-409C-BE32-E72D297353CC}">
                <c16:uniqueId val="{00000003-5E47-4215-9463-45FF3ACF1321}"/>
              </c:ext>
            </c:extLst>
          </c:dPt>
          <c:dPt>
            <c:idx val="2"/>
            <c:invertIfNegative val="0"/>
            <c:bubble3D val="0"/>
            <c:spPr>
              <a:solidFill>
                <a:srgbClr val="0077D5"/>
              </a:solidFill>
            </c:spPr>
            <c:extLst>
              <c:ext xmlns:c16="http://schemas.microsoft.com/office/drawing/2014/chart" uri="{C3380CC4-5D6E-409C-BE32-E72D297353CC}">
                <c16:uniqueId val="{00000005-5E47-4215-9463-45FF3ACF1321}"/>
              </c:ext>
            </c:extLst>
          </c:dPt>
          <c:dPt>
            <c:idx val="3"/>
            <c:invertIfNegative val="0"/>
            <c:bubble3D val="0"/>
            <c:spPr>
              <a:solidFill>
                <a:srgbClr val="4DB0FF"/>
              </a:solidFill>
            </c:spPr>
            <c:extLst>
              <c:ext xmlns:c16="http://schemas.microsoft.com/office/drawing/2014/chart" uri="{C3380CC4-5D6E-409C-BE32-E72D297353CC}">
                <c16:uniqueId val="{00000007-5E47-4215-9463-45FF3ACF1321}"/>
              </c:ext>
            </c:extLst>
          </c:dPt>
          <c:dPt>
            <c:idx val="4"/>
            <c:invertIfNegative val="0"/>
            <c:bubble3D val="0"/>
            <c:spPr>
              <a:solidFill>
                <a:srgbClr val="88CBFF"/>
              </a:solidFill>
            </c:spPr>
            <c:extLst>
              <c:ext xmlns:c16="http://schemas.microsoft.com/office/drawing/2014/chart" uri="{C3380CC4-5D6E-409C-BE32-E72D297353CC}">
                <c16:uniqueId val="{00000009-5E47-4215-9463-45FF3ACF1321}"/>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5E47-4215-9463-45FF3ACF1321}"/>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5E47-4215-9463-45FF3ACF1321}"/>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5E47-4215-9463-45FF3ACF1321}"/>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5E47-4215-9463-45FF3ACF1321}"/>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5E47-4215-9463-45FF3ACF1321}"/>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Facebook awareness</c:v>
                </c:pt>
                <c:pt idx="1">
                  <c:v>Facebook popularity</c:v>
                </c:pt>
                <c:pt idx="2">
                  <c:v>Facebook usage</c:v>
                </c:pt>
                <c:pt idx="3">
                  <c:v>Facebook loyalty</c:v>
                </c:pt>
                <c:pt idx="4">
                  <c:v>Facebook buzz</c:v>
                </c:pt>
              </c:strCache>
            </c:strRef>
          </c:cat>
          <c:val>
            <c:numRef>
              <c:f>Sheet1!$B$2:$B$6</c:f>
              <c:numCache>
                <c:formatCode>General</c:formatCode>
                <c:ptCount val="5"/>
                <c:pt idx="0">
                  <c:v>0.94</c:v>
                </c:pt>
                <c:pt idx="1">
                  <c:v>0.67</c:v>
                </c:pt>
                <c:pt idx="2">
                  <c:v>0.75</c:v>
                </c:pt>
                <c:pt idx="3">
                  <c:v>0.68</c:v>
                </c:pt>
                <c:pt idx="4">
                  <c:v>0.57999999999999996</c:v>
                </c:pt>
              </c:numCache>
            </c:numRef>
          </c:val>
          <c:extLst>
            <c:ext xmlns:c16="http://schemas.microsoft.com/office/drawing/2014/chart" uri="{C3380CC4-5D6E-409C-BE32-E72D297353CC}">
              <c16:uniqueId val="{0000000A-5E47-4215-9463-45FF3ACF1321}"/>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30F4-4DC9-AF3C-6827B771086E}"/>
              </c:ext>
            </c:extLst>
          </c:dPt>
          <c:dPt>
            <c:idx val="1"/>
            <c:invertIfNegative val="0"/>
            <c:bubble3D val="0"/>
            <c:spPr>
              <a:solidFill>
                <a:srgbClr val="0059A0"/>
              </a:solidFill>
            </c:spPr>
            <c:extLst>
              <c:ext xmlns:c16="http://schemas.microsoft.com/office/drawing/2014/chart" uri="{C3380CC4-5D6E-409C-BE32-E72D297353CC}">
                <c16:uniqueId val="{00000003-30F4-4DC9-AF3C-6827B771086E}"/>
              </c:ext>
            </c:extLst>
          </c:dPt>
          <c:dPt>
            <c:idx val="2"/>
            <c:invertIfNegative val="0"/>
            <c:bubble3D val="0"/>
            <c:spPr>
              <a:solidFill>
                <a:srgbClr val="0077D5"/>
              </a:solidFill>
            </c:spPr>
            <c:extLst>
              <c:ext xmlns:c16="http://schemas.microsoft.com/office/drawing/2014/chart" uri="{C3380CC4-5D6E-409C-BE32-E72D297353CC}">
                <c16:uniqueId val="{00000005-30F4-4DC9-AF3C-6827B771086E}"/>
              </c:ext>
            </c:extLst>
          </c:dPt>
          <c:dPt>
            <c:idx val="3"/>
            <c:invertIfNegative val="0"/>
            <c:bubble3D val="0"/>
            <c:spPr>
              <a:solidFill>
                <a:srgbClr val="4DB0FF"/>
              </a:solidFill>
            </c:spPr>
            <c:extLst>
              <c:ext xmlns:c16="http://schemas.microsoft.com/office/drawing/2014/chart" uri="{C3380CC4-5D6E-409C-BE32-E72D297353CC}">
                <c16:uniqueId val="{00000007-30F4-4DC9-AF3C-6827B771086E}"/>
              </c:ext>
            </c:extLst>
          </c:dPt>
          <c:dPt>
            <c:idx val="4"/>
            <c:invertIfNegative val="0"/>
            <c:bubble3D val="0"/>
            <c:spPr>
              <a:solidFill>
                <a:srgbClr val="88CBFF"/>
              </a:solidFill>
            </c:spPr>
            <c:extLst>
              <c:ext xmlns:c16="http://schemas.microsoft.com/office/drawing/2014/chart" uri="{C3380CC4-5D6E-409C-BE32-E72D297353CC}">
                <c16:uniqueId val="{00000009-30F4-4DC9-AF3C-6827B771086E}"/>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0F4-4DC9-AF3C-6827B771086E}"/>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30F4-4DC9-AF3C-6827B771086E}"/>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30F4-4DC9-AF3C-6827B771086E}"/>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30F4-4DC9-AF3C-6827B771086E}"/>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30F4-4DC9-AF3C-6827B771086E}"/>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Instagram awareness</c:v>
                </c:pt>
                <c:pt idx="1">
                  <c:v>Instagram popularity</c:v>
                </c:pt>
                <c:pt idx="2">
                  <c:v>Instagram usage</c:v>
                </c:pt>
                <c:pt idx="3">
                  <c:v>Instagram loyalty</c:v>
                </c:pt>
                <c:pt idx="4">
                  <c:v>Instagram buzz</c:v>
                </c:pt>
              </c:strCache>
            </c:strRef>
          </c:cat>
          <c:val>
            <c:numRef>
              <c:f>Sheet1!$B$2:$B$6</c:f>
              <c:numCache>
                <c:formatCode>General</c:formatCode>
                <c:ptCount val="5"/>
                <c:pt idx="0">
                  <c:v>0.9</c:v>
                </c:pt>
                <c:pt idx="1">
                  <c:v>0.5</c:v>
                </c:pt>
                <c:pt idx="2">
                  <c:v>0.53</c:v>
                </c:pt>
                <c:pt idx="3">
                  <c:v>0.45</c:v>
                </c:pt>
                <c:pt idx="4">
                  <c:v>0.38</c:v>
                </c:pt>
              </c:numCache>
            </c:numRef>
          </c:val>
          <c:extLst>
            <c:ext xmlns:c16="http://schemas.microsoft.com/office/drawing/2014/chart" uri="{C3380CC4-5D6E-409C-BE32-E72D297353CC}">
              <c16:uniqueId val="{0000000A-30F4-4DC9-AF3C-6827B771086E}"/>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6AC1-40E3-A220-6BECE485D39D}"/>
              </c:ext>
            </c:extLst>
          </c:dPt>
          <c:dPt>
            <c:idx val="1"/>
            <c:invertIfNegative val="0"/>
            <c:bubble3D val="0"/>
            <c:spPr>
              <a:solidFill>
                <a:srgbClr val="0059A0"/>
              </a:solidFill>
            </c:spPr>
            <c:extLst>
              <c:ext xmlns:c16="http://schemas.microsoft.com/office/drawing/2014/chart" uri="{C3380CC4-5D6E-409C-BE32-E72D297353CC}">
                <c16:uniqueId val="{00000003-6AC1-40E3-A220-6BECE485D39D}"/>
              </c:ext>
            </c:extLst>
          </c:dPt>
          <c:dPt>
            <c:idx val="2"/>
            <c:invertIfNegative val="0"/>
            <c:bubble3D val="0"/>
            <c:spPr>
              <a:solidFill>
                <a:srgbClr val="0077D5"/>
              </a:solidFill>
            </c:spPr>
            <c:extLst>
              <c:ext xmlns:c16="http://schemas.microsoft.com/office/drawing/2014/chart" uri="{C3380CC4-5D6E-409C-BE32-E72D297353CC}">
                <c16:uniqueId val="{00000005-6AC1-40E3-A220-6BECE485D39D}"/>
              </c:ext>
            </c:extLst>
          </c:dPt>
          <c:dPt>
            <c:idx val="3"/>
            <c:invertIfNegative val="0"/>
            <c:bubble3D val="0"/>
            <c:spPr>
              <a:solidFill>
                <a:srgbClr val="4DB0FF"/>
              </a:solidFill>
            </c:spPr>
            <c:extLst>
              <c:ext xmlns:c16="http://schemas.microsoft.com/office/drawing/2014/chart" uri="{C3380CC4-5D6E-409C-BE32-E72D297353CC}">
                <c16:uniqueId val="{00000007-6AC1-40E3-A220-6BECE485D39D}"/>
              </c:ext>
            </c:extLst>
          </c:dPt>
          <c:dPt>
            <c:idx val="4"/>
            <c:invertIfNegative val="0"/>
            <c:bubble3D val="0"/>
            <c:spPr>
              <a:solidFill>
                <a:srgbClr val="88CBFF"/>
              </a:solidFill>
            </c:spPr>
            <c:extLst>
              <c:ext xmlns:c16="http://schemas.microsoft.com/office/drawing/2014/chart" uri="{C3380CC4-5D6E-409C-BE32-E72D297353CC}">
                <c16:uniqueId val="{00000009-6AC1-40E3-A220-6BECE485D39D}"/>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6AC1-40E3-A220-6BECE485D39D}"/>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6AC1-40E3-A220-6BECE485D39D}"/>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6AC1-40E3-A220-6BECE485D39D}"/>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6AC1-40E3-A220-6BECE485D39D}"/>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6AC1-40E3-A220-6BECE485D39D}"/>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TikTok awareness</c:v>
                </c:pt>
                <c:pt idx="1">
                  <c:v>TikTok popularity</c:v>
                </c:pt>
                <c:pt idx="2">
                  <c:v>TikTok usage</c:v>
                </c:pt>
                <c:pt idx="3">
                  <c:v>TikTok loyalty</c:v>
                </c:pt>
                <c:pt idx="4">
                  <c:v>TikTok buzz</c:v>
                </c:pt>
              </c:strCache>
            </c:strRef>
          </c:cat>
          <c:val>
            <c:numRef>
              <c:f>Sheet1!$B$2:$B$6</c:f>
              <c:numCache>
                <c:formatCode>General</c:formatCode>
                <c:ptCount val="5"/>
                <c:pt idx="0">
                  <c:v>0.88</c:v>
                </c:pt>
                <c:pt idx="1">
                  <c:v>0.37</c:v>
                </c:pt>
                <c:pt idx="2">
                  <c:v>0.39</c:v>
                </c:pt>
                <c:pt idx="3">
                  <c:v>0.32</c:v>
                </c:pt>
                <c:pt idx="4">
                  <c:v>0.38</c:v>
                </c:pt>
              </c:numCache>
            </c:numRef>
          </c:val>
          <c:extLst>
            <c:ext xmlns:c16="http://schemas.microsoft.com/office/drawing/2014/chart" uri="{C3380CC4-5D6E-409C-BE32-E72D297353CC}">
              <c16:uniqueId val="{0000000A-6AC1-40E3-A220-6BECE485D39D}"/>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2315-476F-9481-3618BC00C2CC}"/>
              </c:ext>
            </c:extLst>
          </c:dPt>
          <c:dPt>
            <c:idx val="1"/>
            <c:invertIfNegative val="0"/>
            <c:bubble3D val="0"/>
            <c:spPr>
              <a:solidFill>
                <a:srgbClr val="0059A0"/>
              </a:solidFill>
            </c:spPr>
            <c:extLst>
              <c:ext xmlns:c16="http://schemas.microsoft.com/office/drawing/2014/chart" uri="{C3380CC4-5D6E-409C-BE32-E72D297353CC}">
                <c16:uniqueId val="{00000003-2315-476F-9481-3618BC00C2CC}"/>
              </c:ext>
            </c:extLst>
          </c:dPt>
          <c:dPt>
            <c:idx val="2"/>
            <c:invertIfNegative val="0"/>
            <c:bubble3D val="0"/>
            <c:spPr>
              <a:solidFill>
                <a:srgbClr val="0077D5"/>
              </a:solidFill>
            </c:spPr>
            <c:extLst>
              <c:ext xmlns:c16="http://schemas.microsoft.com/office/drawing/2014/chart" uri="{C3380CC4-5D6E-409C-BE32-E72D297353CC}">
                <c16:uniqueId val="{00000005-2315-476F-9481-3618BC00C2CC}"/>
              </c:ext>
            </c:extLst>
          </c:dPt>
          <c:dPt>
            <c:idx val="3"/>
            <c:invertIfNegative val="0"/>
            <c:bubble3D val="0"/>
            <c:spPr>
              <a:solidFill>
                <a:srgbClr val="4DB0FF"/>
              </a:solidFill>
            </c:spPr>
            <c:extLst>
              <c:ext xmlns:c16="http://schemas.microsoft.com/office/drawing/2014/chart" uri="{C3380CC4-5D6E-409C-BE32-E72D297353CC}">
                <c16:uniqueId val="{00000007-2315-476F-9481-3618BC00C2CC}"/>
              </c:ext>
            </c:extLst>
          </c:dPt>
          <c:dPt>
            <c:idx val="4"/>
            <c:invertIfNegative val="0"/>
            <c:bubble3D val="0"/>
            <c:spPr>
              <a:solidFill>
                <a:srgbClr val="88CBFF"/>
              </a:solidFill>
            </c:spPr>
            <c:extLst>
              <c:ext xmlns:c16="http://schemas.microsoft.com/office/drawing/2014/chart" uri="{C3380CC4-5D6E-409C-BE32-E72D297353CC}">
                <c16:uniqueId val="{00000009-2315-476F-9481-3618BC00C2CC}"/>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315-476F-9481-3618BC00C2CC}"/>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315-476F-9481-3618BC00C2CC}"/>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315-476F-9481-3618BC00C2CC}"/>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2315-476F-9481-3618BC00C2CC}"/>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2315-476F-9481-3618BC00C2CC}"/>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Twitter awareness</c:v>
                </c:pt>
                <c:pt idx="1">
                  <c:v>Twitter popularity</c:v>
                </c:pt>
                <c:pt idx="2">
                  <c:v>Twitter usage</c:v>
                </c:pt>
                <c:pt idx="3">
                  <c:v>Twitter loyalty</c:v>
                </c:pt>
                <c:pt idx="4">
                  <c:v>Twitter buzz</c:v>
                </c:pt>
              </c:strCache>
            </c:strRef>
          </c:cat>
          <c:val>
            <c:numRef>
              <c:f>Sheet1!$B$2:$B$6</c:f>
              <c:numCache>
                <c:formatCode>General</c:formatCode>
                <c:ptCount val="5"/>
                <c:pt idx="0">
                  <c:v>0.86</c:v>
                </c:pt>
                <c:pt idx="1">
                  <c:v>0.27</c:v>
                </c:pt>
                <c:pt idx="2">
                  <c:v>0.3</c:v>
                </c:pt>
                <c:pt idx="3">
                  <c:v>0.25</c:v>
                </c:pt>
                <c:pt idx="4">
                  <c:v>0.23</c:v>
                </c:pt>
              </c:numCache>
            </c:numRef>
          </c:val>
          <c:extLst>
            <c:ext xmlns:c16="http://schemas.microsoft.com/office/drawing/2014/chart" uri="{C3380CC4-5D6E-409C-BE32-E72D297353CC}">
              <c16:uniqueId val="{0000000A-2315-476F-9481-3618BC00C2C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6E49-4354-B573-D30F4D4E4A64}"/>
              </c:ext>
            </c:extLst>
          </c:dPt>
          <c:dPt>
            <c:idx val="1"/>
            <c:invertIfNegative val="0"/>
            <c:bubble3D val="0"/>
            <c:spPr>
              <a:solidFill>
                <a:srgbClr val="0059A0"/>
              </a:solidFill>
            </c:spPr>
            <c:extLst>
              <c:ext xmlns:c16="http://schemas.microsoft.com/office/drawing/2014/chart" uri="{C3380CC4-5D6E-409C-BE32-E72D297353CC}">
                <c16:uniqueId val="{00000003-6E49-4354-B573-D30F4D4E4A64}"/>
              </c:ext>
            </c:extLst>
          </c:dPt>
          <c:dPt>
            <c:idx val="2"/>
            <c:invertIfNegative val="0"/>
            <c:bubble3D val="0"/>
            <c:spPr>
              <a:solidFill>
                <a:srgbClr val="0077D5"/>
              </a:solidFill>
            </c:spPr>
            <c:extLst>
              <c:ext xmlns:c16="http://schemas.microsoft.com/office/drawing/2014/chart" uri="{C3380CC4-5D6E-409C-BE32-E72D297353CC}">
                <c16:uniqueId val="{00000005-6E49-4354-B573-D30F4D4E4A64}"/>
              </c:ext>
            </c:extLst>
          </c:dPt>
          <c:dPt>
            <c:idx val="3"/>
            <c:invertIfNegative val="0"/>
            <c:bubble3D val="0"/>
            <c:spPr>
              <a:solidFill>
                <a:srgbClr val="4DB0FF"/>
              </a:solidFill>
            </c:spPr>
            <c:extLst>
              <c:ext xmlns:c16="http://schemas.microsoft.com/office/drawing/2014/chart" uri="{C3380CC4-5D6E-409C-BE32-E72D297353CC}">
                <c16:uniqueId val="{00000007-6E49-4354-B573-D30F4D4E4A64}"/>
              </c:ext>
            </c:extLst>
          </c:dPt>
          <c:dPt>
            <c:idx val="4"/>
            <c:invertIfNegative val="0"/>
            <c:bubble3D val="0"/>
            <c:spPr>
              <a:solidFill>
                <a:srgbClr val="88CBFF"/>
              </a:solidFill>
            </c:spPr>
            <c:extLst>
              <c:ext xmlns:c16="http://schemas.microsoft.com/office/drawing/2014/chart" uri="{C3380CC4-5D6E-409C-BE32-E72D297353CC}">
                <c16:uniqueId val="{00000009-6E49-4354-B573-D30F4D4E4A64}"/>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6E49-4354-B573-D30F4D4E4A64}"/>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6E49-4354-B573-D30F4D4E4A64}"/>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6E49-4354-B573-D30F4D4E4A64}"/>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6E49-4354-B573-D30F4D4E4A64}"/>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6E49-4354-B573-D30F4D4E4A64}"/>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LinkedIn awareness</c:v>
                </c:pt>
                <c:pt idx="1">
                  <c:v>LinkedIn popularity</c:v>
                </c:pt>
                <c:pt idx="2">
                  <c:v>LinkedIn usage</c:v>
                </c:pt>
                <c:pt idx="3">
                  <c:v>LinkedIn loyalty</c:v>
                </c:pt>
                <c:pt idx="4">
                  <c:v>LinkedIn buzz</c:v>
                </c:pt>
              </c:strCache>
            </c:strRef>
          </c:cat>
          <c:val>
            <c:numRef>
              <c:f>Sheet1!$B$2:$B$6</c:f>
              <c:numCache>
                <c:formatCode>General</c:formatCode>
                <c:ptCount val="5"/>
                <c:pt idx="0">
                  <c:v>0.69</c:v>
                </c:pt>
                <c:pt idx="1">
                  <c:v>0.18</c:v>
                </c:pt>
                <c:pt idx="2">
                  <c:v>0.2</c:v>
                </c:pt>
                <c:pt idx="3">
                  <c:v>0.14000000000000001</c:v>
                </c:pt>
                <c:pt idx="4">
                  <c:v>0.18</c:v>
                </c:pt>
              </c:numCache>
            </c:numRef>
          </c:val>
          <c:extLst>
            <c:ext xmlns:c16="http://schemas.microsoft.com/office/drawing/2014/chart" uri="{C3380CC4-5D6E-409C-BE32-E72D297353CC}">
              <c16:uniqueId val="{0000000A-6E49-4354-B573-D30F4D4E4A64}"/>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0.745"/>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2F0A-4F65-8F62-C45A87587547}"/>
              </c:ext>
            </c:extLst>
          </c:dPt>
          <c:dPt>
            <c:idx val="1"/>
            <c:invertIfNegative val="0"/>
            <c:bubble3D val="0"/>
            <c:spPr>
              <a:solidFill>
                <a:srgbClr val="0059A0"/>
              </a:solidFill>
            </c:spPr>
            <c:extLst>
              <c:ext xmlns:c16="http://schemas.microsoft.com/office/drawing/2014/chart" uri="{C3380CC4-5D6E-409C-BE32-E72D297353CC}">
                <c16:uniqueId val="{00000003-2F0A-4F65-8F62-C45A87587547}"/>
              </c:ext>
            </c:extLst>
          </c:dPt>
          <c:dPt>
            <c:idx val="2"/>
            <c:invertIfNegative val="0"/>
            <c:bubble3D val="0"/>
            <c:spPr>
              <a:solidFill>
                <a:srgbClr val="0077D5"/>
              </a:solidFill>
            </c:spPr>
            <c:extLst>
              <c:ext xmlns:c16="http://schemas.microsoft.com/office/drawing/2014/chart" uri="{C3380CC4-5D6E-409C-BE32-E72D297353CC}">
                <c16:uniqueId val="{00000005-2F0A-4F65-8F62-C45A87587547}"/>
              </c:ext>
            </c:extLst>
          </c:dPt>
          <c:dPt>
            <c:idx val="3"/>
            <c:invertIfNegative val="0"/>
            <c:bubble3D val="0"/>
            <c:spPr>
              <a:solidFill>
                <a:srgbClr val="4DB0FF"/>
              </a:solidFill>
            </c:spPr>
            <c:extLst>
              <c:ext xmlns:c16="http://schemas.microsoft.com/office/drawing/2014/chart" uri="{C3380CC4-5D6E-409C-BE32-E72D297353CC}">
                <c16:uniqueId val="{00000007-2F0A-4F65-8F62-C45A87587547}"/>
              </c:ext>
            </c:extLst>
          </c:dPt>
          <c:dPt>
            <c:idx val="4"/>
            <c:invertIfNegative val="0"/>
            <c:bubble3D val="0"/>
            <c:spPr>
              <a:solidFill>
                <a:srgbClr val="88CBFF"/>
              </a:solidFill>
            </c:spPr>
            <c:extLst>
              <c:ext xmlns:c16="http://schemas.microsoft.com/office/drawing/2014/chart" uri="{C3380CC4-5D6E-409C-BE32-E72D297353CC}">
                <c16:uniqueId val="{00000009-2F0A-4F65-8F62-C45A87587547}"/>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2F0A-4F65-8F62-C45A87587547}"/>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2F0A-4F65-8F62-C45A87587547}"/>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2F0A-4F65-8F62-C45A87587547}"/>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2F0A-4F65-8F62-C45A87587547}"/>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2F0A-4F65-8F62-C45A87587547}"/>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Pinterest awareness</c:v>
                </c:pt>
                <c:pt idx="1">
                  <c:v>Pinterest popularity</c:v>
                </c:pt>
                <c:pt idx="2">
                  <c:v>Pinterest usage</c:v>
                </c:pt>
                <c:pt idx="3">
                  <c:v>Pinterest loyalty</c:v>
                </c:pt>
                <c:pt idx="4">
                  <c:v>Pinterest buzz</c:v>
                </c:pt>
              </c:strCache>
            </c:strRef>
          </c:cat>
          <c:val>
            <c:numRef>
              <c:f>Sheet1!$B$2:$B$6</c:f>
              <c:numCache>
                <c:formatCode>General</c:formatCode>
                <c:ptCount val="5"/>
                <c:pt idx="0">
                  <c:v>0.79</c:v>
                </c:pt>
                <c:pt idx="1">
                  <c:v>0.3</c:v>
                </c:pt>
                <c:pt idx="2">
                  <c:v>0.31</c:v>
                </c:pt>
                <c:pt idx="3">
                  <c:v>0.24</c:v>
                </c:pt>
                <c:pt idx="4">
                  <c:v>0.19</c:v>
                </c:pt>
              </c:numCache>
            </c:numRef>
          </c:val>
          <c:extLst>
            <c:ext xmlns:c16="http://schemas.microsoft.com/office/drawing/2014/chart" uri="{C3380CC4-5D6E-409C-BE32-E72D297353CC}">
              <c16:uniqueId val="{0000000A-2F0A-4F65-8F62-C45A87587547}"/>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0.85"/>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7B38-4605-BA4A-DDCA4EA4C2B5}"/>
              </c:ext>
            </c:extLst>
          </c:dPt>
          <c:dPt>
            <c:idx val="1"/>
            <c:invertIfNegative val="0"/>
            <c:bubble3D val="0"/>
            <c:spPr>
              <a:solidFill>
                <a:srgbClr val="0059A0"/>
              </a:solidFill>
            </c:spPr>
            <c:extLst>
              <c:ext xmlns:c16="http://schemas.microsoft.com/office/drawing/2014/chart" uri="{C3380CC4-5D6E-409C-BE32-E72D297353CC}">
                <c16:uniqueId val="{00000003-7B38-4605-BA4A-DDCA4EA4C2B5}"/>
              </c:ext>
            </c:extLst>
          </c:dPt>
          <c:dPt>
            <c:idx val="2"/>
            <c:invertIfNegative val="0"/>
            <c:bubble3D val="0"/>
            <c:spPr>
              <a:solidFill>
                <a:srgbClr val="0077D5"/>
              </a:solidFill>
            </c:spPr>
            <c:extLst>
              <c:ext xmlns:c16="http://schemas.microsoft.com/office/drawing/2014/chart" uri="{C3380CC4-5D6E-409C-BE32-E72D297353CC}">
                <c16:uniqueId val="{00000005-7B38-4605-BA4A-DDCA4EA4C2B5}"/>
              </c:ext>
            </c:extLst>
          </c:dPt>
          <c:dPt>
            <c:idx val="3"/>
            <c:invertIfNegative val="0"/>
            <c:bubble3D val="0"/>
            <c:spPr>
              <a:solidFill>
                <a:srgbClr val="4DB0FF"/>
              </a:solidFill>
            </c:spPr>
            <c:extLst>
              <c:ext xmlns:c16="http://schemas.microsoft.com/office/drawing/2014/chart" uri="{C3380CC4-5D6E-409C-BE32-E72D297353CC}">
                <c16:uniqueId val="{00000007-7B38-4605-BA4A-DDCA4EA4C2B5}"/>
              </c:ext>
            </c:extLst>
          </c:dPt>
          <c:dPt>
            <c:idx val="4"/>
            <c:invertIfNegative val="0"/>
            <c:bubble3D val="0"/>
            <c:spPr>
              <a:solidFill>
                <a:srgbClr val="88CBFF"/>
              </a:solidFill>
            </c:spPr>
            <c:extLst>
              <c:ext xmlns:c16="http://schemas.microsoft.com/office/drawing/2014/chart" uri="{C3380CC4-5D6E-409C-BE32-E72D297353CC}">
                <c16:uniqueId val="{00000009-7B38-4605-BA4A-DDCA4EA4C2B5}"/>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7B38-4605-BA4A-DDCA4EA4C2B5}"/>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7B38-4605-BA4A-DDCA4EA4C2B5}"/>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7B38-4605-BA4A-DDCA4EA4C2B5}"/>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7B38-4605-BA4A-DDCA4EA4C2B5}"/>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7B38-4605-BA4A-DDCA4EA4C2B5}"/>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Reddit awareness</c:v>
                </c:pt>
                <c:pt idx="1">
                  <c:v>Reddit popularity</c:v>
                </c:pt>
                <c:pt idx="2">
                  <c:v>Reddit usage</c:v>
                </c:pt>
                <c:pt idx="3">
                  <c:v>Reddit loyalty</c:v>
                </c:pt>
                <c:pt idx="4">
                  <c:v>Reddit buzz</c:v>
                </c:pt>
              </c:strCache>
            </c:strRef>
          </c:cat>
          <c:val>
            <c:numRef>
              <c:f>Sheet1!$B$2:$B$6</c:f>
              <c:numCache>
                <c:formatCode>General</c:formatCode>
                <c:ptCount val="5"/>
                <c:pt idx="0">
                  <c:v>0.68</c:v>
                </c:pt>
                <c:pt idx="1">
                  <c:v>0.19</c:v>
                </c:pt>
                <c:pt idx="2">
                  <c:v>0.21</c:v>
                </c:pt>
                <c:pt idx="3">
                  <c:v>0.16</c:v>
                </c:pt>
                <c:pt idx="4">
                  <c:v>0.13</c:v>
                </c:pt>
              </c:numCache>
            </c:numRef>
          </c:val>
          <c:extLst>
            <c:ext xmlns:c16="http://schemas.microsoft.com/office/drawing/2014/chart" uri="{C3380CC4-5D6E-409C-BE32-E72D297353CC}">
              <c16:uniqueId val="{0000000A-7B38-4605-BA4A-DDCA4EA4C2B5}"/>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0.73499999999999999"/>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Pt>
            <c:idx val="0"/>
            <c:invertIfNegative val="0"/>
            <c:bubble3D val="0"/>
            <c:spPr>
              <a:solidFill>
                <a:srgbClr val="003C6A"/>
              </a:solidFill>
            </c:spPr>
            <c:extLst>
              <c:ext xmlns:c16="http://schemas.microsoft.com/office/drawing/2014/chart" uri="{C3380CC4-5D6E-409C-BE32-E72D297353CC}">
                <c16:uniqueId val="{00000001-FFC6-41E4-816C-9F66FEAA6FCB}"/>
              </c:ext>
            </c:extLst>
          </c:dPt>
          <c:dPt>
            <c:idx val="1"/>
            <c:invertIfNegative val="0"/>
            <c:bubble3D val="0"/>
            <c:spPr>
              <a:solidFill>
                <a:srgbClr val="0059A0"/>
              </a:solidFill>
            </c:spPr>
            <c:extLst>
              <c:ext xmlns:c16="http://schemas.microsoft.com/office/drawing/2014/chart" uri="{C3380CC4-5D6E-409C-BE32-E72D297353CC}">
                <c16:uniqueId val="{00000003-FFC6-41E4-816C-9F66FEAA6FCB}"/>
              </c:ext>
            </c:extLst>
          </c:dPt>
          <c:dPt>
            <c:idx val="2"/>
            <c:invertIfNegative val="0"/>
            <c:bubble3D val="0"/>
            <c:spPr>
              <a:solidFill>
                <a:srgbClr val="0077D5"/>
              </a:solidFill>
            </c:spPr>
            <c:extLst>
              <c:ext xmlns:c16="http://schemas.microsoft.com/office/drawing/2014/chart" uri="{C3380CC4-5D6E-409C-BE32-E72D297353CC}">
                <c16:uniqueId val="{00000005-FFC6-41E4-816C-9F66FEAA6FCB}"/>
              </c:ext>
            </c:extLst>
          </c:dPt>
          <c:dPt>
            <c:idx val="3"/>
            <c:invertIfNegative val="0"/>
            <c:bubble3D val="0"/>
            <c:spPr>
              <a:solidFill>
                <a:srgbClr val="4DB0FF"/>
              </a:solidFill>
            </c:spPr>
            <c:extLst>
              <c:ext xmlns:c16="http://schemas.microsoft.com/office/drawing/2014/chart" uri="{C3380CC4-5D6E-409C-BE32-E72D297353CC}">
                <c16:uniqueId val="{00000007-FFC6-41E4-816C-9F66FEAA6FCB}"/>
              </c:ext>
            </c:extLst>
          </c:dPt>
          <c:dPt>
            <c:idx val="4"/>
            <c:invertIfNegative val="0"/>
            <c:bubble3D val="0"/>
            <c:spPr>
              <a:solidFill>
                <a:srgbClr val="88CBFF"/>
              </a:solidFill>
            </c:spPr>
            <c:extLst>
              <c:ext xmlns:c16="http://schemas.microsoft.com/office/drawing/2014/chart" uri="{C3380CC4-5D6E-409C-BE32-E72D297353CC}">
                <c16:uniqueId val="{00000009-FFC6-41E4-816C-9F66FEAA6FCB}"/>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FFC6-41E4-816C-9F66FEAA6FCB}"/>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FFC6-41E4-816C-9F66FEAA6FCB}"/>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FFC6-41E4-816C-9F66FEAA6FCB}"/>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FFC6-41E4-816C-9F66FEAA6FCB}"/>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FFC6-41E4-816C-9F66FEAA6FC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Snapchat awareness</c:v>
                </c:pt>
                <c:pt idx="1">
                  <c:v>Snapchat popularity</c:v>
                </c:pt>
                <c:pt idx="2">
                  <c:v>Snapchat usage</c:v>
                </c:pt>
                <c:pt idx="3">
                  <c:v>Snapchat loyalty</c:v>
                </c:pt>
                <c:pt idx="4">
                  <c:v>Snapchat buzz</c:v>
                </c:pt>
              </c:strCache>
            </c:strRef>
          </c:cat>
          <c:val>
            <c:numRef>
              <c:f>Sheet1!$B$2:$B$6</c:f>
              <c:numCache>
                <c:formatCode>General</c:formatCode>
                <c:ptCount val="5"/>
                <c:pt idx="0">
                  <c:v>0.84</c:v>
                </c:pt>
                <c:pt idx="1">
                  <c:v>0.3</c:v>
                </c:pt>
                <c:pt idx="2">
                  <c:v>0.31</c:v>
                </c:pt>
                <c:pt idx="3">
                  <c:v>0.26</c:v>
                </c:pt>
                <c:pt idx="4">
                  <c:v>0.23</c:v>
                </c:pt>
              </c:numCache>
            </c:numRef>
          </c:val>
          <c:extLst>
            <c:ext xmlns:c16="http://schemas.microsoft.com/office/drawing/2014/chart" uri="{C3380CC4-5D6E-409C-BE32-E72D297353CC}">
              <c16:uniqueId val="{0000000A-FFC6-41E4-816C-9F66FEAA6FCB}"/>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A0F3-4DEE-BD08-C51479BFC659}"/>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A0F3-4DEE-BD08-C51479BFC659}"/>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A0F3-4DEE-BD08-C51479BFC659}"/>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A0F3-4DEE-BD08-C51479BFC659}"/>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A0F3-4DEE-BD08-C51479BFC659}"/>
                </c:ext>
              </c:extLst>
            </c:dLbl>
            <c:dLbl>
              <c:idx val="5"/>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A0F3-4DEE-BD08-C51479BFC659}"/>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A0F3-4DEE-BD08-C51479BFC659}"/>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A0F3-4DEE-BD08-C51479BFC659}"/>
                </c:ext>
              </c:extLst>
            </c:dLbl>
            <c:dLbl>
              <c:idx val="8"/>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A0F3-4DEE-BD08-C51479BFC659}"/>
                </c:ext>
              </c:extLst>
            </c:dLbl>
            <c:dLbl>
              <c:idx val="9"/>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A0F3-4DEE-BD08-C51479BFC659}"/>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formatCode>General</c:formatCode>
                <c:ptCount val="10"/>
                <c:pt idx="0">
                  <c:v>75.900000000000006</c:v>
                </c:pt>
                <c:pt idx="1">
                  <c:v>103.8</c:v>
                </c:pt>
                <c:pt idx="2">
                  <c:v>132.30000000000001</c:v>
                </c:pt>
                <c:pt idx="3">
                  <c:v>165.3</c:v>
                </c:pt>
                <c:pt idx="4">
                  <c:v>208.9</c:v>
                </c:pt>
                <c:pt idx="5">
                  <c:v>262.5</c:v>
                </c:pt>
                <c:pt idx="6">
                  <c:v>302.60000000000002</c:v>
                </c:pt>
                <c:pt idx="7">
                  <c:v>331.8</c:v>
                </c:pt>
                <c:pt idx="8">
                  <c:v>355.5</c:v>
                </c:pt>
                <c:pt idx="9">
                  <c:v>376.4</c:v>
                </c:pt>
              </c:numCache>
            </c:numRef>
          </c:val>
          <c:extLst>
            <c:ext xmlns:c16="http://schemas.microsoft.com/office/drawing/2014/chart" uri="{C3380CC4-5D6E-409C-BE32-E72D297353CC}">
              <c16:uniqueId val="{0000000A-A0F3-4DEE-BD08-C51479BFC659}"/>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spending per internet user in U.S. dollars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Column1</c:v>
                </c:pt>
              </c:strCache>
            </c:strRef>
          </c:tx>
          <c:spPr>
            <a:ln>
              <a:solidFill>
                <a:srgbClr val="2875DD"/>
              </a:solidFill>
            </a:ln>
          </c:spPr>
          <c:marker>
            <c:symbol val="circle"/>
            <c:size val="5"/>
            <c:spPr>
              <a:solidFill>
                <a:srgbClr val="2875DD"/>
              </a:solidFill>
              <a:ln>
                <a:solidFill>
                  <a:srgbClr val="2875DD"/>
                </a:solidFill>
              </a:ln>
            </c:spPr>
          </c:marker>
          <c:dLbls>
            <c:dLbl>
              <c:idx val="0"/>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3AC1-4D72-B7BD-51786C64A9BA}"/>
                </c:ext>
              </c:extLst>
            </c:dLbl>
            <c:dLbl>
              <c:idx val="1"/>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AC1-4D72-B7BD-51786C64A9BA}"/>
                </c:ext>
              </c:extLst>
            </c:dLbl>
            <c:dLbl>
              <c:idx val="2"/>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3AC1-4D72-B7BD-51786C64A9BA}"/>
                </c:ext>
              </c:extLst>
            </c:dLbl>
            <c:dLbl>
              <c:idx val="3"/>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3AC1-4D72-B7BD-51786C64A9BA}"/>
                </c:ext>
              </c:extLst>
            </c:dLbl>
            <c:dLbl>
              <c:idx val="4"/>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3AC1-4D72-B7BD-51786C64A9BA}"/>
                </c:ext>
              </c:extLst>
            </c:dLbl>
            <c:dLbl>
              <c:idx val="5"/>
              <c:numFmt formatCode="#,##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3AC1-4D72-B7BD-51786C64A9BA}"/>
                </c:ext>
              </c:extLst>
            </c:dLbl>
            <c:dLbl>
              <c:idx val="6"/>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3AC1-4D72-B7BD-51786C64A9BA}"/>
                </c:ext>
              </c:extLst>
            </c:dLbl>
            <c:dLbl>
              <c:idx val="7"/>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3AC1-4D72-B7BD-51786C64A9BA}"/>
                </c:ext>
              </c:extLst>
            </c:dLbl>
            <c:dLbl>
              <c:idx val="8"/>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3AC1-4D72-B7BD-51786C64A9BA}"/>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0.38300000000000001</c:v>
                </c:pt>
                <c:pt idx="1">
                  <c:v>0.29799999999999999</c:v>
                </c:pt>
                <c:pt idx="2">
                  <c:v>0.27800000000000002</c:v>
                </c:pt>
                <c:pt idx="3">
                  <c:v>0.28499999999999998</c:v>
                </c:pt>
                <c:pt idx="4">
                  <c:v>0.27800000000000002</c:v>
                </c:pt>
                <c:pt idx="5">
                  <c:v>0.17</c:v>
                </c:pt>
                <c:pt idx="6">
                  <c:v>0.112</c:v>
                </c:pt>
                <c:pt idx="7">
                  <c:v>8.5999999999999993E-2</c:v>
                </c:pt>
                <c:pt idx="8">
                  <c:v>7.1999999999999995E-2</c:v>
                </c:pt>
              </c:numCache>
            </c:numRef>
          </c:val>
          <c:smooth val="0"/>
          <c:extLst>
            <c:ext xmlns:c16="http://schemas.microsoft.com/office/drawing/2014/chart" uri="{C3380CC4-5D6E-409C-BE32-E72D297353CC}">
              <c16:uniqueId val="{00000009-3AC1-4D72-B7BD-51786C64A9BA}"/>
            </c:ext>
          </c:extLst>
        </c:ser>
        <c:dLbls>
          <c:showLegendKey val="0"/>
          <c:showVal val="0"/>
          <c:showCatName val="0"/>
          <c:showSerName val="0"/>
          <c:showPercent val="0"/>
          <c:showBubbleSize val="0"/>
        </c:dLbls>
        <c:marker val="1"/>
        <c:smooth val="0"/>
        <c:axId val="67451136"/>
        <c:axId val="66437120"/>
      </c:line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Year-on-year growth </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800" smtId="4294967295"/>
      </a:pPr>
      <a:endParaRPr lang="ko-KR"/>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Desktop</c:v>
                </c:pt>
              </c:strCache>
            </c:strRef>
          </c:tx>
          <c:spPr>
            <a:ln>
              <a:solidFill>
                <a:srgbClr val="2875DD"/>
              </a:solidFill>
            </a:ln>
          </c:spPr>
          <c:marker>
            <c:symbol val="circle"/>
            <c:size val="5"/>
            <c:spPr>
              <a:solidFill>
                <a:srgbClr val="2875DD"/>
              </a:solidFill>
              <a:ln>
                <a:solidFill>
                  <a:srgbClr val="2875DD"/>
                </a:solidFill>
              </a:ln>
            </c:spPr>
          </c:marker>
          <c:dLbls>
            <c:dLbl>
              <c:idx val="0"/>
              <c:numFmt formatCode="#,##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1775-4041-8C98-8594B596B460}"/>
                </c:ext>
              </c:extLst>
            </c:dLbl>
            <c:dLbl>
              <c:idx val="1"/>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1775-4041-8C98-8594B596B460}"/>
                </c:ext>
              </c:extLst>
            </c:dLbl>
            <c:dLbl>
              <c:idx val="2"/>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1775-4041-8C98-8594B596B460}"/>
                </c:ext>
              </c:extLst>
            </c:dLbl>
            <c:dLbl>
              <c:idx val="3"/>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1775-4041-8C98-8594B596B460}"/>
                </c:ext>
              </c:extLst>
            </c:dLbl>
            <c:dLbl>
              <c:idx val="4"/>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1775-4041-8C98-8594B596B460}"/>
                </c:ext>
              </c:extLst>
            </c:dLbl>
            <c:dLbl>
              <c:idx val="5"/>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1775-4041-8C98-8594B596B460}"/>
                </c:ext>
              </c:extLst>
            </c:dLbl>
            <c:dLbl>
              <c:idx val="6"/>
              <c:numFmt formatCode="#,##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1775-4041-8C98-8594B596B460}"/>
                </c:ext>
              </c:extLst>
            </c:dLbl>
            <c:dLbl>
              <c:idx val="7"/>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1775-4041-8C98-8594B596B460}"/>
                </c:ext>
              </c:extLst>
            </c:dLbl>
            <c:dLbl>
              <c:idx val="8"/>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1775-4041-8C98-8594B596B460}"/>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0.18</c:v>
                </c:pt>
                <c:pt idx="1">
                  <c:v>4.4999999999999998E-2</c:v>
                </c:pt>
                <c:pt idx="2">
                  <c:v>9.8000000000000004E-2</c:v>
                </c:pt>
                <c:pt idx="3">
                  <c:v>0.20100000000000001</c:v>
                </c:pt>
                <c:pt idx="4">
                  <c:v>0.247</c:v>
                </c:pt>
                <c:pt idx="5">
                  <c:v>0.161</c:v>
                </c:pt>
                <c:pt idx="6">
                  <c:v>0.11</c:v>
                </c:pt>
                <c:pt idx="7">
                  <c:v>-4.3999999999999997E-2</c:v>
                </c:pt>
                <c:pt idx="8">
                  <c:v>-5.8999999999999997E-2</c:v>
                </c:pt>
              </c:numCache>
            </c:numRef>
          </c:val>
          <c:smooth val="0"/>
          <c:extLst>
            <c:ext xmlns:c16="http://schemas.microsoft.com/office/drawing/2014/chart" uri="{C3380CC4-5D6E-409C-BE32-E72D297353CC}">
              <c16:uniqueId val="{00000009-1775-4041-8C98-8594B596B460}"/>
            </c:ext>
          </c:extLst>
        </c:ser>
        <c:ser>
          <c:idx val="1"/>
          <c:order val="1"/>
          <c:tx>
            <c:strRef>
              <c:f>Sheet1!$C$1</c:f>
              <c:strCache>
                <c:ptCount val="1"/>
                <c:pt idx="0">
                  <c:v>Mobile</c:v>
                </c:pt>
              </c:strCache>
            </c:strRef>
          </c:tx>
          <c:spPr>
            <a:ln>
              <a:solidFill>
                <a:srgbClr val="0F283E"/>
              </a:solidFill>
            </a:ln>
          </c:spPr>
          <c:marker>
            <c:symbol val="circle"/>
            <c:size val="5"/>
            <c:spPr>
              <a:solidFill>
                <a:srgbClr val="0F283E"/>
              </a:solidFill>
              <a:ln>
                <a:solidFill>
                  <a:srgbClr val="0F283E"/>
                </a:solidFill>
              </a:ln>
            </c:spPr>
          </c:marker>
          <c:dLbls>
            <c:dLbl>
              <c:idx val="0"/>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1775-4041-8C98-8594B596B460}"/>
                </c:ext>
              </c:extLst>
            </c:dLbl>
            <c:dLbl>
              <c:idx val="1"/>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1775-4041-8C98-8594B596B460}"/>
                </c:ext>
              </c:extLst>
            </c:dLbl>
            <c:dLbl>
              <c:idx val="2"/>
              <c:numFmt formatCode="#,##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1775-4041-8C98-8594B596B460}"/>
                </c:ext>
              </c:extLst>
            </c:dLbl>
            <c:dLbl>
              <c:idx val="3"/>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1775-4041-8C98-8594B596B460}"/>
                </c:ext>
              </c:extLst>
            </c:dLbl>
            <c:dLbl>
              <c:idx val="4"/>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1775-4041-8C98-8594B596B460}"/>
                </c:ext>
              </c:extLst>
            </c:dLbl>
            <c:dLbl>
              <c:idx val="5"/>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1775-4041-8C98-8594B596B460}"/>
                </c:ext>
              </c:extLst>
            </c:dLbl>
            <c:dLbl>
              <c:idx val="6"/>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1775-4041-8C98-8594B596B460}"/>
                </c:ext>
              </c:extLst>
            </c:dLbl>
            <c:dLbl>
              <c:idx val="7"/>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1-1775-4041-8C98-8594B596B460}"/>
                </c:ext>
              </c:extLst>
            </c:dLbl>
            <c:dLbl>
              <c:idx val="8"/>
              <c:numFmt formatCode="#,##0.0%" sourceLinked="0"/>
              <c:spPr/>
              <c:txPr>
                <a:bodyPr/>
                <a:lstStyle/>
                <a:p>
                  <a:pPr>
                    <a:defRPr sz="1100" b="0" smtId="4294967295">
                      <a:solidFill>
                        <a:srgbClr val="0F2741"/>
                      </a:solidFill>
                      <a:latin typeface="Open Sans"/>
                    </a:defRPr>
                  </a:pPr>
                  <a:endParaRPr lang="ko-KR"/>
                </a:p>
              </c:txPr>
              <c:dLblPos val="t"/>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2-1775-4041-8C98-8594B596B460}"/>
                </c:ext>
              </c:extLst>
            </c:dLbl>
            <c:spPr>
              <a:noFill/>
              <a:ln>
                <a:noFill/>
              </a:ln>
              <a:effectLst/>
            </c:spPr>
            <c:txPr>
              <a:bodyPr/>
              <a:lstStyle/>
              <a:p>
                <a:pPr>
                  <a:defRPr sz="9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Sheet1!$C$2:$C$10</c:f>
              <c:numCache>
                <c:formatCode>General</c:formatCode>
                <c:ptCount val="9"/>
                <c:pt idx="0">
                  <c:v>0.46100000000000002</c:v>
                </c:pt>
                <c:pt idx="1">
                  <c:v>0.375</c:v>
                </c:pt>
                <c:pt idx="2">
                  <c:v>0.32</c:v>
                </c:pt>
                <c:pt idx="3">
                  <c:v>0.30099999999999999</c:v>
                </c:pt>
                <c:pt idx="4">
                  <c:v>0.28299999999999997</c:v>
                </c:pt>
                <c:pt idx="5">
                  <c:v>0.17199999999999999</c:v>
                </c:pt>
                <c:pt idx="6">
                  <c:v>0.113</c:v>
                </c:pt>
                <c:pt idx="7">
                  <c:v>0.108</c:v>
                </c:pt>
                <c:pt idx="8">
                  <c:v>9.1999999999999998E-2</c:v>
                </c:pt>
              </c:numCache>
            </c:numRef>
          </c:val>
          <c:smooth val="0"/>
          <c:extLst>
            <c:ext xmlns:c16="http://schemas.microsoft.com/office/drawing/2014/chart" uri="{C3380CC4-5D6E-409C-BE32-E72D297353CC}">
              <c16:uniqueId val="{00000013-1775-4041-8C98-8594B596B460}"/>
            </c:ext>
          </c:extLst>
        </c:ser>
        <c:dLbls>
          <c:showLegendKey val="0"/>
          <c:showVal val="0"/>
          <c:showCatName val="0"/>
          <c:showSerName val="0"/>
          <c:showPercent val="0"/>
          <c:showBubbleSize val="0"/>
        </c:dLbls>
        <c:marker val="1"/>
        <c:smooth val="0"/>
        <c:axId val="67451136"/>
        <c:axId val="66437120"/>
      </c:line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Year-on-year growth </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800" smtId="4294967295"/>
      </a:pPr>
      <a:endParaRPr lang="ko-KR"/>
    </a:p>
  </c:tx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EC8A-4CF9-BDDB-31C8FAF9E75C}"/>
                </c:ext>
              </c:extLst>
            </c:dLbl>
            <c:dLbl>
              <c:idx val="1"/>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C8A-4CF9-BDDB-31C8FAF9E75C}"/>
                </c:ext>
              </c:extLst>
            </c:dLbl>
            <c:dLbl>
              <c:idx val="2"/>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EC8A-4CF9-BDDB-31C8FAF9E75C}"/>
                </c:ext>
              </c:extLst>
            </c:dLbl>
            <c:dLbl>
              <c:idx val="3"/>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EC8A-4CF9-BDDB-31C8FAF9E75C}"/>
                </c:ext>
              </c:extLst>
            </c:dLbl>
            <c:dLbl>
              <c:idx val="4"/>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EC8A-4CF9-BDDB-31C8FAF9E75C}"/>
                </c:ext>
              </c:extLst>
            </c:dLbl>
            <c:dLbl>
              <c:idx val="5"/>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EC8A-4CF9-BDDB-31C8FAF9E75C}"/>
                </c:ext>
              </c:extLst>
            </c:dLbl>
            <c:dLbl>
              <c:idx val="6"/>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EC8A-4CF9-BDDB-31C8FAF9E75C}"/>
                </c:ext>
              </c:extLst>
            </c:dLbl>
            <c:dLbl>
              <c:idx val="7"/>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EC8A-4CF9-BDDB-31C8FAF9E75C}"/>
                </c:ext>
              </c:extLst>
            </c:dLbl>
            <c:dLbl>
              <c:idx val="8"/>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EC8A-4CF9-BDDB-31C8FAF9E75C}"/>
                </c:ext>
              </c:extLst>
            </c:dLbl>
            <c:dLbl>
              <c:idx val="9"/>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EC8A-4CF9-BDDB-31C8FAF9E75C}"/>
                </c:ext>
              </c:extLst>
            </c:dLbl>
            <c:spPr>
              <a:noFill/>
              <a:ln>
                <a:noFill/>
              </a:ln>
              <a:effectLst/>
            </c:spPr>
            <c:txPr>
              <a:bodyPr/>
              <a:lstStyle/>
              <a:p>
                <a:pPr>
                  <a:defRPr sz="1100" b="0" smtId="4294967295">
                    <a:solidFill>
                      <a:prstClr val="black"/>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formatCode>General</c:formatCode>
                <c:ptCount val="10"/>
                <c:pt idx="0">
                  <c:v>20.78</c:v>
                </c:pt>
                <c:pt idx="1">
                  <c:v>24.22</c:v>
                </c:pt>
                <c:pt idx="2">
                  <c:v>24.87</c:v>
                </c:pt>
                <c:pt idx="3">
                  <c:v>26.69</c:v>
                </c:pt>
                <c:pt idx="4">
                  <c:v>31.51</c:v>
                </c:pt>
                <c:pt idx="5">
                  <c:v>38.64</c:v>
                </c:pt>
                <c:pt idx="6">
                  <c:v>44.19</c:v>
                </c:pt>
                <c:pt idx="7">
                  <c:v>48.38</c:v>
                </c:pt>
                <c:pt idx="8">
                  <c:v>45.62</c:v>
                </c:pt>
                <c:pt idx="9">
                  <c:v>42.4</c:v>
                </c:pt>
              </c:numCache>
            </c:numRef>
          </c:val>
          <c:extLst>
            <c:ext xmlns:c16="http://schemas.microsoft.com/office/drawing/2014/chart" uri="{C3380CC4-5D6E-409C-BE32-E72D297353CC}">
              <c16:uniqueId val="{0000000A-EC8A-4CF9-BDDB-31C8FAF9E75C}"/>
            </c:ext>
          </c:extLst>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EC8A-4CF9-BDDB-31C8FAF9E75C}"/>
                </c:ext>
              </c:extLst>
            </c:dLbl>
            <c:dLbl>
              <c:idx val="1"/>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EC8A-4CF9-BDDB-31C8FAF9E75C}"/>
                </c:ext>
              </c:extLst>
            </c:dLbl>
            <c:dLbl>
              <c:idx val="2"/>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EC8A-4CF9-BDDB-31C8FAF9E75C}"/>
                </c:ext>
              </c:extLst>
            </c:dLbl>
            <c:dLbl>
              <c:idx val="3"/>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EC8A-4CF9-BDDB-31C8FAF9E75C}"/>
                </c:ext>
              </c:extLst>
            </c:dLbl>
            <c:dLbl>
              <c:idx val="4"/>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EC8A-4CF9-BDDB-31C8FAF9E75C}"/>
                </c:ext>
              </c:extLst>
            </c:dLbl>
            <c:dLbl>
              <c:idx val="5"/>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EC8A-4CF9-BDDB-31C8FAF9E75C}"/>
                </c:ext>
              </c:extLst>
            </c:dLbl>
            <c:dLbl>
              <c:idx val="6"/>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1-EC8A-4CF9-BDDB-31C8FAF9E75C}"/>
                </c:ext>
              </c:extLst>
            </c:dLbl>
            <c:dLbl>
              <c:idx val="7"/>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2-EC8A-4CF9-BDDB-31C8FAF9E75C}"/>
                </c:ext>
              </c:extLst>
            </c:dLbl>
            <c:dLbl>
              <c:idx val="8"/>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3-EC8A-4CF9-BDDB-31C8FAF9E75C}"/>
                </c:ext>
              </c:extLst>
            </c:dLbl>
            <c:dLbl>
              <c:idx val="9"/>
              <c:numFmt formatCode="#,##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4-EC8A-4CF9-BDDB-31C8FAF9E75C}"/>
                </c:ext>
              </c:extLst>
            </c:dLbl>
            <c:spPr>
              <a:noFill/>
              <a:ln>
                <a:noFill/>
              </a:ln>
              <a:effectLst/>
            </c:spPr>
            <c:txPr>
              <a:bodyPr/>
              <a:lstStyle/>
              <a:p>
                <a:pPr>
                  <a:defRPr sz="1100" b="0" smtId="4294967295">
                    <a:solidFill>
                      <a:prstClr val="black"/>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formatCode>General</c:formatCode>
                <c:ptCount val="10"/>
                <c:pt idx="0">
                  <c:v>55.12</c:v>
                </c:pt>
                <c:pt idx="1">
                  <c:v>79.56</c:v>
                </c:pt>
                <c:pt idx="2">
                  <c:v>107.5</c:v>
                </c:pt>
                <c:pt idx="3">
                  <c:v>138.69999999999999</c:v>
                </c:pt>
                <c:pt idx="4">
                  <c:v>177.4</c:v>
                </c:pt>
                <c:pt idx="5">
                  <c:v>223.8</c:v>
                </c:pt>
                <c:pt idx="6">
                  <c:v>258.39999999999998</c:v>
                </c:pt>
                <c:pt idx="7">
                  <c:v>283.5</c:v>
                </c:pt>
                <c:pt idx="8">
                  <c:v>309.8</c:v>
                </c:pt>
                <c:pt idx="9">
                  <c:v>334</c:v>
                </c:pt>
              </c:numCache>
            </c:numRef>
          </c:val>
          <c:extLst>
            <c:ext xmlns:c16="http://schemas.microsoft.com/office/drawing/2014/chart" uri="{C3380CC4-5D6E-409C-BE32-E72D297353CC}">
              <c16:uniqueId val="{00000015-EC8A-4CF9-BDDB-31C8FAF9E75C}"/>
            </c:ext>
          </c:extLst>
        </c:ser>
        <c:dLbls>
          <c:showLegendKey val="0"/>
          <c:showVal val="0"/>
          <c:showCatName val="0"/>
          <c:showSerName val="0"/>
          <c:showPercent val="0"/>
          <c:showBubbleSize val="0"/>
        </c:dLbls>
        <c:gapWidth val="80"/>
        <c:overlap val="10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spending per internet user in U.S. dollars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Desktop</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ED5B-4B5B-8BAE-A30B38D6E212}"/>
                </c:ext>
              </c:extLst>
            </c:dLbl>
            <c:dLbl>
              <c:idx val="1"/>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D5B-4B5B-8BAE-A30B38D6E212}"/>
                </c:ext>
              </c:extLst>
            </c:dLbl>
            <c:dLbl>
              <c:idx val="2"/>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ED5B-4B5B-8BAE-A30B38D6E212}"/>
                </c:ext>
              </c:extLst>
            </c:dLbl>
            <c:dLbl>
              <c:idx val="3"/>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ED5B-4B5B-8BAE-A30B38D6E212}"/>
                </c:ext>
              </c:extLst>
            </c:dLbl>
            <c:dLbl>
              <c:idx val="4"/>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ED5B-4B5B-8BAE-A30B38D6E212}"/>
                </c:ext>
              </c:extLst>
            </c:dLbl>
            <c:dLbl>
              <c:idx val="5"/>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ED5B-4B5B-8BAE-A30B38D6E212}"/>
                </c:ext>
              </c:extLst>
            </c:dLbl>
            <c:dLbl>
              <c:idx val="6"/>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ED5B-4B5B-8BAE-A30B38D6E212}"/>
                </c:ext>
              </c:extLst>
            </c:dLbl>
            <c:dLbl>
              <c:idx val="7"/>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ED5B-4B5B-8BAE-A30B38D6E212}"/>
                </c:ext>
              </c:extLst>
            </c:dLbl>
            <c:dLbl>
              <c:idx val="8"/>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ED5B-4B5B-8BAE-A30B38D6E212}"/>
                </c:ext>
              </c:extLst>
            </c:dLbl>
            <c:dLbl>
              <c:idx val="9"/>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ED5B-4B5B-8BAE-A30B38D6E212}"/>
                </c:ext>
              </c:extLst>
            </c:dLbl>
            <c:spPr>
              <a:noFill/>
              <a:ln>
                <a:noFill/>
              </a:ln>
              <a:effectLst/>
            </c:spPr>
            <c:txPr>
              <a:bodyPr/>
              <a:lstStyle/>
              <a:p>
                <a:pPr>
                  <a:defRPr sz="1100" b="0" smtId="4294967295">
                    <a:solidFill>
                      <a:prstClr val="black"/>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formatCode>General</c:formatCode>
                <c:ptCount val="10"/>
                <c:pt idx="0">
                  <c:v>5.86</c:v>
                </c:pt>
                <c:pt idx="1">
                  <c:v>6.91</c:v>
                </c:pt>
                <c:pt idx="2">
                  <c:v>7.22</c:v>
                </c:pt>
                <c:pt idx="3">
                  <c:v>7.93</c:v>
                </c:pt>
                <c:pt idx="4">
                  <c:v>9.5299999999999994</c:v>
                </c:pt>
                <c:pt idx="5">
                  <c:v>11.88</c:v>
                </c:pt>
                <c:pt idx="6">
                  <c:v>13.79</c:v>
                </c:pt>
                <c:pt idx="7">
                  <c:v>15.31</c:v>
                </c:pt>
                <c:pt idx="8">
                  <c:v>14.63</c:v>
                </c:pt>
                <c:pt idx="9">
                  <c:v>13.77</c:v>
                </c:pt>
              </c:numCache>
            </c:numRef>
          </c:val>
          <c:extLst>
            <c:ext xmlns:c16="http://schemas.microsoft.com/office/drawing/2014/chart" uri="{C3380CC4-5D6E-409C-BE32-E72D297353CC}">
              <c16:uniqueId val="{0000000A-ED5B-4B5B-8BAE-A30B38D6E212}"/>
            </c:ext>
          </c:extLst>
        </c:ser>
        <c:ser>
          <c:idx val="1"/>
          <c:order val="1"/>
          <c:tx>
            <c:strRef>
              <c:f>Sheet1!$C$1</c:f>
              <c:strCache>
                <c:ptCount val="1"/>
                <c:pt idx="0">
                  <c:v>Mobile</c:v>
                </c:pt>
              </c:strCache>
            </c:strRef>
          </c:tx>
          <c:spPr>
            <a:solidFill>
              <a:srgbClr val="0F283E"/>
            </a:solidFill>
            <a:ln>
              <a:solidFill>
                <a:srgbClr val="0F283E"/>
              </a:solidFill>
            </a:ln>
          </c:spPr>
          <c:invertIfNegative val="0"/>
          <c:dLbls>
            <c:dLbl>
              <c:idx val="0"/>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ED5B-4B5B-8BAE-A30B38D6E212}"/>
                </c:ext>
              </c:extLst>
            </c:dLbl>
            <c:dLbl>
              <c:idx val="1"/>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ED5B-4B5B-8BAE-A30B38D6E212}"/>
                </c:ext>
              </c:extLst>
            </c:dLbl>
            <c:dLbl>
              <c:idx val="2"/>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ED5B-4B5B-8BAE-A30B38D6E212}"/>
                </c:ext>
              </c:extLst>
            </c:dLbl>
            <c:dLbl>
              <c:idx val="3"/>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ED5B-4B5B-8BAE-A30B38D6E212}"/>
                </c:ext>
              </c:extLst>
            </c:dLbl>
            <c:dLbl>
              <c:idx val="4"/>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ED5B-4B5B-8BAE-A30B38D6E212}"/>
                </c:ext>
              </c:extLst>
            </c:dLbl>
            <c:dLbl>
              <c:idx val="5"/>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ED5B-4B5B-8BAE-A30B38D6E212}"/>
                </c:ext>
              </c:extLst>
            </c:dLbl>
            <c:dLbl>
              <c:idx val="6"/>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1-ED5B-4B5B-8BAE-A30B38D6E212}"/>
                </c:ext>
              </c:extLst>
            </c:dLbl>
            <c:dLbl>
              <c:idx val="7"/>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2-ED5B-4B5B-8BAE-A30B38D6E212}"/>
                </c:ext>
              </c:extLst>
            </c:dLbl>
            <c:dLbl>
              <c:idx val="8"/>
              <c:numFmt formatCode="#,##0.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3-ED5B-4B5B-8BAE-A30B38D6E212}"/>
                </c:ext>
              </c:extLst>
            </c:dLbl>
            <c:dLbl>
              <c:idx val="9"/>
              <c:numFmt formatCode="#,##0.0" sourceLinked="0"/>
              <c:spPr/>
              <c:txPr>
                <a:bodyPr/>
                <a:lstStyle/>
                <a:p>
                  <a:pPr>
                    <a:defRPr sz="1100" b="0" smtId="4294967295">
                      <a:solidFill>
                        <a:srgbClr val="FFFFFF"/>
                      </a:solidFill>
                      <a:effectLst>
                        <a:outerShdw dist="38100" dir="2700000">
                          <a:srgbClr val="0F2741"/>
                        </a:outerShdw>
                      </a:effectLst>
                      <a:latin typeface="Open Sans"/>
                    </a:defRPr>
                  </a:pPr>
                  <a:endParaRPr lang="ko-KR"/>
                </a:p>
              </c:txPr>
              <c:dLblPos val="ctr"/>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4-ED5B-4B5B-8BAE-A30B38D6E212}"/>
                </c:ext>
              </c:extLst>
            </c:dLbl>
            <c:spPr>
              <a:noFill/>
              <a:ln>
                <a:noFill/>
              </a:ln>
              <a:effectLst/>
            </c:spPr>
            <c:txPr>
              <a:bodyPr/>
              <a:lstStyle/>
              <a:p>
                <a:pPr>
                  <a:defRPr sz="1100" b="0" smtId="4294967295">
                    <a:solidFill>
                      <a:prstClr val="black"/>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Sheet1!$C$2:$C$11</c:f>
              <c:numCache>
                <c:formatCode>General</c:formatCode>
                <c:ptCount val="10"/>
                <c:pt idx="0">
                  <c:v>15.54</c:v>
                </c:pt>
                <c:pt idx="1">
                  <c:v>22.71</c:v>
                </c:pt>
                <c:pt idx="2">
                  <c:v>31.22</c:v>
                </c:pt>
                <c:pt idx="3">
                  <c:v>41.2</c:v>
                </c:pt>
                <c:pt idx="4">
                  <c:v>53.62</c:v>
                </c:pt>
                <c:pt idx="5">
                  <c:v>68.790000000000006</c:v>
                </c:pt>
                <c:pt idx="6">
                  <c:v>80.63</c:v>
                </c:pt>
                <c:pt idx="7">
                  <c:v>89.73</c:v>
                </c:pt>
                <c:pt idx="8">
                  <c:v>99.39</c:v>
                </c:pt>
                <c:pt idx="9">
                  <c:v>108.5</c:v>
                </c:pt>
              </c:numCache>
            </c:numRef>
          </c:val>
          <c:extLst>
            <c:ext xmlns:c16="http://schemas.microsoft.com/office/drawing/2014/chart" uri="{C3380CC4-5D6E-409C-BE32-E72D297353CC}">
              <c16:uniqueId val="{00000015-ED5B-4B5B-8BAE-A30B38D6E212}"/>
            </c:ext>
          </c:extLst>
        </c:ser>
        <c:dLbls>
          <c:showLegendKey val="0"/>
          <c:showVal val="0"/>
          <c:showCatName val="0"/>
          <c:showSerName val="0"/>
          <c:showPercent val="0"/>
          <c:showBubbleSize val="0"/>
        </c:dLbls>
        <c:gapWidth val="80"/>
        <c:overlap val="10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billion U.S. dollars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5BAE-4FBB-B512-0BCA8E0B7C9A}"/>
                </c:ext>
              </c:extLst>
            </c:dLbl>
            <c:dLbl>
              <c:idx val="1"/>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5BAE-4FBB-B512-0BCA8E0B7C9A}"/>
                </c:ext>
              </c:extLst>
            </c:dLbl>
            <c:dLbl>
              <c:idx val="2"/>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5BAE-4FBB-B512-0BCA8E0B7C9A}"/>
                </c:ext>
              </c:extLst>
            </c:dLbl>
            <c:dLbl>
              <c:idx val="3"/>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5BAE-4FBB-B512-0BCA8E0B7C9A}"/>
                </c:ext>
              </c:extLst>
            </c:dLbl>
            <c:dLbl>
              <c:idx val="4"/>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5BAE-4FBB-B512-0BCA8E0B7C9A}"/>
                </c:ext>
              </c:extLst>
            </c:dLbl>
            <c:dLbl>
              <c:idx val="5"/>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5BAE-4FBB-B512-0BCA8E0B7C9A}"/>
                </c:ext>
              </c:extLst>
            </c:dLbl>
            <c:dLbl>
              <c:idx val="6"/>
              <c:numFmt formatCode="#,##0.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5BAE-4FBB-B512-0BCA8E0B7C9A}"/>
                </c:ext>
              </c:extLst>
            </c:dLbl>
            <c:dLbl>
              <c:idx val="7"/>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5BAE-4FBB-B512-0BCA8E0B7C9A}"/>
                </c:ext>
              </c:extLst>
            </c:dLbl>
            <c:dLbl>
              <c:idx val="8"/>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5BAE-4FBB-B512-0BCA8E0B7C9A}"/>
                </c:ext>
              </c:extLst>
            </c:dLbl>
            <c:dLbl>
              <c:idx val="9"/>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5BAE-4FBB-B512-0BCA8E0B7C9A}"/>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Sheet1!$A$2:$A$11</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Sheet1!$B$2:$B$11</c:f>
              <c:numCache>
                <c:formatCode>General</c:formatCode>
                <c:ptCount val="10"/>
                <c:pt idx="0">
                  <c:v>21.41</c:v>
                </c:pt>
                <c:pt idx="1">
                  <c:v>29.62</c:v>
                </c:pt>
                <c:pt idx="2">
                  <c:v>38.44</c:v>
                </c:pt>
                <c:pt idx="3">
                  <c:v>49.13</c:v>
                </c:pt>
                <c:pt idx="4">
                  <c:v>63.14</c:v>
                </c:pt>
                <c:pt idx="5">
                  <c:v>80.67</c:v>
                </c:pt>
                <c:pt idx="6">
                  <c:v>94.42</c:v>
                </c:pt>
                <c:pt idx="7">
                  <c:v>105</c:v>
                </c:pt>
                <c:pt idx="8">
                  <c:v>114</c:v>
                </c:pt>
                <c:pt idx="9">
                  <c:v>122.2</c:v>
                </c:pt>
              </c:numCache>
            </c:numRef>
          </c:val>
          <c:extLst>
            <c:ext xmlns:c16="http://schemas.microsoft.com/office/drawing/2014/chart" uri="{C3380CC4-5D6E-409C-BE32-E72D297353CC}">
              <c16:uniqueId val="{0000000A-5BAE-4FBB-B512-0BCA8E0B7C9A}"/>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billion U.S. dollars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C78-42D8-8C33-2340E51B396E}"/>
                </c:ext>
              </c:extLst>
            </c:dLbl>
            <c:dLbl>
              <c:idx val="1"/>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C78-42D8-8C33-2340E51B396E}"/>
                </c:ext>
              </c:extLst>
            </c:dLbl>
            <c:dLbl>
              <c:idx val="2"/>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C78-42D8-8C33-2340E51B396E}"/>
                </c:ext>
              </c:extLst>
            </c:dLbl>
            <c:dLbl>
              <c:idx val="3"/>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C78-42D8-8C33-2340E51B396E}"/>
                </c:ext>
              </c:extLst>
            </c:dLbl>
            <c:dLbl>
              <c:idx val="4"/>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DC78-42D8-8C33-2340E51B396E}"/>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DC78-42D8-8C33-2340E51B396E}"/>
                </c:ext>
              </c:extLst>
            </c:dLbl>
            <c:dLbl>
              <c:idx val="6"/>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DC78-42D8-8C33-2340E51B396E}"/>
                </c:ext>
              </c:extLst>
            </c:dLbl>
            <c:dLbl>
              <c:idx val="7"/>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DC78-42D8-8C33-2340E51B396E}"/>
                </c:ext>
              </c:extLst>
            </c:dLbl>
            <c:dLbl>
              <c:idx val="8"/>
              <c:numFmt formatCode="#,##0.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DC78-42D8-8C33-2340E51B396E}"/>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0.38300000000000001</c:v>
                </c:pt>
                <c:pt idx="1">
                  <c:v>0.29799999999999999</c:v>
                </c:pt>
                <c:pt idx="2">
                  <c:v>0.27800000000000002</c:v>
                </c:pt>
                <c:pt idx="3">
                  <c:v>0.28499999999999998</c:v>
                </c:pt>
                <c:pt idx="4">
                  <c:v>0.27800000000000002</c:v>
                </c:pt>
                <c:pt idx="5">
                  <c:v>0.17</c:v>
                </c:pt>
                <c:pt idx="6">
                  <c:v>0.112</c:v>
                </c:pt>
                <c:pt idx="7">
                  <c:v>8.5999999999999993E-2</c:v>
                </c:pt>
                <c:pt idx="8">
                  <c:v>7.1999999999999995E-2</c:v>
                </c:pt>
              </c:numCache>
            </c:numRef>
          </c:val>
          <c:extLst>
            <c:ext xmlns:c16="http://schemas.microsoft.com/office/drawing/2014/chart" uri="{C3380CC4-5D6E-409C-BE32-E72D297353CC}">
              <c16:uniqueId val="{00000009-DC78-42D8-8C33-2340E51B396E}"/>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Year-on-year growth rate</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399-46E7-8BE6-28F0A9F3E115}"/>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399-46E7-8BE6-28F0A9F3E115}"/>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399-46E7-8BE6-28F0A9F3E115}"/>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399-46E7-8BE6-28F0A9F3E115}"/>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Sheet1!$A$2:$A$5</c:f>
              <c:strCache>
                <c:ptCount val="4"/>
                <c:pt idx="0">
                  <c:v>Good thing</c:v>
                </c:pt>
                <c:pt idx="1">
                  <c:v>Neither</c:v>
                </c:pt>
                <c:pt idx="2">
                  <c:v>Bad thing</c:v>
                </c:pt>
                <c:pt idx="3">
                  <c:v>Not sure</c:v>
                </c:pt>
              </c:strCache>
            </c:strRef>
          </c:cat>
          <c:val>
            <c:numRef>
              <c:f>Sheet1!$B$2:$B$5</c:f>
              <c:numCache>
                <c:formatCode>General</c:formatCode>
                <c:ptCount val="4"/>
                <c:pt idx="0">
                  <c:v>0.22</c:v>
                </c:pt>
                <c:pt idx="1">
                  <c:v>0.27</c:v>
                </c:pt>
                <c:pt idx="2">
                  <c:v>0.39</c:v>
                </c:pt>
                <c:pt idx="3">
                  <c:v>0.12</c:v>
                </c:pt>
              </c:numCache>
            </c:numRef>
          </c:val>
          <c:extLst>
            <c:ext xmlns:c16="http://schemas.microsoft.com/office/drawing/2014/chart" uri="{C3380CC4-5D6E-409C-BE32-E72D297353CC}">
              <c16:uniqueId val="{00000004-D399-46E7-8BE6-28F0A9F3E115}"/>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Don't know/no opinion</c:v>
                </c:pt>
              </c:strCache>
            </c:strRef>
          </c:tx>
          <c:spPr>
            <a:solidFill>
              <a:srgbClr val="87BC24"/>
            </a:solidFill>
            <a:ln>
              <a:solidFill>
                <a:srgbClr val="87BC24"/>
              </a:solidFill>
            </a:ln>
          </c:spPr>
          <c:invertIfNegative val="0"/>
          <c:cat>
            <c:strRef>
              <c:f>Sheet1!$A$2:$A$5</c:f>
              <c:strCache>
                <c:ptCount val="4"/>
                <c:pt idx="0">
                  <c:v>18-34</c:v>
                </c:pt>
                <c:pt idx="1">
                  <c:v>35-44</c:v>
                </c:pt>
                <c:pt idx="2">
                  <c:v>45-64</c:v>
                </c:pt>
                <c:pt idx="3">
                  <c:v>65+</c:v>
                </c:pt>
              </c:strCache>
            </c:strRef>
          </c:cat>
          <c:val>
            <c:numRef>
              <c:f>Sheet1!$B$2:$B$5</c:f>
              <c:numCache>
                <c:formatCode>General</c:formatCode>
                <c:ptCount val="4"/>
                <c:pt idx="0">
                  <c:v>0.09</c:v>
                </c:pt>
                <c:pt idx="1">
                  <c:v>0.1</c:v>
                </c:pt>
                <c:pt idx="2">
                  <c:v>0.09</c:v>
                </c:pt>
                <c:pt idx="3">
                  <c:v>0.13</c:v>
                </c:pt>
              </c:numCache>
            </c:numRef>
          </c:val>
          <c:extLst>
            <c:ext xmlns:c16="http://schemas.microsoft.com/office/drawing/2014/chart" uri="{C3380CC4-5D6E-409C-BE32-E72D297353CC}">
              <c16:uniqueId val="{00000004-D7E7-4175-99C2-C91C87DF1125}"/>
            </c:ext>
          </c:extLst>
        </c:ser>
        <c:ser>
          <c:idx val="1"/>
          <c:order val="1"/>
          <c:tx>
            <c:strRef>
              <c:f>Sheet1!$C$1</c:f>
              <c:strCache>
                <c:ptCount val="1"/>
                <c:pt idx="0">
                  <c:v>Strongly oppose</c:v>
                </c:pt>
              </c:strCache>
            </c:strRef>
          </c:tx>
          <c:spPr>
            <a:solidFill>
              <a:srgbClr val="A60B0B"/>
            </a:solidFill>
            <a:ln>
              <a:solidFill>
                <a:srgbClr val="A60B0B"/>
              </a:solidFill>
            </a:ln>
          </c:spPr>
          <c:invertIfNegative val="0"/>
          <c:cat>
            <c:strRef>
              <c:f>Sheet1!$A$2:$A$5</c:f>
              <c:strCache>
                <c:ptCount val="4"/>
                <c:pt idx="0">
                  <c:v>18-34</c:v>
                </c:pt>
                <c:pt idx="1">
                  <c:v>35-44</c:v>
                </c:pt>
                <c:pt idx="2">
                  <c:v>45-64</c:v>
                </c:pt>
                <c:pt idx="3">
                  <c:v>65+</c:v>
                </c:pt>
              </c:strCache>
            </c:strRef>
          </c:cat>
          <c:val>
            <c:numRef>
              <c:f>Sheet1!$C$2:$C$5</c:f>
              <c:numCache>
                <c:formatCode>General</c:formatCode>
                <c:ptCount val="4"/>
                <c:pt idx="0">
                  <c:v>0.06</c:v>
                </c:pt>
                <c:pt idx="1">
                  <c:v>0.05</c:v>
                </c:pt>
                <c:pt idx="2">
                  <c:v>0.02</c:v>
                </c:pt>
                <c:pt idx="3">
                  <c:v>0.03</c:v>
                </c:pt>
              </c:numCache>
            </c:numRef>
          </c:val>
          <c:extLst>
            <c:ext xmlns:c16="http://schemas.microsoft.com/office/drawing/2014/chart" uri="{C3380CC4-5D6E-409C-BE32-E72D297353CC}">
              <c16:uniqueId val="{00000009-D7E7-4175-99C2-C91C87DF1125}"/>
            </c:ext>
          </c:extLst>
        </c:ser>
        <c:ser>
          <c:idx val="2"/>
          <c:order val="2"/>
          <c:tx>
            <c:strRef>
              <c:f>Sheet1!$D$1</c:f>
              <c:strCache>
                <c:ptCount val="1"/>
                <c:pt idx="0">
                  <c:v>Somewhat oppose</c:v>
                </c:pt>
              </c:strCache>
            </c:strRef>
          </c:tx>
          <c:spPr>
            <a:solidFill>
              <a:srgbClr val="BABABA"/>
            </a:solidFill>
            <a:ln>
              <a:solidFill>
                <a:srgbClr val="BABABA"/>
              </a:solidFill>
            </a:ln>
          </c:spPr>
          <c:invertIfNegative val="0"/>
          <c:cat>
            <c:strRef>
              <c:f>Sheet1!$A$2:$A$5</c:f>
              <c:strCache>
                <c:ptCount val="4"/>
                <c:pt idx="0">
                  <c:v>18-34</c:v>
                </c:pt>
                <c:pt idx="1">
                  <c:v>35-44</c:v>
                </c:pt>
                <c:pt idx="2">
                  <c:v>45-64</c:v>
                </c:pt>
                <c:pt idx="3">
                  <c:v>65+</c:v>
                </c:pt>
              </c:strCache>
            </c:strRef>
          </c:cat>
          <c:val>
            <c:numRef>
              <c:f>Sheet1!$D$2:$D$5</c:f>
              <c:numCache>
                <c:formatCode>General</c:formatCode>
                <c:ptCount val="4"/>
                <c:pt idx="0">
                  <c:v>0.1</c:v>
                </c:pt>
                <c:pt idx="1">
                  <c:v>0.08</c:v>
                </c:pt>
                <c:pt idx="2">
                  <c:v>0.03</c:v>
                </c:pt>
                <c:pt idx="3">
                  <c:v>0.02</c:v>
                </c:pt>
              </c:numCache>
            </c:numRef>
          </c:val>
          <c:extLst>
            <c:ext xmlns:c16="http://schemas.microsoft.com/office/drawing/2014/chart" uri="{C3380CC4-5D6E-409C-BE32-E72D297353CC}">
              <c16:uniqueId val="{0000000E-D7E7-4175-99C2-C91C87DF1125}"/>
            </c:ext>
          </c:extLst>
        </c:ser>
        <c:ser>
          <c:idx val="3"/>
          <c:order val="3"/>
          <c:tx>
            <c:strRef>
              <c:f>Sheet1!$E$1</c:f>
              <c:strCache>
                <c:ptCount val="1"/>
                <c:pt idx="0">
                  <c:v>Somewhat support</c:v>
                </c:pt>
              </c:strCache>
            </c:strRef>
          </c:tx>
          <c:spPr>
            <a:solidFill>
              <a:srgbClr val="0F283E"/>
            </a:solidFill>
            <a:ln>
              <a:solidFill>
                <a:srgbClr val="0F283E"/>
              </a:solidFill>
            </a:ln>
          </c:spPr>
          <c:invertIfNegative val="0"/>
          <c:cat>
            <c:strRef>
              <c:f>Sheet1!$A$2:$A$5</c:f>
              <c:strCache>
                <c:ptCount val="4"/>
                <c:pt idx="0">
                  <c:v>18-34</c:v>
                </c:pt>
                <c:pt idx="1">
                  <c:v>35-44</c:v>
                </c:pt>
                <c:pt idx="2">
                  <c:v>45-64</c:v>
                </c:pt>
                <c:pt idx="3">
                  <c:v>65+</c:v>
                </c:pt>
              </c:strCache>
            </c:strRef>
          </c:cat>
          <c:val>
            <c:numRef>
              <c:f>Sheet1!$E$2:$E$5</c:f>
              <c:numCache>
                <c:formatCode>General</c:formatCode>
                <c:ptCount val="4"/>
                <c:pt idx="0">
                  <c:v>0.31</c:v>
                </c:pt>
                <c:pt idx="1">
                  <c:v>0.28000000000000003</c:v>
                </c:pt>
                <c:pt idx="2">
                  <c:v>0.28999999999999998</c:v>
                </c:pt>
                <c:pt idx="3">
                  <c:v>0.21</c:v>
                </c:pt>
              </c:numCache>
            </c:numRef>
          </c:val>
          <c:extLst>
            <c:ext xmlns:c16="http://schemas.microsoft.com/office/drawing/2014/chart" uri="{C3380CC4-5D6E-409C-BE32-E72D297353CC}">
              <c16:uniqueId val="{00000013-D7E7-4175-99C2-C91C87DF1125}"/>
            </c:ext>
          </c:extLst>
        </c:ser>
        <c:ser>
          <c:idx val="4"/>
          <c:order val="4"/>
          <c:tx>
            <c:strRef>
              <c:f>Sheet1!$F$1</c:f>
              <c:strCache>
                <c:ptCount val="1"/>
                <c:pt idx="0">
                  <c:v>Strongly support</c:v>
                </c:pt>
              </c:strCache>
            </c:strRef>
          </c:tx>
          <c:spPr>
            <a:solidFill>
              <a:srgbClr val="2875DD"/>
            </a:solidFill>
            <a:ln>
              <a:solidFill>
                <a:srgbClr val="2875DD"/>
              </a:solidFill>
            </a:ln>
          </c:spPr>
          <c:invertIfNegative val="0"/>
          <c:cat>
            <c:strRef>
              <c:f>Sheet1!$A$2:$A$5</c:f>
              <c:strCache>
                <c:ptCount val="4"/>
                <c:pt idx="0">
                  <c:v>18-34</c:v>
                </c:pt>
                <c:pt idx="1">
                  <c:v>35-44</c:v>
                </c:pt>
                <c:pt idx="2">
                  <c:v>45-64</c:v>
                </c:pt>
                <c:pt idx="3">
                  <c:v>65+</c:v>
                </c:pt>
              </c:strCache>
            </c:strRef>
          </c:cat>
          <c:val>
            <c:numRef>
              <c:f>Sheet1!$F$2:$F$5</c:f>
              <c:numCache>
                <c:formatCode>General</c:formatCode>
                <c:ptCount val="4"/>
                <c:pt idx="0">
                  <c:v>0.43</c:v>
                </c:pt>
                <c:pt idx="1">
                  <c:v>0.49</c:v>
                </c:pt>
                <c:pt idx="2">
                  <c:v>0.56999999999999995</c:v>
                </c:pt>
                <c:pt idx="3">
                  <c:v>0.61</c:v>
                </c:pt>
              </c:numCache>
            </c:numRef>
          </c:val>
          <c:extLst>
            <c:ext xmlns:c16="http://schemas.microsoft.com/office/drawing/2014/chart" uri="{C3380CC4-5D6E-409C-BE32-E72D297353CC}">
              <c16:uniqueId val="{00000018-D7E7-4175-99C2-C91C87DF1125}"/>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Male</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0F59-4DF3-8B62-3380F450CE45}"/>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0F59-4DF3-8B62-3380F450CE45}"/>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0F59-4DF3-8B62-3380F450CE45}"/>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0F59-4DF3-8B62-3380F450CE45}"/>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0F59-4DF3-8B62-3380F450CE45}"/>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Strongly support</c:v>
                </c:pt>
                <c:pt idx="1">
                  <c:v>Somewhat support</c:v>
                </c:pt>
                <c:pt idx="2">
                  <c:v>Somewhat oppose</c:v>
                </c:pt>
                <c:pt idx="3">
                  <c:v>Strongly oppose</c:v>
                </c:pt>
                <c:pt idx="4">
                  <c:v>Don't know/no opinion</c:v>
                </c:pt>
              </c:strCache>
            </c:strRef>
          </c:cat>
          <c:val>
            <c:numRef>
              <c:f>Sheet1!$B$2:$B$6</c:f>
              <c:numCache>
                <c:formatCode>General</c:formatCode>
                <c:ptCount val="5"/>
                <c:pt idx="0">
                  <c:v>0.5</c:v>
                </c:pt>
                <c:pt idx="1">
                  <c:v>0.3</c:v>
                </c:pt>
                <c:pt idx="2">
                  <c:v>7.0000000000000007E-2</c:v>
                </c:pt>
                <c:pt idx="3">
                  <c:v>0.05</c:v>
                </c:pt>
                <c:pt idx="4">
                  <c:v>0.08</c:v>
                </c:pt>
              </c:numCache>
            </c:numRef>
          </c:val>
          <c:extLst>
            <c:ext xmlns:c16="http://schemas.microsoft.com/office/drawing/2014/chart" uri="{C3380CC4-5D6E-409C-BE32-E72D297353CC}">
              <c16:uniqueId val="{00000005-0F59-4DF3-8B62-3380F450CE45}"/>
            </c:ext>
          </c:extLst>
        </c:ser>
        <c:ser>
          <c:idx val="1"/>
          <c:order val="1"/>
          <c:tx>
            <c:strRef>
              <c:f>Sheet1!$C$1</c:f>
              <c:strCache>
                <c:ptCount val="1"/>
                <c:pt idx="0">
                  <c:v>Female</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0F59-4DF3-8B62-3380F450CE45}"/>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0F59-4DF3-8B62-3380F450CE45}"/>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0F59-4DF3-8B62-3380F450CE45}"/>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0F59-4DF3-8B62-3380F450CE45}"/>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0F59-4DF3-8B62-3380F450CE45}"/>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Sheet1!$A$2:$A$6</c:f>
              <c:strCache>
                <c:ptCount val="5"/>
                <c:pt idx="0">
                  <c:v>Strongly support</c:v>
                </c:pt>
                <c:pt idx="1">
                  <c:v>Somewhat support</c:v>
                </c:pt>
                <c:pt idx="2">
                  <c:v>Somewhat oppose</c:v>
                </c:pt>
                <c:pt idx="3">
                  <c:v>Strongly oppose</c:v>
                </c:pt>
                <c:pt idx="4">
                  <c:v>Don't know/no opinion</c:v>
                </c:pt>
              </c:strCache>
            </c:strRef>
          </c:cat>
          <c:val>
            <c:numRef>
              <c:f>Sheet1!$C$2:$C$6</c:f>
              <c:numCache>
                <c:formatCode>General</c:formatCode>
                <c:ptCount val="5"/>
                <c:pt idx="0">
                  <c:v>0.54</c:v>
                </c:pt>
                <c:pt idx="1">
                  <c:v>0.26</c:v>
                </c:pt>
                <c:pt idx="2">
                  <c:v>0.04</c:v>
                </c:pt>
                <c:pt idx="3">
                  <c:v>0.03</c:v>
                </c:pt>
                <c:pt idx="4">
                  <c:v>0.12</c:v>
                </c:pt>
              </c:numCache>
            </c:numRef>
          </c:val>
          <c:extLst>
            <c:ext xmlns:c16="http://schemas.microsoft.com/office/drawing/2014/chart" uri="{C3380CC4-5D6E-409C-BE32-E72D297353CC}">
              <c16:uniqueId val="{0000000B-0F59-4DF3-8B62-3380F450CE45}"/>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0"/>
            <c:invertIfNegative val="0"/>
            <c:bubble3D val="0"/>
            <c:spPr>
              <a:solidFill>
                <a:srgbClr val="A5A5A5"/>
              </a:solidFill>
            </c:spPr>
            <c:extLst>
              <c:ext xmlns:c16="http://schemas.microsoft.com/office/drawing/2014/chart" uri="{C3380CC4-5D6E-409C-BE32-E72D297353CC}">
                <c16:uniqueId val="{00000001-E374-423A-B87D-94B467527126}"/>
              </c:ext>
            </c:extLst>
          </c:dPt>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E374-423A-B87D-94B467527126}"/>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E374-423A-B87D-94B467527126}"/>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E374-423A-B87D-94B467527126}"/>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Sheet1!$A$2:$A$4</c:f>
              <c:strCache>
                <c:ptCount val="3"/>
                <c:pt idx="0">
                  <c:v>Can replace social media as we currently know and use it [TOTAL]</c:v>
                </c:pt>
                <c:pt idx="1">
                  <c:v>Can totally replace it</c:v>
                </c:pt>
                <c:pt idx="2">
                  <c:v>Can partially replace it</c:v>
                </c:pt>
              </c:strCache>
            </c:strRef>
          </c:cat>
          <c:val>
            <c:numRef>
              <c:f>Sheet1!$B$2:$B$4</c:f>
              <c:numCache>
                <c:formatCode>General</c:formatCode>
                <c:ptCount val="3"/>
                <c:pt idx="0">
                  <c:v>0.66</c:v>
                </c:pt>
                <c:pt idx="1">
                  <c:v>0.24</c:v>
                </c:pt>
                <c:pt idx="2">
                  <c:v>0.42</c:v>
                </c:pt>
              </c:numCache>
            </c:numRef>
          </c:val>
          <c:extLst>
            <c:ext xmlns:c16="http://schemas.microsoft.com/office/drawing/2014/chart" uri="{C3380CC4-5D6E-409C-BE32-E72D297353CC}">
              <c16:uniqueId val="{00000004-E374-423A-B87D-94B467527126}"/>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plotVisOnly val="1"/>
    <c:dispBlanksAs val="gap"/>
    <c:showDLblsOverMax val="1"/>
  </c:chart>
  <c:txPr>
    <a:bodyPr/>
    <a:lstStyle/>
    <a:p>
      <a:pPr>
        <a:defRPr sz="1800" smtId="4294967295"/>
      </a:pPr>
      <a:endParaRPr lang="ko-KR"/>
    </a:p>
  </c:tx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Other age groups</c:v>
                </c:pt>
              </c:strCache>
            </c:strRef>
          </c:tx>
          <c:spPr>
            <a:solidFill>
              <a:srgbClr val="0F283E"/>
            </a:solidFill>
            <a:ln>
              <a:solidFill>
                <a:srgbClr val="0F283E"/>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36F6-471C-8588-394A64E8FC2B}"/>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36F6-471C-8588-394A64E8FC2B}"/>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36F6-471C-8588-394A64E8FC2B}"/>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36F6-471C-8588-394A64E8FC2B}"/>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36F6-471C-8588-394A64E8FC2B}"/>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36F6-471C-8588-394A64E8FC2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Sheet1!$A$2:$A$7</c:f>
              <c:strCache>
                <c:ptCount val="6"/>
                <c:pt idx="0">
                  <c:v>There is too much pressure to be perfect on social media</c:v>
                </c:pt>
                <c:pt idx="1">
                  <c:v>People should show more of their 'real' selves/lives on social media</c:v>
                </c:pt>
                <c:pt idx="2">
                  <c:v>I care less about impressing others on social media than I used to</c:v>
                </c:pt>
                <c:pt idx="3">
                  <c:v>I'm more likely to trust someone if I know their stuggles</c:v>
                </c:pt>
                <c:pt idx="4">
                  <c:v>I am more open about how I'm feeling online</c:v>
                </c:pt>
                <c:pt idx="5">
                  <c:v>People who have a platform have a duty to speak up about injustice</c:v>
                </c:pt>
              </c:strCache>
            </c:strRef>
          </c:cat>
          <c:val>
            <c:numRef>
              <c:f>Sheet1!$B$2:$B$7</c:f>
              <c:numCache>
                <c:formatCode>General</c:formatCode>
                <c:ptCount val="6"/>
                <c:pt idx="0">
                  <c:v>0.33</c:v>
                </c:pt>
                <c:pt idx="1">
                  <c:v>0.36</c:v>
                </c:pt>
                <c:pt idx="2">
                  <c:v>0.3</c:v>
                </c:pt>
                <c:pt idx="3">
                  <c:v>0.32</c:v>
                </c:pt>
                <c:pt idx="4">
                  <c:v>0.26</c:v>
                </c:pt>
                <c:pt idx="5">
                  <c:v>0.26</c:v>
                </c:pt>
              </c:numCache>
            </c:numRef>
          </c:val>
          <c:extLst>
            <c:ext xmlns:c16="http://schemas.microsoft.com/office/drawing/2014/chart" uri="{C3380CC4-5D6E-409C-BE32-E72D297353CC}">
              <c16:uniqueId val="{00000006-36F6-471C-8588-394A64E8FC2B}"/>
            </c:ext>
          </c:extLst>
        </c:ser>
        <c:ser>
          <c:idx val="1"/>
          <c:order val="1"/>
          <c:tx>
            <c:strRef>
              <c:f>Sheet1!$C$1</c:f>
              <c:strCache>
                <c:ptCount val="1"/>
                <c:pt idx="0">
                  <c:v>Gen Z</c:v>
                </c:pt>
              </c:strCache>
            </c:strRef>
          </c:tx>
          <c:spPr>
            <a:solidFill>
              <a:srgbClr val="2875DD"/>
            </a:solidFill>
            <a:ln>
              <a:solidFill>
                <a:srgbClr val="2875DD"/>
              </a:solidFill>
            </a:ln>
          </c:spPr>
          <c:invertIfNegative val="0"/>
          <c:dLbls>
            <c:dLbl>
              <c:idx val="0"/>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36F6-471C-8588-394A64E8FC2B}"/>
                </c:ext>
              </c:extLst>
            </c:dLbl>
            <c:dLbl>
              <c:idx val="1"/>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36F6-471C-8588-394A64E8FC2B}"/>
                </c:ext>
              </c:extLst>
            </c:dLbl>
            <c:dLbl>
              <c:idx val="2"/>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36F6-471C-8588-394A64E8FC2B}"/>
                </c:ext>
              </c:extLst>
            </c:dLbl>
            <c:dLbl>
              <c:idx val="3"/>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36F6-471C-8588-394A64E8FC2B}"/>
                </c:ext>
              </c:extLst>
            </c:dLbl>
            <c:dLbl>
              <c:idx val="4"/>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36F6-471C-8588-394A64E8FC2B}"/>
                </c:ext>
              </c:extLst>
            </c:dLbl>
            <c:dLbl>
              <c:idx val="5"/>
              <c:numFmt formatCode="#,##0%" sourceLinked="0"/>
              <c:spPr/>
              <c:txPr>
                <a:bodyPr/>
                <a:lstStyle/>
                <a:p>
                  <a:pPr>
                    <a:defRPr sz="1100" b="0" smtId="4294967295">
                      <a:solidFill>
                        <a:srgbClr val="0F2741"/>
                      </a:solidFill>
                      <a:latin typeface="Open Sans"/>
                    </a:defRPr>
                  </a:pPr>
                  <a:endParaRPr lang="ko-KR"/>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36F6-471C-8588-394A64E8FC2B}"/>
                </c:ext>
              </c:extLst>
            </c:dLbl>
            <c:spPr>
              <a:noFill/>
              <a:ln>
                <a:noFill/>
              </a:ln>
              <a:effectLst/>
            </c:spPr>
            <c:txPr>
              <a:bodyPr/>
              <a:lstStyle/>
              <a:p>
                <a:pPr>
                  <a:defRPr sz="1100" b="0" smtId="4294967295">
                    <a:solidFill>
                      <a:srgbClr val="0F2741"/>
                    </a:solidFill>
                    <a:latin typeface="Open Sans"/>
                  </a:defRPr>
                </a:pPr>
                <a:endParaRPr lang="ko-KR"/>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Sheet1!$A$2:$A$7</c:f>
              <c:strCache>
                <c:ptCount val="6"/>
                <c:pt idx="0">
                  <c:v>There is too much pressure to be perfect on social media</c:v>
                </c:pt>
                <c:pt idx="1">
                  <c:v>People should show more of their 'real' selves/lives on social media</c:v>
                </c:pt>
                <c:pt idx="2">
                  <c:v>I care less about impressing others on social media than I used to</c:v>
                </c:pt>
                <c:pt idx="3">
                  <c:v>I'm more likely to trust someone if I know their stuggles</c:v>
                </c:pt>
                <c:pt idx="4">
                  <c:v>I am more open about how I'm feeling online</c:v>
                </c:pt>
                <c:pt idx="5">
                  <c:v>People who have a platform have a duty to speak up about injustice</c:v>
                </c:pt>
              </c:strCache>
            </c:strRef>
          </c:cat>
          <c:val>
            <c:numRef>
              <c:f>Sheet1!$C$2:$C$7</c:f>
              <c:numCache>
                <c:formatCode>General</c:formatCode>
                <c:ptCount val="6"/>
                <c:pt idx="0">
                  <c:v>0.45</c:v>
                </c:pt>
                <c:pt idx="1">
                  <c:v>0.42</c:v>
                </c:pt>
                <c:pt idx="2">
                  <c:v>0.39</c:v>
                </c:pt>
                <c:pt idx="3">
                  <c:v>0.39</c:v>
                </c:pt>
                <c:pt idx="4">
                  <c:v>0.32</c:v>
                </c:pt>
                <c:pt idx="5">
                  <c:v>0.31</c:v>
                </c:pt>
              </c:numCache>
            </c:numRef>
          </c:val>
          <c:extLst>
            <c:ext xmlns:c16="http://schemas.microsoft.com/office/drawing/2014/chart" uri="{C3380CC4-5D6E-409C-BE32-E72D297353CC}">
              <c16:uniqueId val="{0000000D-36F6-471C-8588-394A64E8FC2B}"/>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1100" b="0" smtId="4294967295">
                <a:solidFill>
                  <a:srgbClr val="0F2741"/>
                </a:solidFill>
                <a:latin typeface="Open Sans"/>
              </a:defRPr>
            </a:pPr>
            <a:endParaRPr lang="ko-KR"/>
          </a:p>
        </c:txPr>
        <c:crossAx val="66437120"/>
        <c:crosses val="autoZero"/>
        <c:auto val="0"/>
        <c:lblAlgn val="ctr"/>
        <c:lblOffset val="100"/>
        <c:noMultiLvlLbl val="0"/>
      </c:catAx>
      <c:valAx>
        <c:axId val="66437120"/>
        <c:scaling>
          <c:orientation val="minMax"/>
          <c:min val="0"/>
        </c:scaling>
        <c:delete val="0"/>
        <c:axPos val="t"/>
        <c:majorGridlines>
          <c:spPr>
            <a:ln w="9525">
              <a:solidFill>
                <a:srgbClr val="2F2F2F"/>
              </a:solidFill>
              <a:prstDash val="dot"/>
            </a:ln>
          </c:spPr>
        </c:majorGridlines>
        <c:numFmt formatCode="#,##0%" sourceLinked="0"/>
        <c:majorTickMark val="none"/>
        <c:minorTickMark val="none"/>
        <c:tickLblPos val="nextTo"/>
        <c:spPr>
          <a:ln>
            <a:noFill/>
          </a:ln>
        </c:spPr>
        <c:txPr>
          <a:bodyPr/>
          <a:lstStyle/>
          <a:p>
            <a:pPr>
              <a:defRPr sz="1100" b="0" smtId="4294967295">
                <a:solidFill>
                  <a:srgbClr val="0F2741"/>
                </a:solidFill>
                <a:latin typeface="Open Sans"/>
              </a:defRPr>
            </a:pPr>
            <a:endParaRPr lang="ko-KR"/>
          </a:p>
        </c:txPr>
        <c:crossAx val="67451136"/>
        <c:crosses val="autoZero"/>
        <c:crossBetween val="between"/>
      </c:valAx>
    </c:plotArea>
    <c:legend>
      <c:legendPos val="t"/>
      <c:overlay val="0"/>
      <c:txPr>
        <a:bodyPr/>
        <a:lstStyle/>
        <a:p>
          <a:pPr>
            <a:defRPr sz="1100" smtId="4294967295">
              <a:solidFill>
                <a:srgbClr val="0F2741"/>
              </a:solidFill>
              <a:latin typeface="Open Sans"/>
            </a:defRPr>
          </a:pPr>
          <a:endParaRPr lang="ko-KR"/>
        </a:p>
      </c:txPr>
    </c:legend>
    <c:plotVisOnly val="1"/>
    <c:dispBlanksAs val="gap"/>
    <c:showDLblsOverMax val="1"/>
  </c:chart>
  <c:txPr>
    <a:bodyPr/>
    <a:lstStyle/>
    <a:p>
      <a:pPr>
        <a:defRPr sz="1800" smtId="4294967295"/>
      </a:pPr>
      <a:endParaRPr lang="ko-K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80C01A10-695E-4A4F-A30F-BFE4F8DBFB41}" type="datetimeFigureOut">
              <a:rPr lang="en-US" smtClean="0"/>
              <a:t>4/6/2023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7C0D417-02F9-47D9-8AC8-15D7792E04DA}" type="datetimeFigureOut">
              <a:rPr lang="en-US" smtClean="0"/>
              <a:t>4/6/2023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3EB61B8A-2BC4-4423-AE31-1870DF394529}" type="datetimeFigureOut">
              <a:rPr lang="en-US" smtClean="0"/>
              <a:t>4/6/2023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F6C404D5-E406-459E-8AC9-D2D3ED81A16C}" type="datetimeFigureOut">
              <a:rPr lang="en-US" smtClean="0"/>
              <a:t>4/6/2023</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E39A1CC2-3C54-4CBE-ADD4-E54B24EDE82E}" type="datetimeFigureOut">
              <a:rPr lang="en-US" smtClean="0"/>
              <a:t>4/6/2023</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4EE7E510-5E22-4678-A93B-148EE79A8E18}" type="datetimeFigureOut">
              <a:rPr lang="en-US" smtClean="0"/>
              <a:t>4/6/2023</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415DAB4A-5972-4E39-AF55-222FACDC53BC}" type="datetimeFigureOut">
              <a:rPr lang="en-US" smtClean="0"/>
              <a:t>4/6/2023</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C80DF0A1-3693-4845-9C25-9B5047CA97E1}" type="datetimeFigureOut">
              <a:rPr lang="en-US" smtClean="0"/>
              <a:t>4/6/2023</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98309C7C-1813-4A0D-9C54-A1A9F5E0492A}" type="datetimeFigureOut">
              <a:rPr lang="en-US" smtClean="0"/>
              <a:t>4/6/2023</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58C0AA19-5BB3-4557-AB68-B3D29E8B1037}" type="datetimeFigureOut">
              <a:rPr lang="en-US" smtClean="0"/>
              <a:t>4/6/2023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4222C504-540D-4847-ABD3-CEA063DE6BAF}" type="datetimeFigureOut">
              <a:rPr lang="en-US" smtClean="0"/>
              <a:t>4/6/2023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4/6/2023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3" Type="http://schemas.openxmlformats.org/officeDocument/2006/relationships/slide" Target="slide15.xml"/><Relationship Id="rId18" Type="http://schemas.openxmlformats.org/officeDocument/2006/relationships/slide" Target="slide20.xml"/><Relationship Id="rId26" Type="http://schemas.openxmlformats.org/officeDocument/2006/relationships/slide" Target="slide29.xml"/><Relationship Id="rId21" Type="http://schemas.openxmlformats.org/officeDocument/2006/relationships/slide" Target="slide24.xml"/><Relationship Id="rId34" Type="http://schemas.openxmlformats.org/officeDocument/2006/relationships/slide" Target="slide38.xml"/><Relationship Id="rId7" Type="http://schemas.openxmlformats.org/officeDocument/2006/relationships/slide" Target="slide8.xml"/><Relationship Id="rId12" Type="http://schemas.openxmlformats.org/officeDocument/2006/relationships/slide" Target="slide14.xml"/><Relationship Id="rId17" Type="http://schemas.openxmlformats.org/officeDocument/2006/relationships/slide" Target="slide19.xml"/><Relationship Id="rId25" Type="http://schemas.openxmlformats.org/officeDocument/2006/relationships/slide" Target="slide28.xml"/><Relationship Id="rId33" Type="http://schemas.openxmlformats.org/officeDocument/2006/relationships/slide" Target="slide37.xml"/><Relationship Id="rId2" Type="http://schemas.openxmlformats.org/officeDocument/2006/relationships/image" Target="../media/image3.emf"/><Relationship Id="rId16" Type="http://schemas.openxmlformats.org/officeDocument/2006/relationships/slide" Target="slide18.xml"/><Relationship Id="rId20" Type="http://schemas.openxmlformats.org/officeDocument/2006/relationships/slide" Target="slide23.xml"/><Relationship Id="rId29" Type="http://schemas.openxmlformats.org/officeDocument/2006/relationships/slide" Target="slide3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3.xml"/><Relationship Id="rId24" Type="http://schemas.openxmlformats.org/officeDocument/2006/relationships/slide" Target="slide27.xml"/><Relationship Id="rId32" Type="http://schemas.openxmlformats.org/officeDocument/2006/relationships/slide" Target="slide36.xml"/><Relationship Id="rId37" Type="http://schemas.openxmlformats.org/officeDocument/2006/relationships/slide" Target="slide41.xml"/><Relationship Id="rId5" Type="http://schemas.openxmlformats.org/officeDocument/2006/relationships/slide" Target="slide6.xml"/><Relationship Id="rId15" Type="http://schemas.openxmlformats.org/officeDocument/2006/relationships/slide" Target="slide17.xml"/><Relationship Id="rId23" Type="http://schemas.openxmlformats.org/officeDocument/2006/relationships/slide" Target="slide26.xml"/><Relationship Id="rId28" Type="http://schemas.openxmlformats.org/officeDocument/2006/relationships/slide" Target="slide32.xml"/><Relationship Id="rId36" Type="http://schemas.openxmlformats.org/officeDocument/2006/relationships/slide" Target="slide40.xml"/><Relationship Id="rId10" Type="http://schemas.openxmlformats.org/officeDocument/2006/relationships/slide" Target="slide12.xml"/><Relationship Id="rId19" Type="http://schemas.openxmlformats.org/officeDocument/2006/relationships/slide" Target="slide21.xml"/><Relationship Id="rId31" Type="http://schemas.openxmlformats.org/officeDocument/2006/relationships/slide" Target="slide35.xml"/><Relationship Id="rId4" Type="http://schemas.openxmlformats.org/officeDocument/2006/relationships/image" Target="../media/image5.emf"/><Relationship Id="rId9" Type="http://schemas.openxmlformats.org/officeDocument/2006/relationships/slide" Target="slide10.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1.xml"/><Relationship Id="rId30" Type="http://schemas.openxmlformats.org/officeDocument/2006/relationships/slide" Target="slide34.xml"/><Relationship Id="rId35" Type="http://schemas.openxmlformats.org/officeDocument/2006/relationships/slide" Target="slide39.xml"/><Relationship Id="rId8" Type="http://schemas.openxmlformats.org/officeDocument/2006/relationships/slide" Target="slide9.xml"/><Relationship Id="rId3" Type="http://schemas.openxmlformats.org/officeDocument/2006/relationships/image" Target="../media/image4.emf"/></Relationships>
</file>

<file path=ppt/slides/_rels/slide3.xml.rels><?xml version="1.0" encoding="UTF-8" standalone="yes"?>
<Relationships xmlns="http://schemas.openxmlformats.org/package/2006/relationships"><Relationship Id="rId13" Type="http://schemas.openxmlformats.org/officeDocument/2006/relationships/slide" Target="slide52.xml"/><Relationship Id="rId18" Type="http://schemas.openxmlformats.org/officeDocument/2006/relationships/slide" Target="slide57.xml"/><Relationship Id="rId26" Type="http://schemas.openxmlformats.org/officeDocument/2006/relationships/slide" Target="slide67.xml"/><Relationship Id="rId21" Type="http://schemas.openxmlformats.org/officeDocument/2006/relationships/slide" Target="slide61.xml"/><Relationship Id="rId34" Type="http://schemas.openxmlformats.org/officeDocument/2006/relationships/slide" Target="slide75.xml"/><Relationship Id="rId7" Type="http://schemas.openxmlformats.org/officeDocument/2006/relationships/slide" Target="slide45.xml"/><Relationship Id="rId12" Type="http://schemas.openxmlformats.org/officeDocument/2006/relationships/slide" Target="slide50.xml"/><Relationship Id="rId17" Type="http://schemas.openxmlformats.org/officeDocument/2006/relationships/slide" Target="slide56.xml"/><Relationship Id="rId25" Type="http://schemas.openxmlformats.org/officeDocument/2006/relationships/slide" Target="slide65.xml"/><Relationship Id="rId33" Type="http://schemas.openxmlformats.org/officeDocument/2006/relationships/slide" Target="slide74.xml"/><Relationship Id="rId38" Type="http://schemas.openxmlformats.org/officeDocument/2006/relationships/slide" Target="slide80.xml"/><Relationship Id="rId2" Type="http://schemas.openxmlformats.org/officeDocument/2006/relationships/image" Target="../media/image3.emf"/><Relationship Id="rId16" Type="http://schemas.openxmlformats.org/officeDocument/2006/relationships/slide" Target="slide55.xml"/><Relationship Id="rId20" Type="http://schemas.openxmlformats.org/officeDocument/2006/relationships/slide" Target="slide59.xml"/><Relationship Id="rId29" Type="http://schemas.openxmlformats.org/officeDocument/2006/relationships/slide" Target="slide70.xml"/><Relationship Id="rId1" Type="http://schemas.openxmlformats.org/officeDocument/2006/relationships/slideLayout" Target="../slideLayouts/slideLayout7.xml"/><Relationship Id="rId6" Type="http://schemas.openxmlformats.org/officeDocument/2006/relationships/slide" Target="slide44.xml"/><Relationship Id="rId11" Type="http://schemas.openxmlformats.org/officeDocument/2006/relationships/slide" Target="slide49.xml"/><Relationship Id="rId24" Type="http://schemas.openxmlformats.org/officeDocument/2006/relationships/slide" Target="slide64.xml"/><Relationship Id="rId32" Type="http://schemas.openxmlformats.org/officeDocument/2006/relationships/slide" Target="slide73.xml"/><Relationship Id="rId37" Type="http://schemas.openxmlformats.org/officeDocument/2006/relationships/slide" Target="slide79.xml"/><Relationship Id="rId5" Type="http://schemas.openxmlformats.org/officeDocument/2006/relationships/slide" Target="slide43.xml"/><Relationship Id="rId15" Type="http://schemas.openxmlformats.org/officeDocument/2006/relationships/slide" Target="slide54.xml"/><Relationship Id="rId23" Type="http://schemas.openxmlformats.org/officeDocument/2006/relationships/slide" Target="slide63.xml"/><Relationship Id="rId28" Type="http://schemas.openxmlformats.org/officeDocument/2006/relationships/slide" Target="slide69.xml"/><Relationship Id="rId36" Type="http://schemas.openxmlformats.org/officeDocument/2006/relationships/slide" Target="slide78.xml"/><Relationship Id="rId10" Type="http://schemas.openxmlformats.org/officeDocument/2006/relationships/slide" Target="slide48.xml"/><Relationship Id="rId19" Type="http://schemas.openxmlformats.org/officeDocument/2006/relationships/slide" Target="slide58.xml"/><Relationship Id="rId31" Type="http://schemas.openxmlformats.org/officeDocument/2006/relationships/slide" Target="slide72.xml"/><Relationship Id="rId4" Type="http://schemas.openxmlformats.org/officeDocument/2006/relationships/image" Target="../media/image5.emf"/><Relationship Id="rId9" Type="http://schemas.openxmlformats.org/officeDocument/2006/relationships/slide" Target="slide47.xml"/><Relationship Id="rId14" Type="http://schemas.openxmlformats.org/officeDocument/2006/relationships/slide" Target="slide53.xml"/><Relationship Id="rId22" Type="http://schemas.openxmlformats.org/officeDocument/2006/relationships/slide" Target="slide62.xml"/><Relationship Id="rId27" Type="http://schemas.openxmlformats.org/officeDocument/2006/relationships/slide" Target="slide68.xml"/><Relationship Id="rId30" Type="http://schemas.openxmlformats.org/officeDocument/2006/relationships/slide" Target="slide71.xml"/><Relationship Id="rId35" Type="http://schemas.openxmlformats.org/officeDocument/2006/relationships/slide" Target="slide77.xml"/><Relationship Id="rId8" Type="http://schemas.openxmlformats.org/officeDocument/2006/relationships/slide" Target="slide46.xml"/><Relationship Id="rId3"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slide" Target="slide85.xml"/><Relationship Id="rId3" Type="http://schemas.openxmlformats.org/officeDocument/2006/relationships/image" Target="../media/image4.emf"/><Relationship Id="rId7" Type="http://schemas.openxmlformats.org/officeDocument/2006/relationships/slide" Target="slide83.xml"/><Relationship Id="rId12" Type="http://schemas.openxmlformats.org/officeDocument/2006/relationships/slide" Target="slide89.xml"/><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slide" Target="slide82.xml"/><Relationship Id="rId11" Type="http://schemas.openxmlformats.org/officeDocument/2006/relationships/slide" Target="slide88.xml"/><Relationship Id="rId5" Type="http://schemas.openxmlformats.org/officeDocument/2006/relationships/slide" Target="slide81.xml"/><Relationship Id="rId10" Type="http://schemas.openxmlformats.org/officeDocument/2006/relationships/slide" Target="slide87.xml"/><Relationship Id="rId4" Type="http://schemas.openxmlformats.org/officeDocument/2006/relationships/image" Target="../media/image5.emf"/><Relationship Id="rId9" Type="http://schemas.openxmlformats.org/officeDocument/2006/relationships/slide" Target="slide86.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hyperlink" Target="http://www.statista.com/statistics/282846/regular-social-networking-usage-penetration-worldwide-by-country"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xml"/><Relationship Id="rId5" Type="http://schemas.openxmlformats.org/officeDocument/2006/relationships/hyperlink" Target="http://www.statista.com/statistics/269615/social-network-penetration-by-region"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hyperlink" Target="http://www.statista.com/statistics/278341/number-of-social-network-users-in-selected-countries"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hyperlink" Target="http://www.statista.com/statistics/278409/number-of-social-network-users-in-the-united-states" TargetMode="Externa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hyperlink" Target="http://www.statista.com/statistics/304737/social-network-penetration-in-usa" TargetMode="Externa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xml"/><Relationship Id="rId5" Type="http://schemas.openxmlformats.org/officeDocument/2006/relationships/hyperlink" Target="http://www.statista.com/statistics/997190/most-used-social-media-platforms-by-type-in-the-us" TargetMode="Externa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hyperlink" Target="http://www.statista.com/statistics/997135/social-network-usage-by-brand-in-the-us"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8.xml"/><Relationship Id="rId5" Type="http://schemas.openxmlformats.org/officeDocument/2006/relationships/hyperlink" Target="http://www.statista.com/statistics/1284890/us-top-social-media-apps-by-downloads" TargetMode="Externa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9.xml"/><Relationship Id="rId5" Type="http://schemas.openxmlformats.org/officeDocument/2006/relationships/hyperlink" Target="http://www.statista.com/statistics/695958/top-iphone-social-networking-apps-in-the-us-by-number-of-downloads" TargetMode="Externa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0.xml"/><Relationship Id="rId5" Type="http://schemas.openxmlformats.org/officeDocument/2006/relationships/hyperlink" Target="http://www.statista.com/statistics/250862/unique-visitors-to-the-most-popular-mobile-apps-in-the-us" TargetMode="External"/><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1.xml"/><Relationship Id="rId5" Type="http://schemas.openxmlformats.org/officeDocument/2006/relationships/hyperlink" Target="http://www.statista.com/statistics/265773/market-share-of-the-most-popular-social-media-websites-in-the-us" TargetMode="Externa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2.xml"/><Relationship Id="rId5" Type="http://schemas.openxmlformats.org/officeDocument/2006/relationships/hyperlink" Target="http://www.statista.com/statistics/1273763/usa-adults-teens-using-instagram-tiktok" TargetMode="External"/><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emf"/><Relationship Id="rId7" Type="http://schemas.openxmlformats.org/officeDocument/2006/relationships/oleObject" Target="../embeddings/oleObject5.bin"/><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hyperlink" Target="http://www.statista.com/statistics/250172/social-network-usage-of-us-teens-and-young-adults" TargetMode="External"/><Relationship Id="rId4" Type="http://schemas.openxmlformats.org/officeDocument/2006/relationships/image" Target="../media/image5.emf"/><Relationship Id="rId9"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3.xml"/><Relationship Id="rId5" Type="http://schemas.openxmlformats.org/officeDocument/2006/relationships/hyperlink" Target="http://www.statista.com/statistics/1276021/instagram-snapchat-tiktok-gen-z-users" TargetMode="Externa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4.xml"/><Relationship Id="rId5" Type="http://schemas.openxmlformats.org/officeDocument/2006/relationships/hyperlink" Target="http://www.statista.com/statistics/1278136/instagram-snapchat-tiktok-weekly-usage" TargetMode="External"/><Relationship Id="rId4" Type="http://schemas.openxmlformats.org/officeDocument/2006/relationships/image" Target="../media/image5.emf"/></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5.xml"/><Relationship Id="rId5" Type="http://schemas.openxmlformats.org/officeDocument/2006/relationships/hyperlink" Target="http://www.statista.com/statistics/1289938/daily-media-usage-us" TargetMode="External"/><Relationship Id="rId4" Type="http://schemas.openxmlformats.org/officeDocument/2006/relationships/image" Target="../media/image5.emf"/></Relationships>
</file>

<file path=ppt/slides/_rels/slide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6.xml"/><Relationship Id="rId5" Type="http://schemas.openxmlformats.org/officeDocument/2006/relationships/hyperlink" Target="http://www.statista.com/statistics/1292983/weekly-time-spent-us-users-online-activities" TargetMode="External"/><Relationship Id="rId4" Type="http://schemas.openxmlformats.org/officeDocument/2006/relationships/image" Target="../media/image5.emf"/></Relationships>
</file>

<file path=ppt/slides/_rels/slide2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7.xml"/><Relationship Id="rId5" Type="http://schemas.openxmlformats.org/officeDocument/2006/relationships/hyperlink" Target="http://www.statista.com/statistics/997048/most-common-social-media-activities-in-the-us" TargetMode="External"/><Relationship Id="rId4" Type="http://schemas.openxmlformats.org/officeDocument/2006/relationships/image" Target="../media/image5.emf"/></Relationships>
</file>

<file path=ppt/slides/_rels/slide2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8.xml"/><Relationship Id="rId5" Type="http://schemas.openxmlformats.org/officeDocument/2006/relationships/hyperlink" Target="http://www.statista.com/statistics/1301075/us-daily-time-spent-social-media-platforms" TargetMode="External"/><Relationship Id="rId4" Type="http://schemas.openxmlformats.org/officeDocument/2006/relationships/image" Target="../media/image5.emf"/></Relationships>
</file>

<file path=ppt/slides/_rels/slide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19.xml"/><Relationship Id="rId5" Type="http://schemas.openxmlformats.org/officeDocument/2006/relationships/hyperlink" Target="http://www.statista.com/statistics/1309114/us-social-media-interactions-per-article-by-topic" TargetMode="External"/><Relationship Id="rId4" Type="http://schemas.openxmlformats.org/officeDocument/2006/relationships/image" Target="../media/image5.emf"/></Relationships>
</file>

<file path=ppt/slides/_rels/slide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0.xml"/><Relationship Id="rId5" Type="http://schemas.openxmlformats.org/officeDocument/2006/relationships/hyperlink" Target="http://www.statista.com/statistics/1293870/us-social-media-platforms-short-form-video" TargetMode="External"/><Relationship Id="rId4" Type="http://schemas.openxmlformats.org/officeDocument/2006/relationships/image" Target="../media/image5.emf"/></Relationships>
</file>

<file path=ppt/slides/_rels/slide2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1.xml"/><Relationship Id="rId5" Type="http://schemas.openxmlformats.org/officeDocument/2006/relationships/hyperlink" Target="http://www.statista.com/statistics/1281555/us-kids-teens-daily-activities-coronavirus-by-age" TargetMode="External"/><Relationship Id="rId4" Type="http://schemas.openxmlformats.org/officeDocument/2006/relationships/image" Target="../media/image5.emf"/></Relationships>
</file>

<file path=ppt/slides/_rels/slide3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2.xml"/><Relationship Id="rId5" Type="http://schemas.openxmlformats.org/officeDocument/2006/relationships/hyperlink" Target="http://www.statista.com/statistics/268136/top-15-countries-based-on-number-of-facebook-users"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3.xml"/><Relationship Id="rId5" Type="http://schemas.openxmlformats.org/officeDocument/2006/relationships/hyperlink" Target="http://www.statista.com/statistics/408971/number-of-us-facebook-users" TargetMode="External"/><Relationship Id="rId4" Type="http://schemas.openxmlformats.org/officeDocument/2006/relationships/image" Target="../media/image5.emf"/></Relationships>
</file>

<file path=ppt/slides/_rels/slide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4.xml"/><Relationship Id="rId5" Type="http://schemas.openxmlformats.org/officeDocument/2006/relationships/hyperlink" Target="http://www.statista.com/statistics/183460/share-of-the-us-population-using-facebook" TargetMode="External"/><Relationship Id="rId4" Type="http://schemas.openxmlformats.org/officeDocument/2006/relationships/image" Target="../media/image5.emf"/></Relationships>
</file>

<file path=ppt/slides/_rels/slide3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5.xml"/><Relationship Id="rId5" Type="http://schemas.openxmlformats.org/officeDocument/2006/relationships/hyperlink" Target="http://www.statista.com/statistics/247614/number-of-monthly-active-facebook-users-worldwide" TargetMode="External"/><Relationship Id="rId4" Type="http://schemas.openxmlformats.org/officeDocument/2006/relationships/image" Target="../media/image5.emf"/></Relationships>
</file>

<file path=ppt/slides/_rels/slide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6.xml"/><Relationship Id="rId5" Type="http://schemas.openxmlformats.org/officeDocument/2006/relationships/hyperlink" Target="http://www.statista.com/statistics/187041/us-user-age-distribution-on-facebook" TargetMode="External"/><Relationship Id="rId4" Type="http://schemas.openxmlformats.org/officeDocument/2006/relationships/image" Target="../media/image5.emf"/></Relationships>
</file>

<file path=ppt/slides/_rels/slide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7.xml"/><Relationship Id="rId5" Type="http://schemas.openxmlformats.org/officeDocument/2006/relationships/hyperlink" Target="http://www.statista.com/statistics/246220/share-of-us-internet-users-who-use-facebook-by-gender" TargetMode="External"/><Relationship Id="rId4" Type="http://schemas.openxmlformats.org/officeDocument/2006/relationships/image" Target="../media/image5.emf"/></Relationships>
</file>

<file path=ppt/slides/_rels/slide3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8.xml"/><Relationship Id="rId5" Type="http://schemas.openxmlformats.org/officeDocument/2006/relationships/hyperlink" Target="http://www.statista.com/statistics/246221/share-of-us-internet-users-who-use-facebook-by-age-group" TargetMode="External"/><Relationship Id="rId4" Type="http://schemas.openxmlformats.org/officeDocument/2006/relationships/image" Target="../media/image5.emf"/></Relationships>
</file>

<file path=ppt/slides/_rels/slide3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29.xml"/><Relationship Id="rId5" Type="http://schemas.openxmlformats.org/officeDocument/2006/relationships/hyperlink" Target="http://www.statista.com/statistics/246225/share-of-us-internet-users-who-use-facebook-by-education-level" TargetMode="External"/><Relationship Id="rId4" Type="http://schemas.openxmlformats.org/officeDocument/2006/relationships/image" Target="../media/image5.e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0.xml"/><Relationship Id="rId5" Type="http://schemas.openxmlformats.org/officeDocument/2006/relationships/hyperlink" Target="http://www.statista.com/statistics/1279318/united-states-most-viewed-domains-facebook-news-feed"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1.xml"/><Relationship Id="rId5" Type="http://schemas.openxmlformats.org/officeDocument/2006/relationships/hyperlink" Target="http://www.statista.com/statistics/1279138/united-states-source-facebook-news-content-views" TargetMode="External"/><Relationship Id="rId4" Type="http://schemas.openxmlformats.org/officeDocument/2006/relationships/image" Target="../media/image5.emf"/></Relationships>
</file>

<file path=ppt/slides/_rels/slide4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2.xml"/><Relationship Id="rId5" Type="http://schemas.openxmlformats.org/officeDocument/2006/relationships/hyperlink" Target="http://www.statista.com/statistics/1277332/united-states-adults-opinion-facebook" TargetMode="External"/><Relationship Id="rId4" Type="http://schemas.openxmlformats.org/officeDocument/2006/relationships/image" Target="../media/image5.emf"/></Relationships>
</file>

<file path=ppt/slides/_rels/slide4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3.xml"/><Relationship Id="rId5" Type="http://schemas.openxmlformats.org/officeDocument/2006/relationships/hyperlink" Target="http://www.statista.com/statistics/1138863/instagram-users-in-the-united-states" TargetMode="External"/><Relationship Id="rId4" Type="http://schemas.openxmlformats.org/officeDocument/2006/relationships/image" Target="../media/image5.emf"/></Relationships>
</file>

<file path=ppt/slides/_rels/slide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4.xml"/><Relationship Id="rId5" Type="http://schemas.openxmlformats.org/officeDocument/2006/relationships/hyperlink" Target="http://www.statista.com/statistics/530498/instagram-users-in-the-us-by-gender" TargetMode="External"/><Relationship Id="rId4" Type="http://schemas.openxmlformats.org/officeDocument/2006/relationships/image" Target="../media/image5.emf"/></Relationships>
</file>

<file path=ppt/slides/_rels/slide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5.xml"/><Relationship Id="rId5" Type="http://schemas.openxmlformats.org/officeDocument/2006/relationships/hyperlink" Target="http://www.statista.com/statistics/398166/us-instagram-user-age-distribution" TargetMode="External"/><Relationship Id="rId4" Type="http://schemas.openxmlformats.org/officeDocument/2006/relationships/image" Target="../media/image5.emf"/></Relationships>
</file>

<file path=ppt/slides/_rels/slide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6.xml"/><Relationship Id="rId5" Type="http://schemas.openxmlformats.org/officeDocument/2006/relationships/hyperlink" Target="http://www.statista.com/statistics/246199/share-of-us-internet-users-who-use-instagram-by-age-group" TargetMode="External"/><Relationship Id="rId4" Type="http://schemas.openxmlformats.org/officeDocument/2006/relationships/image" Target="../media/image5.emf"/></Relationships>
</file>

<file path=ppt/slides/_rels/slide4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7.xml"/><Relationship Id="rId5" Type="http://schemas.openxmlformats.org/officeDocument/2006/relationships/hyperlink" Target="http://www.statista.com/statistics/246195/share-of-us-internet-users-who-use-instagram-by-gender" TargetMode="External"/><Relationship Id="rId4" Type="http://schemas.openxmlformats.org/officeDocument/2006/relationships/image" Target="../media/image5.emf"/></Relationships>
</file>

<file path=ppt/slides/_rels/slide4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8.xml"/><Relationship Id="rId5" Type="http://schemas.openxmlformats.org/officeDocument/2006/relationships/hyperlink" Target="http://www.statista.com/statistics/290116/instagram-usage-frequency-us-cell-phone-users" TargetMode="External"/><Relationship Id="rId4" Type="http://schemas.openxmlformats.org/officeDocument/2006/relationships/image" Target="../media/image5.emf"/></Relationships>
</file>

<file path=ppt/slides/_rels/slide4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39.xml"/><Relationship Id="rId5" Type="http://schemas.openxmlformats.org/officeDocument/2006/relationships/hyperlink" Target="http://www.statista.com/statistics/270512/us-instagram-user-ratio-rate-of-activity" TargetMode="External"/><Relationship Id="rId4" Type="http://schemas.openxmlformats.org/officeDocument/2006/relationships/image" Target="../media/image5.emf"/></Relationships>
</file>

<file path=ppt/slides/_rels/slide5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0.xml"/><Relationship Id="rId5" Type="http://schemas.openxmlformats.org/officeDocument/2006/relationships/hyperlink" Target="http://www.statista.com/statistics/1278158/united-states-adults-favorable-opinion-instagram" TargetMode="External"/><Relationship Id="rId4" Type="http://schemas.openxmlformats.org/officeDocument/2006/relationships/image" Target="../media/image5.emf"/></Relationships>
</file>

<file path=ppt/slides/_rels/slide5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1.xml"/><Relationship Id="rId5" Type="http://schemas.openxmlformats.org/officeDocument/2006/relationships/hyperlink" Target="http://www.statista.com/statistics/1100836/number-of-us-tiktok-users" TargetMode="External"/><Relationship Id="rId4" Type="http://schemas.openxmlformats.org/officeDocument/2006/relationships/image" Target="../media/image5.emf"/></Relationships>
</file>

<file path=ppt/slides/_rels/slide5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2.xml"/><Relationship Id="rId5" Type="http://schemas.openxmlformats.org/officeDocument/2006/relationships/hyperlink" Target="http://www.statista.com/statistics/1100842/tiktok-us-user-growth" TargetMode="External"/><Relationship Id="rId4" Type="http://schemas.openxmlformats.org/officeDocument/2006/relationships/image" Target="../media/image5.emf"/></Relationships>
</file>

<file path=ppt/slides/_rels/slide5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3.xml"/><Relationship Id="rId5" Type="http://schemas.openxmlformats.org/officeDocument/2006/relationships/hyperlink" Target="http://www.statista.com/statistics/1095196/tiktok-us-age-gender-reach" TargetMode="External"/><Relationship Id="rId4" Type="http://schemas.openxmlformats.org/officeDocument/2006/relationships/image" Target="../media/image5.emf"/></Relationships>
</file>

<file path=ppt/slides/_rels/slide5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4.xml"/><Relationship Id="rId5" Type="http://schemas.openxmlformats.org/officeDocument/2006/relationships/hyperlink" Target="http://www.statista.com/statistics/1295269/us-tiktok-user-frequency" TargetMode="External"/><Relationship Id="rId4" Type="http://schemas.openxmlformats.org/officeDocument/2006/relationships/image" Target="../media/image5.emf"/></Relationships>
</file>

<file path=ppt/slides/_rels/slide5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5.xml"/><Relationship Id="rId5" Type="http://schemas.openxmlformats.org/officeDocument/2006/relationships/hyperlink" Target="http://www.statista.com/statistics/1295276/us-tiktok-user-frequency-by-gender" TargetMode="External"/><Relationship Id="rId4" Type="http://schemas.openxmlformats.org/officeDocument/2006/relationships/image" Target="../media/image5.emf"/></Relationships>
</file>

<file path=ppt/slides/_rels/slide5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6.xml"/><Relationship Id="rId5" Type="http://schemas.openxmlformats.org/officeDocument/2006/relationships/hyperlink" Target="http://www.statista.com/statistics/1295294/us-tiktok-user-frequency-by-household-income" TargetMode="External"/><Relationship Id="rId4" Type="http://schemas.openxmlformats.org/officeDocument/2006/relationships/image" Target="../media/image5.emf"/></Relationships>
</file>

<file path=ppt/slides/_rels/slide5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7.xml"/><Relationship Id="rId5" Type="http://schemas.openxmlformats.org/officeDocument/2006/relationships/hyperlink" Target="http://www.statista.com/statistics/1095232/us-tiktok-user-rate-of-activity" TargetMode="External"/><Relationship Id="rId4" Type="http://schemas.openxmlformats.org/officeDocument/2006/relationships/image" Target="../media/image5.emf"/></Relationships>
</file>

<file path=ppt/slides/_rels/slide5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8.xml"/><Relationship Id="rId5" Type="http://schemas.openxmlformats.org/officeDocument/2006/relationships/hyperlink" Target="http://www.statista.com/statistics/1278565/united-states-adults-favorable-opinion-tiktok" TargetMode="External"/><Relationship Id="rId4" Type="http://schemas.openxmlformats.org/officeDocument/2006/relationships/image" Target="../media/image5.emf"/></Relationships>
</file>

<file path=ppt/slides/_rels/slide6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49.xml"/><Relationship Id="rId5" Type="http://schemas.openxmlformats.org/officeDocument/2006/relationships/hyperlink" Target="http://www.statista.com/statistics/1146561/twitter-users-in-the-united-states" TargetMode="External"/><Relationship Id="rId4" Type="http://schemas.openxmlformats.org/officeDocument/2006/relationships/image" Target="../media/image5.emf"/></Relationships>
</file>

<file path=ppt/slides/_rels/slide6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0.xml"/><Relationship Id="rId5" Type="http://schemas.openxmlformats.org/officeDocument/2006/relationships/hyperlink" Target="http://www.statista.com/statistics/1147215/linkedin-users-in-the-united-states" TargetMode="External"/><Relationship Id="rId4" Type="http://schemas.openxmlformats.org/officeDocument/2006/relationships/image" Target="../media/image5.emf"/></Relationships>
</file>

<file path=ppt/slides/_rels/slide6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1.xml"/><Relationship Id="rId5" Type="http://schemas.openxmlformats.org/officeDocument/2006/relationships/hyperlink" Target="http://www.statista.com/statistics/1146884/pinterest-users-in-the-united-states" TargetMode="External"/><Relationship Id="rId4" Type="http://schemas.openxmlformats.org/officeDocument/2006/relationships/image" Target="../media/image5.emf"/></Relationships>
</file>

<file path=ppt/slides/_rels/slide6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2.xml"/><Relationship Id="rId5" Type="http://schemas.openxmlformats.org/officeDocument/2006/relationships/hyperlink" Target="http://www.statista.com/statistics/1145591/reddit-users-in-the-united-states" TargetMode="External"/><Relationship Id="rId4" Type="http://schemas.openxmlformats.org/officeDocument/2006/relationships/image" Target="../media/image5.emf"/></Relationships>
</file>

<file path=ppt/slides/_rels/slide6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3.xml"/><Relationship Id="rId5" Type="http://schemas.openxmlformats.org/officeDocument/2006/relationships/hyperlink" Target="http://www.statista.com/statistics/1142969/snapchat-users-in-the-united-states" TargetMode="External"/><Relationship Id="rId4" Type="http://schemas.openxmlformats.org/officeDocument/2006/relationships/image" Target="../media/image5.emf"/></Relationships>
</file>

<file path=ppt/slides/_rels/slide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4.xml"/><Relationship Id="rId5" Type="http://schemas.openxmlformats.org/officeDocument/2006/relationships/hyperlink" Target="http://www.statista.com/statistics/1307244/most-well-known-social-networks-in-the-united-states" TargetMode="External"/><Relationship Id="rId10" Type="http://schemas.openxmlformats.org/officeDocument/2006/relationships/image" Target="../media/image9.png"/><Relationship Id="rId4" Type="http://schemas.openxmlformats.org/officeDocument/2006/relationships/image" Target="../media/image5.emf"/><Relationship Id="rId9" Type="http://schemas.openxmlformats.org/officeDocument/2006/relationships/image" Target="../media/image8.png"/></Relationships>
</file>

<file path=ppt/slides/_rels/slide6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5.xml"/><Relationship Id="rId5" Type="http://schemas.openxmlformats.org/officeDocument/2006/relationships/hyperlink" Target="http://www.statista.com/statistics/1304985/facebook-social-media-brand-profile-in-the-united-states" TargetMode="External"/><Relationship Id="rId4" Type="http://schemas.openxmlformats.org/officeDocument/2006/relationships/image" Target="../media/image5.emf"/></Relationships>
</file>

<file path=ppt/slides/_rels/slide6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6.xml"/><Relationship Id="rId5" Type="http://schemas.openxmlformats.org/officeDocument/2006/relationships/hyperlink" Target="http://www.statista.com/statistics/1304990/instagram-social-media-brand-profile-in-the-united-states" TargetMode="External"/><Relationship Id="rId4" Type="http://schemas.openxmlformats.org/officeDocument/2006/relationships/image" Target="../media/image5.emf"/></Relationships>
</file>

<file path=ppt/slides/_rels/slide7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7.xml"/><Relationship Id="rId5" Type="http://schemas.openxmlformats.org/officeDocument/2006/relationships/hyperlink" Target="http://www.statista.com/statistics/1305018/tiktok-social-media-brand-profile-in-the-united-states" TargetMode="External"/><Relationship Id="rId4" Type="http://schemas.openxmlformats.org/officeDocument/2006/relationships/image" Target="../media/image5.emf"/></Relationships>
</file>

<file path=ppt/slides/_rels/slide7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8.xml"/><Relationship Id="rId5" Type="http://schemas.openxmlformats.org/officeDocument/2006/relationships/hyperlink" Target="http://www.statista.com/statistics/1305017/twitter-social-media-brand-profile-in-the-united-states" TargetMode="External"/><Relationship Id="rId4" Type="http://schemas.openxmlformats.org/officeDocument/2006/relationships/image" Target="../media/image5.emf"/></Relationships>
</file>

<file path=ppt/slides/_rels/slide7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59.xml"/><Relationship Id="rId5" Type="http://schemas.openxmlformats.org/officeDocument/2006/relationships/hyperlink" Target="http://www.statista.com/statistics/1305012/linkedin-social-media-brand-profile-in-the-united-states" TargetMode="External"/><Relationship Id="rId4" Type="http://schemas.openxmlformats.org/officeDocument/2006/relationships/image" Target="../media/image5.emf"/></Relationships>
</file>

<file path=ppt/slides/_rels/slide7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0.xml"/><Relationship Id="rId5" Type="http://schemas.openxmlformats.org/officeDocument/2006/relationships/hyperlink" Target="http://www.statista.com/statistics/1305014/pinterest-social-media-brand-profile-in-the-united-states" TargetMode="External"/><Relationship Id="rId4" Type="http://schemas.openxmlformats.org/officeDocument/2006/relationships/image" Target="../media/image5.emf"/></Relationships>
</file>

<file path=ppt/slides/_rels/slide7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1.xml"/><Relationship Id="rId5" Type="http://schemas.openxmlformats.org/officeDocument/2006/relationships/hyperlink" Target="http://www.statista.com/statistics/1304993/reddit-social-media-brand-profile-in-the-united-states" TargetMode="External"/><Relationship Id="rId4" Type="http://schemas.openxmlformats.org/officeDocument/2006/relationships/image" Target="../media/image5.emf"/></Relationships>
</file>

<file path=ppt/slides/_rels/slide7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2.xml"/><Relationship Id="rId5" Type="http://schemas.openxmlformats.org/officeDocument/2006/relationships/hyperlink" Target="http://www.statista.com/statistics/1305026/snapchat-social-media-brand-profile-in-the-united-states" TargetMode="External"/><Relationship Id="rId4" Type="http://schemas.openxmlformats.org/officeDocument/2006/relationships/image" Target="../media/image5.emf"/></Relationships>
</file>

<file path=ppt/slides/_rels/slide7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3.xml"/><Relationship Id="rId5" Type="http://schemas.openxmlformats.org/officeDocument/2006/relationships/hyperlink" Target="http://www.statista.com/statistics/459708/social-media-ad-revenue-per-internet-user-digital-market-outlook-usa" TargetMode="External"/><Relationship Id="rId4" Type="http://schemas.openxmlformats.org/officeDocument/2006/relationships/image" Target="../media/image5.emf"/></Relationships>
</file>

<file path=ppt/slides/_rels/slide7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4.xml"/><Relationship Id="rId5" Type="http://schemas.openxmlformats.org/officeDocument/2006/relationships/hyperlink" Target="http://www.statista.com/statistics/459689/social-media-advertising-revenue-growth-digital-market-outlook-usa" TargetMode="External"/><Relationship Id="rId4" Type="http://schemas.openxmlformats.org/officeDocument/2006/relationships/image" Target="../media/image5.emf"/></Relationships>
</file>

<file path=ppt/slides/_rels/slide7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5.xml"/><Relationship Id="rId5" Type="http://schemas.openxmlformats.org/officeDocument/2006/relationships/hyperlink" Target="http://www.statista.com/statistics/459700/social-media-advertising-revenue-growth-device-digital-market-outlook-usa" TargetMode="External"/><Relationship Id="rId4" Type="http://schemas.openxmlformats.org/officeDocument/2006/relationships/image" Target="../media/image5.emf"/></Relationships>
</file>

<file path=ppt/slides/_rels/slide8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6.xml"/><Relationship Id="rId5" Type="http://schemas.openxmlformats.org/officeDocument/2006/relationships/hyperlink" Target="http://www.statista.com/statistics/459743/social-media-ad-revenue-per-internet-user-device-digital-market-outlook-usa" TargetMode="External"/><Relationship Id="rId4" Type="http://schemas.openxmlformats.org/officeDocument/2006/relationships/image" Target="../media/image5.emf"/></Relationships>
</file>

<file path=ppt/slides/_rels/slide8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7.xml"/><Relationship Id="rId5" Type="http://schemas.openxmlformats.org/officeDocument/2006/relationships/hyperlink" Target="http://www.statista.com/statistics/456186/social-media-advertising-revenue-device-digital-market-outlook-usa" TargetMode="External"/><Relationship Id="rId4" Type="http://schemas.openxmlformats.org/officeDocument/2006/relationships/image" Target="../media/image5.emf"/></Relationships>
</file>

<file path=ppt/slides/_rels/slide8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8.xml"/><Relationship Id="rId5" Type="http://schemas.openxmlformats.org/officeDocument/2006/relationships/hyperlink" Target="http://www.statista.com/statistics/459609/social-media-advertising-revenue-digital-market-outlook-usa" TargetMode="External"/><Relationship Id="rId4" Type="http://schemas.openxmlformats.org/officeDocument/2006/relationships/image" Target="../media/image5.emf"/></Relationships>
</file>

<file path=ppt/slides/_rels/slide8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69.xml"/><Relationship Id="rId5" Type="http://schemas.openxmlformats.org/officeDocument/2006/relationships/hyperlink" Target="http://www.statista.com/statistics/614213/change-digital-ad-spend-social-media-usa" TargetMode="External"/><Relationship Id="rId4" Type="http://schemas.openxmlformats.org/officeDocument/2006/relationships/image" Target="../media/image5.emf"/></Relationships>
</file>

<file path=ppt/slides/_rels/slide8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70.xml"/><Relationship Id="rId5" Type="http://schemas.openxmlformats.org/officeDocument/2006/relationships/hyperlink" Target="http://www.statista.com/statistics/1268213/us-opinion-on-social-media-good-or-bad" TargetMode="External"/><Relationship Id="rId4" Type="http://schemas.openxmlformats.org/officeDocument/2006/relationships/image" Target="../media/image5.emf"/></Relationships>
</file>

<file path=ppt/slides/_rels/slide8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71.xml"/><Relationship Id="rId5" Type="http://schemas.openxmlformats.org/officeDocument/2006/relationships/hyperlink" Target="http://www.statista.com/statistics/1295139/us-adults-social-media-identity-verification-to-create-account" TargetMode="External"/><Relationship Id="rId4" Type="http://schemas.openxmlformats.org/officeDocument/2006/relationships/image" Target="../media/image5.emf"/></Relationships>
</file>

<file path=ppt/slides/_rels/slide8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72.xml"/><Relationship Id="rId5" Type="http://schemas.openxmlformats.org/officeDocument/2006/relationships/hyperlink" Target="http://www.statista.com/statistics/1295130/us-adults-social-media-identity-verification-to-create-account-by-gender" TargetMode="External"/><Relationship Id="rId4" Type="http://schemas.openxmlformats.org/officeDocument/2006/relationships/image" Target="../media/image5.emf"/></Relationships>
</file>

<file path=ppt/slides/_rels/slide8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73.xml"/><Relationship Id="rId5" Type="http://schemas.openxmlformats.org/officeDocument/2006/relationships/hyperlink" Target="http://www.statista.com/statistics/1288087/united-states-adults-metaverse-replace-social-media" TargetMode="External"/><Relationship Id="rId4" Type="http://schemas.openxmlformats.org/officeDocument/2006/relationships/image" Target="../media/image5.emf"/></Relationships>
</file>

<file path=ppt/slides/_rels/slide8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chart" Target="../charts/chart74.xml"/><Relationship Id="rId5" Type="http://schemas.openxmlformats.org/officeDocument/2006/relationships/hyperlink" Target="http://www.statista.com/statistics/1282804/united-states-opinion-social-media-appearance" TargetMode="External"/><Relationship Id="rId4" Type="http://schemas.openxmlformats.org/officeDocument/2006/relationships/image" Target="../media/image5.emf"/></Relationships>
</file>

<file path=ppt/slides/_rels/slide9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ew shap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DIGITAL &amp; TRENDS</a:t>
            </a:r>
          </a:p>
        </p:txBody>
      </p:sp>
      <p:sp>
        <p:nvSpPr>
          <p:cNvPr id="3"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usage in the United States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Overview</a:t>
            </a:r>
          </a:p>
        </p:txBody>
      </p:sp>
      <p:sp>
        <p:nvSpPr>
          <p:cNvPr id="8" name="New shap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05</a:t>
            </a:r>
          </a:p>
        </p:txBody>
      </p:sp>
      <p:sp>
        <p:nvSpPr>
          <p:cNvPr id="9" name="New shap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active usage penetration in selected countries and territories 2023</a:t>
            </a:r>
          </a:p>
        </p:txBody>
      </p:sp>
      <p:sp>
        <p:nvSpPr>
          <p:cNvPr id="10" name="New shap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06</a:t>
            </a:r>
          </a:p>
        </p:txBody>
      </p:sp>
      <p:sp>
        <p:nvSpPr>
          <p:cNvPr id="11" name="New shap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global penetration rate 2023, by region</a:t>
            </a:r>
          </a:p>
        </p:txBody>
      </p:sp>
      <p:sp>
        <p:nvSpPr>
          <p:cNvPr id="12" name="New shap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07</a:t>
            </a:r>
          </a:p>
        </p:txBody>
      </p:sp>
      <p:sp>
        <p:nvSpPr>
          <p:cNvPr id="13" name="New shap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network users in selected countries in 2022 and 2027</a:t>
            </a:r>
          </a:p>
        </p:txBody>
      </p:sp>
      <p:sp>
        <p:nvSpPr>
          <p:cNvPr id="14" name="New shap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08</a:t>
            </a:r>
          </a:p>
        </p:txBody>
      </p:sp>
      <p:sp>
        <p:nvSpPr>
          <p:cNvPr id="15" name="New shap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users in the United States 2019-2028</a:t>
            </a:r>
          </a:p>
        </p:txBody>
      </p:sp>
      <p:sp>
        <p:nvSpPr>
          <p:cNvPr id="16" name="New shape"/>
          <p:cNvSpPr/>
          <p:nvPr/>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09</a:t>
            </a:r>
          </a:p>
        </p:txBody>
      </p:sp>
      <p:sp>
        <p:nvSpPr>
          <p:cNvPr id="17" name="New shape"/>
          <p:cNvSpPr/>
          <p:nvPr/>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United States: social network penetration 2018-2027</a:t>
            </a:r>
          </a:p>
        </p:txBody>
      </p:sp>
      <p:sp>
        <p:nvSpPr>
          <p:cNvPr id="18" name="New shape"/>
          <p:cNvSpPr/>
          <p:nvPr/>
        </p:nvSpPr>
        <p:spPr>
          <a:xfrm>
            <a:off x="586800" y="3094633"/>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Benchmarks</a:t>
            </a:r>
          </a:p>
        </p:txBody>
      </p:sp>
      <p:sp>
        <p:nvSpPr>
          <p:cNvPr id="19" name="New shape"/>
          <p:cNvSpPr/>
          <p:nvPr/>
        </p:nvSpPr>
        <p:spPr>
          <a:xfrm>
            <a:off x="5544000" y="332807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11</a:t>
            </a:r>
          </a:p>
        </p:txBody>
      </p:sp>
      <p:sp>
        <p:nvSpPr>
          <p:cNvPr id="20" name="New shape"/>
          <p:cNvSpPr/>
          <p:nvPr/>
        </p:nvSpPr>
        <p:spPr>
          <a:xfrm>
            <a:off x="586800" y="332807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used social media platforms by type in the U.S. 2022</a:t>
            </a:r>
          </a:p>
        </p:txBody>
      </p:sp>
      <p:sp>
        <p:nvSpPr>
          <p:cNvPr id="21" name="New shape"/>
          <p:cNvSpPr/>
          <p:nvPr/>
        </p:nvSpPr>
        <p:spPr>
          <a:xfrm>
            <a:off x="5544000" y="349835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12</a:t>
            </a:r>
          </a:p>
        </p:txBody>
      </p:sp>
      <p:sp>
        <p:nvSpPr>
          <p:cNvPr id="22" name="New shape"/>
          <p:cNvSpPr/>
          <p:nvPr/>
        </p:nvSpPr>
        <p:spPr>
          <a:xfrm>
            <a:off x="586800" y="349835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network usage by brand in the U.S. 2022</a:t>
            </a:r>
          </a:p>
        </p:txBody>
      </p:sp>
      <p:sp>
        <p:nvSpPr>
          <p:cNvPr id="23" name="New shape"/>
          <p:cNvSpPr/>
          <p:nvPr/>
        </p:nvSpPr>
        <p:spPr>
          <a:xfrm>
            <a:off x="5544000" y="3668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13</a:t>
            </a:r>
          </a:p>
        </p:txBody>
      </p:sp>
      <p:sp>
        <p:nvSpPr>
          <p:cNvPr id="24" name="New shape"/>
          <p:cNvSpPr/>
          <p:nvPr/>
        </p:nvSpPr>
        <p:spPr>
          <a:xfrm>
            <a:off x="586800" y="3668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downloaded social media apps U.S. 2022</a:t>
            </a:r>
          </a:p>
        </p:txBody>
      </p:sp>
      <p:sp>
        <p:nvSpPr>
          <p:cNvPr id="25" name="New shape"/>
          <p:cNvSpPr/>
          <p:nvPr/>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14</a:t>
            </a:r>
          </a:p>
        </p:txBody>
      </p:sp>
      <p:sp>
        <p:nvSpPr>
          <p:cNvPr id="26" name="New shape"/>
          <p:cNvSpPr/>
          <p:nvPr/>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iPhone social media apps in the U.S. 2022, by downloads</a:t>
            </a:r>
          </a:p>
        </p:txBody>
      </p:sp>
      <p:sp>
        <p:nvSpPr>
          <p:cNvPr id="27" name="New shape"/>
          <p:cNvSpPr/>
          <p:nvPr/>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15</a:t>
            </a:r>
          </a:p>
        </p:txBody>
      </p:sp>
      <p:sp>
        <p:nvSpPr>
          <p:cNvPr id="28" name="New shape"/>
          <p:cNvSpPr/>
          <p:nvPr/>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mobile apps in the United States 2023, by unique visitors</a:t>
            </a:r>
          </a:p>
        </p:txBody>
      </p:sp>
      <p:sp>
        <p:nvSpPr>
          <p:cNvPr id="29" name="New shape"/>
          <p:cNvSpPr/>
          <p:nvPr/>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16</a:t>
            </a:r>
          </a:p>
        </p:txBody>
      </p:sp>
      <p:sp>
        <p:nvSpPr>
          <p:cNvPr id="30" name="New shape"/>
          <p:cNvSpPr/>
          <p:nvPr/>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market share of leading social media websites 2022</a:t>
            </a:r>
          </a:p>
        </p:txBody>
      </p:sp>
      <p:sp>
        <p:nvSpPr>
          <p:cNvPr id="31" name="New shape"/>
          <p:cNvSpPr/>
          <p:nvPr/>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17</a:t>
            </a:r>
          </a:p>
        </p:txBody>
      </p:sp>
      <p:sp>
        <p:nvSpPr>
          <p:cNvPr id="32" name="New shape"/>
          <p:cNvSpPr/>
          <p:nvPr/>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 and teen Instagram and Tiktok usage 2020-2021</a:t>
            </a:r>
          </a:p>
        </p:txBody>
      </p:sp>
      <p:sp>
        <p:nvSpPr>
          <p:cNvPr id="33" name="New shape"/>
          <p:cNvSpPr/>
          <p:nvPr/>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18</a:t>
            </a:r>
          </a:p>
        </p:txBody>
      </p:sp>
      <p:sp>
        <p:nvSpPr>
          <p:cNvPr id="34" name="New shape"/>
          <p:cNvSpPr/>
          <p:nvPr/>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Favorite social networks of U.S. teens 2012-2021</a:t>
            </a:r>
          </a:p>
        </p:txBody>
      </p:sp>
      <p:sp>
        <p:nvSpPr>
          <p:cNvPr id="35" name="New shape"/>
          <p:cNvSpPr/>
          <p:nvPr/>
        </p:nvSpPr>
        <p:spPr>
          <a:xfrm>
            <a:off x="5544000" y="4690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19</a:t>
            </a:r>
          </a:p>
        </p:txBody>
      </p:sp>
      <p:sp>
        <p:nvSpPr>
          <p:cNvPr id="36" name="New shape"/>
          <p:cNvSpPr/>
          <p:nvPr/>
        </p:nvSpPr>
        <p:spPr>
          <a:xfrm>
            <a:off x="586800" y="4690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Gen Z: selected social media platforms in the U.S. 2020-2025</a:t>
            </a:r>
          </a:p>
        </p:txBody>
      </p:sp>
      <p:sp>
        <p:nvSpPr>
          <p:cNvPr id="37" name="New shape"/>
          <p:cNvSpPr/>
          <p:nvPr/>
        </p:nvSpPr>
        <p:spPr>
          <a:xfrm>
            <a:off x="5544000" y="4860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20</a:t>
            </a:r>
          </a:p>
        </p:txBody>
      </p:sp>
      <p:sp>
        <p:nvSpPr>
          <p:cNvPr id="38" name="New shape"/>
          <p:cNvSpPr/>
          <p:nvPr/>
        </p:nvSpPr>
        <p:spPr>
          <a:xfrm>
            <a:off x="586800" y="4860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Snapchat, and TikTok: Gen Z weekly usage in the U.S. 2019-2021</a:t>
            </a:r>
          </a:p>
        </p:txBody>
      </p:sp>
      <p:sp>
        <p:nvSpPr>
          <p:cNvPr id="39" name="New shape"/>
          <p:cNvSpPr/>
          <p:nvPr/>
        </p:nvSpPr>
        <p:spPr>
          <a:xfrm>
            <a:off x="586800" y="51578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Usage</a:t>
            </a:r>
          </a:p>
        </p:txBody>
      </p:sp>
      <p:sp>
        <p:nvSpPr>
          <p:cNvPr id="40" name="New shap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22</a:t>
            </a:r>
          </a:p>
        </p:txBody>
      </p:sp>
      <p:sp>
        <p:nvSpPr>
          <p:cNvPr id="41" name="New shap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Average daily media use in the U.S. 2022, by medium</a:t>
            </a:r>
          </a:p>
        </p:txBody>
      </p:sp>
      <p:sp>
        <p:nvSpPr>
          <p:cNvPr id="42" name="New shap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23</a:t>
            </a:r>
          </a:p>
        </p:txBody>
      </p:sp>
      <p:sp>
        <p:nvSpPr>
          <p:cNvPr id="43" name="New shap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Weekly time spent on leading online activities in the U.S. 2022</a:t>
            </a:r>
          </a:p>
        </p:txBody>
      </p:sp>
      <p:sp>
        <p:nvSpPr>
          <p:cNvPr id="44" name="New shap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24</a:t>
            </a:r>
          </a:p>
        </p:txBody>
      </p:sp>
      <p:sp>
        <p:nvSpPr>
          <p:cNvPr id="45" name="New shap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common social media activities in the U.S. 2022</a:t>
            </a:r>
          </a:p>
        </p:txBody>
      </p:sp>
      <p:sp>
        <p:nvSpPr>
          <p:cNvPr id="46" name="New shap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25</a:t>
            </a:r>
          </a:p>
        </p:txBody>
      </p:sp>
      <p:sp>
        <p:nvSpPr>
          <p:cNvPr id="47" name="New shap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users daily engagement with leading social media platforms 2022</a:t>
            </a:r>
          </a:p>
        </p:txBody>
      </p:sp>
      <p:sp>
        <p:nvSpPr>
          <p:cNvPr id="48" name="New shap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26</a:t>
            </a:r>
          </a:p>
        </p:txBody>
      </p:sp>
      <p:sp>
        <p:nvSpPr>
          <p:cNvPr id="49" name="New shap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social media interactions per article 2022, by topic</a:t>
            </a:r>
          </a:p>
        </p:txBody>
      </p:sp>
      <p:sp>
        <p:nvSpPr>
          <p:cNvPr id="50" name="New shape"/>
          <p:cNvSpPr/>
          <p:nvPr/>
        </p:nvSpPr>
        <p:spPr>
          <a:xfrm>
            <a:off x="109152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27</a:t>
            </a:r>
          </a:p>
        </p:txBody>
      </p:sp>
      <p:sp>
        <p:nvSpPr>
          <p:cNvPr id="51" name="New shape"/>
          <p:cNvSpPr/>
          <p:nvPr/>
        </p:nvSpPr>
        <p:spPr>
          <a:xfrm>
            <a:off x="59580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preferred social media platform to watch short-form videos 2021</a:t>
            </a:r>
          </a:p>
        </p:txBody>
      </p:sp>
      <p:sp>
        <p:nvSpPr>
          <p:cNvPr id="52" name="New shape"/>
          <p:cNvSpPr/>
          <p:nvPr/>
        </p:nvSpPr>
        <p:spPr>
          <a:xfrm>
            <a:off x="10915200" y="273419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28</a:t>
            </a:r>
          </a:p>
        </p:txBody>
      </p:sp>
      <p:sp>
        <p:nvSpPr>
          <p:cNvPr id="53" name="New shape"/>
          <p:cNvSpPr/>
          <p:nvPr/>
        </p:nvSpPr>
        <p:spPr>
          <a:xfrm>
            <a:off x="5958000" y="273419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young users daily media activities during the COVID-19 pandemic 2021, by age</a:t>
            </a:r>
          </a:p>
        </p:txBody>
      </p:sp>
      <p:sp>
        <p:nvSpPr>
          <p:cNvPr id="54" name="New shape"/>
          <p:cNvSpPr/>
          <p:nvPr/>
        </p:nvSpPr>
        <p:spPr>
          <a:xfrm>
            <a:off x="5958000" y="303146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Facebook</a:t>
            </a:r>
          </a:p>
        </p:txBody>
      </p:sp>
      <p:sp>
        <p:nvSpPr>
          <p:cNvPr id="55" name="New shap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30</a:t>
            </a:r>
          </a:p>
        </p:txBody>
      </p:sp>
      <p:sp>
        <p:nvSpPr>
          <p:cNvPr id="56" name="New shap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Countries with the most Facebook users 2023</a:t>
            </a:r>
          </a:p>
        </p:txBody>
      </p:sp>
      <p:sp>
        <p:nvSpPr>
          <p:cNvPr id="57" name="New shap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31</a:t>
            </a:r>
          </a:p>
        </p:txBody>
      </p:sp>
      <p:sp>
        <p:nvSpPr>
          <p:cNvPr id="58" name="New shap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users in the United States 2018-2027</a:t>
            </a:r>
          </a:p>
        </p:txBody>
      </p:sp>
      <p:sp>
        <p:nvSpPr>
          <p:cNvPr id="59" name="New shap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32</a:t>
            </a:r>
          </a:p>
        </p:txBody>
      </p:sp>
      <p:sp>
        <p:nvSpPr>
          <p:cNvPr id="60" name="New shap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United States: Facebook usage penetration 2018-2027</a:t>
            </a:r>
          </a:p>
        </p:txBody>
      </p:sp>
      <p:sp>
        <p:nvSpPr>
          <p:cNvPr id="61" name="New shap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33</a:t>
            </a:r>
          </a:p>
        </p:txBody>
      </p:sp>
      <p:sp>
        <p:nvSpPr>
          <p:cNvPr id="62" name="New shap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monthly active users in North America 2010-2022</a:t>
            </a:r>
          </a:p>
        </p:txBody>
      </p:sp>
      <p:sp>
        <p:nvSpPr>
          <p:cNvPr id="63" name="New shap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34</a:t>
            </a:r>
          </a:p>
        </p:txBody>
      </p:sp>
      <p:sp>
        <p:nvSpPr>
          <p:cNvPr id="64" name="New shap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Facebook users 2022, by age and gender</a:t>
            </a:r>
          </a:p>
        </p:txBody>
      </p:sp>
      <p:sp>
        <p:nvSpPr>
          <p:cNvPr id="65" name="New shap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35</a:t>
            </a:r>
          </a:p>
        </p:txBody>
      </p:sp>
      <p:sp>
        <p:nvSpPr>
          <p:cNvPr id="66" name="New shap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usage reach in the United States 2021, by gender</a:t>
            </a:r>
          </a:p>
        </p:txBody>
      </p:sp>
      <p:sp>
        <p:nvSpPr>
          <p:cNvPr id="67" name="New shape"/>
          <p:cNvSpPr/>
          <p:nvPr/>
        </p:nvSpPr>
        <p:spPr>
          <a:xfrm>
            <a:off x="10915200" y="428657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36</a:t>
            </a:r>
          </a:p>
        </p:txBody>
      </p:sp>
      <p:sp>
        <p:nvSpPr>
          <p:cNvPr id="68" name="New shape"/>
          <p:cNvSpPr/>
          <p:nvPr/>
        </p:nvSpPr>
        <p:spPr>
          <a:xfrm>
            <a:off x="5958000" y="428657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usage reach in the United States 2021, by age group</a:t>
            </a:r>
          </a:p>
        </p:txBody>
      </p:sp>
      <p:sp>
        <p:nvSpPr>
          <p:cNvPr id="69" name="New shape"/>
          <p:cNvSpPr/>
          <p:nvPr/>
        </p:nvSpPr>
        <p:spPr>
          <a:xfrm>
            <a:off x="10915200" y="445685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37</a:t>
            </a:r>
          </a:p>
        </p:txBody>
      </p:sp>
      <p:sp>
        <p:nvSpPr>
          <p:cNvPr id="70" name="New shape"/>
          <p:cNvSpPr/>
          <p:nvPr/>
        </p:nvSpPr>
        <p:spPr>
          <a:xfrm>
            <a:off x="5958000" y="445685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usage reach in the United States 2021, by education</a:t>
            </a:r>
          </a:p>
        </p:txBody>
      </p:sp>
      <p:sp>
        <p:nvSpPr>
          <p:cNvPr id="71" name="New shape"/>
          <p:cNvSpPr/>
          <p:nvPr/>
        </p:nvSpPr>
        <p:spPr>
          <a:xfrm>
            <a:off x="10915200" y="462713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38</a:t>
            </a:r>
          </a:p>
        </p:txBody>
      </p:sp>
      <p:sp>
        <p:nvSpPr>
          <p:cNvPr id="72" name="New shape"/>
          <p:cNvSpPr/>
          <p:nvPr/>
        </p:nvSpPr>
        <p:spPr>
          <a:xfrm>
            <a:off x="5958000" y="462713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viewed domains on Facebook news feed in the U.S. 2022, by audience</a:t>
            </a:r>
          </a:p>
        </p:txBody>
      </p:sp>
      <p:sp>
        <p:nvSpPr>
          <p:cNvPr id="73" name="New shape"/>
          <p:cNvSpPr/>
          <p:nvPr/>
        </p:nvSpPr>
        <p:spPr>
          <a:xfrm>
            <a:off x="10915200" y="479741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39</a:t>
            </a:r>
          </a:p>
        </p:txBody>
      </p:sp>
      <p:sp>
        <p:nvSpPr>
          <p:cNvPr id="74" name="New shape"/>
          <p:cNvSpPr/>
          <p:nvPr/>
        </p:nvSpPr>
        <p:spPr>
          <a:xfrm>
            <a:off x="5958000" y="479741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news feed content views in the U.S. 2022, by source</a:t>
            </a:r>
          </a:p>
        </p:txBody>
      </p:sp>
      <p:sp>
        <p:nvSpPr>
          <p:cNvPr id="75" name="New shape"/>
          <p:cNvSpPr/>
          <p:nvPr/>
        </p:nvSpPr>
        <p:spPr>
          <a:xfrm>
            <a:off x="10915200" y="496769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7" action="ppaction://hlinksldjump">
                  <a:extLst>
                    <a:ext uri="{A12FA001-AC4F-418D-AE19-62706E023703}">
                      <ahyp:hlinkClr xmlns:ahyp="http://schemas.microsoft.com/office/drawing/2018/hyperlinkcolor" val="tx"/>
                    </a:ext>
                  </a:extLst>
                </a:hlinkClick>
              </a:rPr>
              <a:t>40</a:t>
            </a:r>
          </a:p>
        </p:txBody>
      </p:sp>
      <p:sp>
        <p:nvSpPr>
          <p:cNvPr id="76" name="New shape"/>
          <p:cNvSpPr/>
          <p:nvPr/>
        </p:nvSpPr>
        <p:spPr>
          <a:xfrm>
            <a:off x="5958000" y="496769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have a favorable impression of Facebook 2022</a:t>
            </a:r>
          </a:p>
        </p:txBody>
      </p:sp>
      <p:sp>
        <p:nvSpPr>
          <p:cNvPr id="77" name="New shape"/>
          <p:cNvSpPr/>
          <p:nvPr/>
        </p:nvSpPr>
        <p:spPr>
          <a:xfrm>
            <a:off x="5958000" y="5264969"/>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Instagram</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a:t>
            </a:r>
          </a:p>
        </p:txBody>
      </p:sp>
      <p:sp>
        <p:nvSpPr>
          <p:cNvPr id="7" name="New shap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42</a:t>
            </a:r>
          </a:p>
        </p:txBody>
      </p:sp>
      <p:sp>
        <p:nvSpPr>
          <p:cNvPr id="8" name="New shap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users in the United States 2018-2027</a:t>
            </a:r>
          </a:p>
        </p:txBody>
      </p:sp>
      <p:sp>
        <p:nvSpPr>
          <p:cNvPr id="9" name="New shap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43</a:t>
            </a:r>
          </a:p>
        </p:txBody>
      </p:sp>
      <p:sp>
        <p:nvSpPr>
          <p:cNvPr id="10" name="New shap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Instagram users 2022, by gender</a:t>
            </a:r>
          </a:p>
        </p:txBody>
      </p:sp>
      <p:sp>
        <p:nvSpPr>
          <p:cNvPr id="11" name="New shape"/>
          <p:cNvSpPr/>
          <p:nvPr/>
        </p:nvSpPr>
        <p:spPr>
          <a:xfrm>
            <a:off x="55440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44</a:t>
            </a:r>
          </a:p>
        </p:txBody>
      </p:sp>
      <p:sp>
        <p:nvSpPr>
          <p:cNvPr id="12" name="New shape"/>
          <p:cNvSpPr/>
          <p:nvPr/>
        </p:nvSpPr>
        <p:spPr>
          <a:xfrm>
            <a:off x="5868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Instagram users 2022, by age group</a:t>
            </a:r>
          </a:p>
        </p:txBody>
      </p:sp>
      <p:sp>
        <p:nvSpPr>
          <p:cNvPr id="13" name="New shape"/>
          <p:cNvSpPr/>
          <p:nvPr/>
        </p:nvSpPr>
        <p:spPr>
          <a:xfrm>
            <a:off x="55440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45</a:t>
            </a:r>
          </a:p>
        </p:txBody>
      </p:sp>
      <p:sp>
        <p:nvSpPr>
          <p:cNvPr id="14" name="New shape"/>
          <p:cNvSpPr/>
          <p:nvPr/>
        </p:nvSpPr>
        <p:spPr>
          <a:xfrm>
            <a:off x="5868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usage reach in the United States 2021, by age group</a:t>
            </a:r>
          </a:p>
        </p:txBody>
      </p:sp>
      <p:sp>
        <p:nvSpPr>
          <p:cNvPr id="15" name="New shape"/>
          <p:cNvSpPr/>
          <p:nvPr/>
        </p:nvSpPr>
        <p:spPr>
          <a:xfrm>
            <a:off x="55440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46</a:t>
            </a:r>
          </a:p>
        </p:txBody>
      </p:sp>
      <p:sp>
        <p:nvSpPr>
          <p:cNvPr id="16" name="New shape"/>
          <p:cNvSpPr/>
          <p:nvPr/>
        </p:nvSpPr>
        <p:spPr>
          <a:xfrm>
            <a:off x="5868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usage reach in the United States 2021, by gender</a:t>
            </a:r>
          </a:p>
        </p:txBody>
      </p:sp>
      <p:sp>
        <p:nvSpPr>
          <p:cNvPr id="17" name="New shape"/>
          <p:cNvSpPr/>
          <p:nvPr/>
        </p:nvSpPr>
        <p:spPr>
          <a:xfrm>
            <a:off x="5544000" y="273419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47</a:t>
            </a:r>
          </a:p>
        </p:txBody>
      </p:sp>
      <p:sp>
        <p:nvSpPr>
          <p:cNvPr id="18" name="New shape"/>
          <p:cNvSpPr/>
          <p:nvPr/>
        </p:nvSpPr>
        <p:spPr>
          <a:xfrm>
            <a:off x="586800" y="273419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monthly active user ratio in the U.S. 2021, by frequency</a:t>
            </a:r>
          </a:p>
        </p:txBody>
      </p:sp>
      <p:sp>
        <p:nvSpPr>
          <p:cNvPr id="19" name="New shape"/>
          <p:cNvSpPr/>
          <p:nvPr/>
        </p:nvSpPr>
        <p:spPr>
          <a:xfrm>
            <a:off x="5544000" y="290446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48</a:t>
            </a:r>
          </a:p>
        </p:txBody>
      </p:sp>
      <p:sp>
        <p:nvSpPr>
          <p:cNvPr id="20" name="New shape"/>
          <p:cNvSpPr/>
          <p:nvPr/>
        </p:nvSpPr>
        <p:spPr>
          <a:xfrm>
            <a:off x="586800" y="290446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Rate of Instagram user activity in the U.S. 2021</a:t>
            </a:r>
          </a:p>
        </p:txBody>
      </p:sp>
      <p:sp>
        <p:nvSpPr>
          <p:cNvPr id="21" name="New shape"/>
          <p:cNvSpPr/>
          <p:nvPr/>
        </p:nvSpPr>
        <p:spPr>
          <a:xfrm>
            <a:off x="5544000" y="307474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49</a:t>
            </a:r>
          </a:p>
        </p:txBody>
      </p:sp>
      <p:sp>
        <p:nvSpPr>
          <p:cNvPr id="22" name="New shape"/>
          <p:cNvSpPr/>
          <p:nvPr/>
        </p:nvSpPr>
        <p:spPr>
          <a:xfrm>
            <a:off x="586800" y="307474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have a favorable impression of Instagram 2022</a:t>
            </a:r>
          </a:p>
        </p:txBody>
      </p:sp>
      <p:sp>
        <p:nvSpPr>
          <p:cNvPr id="23" name="New shape"/>
          <p:cNvSpPr/>
          <p:nvPr/>
        </p:nvSpPr>
        <p:spPr>
          <a:xfrm>
            <a:off x="586800" y="3372024"/>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06 TikTok</a:t>
            </a:r>
          </a:p>
        </p:txBody>
      </p:sp>
      <p:sp>
        <p:nvSpPr>
          <p:cNvPr id="24" name="New shape"/>
          <p:cNvSpPr/>
          <p:nvPr/>
        </p:nvSpPr>
        <p:spPr>
          <a:xfrm>
            <a:off x="55440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51</a:t>
            </a:r>
          </a:p>
        </p:txBody>
      </p:sp>
      <p:sp>
        <p:nvSpPr>
          <p:cNvPr id="25" name="New shape"/>
          <p:cNvSpPr/>
          <p:nvPr/>
        </p:nvSpPr>
        <p:spPr>
          <a:xfrm>
            <a:off x="5868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number of users in the United States 20219-2025</a:t>
            </a:r>
          </a:p>
        </p:txBody>
      </p:sp>
      <p:sp>
        <p:nvSpPr>
          <p:cNvPr id="26" name="New shape"/>
          <p:cNvSpPr/>
          <p:nvPr/>
        </p:nvSpPr>
        <p:spPr>
          <a:xfrm>
            <a:off x="55440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52</a:t>
            </a:r>
          </a:p>
        </p:txBody>
      </p:sp>
      <p:sp>
        <p:nvSpPr>
          <p:cNvPr id="27" name="New shape"/>
          <p:cNvSpPr/>
          <p:nvPr/>
        </p:nvSpPr>
        <p:spPr>
          <a:xfrm>
            <a:off x="5868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TikTok user development 2019-2025</a:t>
            </a:r>
          </a:p>
        </p:txBody>
      </p:sp>
      <p:sp>
        <p:nvSpPr>
          <p:cNvPr id="28" name="New shape"/>
          <p:cNvSpPr/>
          <p:nvPr/>
        </p:nvSpPr>
        <p:spPr>
          <a:xfrm>
            <a:off x="55440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53</a:t>
            </a:r>
          </a:p>
        </p:txBody>
      </p:sp>
      <p:sp>
        <p:nvSpPr>
          <p:cNvPr id="29" name="New shape"/>
          <p:cNvSpPr/>
          <p:nvPr/>
        </p:nvSpPr>
        <p:spPr>
          <a:xfrm>
            <a:off x="5868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usage distribution in the U.S. 2022, by age</a:t>
            </a:r>
          </a:p>
        </p:txBody>
      </p:sp>
      <p:sp>
        <p:nvSpPr>
          <p:cNvPr id="30" name="New shape"/>
          <p:cNvSpPr/>
          <p:nvPr/>
        </p:nvSpPr>
        <p:spPr>
          <a:xfrm>
            <a:off x="55440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54</a:t>
            </a:r>
          </a:p>
        </p:txBody>
      </p:sp>
      <p:sp>
        <p:nvSpPr>
          <p:cNvPr id="31" name="New shape"/>
          <p:cNvSpPr/>
          <p:nvPr/>
        </p:nvSpPr>
        <p:spPr>
          <a:xfrm>
            <a:off x="5868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TikTok usage frequency 2021</a:t>
            </a:r>
          </a:p>
        </p:txBody>
      </p:sp>
      <p:sp>
        <p:nvSpPr>
          <p:cNvPr id="32" name="New shape"/>
          <p:cNvSpPr/>
          <p:nvPr/>
        </p:nvSpPr>
        <p:spPr>
          <a:xfrm>
            <a:off x="5544000" y="428657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55</a:t>
            </a:r>
          </a:p>
        </p:txBody>
      </p:sp>
      <p:sp>
        <p:nvSpPr>
          <p:cNvPr id="33" name="New shape"/>
          <p:cNvSpPr/>
          <p:nvPr/>
        </p:nvSpPr>
        <p:spPr>
          <a:xfrm>
            <a:off x="586800" y="428657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TikTok usage frequency 2021, by gender</a:t>
            </a:r>
          </a:p>
        </p:txBody>
      </p:sp>
      <p:sp>
        <p:nvSpPr>
          <p:cNvPr id="34" name="New shape"/>
          <p:cNvSpPr/>
          <p:nvPr/>
        </p:nvSpPr>
        <p:spPr>
          <a:xfrm>
            <a:off x="5544000" y="445685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56</a:t>
            </a:r>
          </a:p>
        </p:txBody>
      </p:sp>
      <p:sp>
        <p:nvSpPr>
          <p:cNvPr id="35" name="New shape"/>
          <p:cNvSpPr/>
          <p:nvPr/>
        </p:nvSpPr>
        <p:spPr>
          <a:xfrm>
            <a:off x="586800" y="445685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TikTok usage frequency 2021, by household income</a:t>
            </a:r>
          </a:p>
        </p:txBody>
      </p:sp>
      <p:sp>
        <p:nvSpPr>
          <p:cNvPr id="36" name="New shape"/>
          <p:cNvSpPr/>
          <p:nvPr/>
        </p:nvSpPr>
        <p:spPr>
          <a:xfrm>
            <a:off x="5544000" y="462713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57</a:t>
            </a:r>
          </a:p>
        </p:txBody>
      </p:sp>
      <p:sp>
        <p:nvSpPr>
          <p:cNvPr id="37" name="New shape"/>
          <p:cNvSpPr/>
          <p:nvPr/>
        </p:nvSpPr>
        <p:spPr>
          <a:xfrm>
            <a:off x="586800" y="462713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Rate of TikTok user activity in the U.S. 2021</a:t>
            </a:r>
          </a:p>
        </p:txBody>
      </p:sp>
      <p:sp>
        <p:nvSpPr>
          <p:cNvPr id="38" name="New shape"/>
          <p:cNvSpPr/>
          <p:nvPr/>
        </p:nvSpPr>
        <p:spPr>
          <a:xfrm>
            <a:off x="5544000" y="479741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58</a:t>
            </a:r>
          </a:p>
        </p:txBody>
      </p:sp>
      <p:sp>
        <p:nvSpPr>
          <p:cNvPr id="39" name="New shape"/>
          <p:cNvSpPr/>
          <p:nvPr/>
        </p:nvSpPr>
        <p:spPr>
          <a:xfrm>
            <a:off x="586800" y="479741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have a favorable opinion of TikTok 2021</a:t>
            </a:r>
          </a:p>
        </p:txBody>
      </p:sp>
      <p:sp>
        <p:nvSpPr>
          <p:cNvPr id="40" name="New shape"/>
          <p:cNvSpPr/>
          <p:nvPr/>
        </p:nvSpPr>
        <p:spPr>
          <a:xfrm>
            <a:off x="586800" y="5094691"/>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07 Other major platforms</a:t>
            </a:r>
          </a:p>
        </p:txBody>
      </p:sp>
      <p:sp>
        <p:nvSpPr>
          <p:cNvPr id="41" name="New shape"/>
          <p:cNvSpPr/>
          <p:nvPr/>
        </p:nvSpPr>
        <p:spPr>
          <a:xfrm>
            <a:off x="55440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60</a:t>
            </a:r>
          </a:p>
        </p:txBody>
      </p:sp>
      <p:sp>
        <p:nvSpPr>
          <p:cNvPr id="42" name="New shape"/>
          <p:cNvSpPr/>
          <p:nvPr/>
        </p:nvSpPr>
        <p:spPr>
          <a:xfrm>
            <a:off x="5868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Twitter users in the United States 2018-2027</a:t>
            </a:r>
          </a:p>
        </p:txBody>
      </p:sp>
      <p:sp>
        <p:nvSpPr>
          <p:cNvPr id="43" name="New shap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61</a:t>
            </a:r>
          </a:p>
        </p:txBody>
      </p:sp>
      <p:sp>
        <p:nvSpPr>
          <p:cNvPr id="44" name="New shap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LinkedIn users in the United States 2018-2027</a:t>
            </a:r>
          </a:p>
        </p:txBody>
      </p:sp>
      <p:sp>
        <p:nvSpPr>
          <p:cNvPr id="45" name="New shap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62</a:t>
            </a:r>
          </a:p>
        </p:txBody>
      </p:sp>
      <p:sp>
        <p:nvSpPr>
          <p:cNvPr id="46" name="New shap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Pinterest users in the United States 2018-2027</a:t>
            </a:r>
          </a:p>
        </p:txBody>
      </p:sp>
      <p:sp>
        <p:nvSpPr>
          <p:cNvPr id="47" name="New shap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63</a:t>
            </a:r>
          </a:p>
        </p:txBody>
      </p:sp>
      <p:sp>
        <p:nvSpPr>
          <p:cNvPr id="48" name="New shap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Reddit users in the United States 2018-2027</a:t>
            </a:r>
          </a:p>
        </p:txBody>
      </p:sp>
      <p:sp>
        <p:nvSpPr>
          <p:cNvPr id="49" name="New shap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64</a:t>
            </a:r>
          </a:p>
        </p:txBody>
      </p:sp>
      <p:sp>
        <p:nvSpPr>
          <p:cNvPr id="50" name="New shap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SnapChat users in the United States 2018-2027</a:t>
            </a:r>
          </a:p>
        </p:txBody>
      </p:sp>
      <p:sp>
        <p:nvSpPr>
          <p:cNvPr id="51" name="New shape"/>
          <p:cNvSpPr/>
          <p:nvPr/>
        </p:nvSpPr>
        <p:spPr>
          <a:xfrm>
            <a:off x="5958000" y="2690912"/>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08 Social media brand profiles</a:t>
            </a:r>
          </a:p>
        </p:txBody>
      </p:sp>
      <p:sp>
        <p:nvSpPr>
          <p:cNvPr id="52" name="New shape"/>
          <p:cNvSpPr/>
          <p:nvPr/>
        </p:nvSpPr>
        <p:spPr>
          <a:xfrm>
            <a:off x="109152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66</a:t>
            </a:r>
          </a:p>
        </p:txBody>
      </p:sp>
      <p:sp>
        <p:nvSpPr>
          <p:cNvPr id="53" name="New shape"/>
          <p:cNvSpPr/>
          <p:nvPr/>
        </p:nvSpPr>
        <p:spPr>
          <a:xfrm>
            <a:off x="59580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well-known social networks in the United States 2022</a:t>
            </a:r>
          </a:p>
        </p:txBody>
      </p:sp>
      <p:sp>
        <p:nvSpPr>
          <p:cNvPr id="54" name="New shap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67</a:t>
            </a:r>
          </a:p>
        </p:txBody>
      </p:sp>
      <p:sp>
        <p:nvSpPr>
          <p:cNvPr id="55" name="New shap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brand profile in the United States 2022</a:t>
            </a:r>
          </a:p>
        </p:txBody>
      </p:sp>
      <p:sp>
        <p:nvSpPr>
          <p:cNvPr id="56" name="New shap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68</a:t>
            </a:r>
          </a:p>
        </p:txBody>
      </p:sp>
      <p:sp>
        <p:nvSpPr>
          <p:cNvPr id="57" name="New shap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brand profile in the United States 2022</a:t>
            </a:r>
          </a:p>
        </p:txBody>
      </p:sp>
      <p:sp>
        <p:nvSpPr>
          <p:cNvPr id="58" name="New shap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69</a:t>
            </a:r>
          </a:p>
        </p:txBody>
      </p:sp>
      <p:sp>
        <p:nvSpPr>
          <p:cNvPr id="59" name="New shap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brand profile in the United States 2022</a:t>
            </a:r>
          </a:p>
        </p:txBody>
      </p:sp>
      <p:sp>
        <p:nvSpPr>
          <p:cNvPr id="60" name="New shap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70</a:t>
            </a:r>
          </a:p>
        </p:txBody>
      </p:sp>
      <p:sp>
        <p:nvSpPr>
          <p:cNvPr id="61" name="New shap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Twitter brand profile in the United States 2022</a:t>
            </a:r>
          </a:p>
        </p:txBody>
      </p:sp>
      <p:sp>
        <p:nvSpPr>
          <p:cNvPr id="62" name="New shap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71</a:t>
            </a:r>
          </a:p>
        </p:txBody>
      </p:sp>
      <p:sp>
        <p:nvSpPr>
          <p:cNvPr id="63" name="New shap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LinkedIn brand profile in the United States 2022</a:t>
            </a:r>
          </a:p>
        </p:txBody>
      </p:sp>
      <p:sp>
        <p:nvSpPr>
          <p:cNvPr id="64" name="New shap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72</a:t>
            </a:r>
          </a:p>
        </p:txBody>
      </p:sp>
      <p:sp>
        <p:nvSpPr>
          <p:cNvPr id="65" name="New shap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Pinterest brand profile in the United States 2022</a:t>
            </a:r>
          </a:p>
        </p:txBody>
      </p:sp>
      <p:sp>
        <p:nvSpPr>
          <p:cNvPr id="66" name="New shap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73</a:t>
            </a:r>
          </a:p>
        </p:txBody>
      </p:sp>
      <p:sp>
        <p:nvSpPr>
          <p:cNvPr id="67" name="New shap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Reddit brand profile in the United States 2022</a:t>
            </a:r>
          </a:p>
        </p:txBody>
      </p:sp>
      <p:sp>
        <p:nvSpPr>
          <p:cNvPr id="68" name="New shape"/>
          <p:cNvSpPr/>
          <p:nvPr/>
        </p:nvSpPr>
        <p:spPr>
          <a:xfrm>
            <a:off x="10915200" y="428657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74</a:t>
            </a:r>
          </a:p>
        </p:txBody>
      </p:sp>
      <p:sp>
        <p:nvSpPr>
          <p:cNvPr id="69" name="New shape"/>
          <p:cNvSpPr/>
          <p:nvPr/>
        </p:nvSpPr>
        <p:spPr>
          <a:xfrm>
            <a:off x="5958000" y="428657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Snapchat brand profile in the United States 2022</a:t>
            </a:r>
          </a:p>
        </p:txBody>
      </p:sp>
      <p:sp>
        <p:nvSpPr>
          <p:cNvPr id="70" name="New shape"/>
          <p:cNvSpPr/>
          <p:nvPr/>
        </p:nvSpPr>
        <p:spPr>
          <a:xfrm>
            <a:off x="5958000" y="4583857"/>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09 Marketing</a:t>
            </a:r>
          </a:p>
        </p:txBody>
      </p:sp>
      <p:sp>
        <p:nvSpPr>
          <p:cNvPr id="71" name="New shape"/>
          <p:cNvSpPr/>
          <p:nvPr/>
        </p:nvSpPr>
        <p:spPr>
          <a:xfrm>
            <a:off x="109152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76</a:t>
            </a:r>
          </a:p>
        </p:txBody>
      </p:sp>
      <p:sp>
        <p:nvSpPr>
          <p:cNvPr id="72" name="New shape"/>
          <p:cNvSpPr/>
          <p:nvPr/>
        </p:nvSpPr>
        <p:spPr>
          <a:xfrm>
            <a:off x="59580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per internet user U.S. 2017-2026</a:t>
            </a:r>
          </a:p>
        </p:txBody>
      </p:sp>
      <p:sp>
        <p:nvSpPr>
          <p:cNvPr id="73" name="New shape"/>
          <p:cNvSpPr/>
          <p:nvPr/>
        </p:nvSpPr>
        <p:spPr>
          <a:xfrm>
            <a:off x="109152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77</a:t>
            </a:r>
          </a:p>
        </p:txBody>
      </p:sp>
      <p:sp>
        <p:nvSpPr>
          <p:cNvPr id="74" name="New shape"/>
          <p:cNvSpPr/>
          <p:nvPr/>
        </p:nvSpPr>
        <p:spPr>
          <a:xfrm>
            <a:off x="59580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change in the U.S. 2018-2026</a:t>
            </a:r>
          </a:p>
        </p:txBody>
      </p:sp>
      <p:sp>
        <p:nvSpPr>
          <p:cNvPr id="75" name="New shape"/>
          <p:cNvSpPr/>
          <p:nvPr/>
        </p:nvSpPr>
        <p:spPr>
          <a:xfrm>
            <a:off x="10915200" y="51578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7" action="ppaction://hlinksldjump">
                  <a:extLst>
                    <a:ext uri="{A12FA001-AC4F-418D-AE19-62706E023703}">
                      <ahyp:hlinkClr xmlns:ahyp="http://schemas.microsoft.com/office/drawing/2018/hyperlinkcolor" val="tx"/>
                    </a:ext>
                  </a:extLst>
                </a:hlinkClick>
              </a:rPr>
              <a:t>78</a:t>
            </a:r>
          </a:p>
        </p:txBody>
      </p:sp>
      <p:sp>
        <p:nvSpPr>
          <p:cNvPr id="76" name="New shape"/>
          <p:cNvSpPr/>
          <p:nvPr/>
        </p:nvSpPr>
        <p:spPr>
          <a:xfrm>
            <a:off x="5958000" y="51578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change U.S. 2018-2026, by device</a:t>
            </a:r>
          </a:p>
        </p:txBody>
      </p:sp>
      <p:sp>
        <p:nvSpPr>
          <p:cNvPr id="77" name="New shape"/>
          <p:cNvSpPr/>
          <p:nvPr/>
        </p:nvSpPr>
        <p:spPr>
          <a:xfrm>
            <a:off x="109152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8" action="ppaction://hlinksldjump">
                  <a:extLst>
                    <a:ext uri="{A12FA001-AC4F-418D-AE19-62706E023703}">
                      <ahyp:hlinkClr xmlns:ahyp="http://schemas.microsoft.com/office/drawing/2018/hyperlinkcolor" val="tx"/>
                    </a:ext>
                  </a:extLst>
                </a:hlinkClick>
              </a:rPr>
              <a:t>79</a:t>
            </a:r>
          </a:p>
        </p:txBody>
      </p:sp>
      <p:sp>
        <p:nvSpPr>
          <p:cNvPr id="78" name="New shape"/>
          <p:cNvSpPr/>
          <p:nvPr/>
        </p:nvSpPr>
        <p:spPr>
          <a:xfrm>
            <a:off x="59580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SM ad spend per internet user U.S. 2017-2026, by device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a:t>
            </a:r>
          </a:p>
        </p:txBody>
      </p:sp>
      <p:sp>
        <p:nvSpPr>
          <p:cNvPr id="7" name="New shap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80</a:t>
            </a:r>
          </a:p>
        </p:txBody>
      </p:sp>
      <p:sp>
        <p:nvSpPr>
          <p:cNvPr id="8" name="New shap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in the U.S. 2017-2026, by device</a:t>
            </a:r>
          </a:p>
        </p:txBody>
      </p:sp>
      <p:sp>
        <p:nvSpPr>
          <p:cNvPr id="9" name="New shap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81</a:t>
            </a:r>
          </a:p>
        </p:txBody>
      </p:sp>
      <p:sp>
        <p:nvSpPr>
          <p:cNvPr id="10" name="New shap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 spend in the U.S. 2017-2026</a:t>
            </a:r>
          </a:p>
        </p:txBody>
      </p:sp>
      <p:sp>
        <p:nvSpPr>
          <p:cNvPr id="11" name="New shape"/>
          <p:cNvSpPr/>
          <p:nvPr/>
        </p:nvSpPr>
        <p:spPr>
          <a:xfrm>
            <a:off x="55440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82</a:t>
            </a:r>
          </a:p>
        </p:txBody>
      </p:sp>
      <p:sp>
        <p:nvSpPr>
          <p:cNvPr id="12" name="New shape"/>
          <p:cNvSpPr/>
          <p:nvPr/>
        </p:nvSpPr>
        <p:spPr>
          <a:xfrm>
            <a:off x="5868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ad spend growth in the U.S. 2018-2026</a:t>
            </a:r>
          </a:p>
        </p:txBody>
      </p:sp>
      <p:sp>
        <p:nvSpPr>
          <p:cNvPr id="13" name="New shape"/>
          <p:cNvSpPr/>
          <p:nvPr/>
        </p:nvSpPr>
        <p:spPr>
          <a:xfrm>
            <a:off x="586800" y="2520634"/>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10 Opinions</a:t>
            </a:r>
          </a:p>
        </p:txBody>
      </p:sp>
      <p:sp>
        <p:nvSpPr>
          <p:cNvPr id="14" name="New shape"/>
          <p:cNvSpPr/>
          <p:nvPr/>
        </p:nvSpPr>
        <p:spPr>
          <a:xfrm>
            <a:off x="5544000" y="2754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84</a:t>
            </a:r>
          </a:p>
        </p:txBody>
      </p:sp>
      <p:sp>
        <p:nvSpPr>
          <p:cNvPr id="15" name="New shape"/>
          <p:cNvSpPr/>
          <p:nvPr/>
        </p:nvSpPr>
        <p:spPr>
          <a:xfrm>
            <a:off x="586800" y="2754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internet users who think social media is good or bad for society 2021</a:t>
            </a:r>
          </a:p>
        </p:txBody>
      </p:sp>
      <p:sp>
        <p:nvSpPr>
          <p:cNvPr id="16" name="New shape"/>
          <p:cNvSpPr/>
          <p:nvPr/>
        </p:nvSpPr>
        <p:spPr>
          <a:xfrm>
            <a:off x="55440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85</a:t>
            </a:r>
          </a:p>
        </p:txBody>
      </p:sp>
      <p:sp>
        <p:nvSpPr>
          <p:cNvPr id="17" name="New shape"/>
          <p:cNvSpPr/>
          <p:nvPr/>
        </p:nvSpPr>
        <p:spPr>
          <a:xfrm>
            <a:off x="5868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supporting verification to create social media profile 2022, by age group</a:t>
            </a:r>
          </a:p>
        </p:txBody>
      </p:sp>
      <p:sp>
        <p:nvSpPr>
          <p:cNvPr id="18" name="New shape"/>
          <p:cNvSpPr/>
          <p:nvPr/>
        </p:nvSpPr>
        <p:spPr>
          <a:xfrm>
            <a:off x="55440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86</a:t>
            </a:r>
          </a:p>
        </p:txBody>
      </p:sp>
      <p:sp>
        <p:nvSpPr>
          <p:cNvPr id="19" name="New shape"/>
          <p:cNvSpPr/>
          <p:nvPr/>
        </p:nvSpPr>
        <p:spPr>
          <a:xfrm>
            <a:off x="5868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supporting ID verification to create social media profile 2022, by gender</a:t>
            </a:r>
          </a:p>
        </p:txBody>
      </p:sp>
      <p:sp>
        <p:nvSpPr>
          <p:cNvPr id="20" name="New shape"/>
          <p:cNvSpPr/>
          <p:nvPr/>
        </p:nvSpPr>
        <p:spPr>
          <a:xfrm>
            <a:off x="55440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87</a:t>
            </a:r>
          </a:p>
        </p:txBody>
      </p:sp>
      <p:sp>
        <p:nvSpPr>
          <p:cNvPr id="21" name="New shape"/>
          <p:cNvSpPr/>
          <p:nvPr/>
        </p:nvSpPr>
        <p:spPr>
          <a:xfrm>
            <a:off x="5868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on the metaverse replacing social media 2021</a:t>
            </a:r>
          </a:p>
        </p:txBody>
      </p:sp>
      <p:sp>
        <p:nvSpPr>
          <p:cNvPr id="22" name="New shape"/>
          <p:cNvSpPr/>
          <p:nvPr/>
        </p:nvSpPr>
        <p:spPr>
          <a:xfrm>
            <a:off x="55440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88</a:t>
            </a:r>
          </a:p>
        </p:txBody>
      </p:sp>
      <p:sp>
        <p:nvSpPr>
          <p:cNvPr id="23" name="New shape"/>
          <p:cNvSpPr/>
          <p:nvPr/>
        </p:nvSpPr>
        <p:spPr>
          <a:xfrm>
            <a:off x="5868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Gen Z opinion of social media appearance 2021</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Overview</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the UAE had the highest social media penetration rate of the selected countries and territories. Bahrain and Qatar followed, with 98.7 percent and 96.8 percent social media reach, respectively. The worldwide social media penetration rate stood at 59.4 percent as of early 2023. Nigeria, Kenya, and Ghana saw much lower social media reach than the global average.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Active social media users as percentage of the total population</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extLst>
              <p:ext uri="{D42A27DB-BD31-4B8C-83A1-F6EECF244321}">
                <p14:modId xmlns:p14="http://schemas.microsoft.com/office/powerpoint/2010/main" val="3033182261"/>
              </p:ext>
            </p:extLst>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Active social network penetration in selected countries and territories as of January 2023</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active usage penetration in selected countries and territories 2023</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Northern Europe was the region with the highest social network penetration rate, with a reach of 83.6 percent. Western Europe followed closely with 83.3 percent, and Southern Europe ranked third with a penetration rate of 76.7 percent. In Eastern and Middle Africa, social media penetration stood at 8.4 percent and 7.4 percent, respectively. Globally, approximately six out of every ten people use social media.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media users as a share of total population</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Global social network penetration rate as of January 2023, by region</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global penetration rate 2023, by region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recent projections, the number of social media users in China reached 1.02 billion in 2022, and is expected to reach 1.21 billion by 2027. India, ranking second in terms of user numbers, reached 755 million social media users in 2022, and is estimated to reach 1.17 billion by 2027. Overall, the United States has the third largest social network audience, followed by Indonesia and Brazil.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2022; internet users who use a social network site at least once a month; * Forecast China data excludes Hong Kong Internet users who use a social network site via any device at least once per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4621600" y="1882800"/>
            <a:ext cx="29464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Social network users in millions</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social network users in selected countries in 2022 and 2027 (in millions)</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network users in selected countries in 2022 and 2027</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social media users in the United States was forecast to continuously increase between 2023 and 2028 by in total 22.8 million users (+7.4 percent). After the fifth consecutive increasing year, the social media user base is estimated to reach 331.09 million users and therefore a new peak in 2028. Notably, the number of social media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2019 to 2028; internet users who use a social network site via any device at least once per month;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social media users in the United States from 2019 to 2028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users in the United States 2019-2028</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social media penetration in the United States reached 90 percent, up from 88 percent in 2021. By 2027, it is estimated that 95 percent of the country will actively be using social media. With the third largest social media audience worldwide, the U.S. has over 302 million users of social networks in 2022.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2022; * Forecast. Internet users who use a social network site via any device at least once per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Social network user penetration in the United States from 2018 to 2027</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United States: social network penetration 2018-2027</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Benchmarks</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66 percent of U.S. respondents answer our survey on "Most used social media platforms by type" with "Social networks (e.g. Facebook)". The survey was conducted in 2022, among 9,992 consumers.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four waves from 03 January 2022 to 16 December 2022; 9992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used social media platforms by type in the U.S. in 2022</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used social media platforms by type in the U.S. 2022</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We asked U.S. consumers about "Social network usage by brand" and found that "Facebook" takes the top spot, while "WeChat" is at the other end of the ranking.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four waves from 03 January 2022 to 16 December 2022; 8879 respondents; 18-64 years; respondents who use any kind of social media (except instant messengers) regularly</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12</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Social network usage by brand in the U.S. in 2022</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network usage by brand in the U.S. 2022</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Instagram was the social media app that generated the most downloads in the United States. The photo and video-sharing app had 72 million downloads in the country. WhatsApp was the second most downloaded app, with 63 million downloads. Facebook Messenger ranked third, generating approximately 46 million downloads from users in the country during the examined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2022</a:t>
            </a:r>
          </a:p>
          <a:p>
            <a:r>
              <a:rPr sz="600" b="1">
                <a:solidFill>
                  <a:srgbClr val="0F2741"/>
                </a:solidFill>
                <a:latin typeface="Open Sans"/>
              </a:rPr>
              <a:t>Source(s): </a:t>
            </a:r>
            <a:r>
              <a:rPr sz="600" b="0">
                <a:solidFill>
                  <a:srgbClr val="0F2741"/>
                </a:solidFill>
                <a:latin typeface="Open Sans"/>
              </a:rPr>
              <a:t>Apptopia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4583500" y="1882800"/>
            <a:ext cx="3022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 in millions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13</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social media apps in the United States in 2022, by downloads (in millions)</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downloaded social media apps U.S. 2022</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photo-sharing app BeReal was the most-downloaded social media app for iPhone in the Apple App Store in the United States. The app generated approximately 7.26 million downloads from iPhone users in the country. WhatsApp Messenger was the second-most popular social media app with approximately 1.92 million downloads from U.S.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September 2022; iPhone apps only, excluding iPad apps</a:t>
            </a:r>
          </a:p>
          <a:p>
            <a:r>
              <a:rPr sz="600" b="1">
                <a:solidFill>
                  <a:srgbClr val="0F2741"/>
                </a:solidFill>
                <a:latin typeface="Open Sans"/>
              </a:rPr>
              <a:t>Source(s): </a:t>
            </a:r>
            <a:r>
              <a:rPr sz="600" b="0">
                <a:solidFill>
                  <a:srgbClr val="0F2741"/>
                </a:solidFill>
                <a:latin typeface="Open Sans"/>
              </a:rPr>
              <a:t>Airnow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15300" y="1882800"/>
            <a:ext cx="2159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downloads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14</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iPhone social media apps in the Apple App Store in the United States in September 2022, by number of downloads</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iPhone social media apps in the U.S. 2022, by downloads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the YouTube's mobile app was the most popular smartphone app in the United States, with approximately 157.8 million unique monthly users in the country on iOS and Android combined. Gmail followed with approximately 128.8 million monthly active users, while Facebook ranked third with over 126 million active users in the examined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2023; 18 years and older</a:t>
            </a:r>
          </a:p>
          <a:p>
            <a:r>
              <a:rPr sz="600" b="1">
                <a:solidFill>
                  <a:srgbClr val="0F2741"/>
                </a:solidFill>
                <a:latin typeface="Open Sans"/>
              </a:rPr>
              <a:t>Source(s): </a:t>
            </a:r>
            <a:r>
              <a:rPr sz="600" b="0">
                <a:solidFill>
                  <a:srgbClr val="0F2741"/>
                </a:solidFill>
                <a:latin typeface="Open Sans"/>
              </a:rPr>
              <a:t>comScore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4678750" y="1882800"/>
            <a:ext cx="2832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Total unique visitors in millions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15</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mobile apps in the United States as of January 2023, by average unique monthly visitors (in millions)</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mobile apps in the United States 2023, by unique visitors</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December 2022, Facebook accounted for around 49.93 percent of all social media site visits in the United States, confirming its position as the leading social media website by far. Other social media platforms, despite their popularity, had to make do with smaller shares of visits across desktop, mobile, and tablet devices combined: image-based Pinterest ranked second with 15.85 percent of all U.S. social media site visits, while Twitter accounted for 14.87 percent of the total visits in the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December 2022; desktop, mobile &amp; tablet combined</a:t>
            </a:r>
          </a:p>
          <a:p>
            <a:r>
              <a:rPr sz="600" b="1">
                <a:solidFill>
                  <a:srgbClr val="0F2741"/>
                </a:solidFill>
                <a:latin typeface="Open Sans"/>
              </a:rPr>
              <a:t>Source(s): </a:t>
            </a:r>
            <a:r>
              <a:rPr sz="600" b="0">
                <a:solidFill>
                  <a:srgbClr val="0F2741"/>
                </a:solidFill>
                <a:latin typeface="Open Sans"/>
              </a:rPr>
              <a:t>StatCounter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4951800" y="1882800"/>
            <a:ext cx="2286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Market share in percent</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social media websites in the United States as of December 2022, based on share of visits</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market share of leading social media websites 2022</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January 2021, 41 percent of U.S. adults and teens reported that they were currently using Instagram, whilst 18 percent of those surveyed were using TikTok. In comparison to January 2020, 44 percent of respondents reported that they were using Instagram, whilst users of TikTok doubled from 9 percent to 18 percent within the same period of time.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2020 to January 2021; 13 years and older</a:t>
            </a:r>
          </a:p>
          <a:p>
            <a:r>
              <a:rPr sz="600" b="1">
                <a:solidFill>
                  <a:srgbClr val="0F2741"/>
                </a:solidFill>
                <a:latin typeface="Open Sans"/>
              </a:rPr>
              <a:t>Source(s): </a:t>
            </a:r>
            <a:r>
              <a:rPr sz="600" b="0">
                <a:solidFill>
                  <a:srgbClr val="0F2741"/>
                </a:solidFill>
                <a:latin typeface="Open Sans"/>
              </a:rPr>
              <a:t>CivicScience; eMarketer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Instagram and TikTok usage rate among teens and adults in the United States from January 2020 to January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 and teen Instagram and Tiktok usage 2020-2021</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fall 2021 survey, it was found that Snapchat was the most important social network for 35 percent of U.S. teens. Fast-growing social video app TikTok was ranked second with 30 percent of teenagers in the United States stating it to be their favorite, ahead of legacy platforms Facebook and Twitter.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fall 2012 to fall 2021; Fall 2021 n = 10,000; most recent wave average age 15.8 years</a:t>
            </a:r>
          </a:p>
          <a:p>
            <a:r>
              <a:rPr sz="600" b="1">
                <a:solidFill>
                  <a:srgbClr val="0F2741"/>
                </a:solidFill>
                <a:latin typeface="Open Sans"/>
              </a:rPr>
              <a:t>Source(s): </a:t>
            </a:r>
            <a:r>
              <a:rPr sz="600" b="0">
                <a:solidFill>
                  <a:srgbClr val="0F2741"/>
                </a:solidFill>
                <a:latin typeface="Open Sans"/>
              </a:rPr>
              <a:t>Piper Sandler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p:cNvGraphicFramePr>
            <a:graphicFrameLocks noGrp="1"/>
          </p:cNvGraphicFramePr>
          <p:nvPr/>
        </p:nvGraphicFramePr>
        <p:xfrm>
          <a:off x="586800" y="1882800"/>
          <a:ext cx="11016000" cy="3108960"/>
        </p:xfrm>
        <a:graphic>
          <a:graphicData uri="http://schemas.openxmlformats.org/drawingml/2006/table">
            <a:tbl>
              <a:tblPr firstRow="1" bandRow="1">
                <a:tableStyleId>{5C22544A-7EE6-4342-B048-85BDC9FD1C3A}</a:tableStyleId>
              </a:tblPr>
              <a:tblGrid>
                <a:gridCol w="2842187">
                  <a:extLst>
                    <a:ext uri="{9D8B030D-6E8A-4147-A177-3AD203B41FA5}">
                      <a16:colId xmlns:a16="http://schemas.microsoft.com/office/drawing/2014/main" val="20000"/>
                    </a:ext>
                  </a:extLst>
                </a:gridCol>
                <a:gridCol w="1015287">
                  <a:extLst>
                    <a:ext uri="{9D8B030D-6E8A-4147-A177-3AD203B41FA5}">
                      <a16:colId xmlns:a16="http://schemas.microsoft.com/office/drawing/2014/main" val="20001"/>
                    </a:ext>
                  </a:extLst>
                </a:gridCol>
                <a:gridCol w="1281987">
                  <a:extLst>
                    <a:ext uri="{9D8B030D-6E8A-4147-A177-3AD203B41FA5}">
                      <a16:colId xmlns:a16="http://schemas.microsoft.com/office/drawing/2014/main" val="20002"/>
                    </a:ext>
                  </a:extLst>
                </a:gridCol>
                <a:gridCol w="1015287">
                  <a:extLst>
                    <a:ext uri="{9D8B030D-6E8A-4147-A177-3AD203B41FA5}">
                      <a16:colId xmlns:a16="http://schemas.microsoft.com/office/drawing/2014/main" val="20003"/>
                    </a:ext>
                  </a:extLst>
                </a:gridCol>
                <a:gridCol w="1281987">
                  <a:extLst>
                    <a:ext uri="{9D8B030D-6E8A-4147-A177-3AD203B41FA5}">
                      <a16:colId xmlns:a16="http://schemas.microsoft.com/office/drawing/2014/main" val="20004"/>
                    </a:ext>
                  </a:extLst>
                </a:gridCol>
                <a:gridCol w="1281987">
                  <a:extLst>
                    <a:ext uri="{9D8B030D-6E8A-4147-A177-3AD203B41FA5}">
                      <a16:colId xmlns:a16="http://schemas.microsoft.com/office/drawing/2014/main" val="20005"/>
                    </a:ext>
                  </a:extLst>
                </a:gridCol>
                <a:gridCol w="1015287">
                  <a:extLst>
                    <a:ext uri="{9D8B030D-6E8A-4147-A177-3AD203B41FA5}">
                      <a16:colId xmlns:a16="http://schemas.microsoft.com/office/drawing/2014/main" val="20006"/>
                    </a:ext>
                  </a:extLst>
                </a:gridCol>
                <a:gridCol w="1281987">
                  <a:extLst>
                    <a:ext uri="{9D8B030D-6E8A-4147-A177-3AD203B41FA5}">
                      <a16:colId xmlns:a16="http://schemas.microsoft.com/office/drawing/2014/main" val="20007"/>
                    </a:ext>
                  </a:extLst>
                </a:gridCol>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Fall 2012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Spring 2013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Fall 2013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Spring 2014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Spring 2015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Fall 2015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Spring 2016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0"/>
                  </a:ext>
                </a:extLst>
              </a:tr>
              <a:tr h="0">
                <a:tc>
                  <a:txBody>
                    <a:bodyPr/>
                    <a:lstStyle/>
                    <a:p>
                      <a:r>
                        <a:rPr sz="1100">
                          <a:solidFill>
                            <a:srgbClr val="0F2741"/>
                          </a:solidFill>
                          <a:latin typeface="Open Sans"/>
                        </a:rPr>
                        <a:t>Snapchat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1"/>
                  </a:ext>
                </a:extLst>
              </a:tr>
              <a:tr h="0">
                <a:tc>
                  <a:txBody>
                    <a:bodyPr/>
                    <a:lstStyle/>
                    <a:p>
                      <a:r>
                        <a:rPr sz="1100">
                          <a:solidFill>
                            <a:srgbClr val="0F2741"/>
                          </a:solidFill>
                          <a:latin typeface="Open Sans"/>
                        </a:rPr>
                        <a:t>TikTok</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2"/>
                  </a:ext>
                </a:extLst>
              </a:tr>
              <a:tr h="0">
                <a:tc>
                  <a:txBody>
                    <a:bodyPr/>
                    <a:lstStyle/>
                    <a:p>
                      <a:r>
                        <a:rPr sz="1100">
                          <a:solidFill>
                            <a:srgbClr val="0F2741"/>
                          </a:solidFill>
                          <a:latin typeface="Open Sans"/>
                        </a:rPr>
                        <a:t>Instagram</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3"/>
                  </a:ext>
                </a:extLst>
              </a:tr>
              <a:tr h="0">
                <a:tc>
                  <a:txBody>
                    <a:bodyPr/>
                    <a:lstStyle/>
                    <a:p>
                      <a:r>
                        <a:rPr sz="1100">
                          <a:solidFill>
                            <a:srgbClr val="0F2741"/>
                          </a:solidFill>
                          <a:latin typeface="Open Sans"/>
                        </a:rPr>
                        <a:t>Twitter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4"/>
                  </a:ext>
                </a:extLst>
              </a:tr>
              <a:tr h="0">
                <a:tc>
                  <a:txBody>
                    <a:bodyPr/>
                    <a:lstStyle/>
                    <a:p>
                      <a:r>
                        <a:rPr sz="1100">
                          <a:solidFill>
                            <a:srgbClr val="0F2741"/>
                          </a:solidFill>
                          <a:latin typeface="Open Sans"/>
                        </a:rPr>
                        <a:t>Discord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5"/>
                  </a:ext>
                </a:extLst>
              </a:tr>
              <a:tr h="0">
                <a:tc>
                  <a:txBody>
                    <a:bodyPr/>
                    <a:lstStyle/>
                    <a:p>
                      <a:r>
                        <a:rPr sz="1100">
                          <a:solidFill>
                            <a:srgbClr val="0F2741"/>
                          </a:solidFill>
                          <a:latin typeface="Open Sans"/>
                        </a:rPr>
                        <a:t>Facebook</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6"/>
                  </a:ext>
                </a:extLst>
              </a:tr>
              <a:tr h="0">
                <a:tc>
                  <a:txBody>
                    <a:bodyPr/>
                    <a:lstStyle/>
                    <a:p>
                      <a:r>
                        <a:rPr sz="1100">
                          <a:solidFill>
                            <a:srgbClr val="0F2741"/>
                          </a:solidFill>
                          <a:latin typeface="Open Sans"/>
                        </a:rPr>
                        <a:t>Reddit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7"/>
                  </a:ext>
                </a:extLst>
              </a:tr>
              <a:tr h="0">
                <a:tc>
                  <a:txBody>
                    <a:bodyPr/>
                    <a:lstStyle/>
                    <a:p>
                      <a:r>
                        <a:rPr sz="1100">
                          <a:solidFill>
                            <a:srgbClr val="0F2741"/>
                          </a:solidFill>
                          <a:latin typeface="Open Sans"/>
                        </a:rPr>
                        <a:t>Other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8"/>
                  </a:ext>
                </a:extLst>
              </a:tr>
              <a:tr h="0">
                <a:tc>
                  <a:txBody>
                    <a:bodyPr/>
                    <a:lstStyle/>
                    <a:p>
                      <a:r>
                        <a:rPr sz="1100">
                          <a:solidFill>
                            <a:srgbClr val="0F2741"/>
                          </a:solidFill>
                          <a:latin typeface="Open Sans"/>
                        </a:rPr>
                        <a:t>Pinterest</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09"/>
                  </a:ext>
                </a:extLst>
              </a:tr>
              <a:tr h="0">
                <a:tc>
                  <a:txBody>
                    <a:bodyPr/>
                    <a:lstStyle/>
                    <a:p>
                      <a:r>
                        <a:rPr sz="1100">
                          <a:solidFill>
                            <a:srgbClr val="0F2741"/>
                          </a:solidFill>
                          <a:latin typeface="Open Sans"/>
                        </a:rPr>
                        <a:t>Tumblr</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10"/>
                  </a:ext>
                </a:extLst>
              </a:tr>
              <a:tr h="0">
                <a:tc>
                  <a:txBody>
                    <a:bodyPr/>
                    <a:lstStyle/>
                    <a:p>
                      <a:r>
                        <a:rPr sz="1100">
                          <a:solidFill>
                            <a:srgbClr val="0F2741"/>
                          </a:solidFill>
                          <a:latin typeface="Open Sans"/>
                        </a:rPr>
                        <a:t>Google+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extLst>
                  <a:ext uri="{0D108BD9-81ED-4DB2-BD59-A6C34878D82A}">
                    <a16:rowId xmlns:a16="http://schemas.microsoft.com/office/drawing/2014/main" val="10011"/>
                  </a:ext>
                </a:extLst>
              </a:tr>
            </a:tbl>
          </a:graphicData>
        </a:graphic>
      </p:graphicFrame>
      <p:sp>
        <p:nvSpPr>
          <p:cNvPr id="5" name="New shape"/>
          <p:cNvSpPr/>
          <p:nvPr/>
        </p:nvSpPr>
        <p:spPr>
          <a:xfrm>
            <a:off x="8848799" y="1819300"/>
            <a:ext cx="2754000" cy="4275550"/>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7" imgW="2203200" imgH="629486" progId=".xls">
                  <p:embed/>
                </p:oleObj>
              </mc:Choice>
              <mc:Fallback>
                <p:oleObj r:id="rId7" imgW="2203200" imgH="629486" progId=".xls">
                  <p:embed/>
                  <p:pic>
                    <p:nvPicPr>
                      <p:cNvPr id="6" name="OleObject"/>
                      <p:cNvPicPr/>
                      <p:nvPr/>
                    </p:nvPicPr>
                    <p:blipFill>
                      <a:blip r:embed="rId8"/>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8"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social networks of teenagers in the United States from fall 2012 to fall 2021</a:t>
            </a:r>
          </a:p>
        </p:txBody>
      </p:sp>
      <p:sp>
        <p:nvSpPr>
          <p:cNvPr id="9"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Favorite social networks of U.S. teens 2012-2021</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messaging and video sharing platform Snapchat was more popular than TikTok among Gen Z users in the United States. TikTok counted around 37 million users who were born between 1997 and 2012, while Instagram reported around 33 million users in the same period. Snapchat, which counted 42 million Gen Z users, is projected to reach 49.5 million users in the examined demographic by 2025. Overall, platforms such as Pinterest, Twitter and Reddit had significantly less users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2020 to 2021; individuals born between 1997-2012 who access their account via any device at least once per month;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eMarketer; Sprout Social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19</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Generation Z users in the United States on selected social media platforms from 2020 to 2025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Gen Z: selected social media platforms in the U.S. 2020-2025</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of Gen Z users in the United States, between 2020 and 2021 weekly TikTok usage increased by 26 percent. By comparison, Instagram usage among teenagers in the U.S. decreased, with 6.5 percent fewer respondents reporting to use the photo and video sharing platform weekly in 2021 compared to 2020. Weekly Snapchat usage among U.S. Gen Z youth remained stable, with 54 percent of respondents reporting using the video messaging app weekly in 2020 and 2021.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2019 to 2021; 12 to 17 years</a:t>
            </a:r>
          </a:p>
          <a:p>
            <a:r>
              <a:rPr sz="600" b="1">
                <a:solidFill>
                  <a:srgbClr val="0F2741"/>
                </a:solidFill>
                <a:latin typeface="Open Sans"/>
              </a:rPr>
              <a:t>Source(s): </a:t>
            </a:r>
            <a:r>
              <a:rPr sz="600" b="0">
                <a:solidFill>
                  <a:srgbClr val="0F2741"/>
                </a:solidFill>
                <a:latin typeface="Open Sans"/>
              </a:rPr>
              <a:t>Forrester Research; Social Media Today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20</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Gen Z users in the United States using Instagram, Snapchat, and TikTok weekly from 2019 to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Snapchat, and TikTok: Gen Z weekly usage in the U.S. 2019-2021</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Usage</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the third quarter of 2022, internet users in the United States spent close to 7 hours daily using the internet, and approximately two hours and 16 minutes using social media platforms. Watching television and video content in streaming or on-demand engaged users in the U.S. for approximately four hours and 42 minutes per day, while console gaming engaged users for roughly one hour and 25 minutes per day.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Q3 2022; 16-64 years; U.S. internet users; *The time spent listening to radio is 1 hour 10 minutes. According to the source:"Consumption of different media may occur concurrently. Television includes both linear (broadcast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4481900" y="1882800"/>
            <a:ext cx="32258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Average daily use in hours.minutes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22</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daily media use in the United States in 3rd quarter of 2022, by medium (in hours.minutes)</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Average daily media use in the U.S. 2022, by medium</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2022, online users in the United States were spending approximately 19 hours per week watching online streaming videos. Online gaming occupied approximately 16.8 hours for each online user in the country, while streaming music was the third most popular online activity with more than 14 hours of weekly engagement. Online dating recorded an engagement of approximately 7.5 hours per week among online users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2022; 1,005 respondents</a:t>
            </a:r>
          </a:p>
          <a:p>
            <a:r>
              <a:rPr sz="600" b="1">
                <a:solidFill>
                  <a:srgbClr val="0F2741"/>
                </a:solidFill>
                <a:latin typeface="Open Sans"/>
              </a:rPr>
              <a:t>Source(s): </a:t>
            </a:r>
            <a:r>
              <a:rPr sz="600" b="0">
                <a:solidFill>
                  <a:srgbClr val="0F2741"/>
                </a:solidFill>
                <a:latin typeface="Open Sans"/>
              </a:rPr>
              <a:t>Agility PR Solutions; Cint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4653350" y="1882800"/>
            <a:ext cx="28829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Time spent per weeks in hours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weekly online activities for internet users in the United States as of January 2022, by time spent (in hours)</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Weekly time spent on leading online activities in the U.S. 2022</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"Liked posts by other users" and "Sent private messages" are the top 2 answers among U.S. consumers in our survey on the subject of "Most common social media activities".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four waves from 03 January 2022 to 16 December 2022; 59934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24</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common social media activities in the U.S. in 2022</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common social media activities in the U.S. 2022</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conducted in April 2022, adults in the United States spent more time per day on TikTok than on any other leading social media platform. Overall, respondents reported spending an average of 45.8 minutes per day on the social video app. Ranking second and third were YouTube and Twitter, with an average of 45.6 minutes and 34.8 minutes spent on the platforms per day,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2022; 18 years and older</a:t>
            </a:r>
          </a:p>
          <a:p>
            <a:r>
              <a:rPr sz="600" b="1">
                <a:solidFill>
                  <a:srgbClr val="0F2741"/>
                </a:solidFill>
                <a:latin typeface="Open Sans"/>
              </a:rPr>
              <a:t>Source(s): </a:t>
            </a:r>
            <a:r>
              <a:rPr sz="600" b="0">
                <a:solidFill>
                  <a:srgbClr val="0F2741"/>
                </a:solidFill>
                <a:latin typeface="Open Sans"/>
              </a:rPr>
              <a:t>eMarketer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25</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time spent per day on select social media platforms in the United States as of April 2022 (in minutes)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users daily engagement with leading social media platforms 2022</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Between April 4th and May 16th, 2022, the Heard-Depp trial had an average of 508 social media interactions per article published. For the measured period, articles surrounding tech-billionaire Elon Musk totaled an average of 417 social media interactions. Overall, social media likes, comments, and shares on articles about abortion, the Russia Ukraine war, and COVID-19 had all been overshadowed by the Heard-Depp trial and Musk's Twitter take-over.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4 to May 16, 2022</a:t>
            </a:r>
          </a:p>
          <a:p>
            <a:r>
              <a:rPr sz="600" b="1">
                <a:solidFill>
                  <a:srgbClr val="0F2741"/>
                </a:solidFill>
                <a:latin typeface="Open Sans"/>
              </a:rPr>
              <a:t>Source(s): </a:t>
            </a:r>
            <a:r>
              <a:rPr sz="600" b="0">
                <a:solidFill>
                  <a:srgbClr val="0F2741"/>
                </a:solidFill>
                <a:latin typeface="Open Sans"/>
              </a:rPr>
              <a:t>Axios; NewsWhip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4139000" y="1882800"/>
            <a:ext cx="3911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Average number of social media interaction</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number of social media interactions per published article in the United States as of May 2022, by topic</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social media interactions per article 2022, by topic</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of internet users in the United States, as of November 2021, YouTube was the preferred social media platform to watch short-form videos, with around 78 percent of respondents reporting to use the popular video platform to watch this type of content. Facebook followed, with more than six in 10 respondents indicating they watch short-form videos on the platform. TikTok, which introduced only in February 2022 the possibility for users to upload videos up to 10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November 2021; 16 years and older; concers videos that are less than 10 minutes long</a:t>
            </a:r>
          </a:p>
          <a:p>
            <a:r>
              <a:rPr sz="600" b="1">
                <a:solidFill>
                  <a:srgbClr val="0F2741"/>
                </a:solidFill>
                <a:latin typeface="Open Sans"/>
              </a:rPr>
              <a:t>Source(s): </a:t>
            </a:r>
            <a:r>
              <a:rPr sz="600" b="0">
                <a:solidFill>
                  <a:srgbClr val="0F2741"/>
                </a:solidFill>
                <a:latin typeface="Open Sans"/>
              </a:rPr>
              <a:t>Censuswide; eMarketer; TheSoul Publishing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Preferred social media platform for users in the United States to watch short-form video as of November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preferred social media platform to watch short-form videos 2021</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of young internet users in the United States, 79 percent of the respondents aged 13 to 18 years old reported watching online videos daily during the coronavirus global pandemic outbreak in 2021. In the case of younger users, approximately six in 10 reported watching online videos in the same period. In 2021, mobile gaming was more popular or accessible than console or desktop gaming, with 47 percent of users aged between 8 and 12 years old reporting to play on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May 7 to June 3, 2021; 1,318 respondents; 8-18 years</a:t>
            </a:r>
          </a:p>
          <a:p>
            <a:r>
              <a:rPr sz="600" b="1">
                <a:solidFill>
                  <a:srgbClr val="0F2741"/>
                </a:solidFill>
                <a:latin typeface="Open Sans"/>
              </a:rPr>
              <a:t>Source(s): </a:t>
            </a:r>
            <a:r>
              <a:rPr sz="600" b="0">
                <a:solidFill>
                  <a:srgbClr val="0F2741"/>
                </a:solidFill>
                <a:latin typeface="Open Sans"/>
              </a:rPr>
              <a:t>Common Sense Media; Ipsos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0000"/>
          </a:bodyPr>
          <a:lstStyle/>
          <a:p>
            <a:pPr algn="l">
              <a:lnSpc>
                <a:spcPct val="100000"/>
              </a:lnSpc>
              <a:spcAft>
                <a:spcPct val="20000"/>
              </a:spcAft>
            </a:pPr>
            <a:r>
              <a:rPr sz="2500">
                <a:solidFill>
                  <a:srgbClr val="0F2741"/>
                </a:solidFill>
                <a:latin typeface="Open Sans Light"/>
              </a:rPr>
              <a:t>Share of children and teens in the United States who engaged in selected media and internet activities every day during the coronavirus pandemic as of June 2021, by age group</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young users daily media activities during the COVID-19 pandemic 2021, by age</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Facebook</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There are nearly 315 million Facebook users in India alone, making it the leading country in terms of Facebook audience size. To put this into context, if India`s Facebook audience were a country then it would be ranked third in terms of largest population worldwide. Apart from India, there are several other markets with more than 100 million Facebook users each: The United States, Indonesia, and Brazil with 175 million, 119 million, and 109 million Facebook users respectively.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13 years and older; Based on addressable audience only</a:t>
            </a:r>
          </a:p>
          <a:p>
            <a:r>
              <a:rPr sz="600" b="1">
                <a:solidFill>
                  <a:srgbClr val="0F2741"/>
                </a:solidFill>
                <a:latin typeface="Open Sans"/>
              </a:rPr>
              <a:t>Source(s): </a:t>
            </a:r>
            <a:r>
              <a:rPr sz="600" b="0">
                <a:solidFill>
                  <a:srgbClr val="0F2741"/>
                </a:solidFill>
                <a:latin typeface="Open Sans"/>
              </a:rPr>
              <a:t>DataReportal; Facebook; Meltwater; We Are Social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4361250" y="1882800"/>
            <a:ext cx="3467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Facebook users in millions</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countries based on Facebook audience size as of January 2023 (in millions)</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Countries with the most Facebook users 2023</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Facebook users in the United States was forecast to continuously increase between 2023 and 2027 by in total 10.7 million users (+4.39 percent). According to this forecast in 2027, the Facebook user base will have increased for the fourth consecutive year to 254.26 million users. Notably, the number of Facebook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internet users who access their facebook account via any device at least once per month; *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Facebook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users in the United States 2018-2027</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an estimated 71.43 percent of internet users in the United States used Facebook regularly. In 2027, the share of the digital population using the social network is projected to increase to roughly 75 percent. As of January 2022, Facebook was the most popular social media network worldwide, followed by YouTube and WhatsApp.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2022;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32</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Facebook usage penetration in the United States from 2018 to 2027</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United States: Facebook usage penetration 2018-2027</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the fourth quarter of 2022, Facebook had a combined 266 million monthly active users (MAU) in the United States and Canada. In the fourth quarter of 2021, there were 262 million MAU of Facebook in the U.S. and Canada.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North America, Canada, United States; Q1 2010 to Q4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monthly active users (MAU) in the United States and Canada as of 4th quarter 2022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monthly active users in North America 2010-2022</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December 2022, users aged 25 to 34 years made up Facebook's largest audience in the United States, accounting for 23.7 percent of the social network's user base, with 11.9 percent of those users being women. Overall, 9.5 percent of users aged 35 to 44 years were women, and 8.7 percent were men.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December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Facebook users in the United States as of December 2022, by age group and gender</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Facebook users 2022, by age and gender</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the share of adults in the United States who were using Facebook as of February 2021, sorted by gender. During that period of time, 77 percent of female respondents stated that they used the social networking site.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25 to February 8, 2021; 18 years and older</a:t>
            </a:r>
          </a:p>
          <a:p>
            <a:r>
              <a:rPr sz="600" b="1">
                <a:solidFill>
                  <a:srgbClr val="0F2741"/>
                </a:solidFill>
                <a:latin typeface="Open Sans"/>
              </a:rPr>
              <a:t>Source(s): </a:t>
            </a:r>
            <a:r>
              <a:rPr sz="600" b="0">
                <a:solidFill>
                  <a:srgbClr val="0F2741"/>
                </a:solidFill>
                <a:latin typeface="Open Sans"/>
              </a:rPr>
              <a:t>Pew Research Center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35</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U.S. adults who use Facebook as of February 2021, by gender</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usage reach in the United States 2021, by gender</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the share of adults in the United States who were using Facebook as of February 2021, sorted by age group. During that period of time, 77 percent of respondents between 30 and 49 years used the social networking site.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25 to February 8, 2021; 18 years and older</a:t>
            </a:r>
          </a:p>
          <a:p>
            <a:r>
              <a:rPr sz="600" b="1">
                <a:solidFill>
                  <a:srgbClr val="0F2741"/>
                </a:solidFill>
                <a:latin typeface="Open Sans"/>
              </a:rPr>
              <a:t>Source(s): </a:t>
            </a:r>
            <a:r>
              <a:rPr sz="600" b="0">
                <a:solidFill>
                  <a:srgbClr val="0F2741"/>
                </a:solidFill>
                <a:latin typeface="Open Sans"/>
              </a:rPr>
              <a:t>Pew Research Center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36</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U.S. adults who use Facebook as of February 2021, by age group</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usage reach in the United States 2021, by age group</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the share of adults in the United States who were using Facebook as of February 2021, sorted by educational background. During that period of time, 73 percent of respondents who had attained a college degree used the social networking site.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25 to February 8, 2021; 18 years and older</a:t>
            </a:r>
          </a:p>
          <a:p>
            <a:r>
              <a:rPr sz="600" b="1">
                <a:solidFill>
                  <a:srgbClr val="0F2741"/>
                </a:solidFill>
                <a:latin typeface="Open Sans"/>
              </a:rPr>
              <a:t>Source(s): </a:t>
            </a:r>
            <a:r>
              <a:rPr sz="600" b="0">
                <a:solidFill>
                  <a:srgbClr val="0F2741"/>
                </a:solidFill>
                <a:latin typeface="Open Sans"/>
              </a:rPr>
              <a:t>Pew Research Center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U.S. adults who use Facebook as of February 2021, by educational background</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usage reach in the United States 2021, by education</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fourth quarter of 2022, YouTube.com was the most widely viewed domain on the Facebook news feed in the United States, reaching a total of 170.5 million viewers. Overall, TikTok.com had 113.9 million content viewers, and media1.tenor.co reached 111 million.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Q4 2022</a:t>
            </a:r>
          </a:p>
          <a:p>
            <a:r>
              <a:rPr sz="600" b="1">
                <a:solidFill>
                  <a:srgbClr val="0F2741"/>
                </a:solidFill>
                <a:latin typeface="Open Sans"/>
              </a:rPr>
              <a:t>Source(s): </a:t>
            </a:r>
            <a:r>
              <a:rPr sz="600" b="0">
                <a:solidFill>
                  <a:srgbClr val="0F2741"/>
                </a:solidFill>
                <a:latin typeface="Open Sans"/>
              </a:rPr>
              <a:t>Facebook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4818450" y="1882800"/>
            <a:ext cx="25527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Content viewers in millions</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38</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viewed domains on the Facebook news feed in the United States in 4th quarter 2022, by content viewers (in millions)</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viewed domains on Facebook news feed in the U.S. 2022, by audience</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fourth quarter of 2022, 50.7 percent of Facebook news feed content views by users in the United States came from posts shared by people's friends and people they followed. Additionally, 16.8 percent of news feed content views in the United States came from sources that were unconnected to the social media user.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Q4 2022</a:t>
            </a:r>
          </a:p>
          <a:p>
            <a:r>
              <a:rPr sz="600" b="1">
                <a:solidFill>
                  <a:srgbClr val="0F2741"/>
                </a:solidFill>
                <a:latin typeface="Open Sans"/>
              </a:rPr>
              <a:t>Source(s): </a:t>
            </a:r>
            <a:r>
              <a:rPr sz="600" b="0">
                <a:solidFill>
                  <a:srgbClr val="0F2741"/>
                </a:solidFill>
                <a:latin typeface="Open Sans"/>
              </a:rPr>
              <a:t>Facebook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39</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Facebook news feed content views in the United States in 4th quarter 2022, by source</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news feed content views in the U.S. 2022, by source</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May 2022, 20 percent of surveyed adults in the United States reported that their opinion of Facebook was very favorable. In addition, 33 percent of respondents said that their opinion was somewhat favorable. In late October 2021, Facebook restructured and rebranded itself as Meta while announcing a strategic shift towards the metaverse, a virtual reality project.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30 to May 03, 2022; 2,210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40</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in the United States who have a favorable impression of Facebook as of May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have a favorable impression of Facebook 2022</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Instagram</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Instagram users in the United States was forecast to continuously increase between 2023 and 2027 by in total 15.3 million users (+10.13 percent). After the fourth consecutive increasing year, the Instagram user base is estimated to reach 166.29 million users and therefore a new peak in 2027. Notably, the number of Instagram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42</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Instagram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users in the United States 2018-2027</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December 2022, 55.7 percent of Instagram users in the United States were women, and 44.3 percent were men. Overall, Instagram finds much popularity in the U.S., and the country is home to the platform's second largest worldwide audience with around 160 million users in the country.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December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43</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in the United States as of December 2022, by gender</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Instagram users 2022, by gender</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December 2022, 27.8 percent of Instagram users in the United States were aged between 25 and 34 years, whilst 25 percent of users were aged 18 to 24 years. Overall, under seven percent of Instagram users in the U.S. belonged to the 13 to 17 year age group, and those aged 65 plus accounted for just 4.7 percent of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December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44</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in the United States as of December 2022, by age group</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Instagram users 2022, by age group</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February 2021, 71 percent of U.S. adults aged between 18 and 29 years used the photo sharing app Instagram. Furthermore, it was found that 44 percent of female adults in the United States used Instagram compared to only 36 percent of adult men.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25 to February 8, 2021; 18 years and older</a:t>
            </a:r>
          </a:p>
          <a:p>
            <a:r>
              <a:rPr sz="600" b="1">
                <a:solidFill>
                  <a:srgbClr val="0F2741"/>
                </a:solidFill>
                <a:latin typeface="Open Sans"/>
              </a:rPr>
              <a:t>Source(s): </a:t>
            </a:r>
            <a:r>
              <a:rPr sz="600" b="0">
                <a:solidFill>
                  <a:srgbClr val="0F2741"/>
                </a:solidFill>
                <a:latin typeface="Open Sans"/>
              </a:rPr>
              <a:t>Pew Research Center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45</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U.S. adults who use Instagram as of February 2021, by age group</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usage reach in the United States 2021, by age group</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the share of adults in the United States who were using Instagram as of February 2021, sorted by gender. During that period of time, 44 percent of female and 36 percent of male respondents stated that they used the photo sharing app.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25 to February 8, 2021; 18 years and older</a:t>
            </a:r>
          </a:p>
          <a:p>
            <a:r>
              <a:rPr sz="600" b="1">
                <a:solidFill>
                  <a:srgbClr val="0F2741"/>
                </a:solidFill>
                <a:latin typeface="Open Sans"/>
              </a:rPr>
              <a:t>Source(s): </a:t>
            </a:r>
            <a:r>
              <a:rPr sz="600" b="0">
                <a:solidFill>
                  <a:srgbClr val="0F2741"/>
                </a:solidFill>
                <a:latin typeface="Open Sans"/>
              </a:rPr>
              <a:t>Pew Research Center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46</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U.S. adults who use Instagram as of February 2021, by gender</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usage reach in the United States 2021, by gender</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2021, it was found that 46 percent of Instagram users in the United States were heavy users, accessing the app more than 2/3 of a month. 25.3 percent of U.S. Instagram audiences via Android were light users of the phot sharing app.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2021; app only; Android users only</a:t>
            </a:r>
          </a:p>
          <a:p>
            <a:r>
              <a:rPr sz="600" b="1">
                <a:solidFill>
                  <a:srgbClr val="0F2741"/>
                </a:solidFill>
                <a:latin typeface="Open Sans"/>
              </a:rPr>
              <a:t>Source(s): </a:t>
            </a:r>
            <a:r>
              <a:rPr sz="600" b="0">
                <a:solidFill>
                  <a:srgbClr val="0F2741"/>
                </a:solidFill>
                <a:latin typeface="Open Sans"/>
              </a:rPr>
              <a:t>App Ape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monthly active users in the United States as of January 2021, by usage frequency</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monthly active user ratio in the U.S. 2021, by frequency</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2021, 62.1 percent of Android Instagram app owners in the United States accessed the dating app on a daily basis. According to App Ape, 85.4 percent of U.S. Instagram audiences were monthly active users of the photo sharing app.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2021; active users who possess the selected ap and also activate the app at least once within a day or montj; Android users only</a:t>
            </a:r>
          </a:p>
          <a:p>
            <a:r>
              <a:rPr sz="600" b="1">
                <a:solidFill>
                  <a:srgbClr val="0F2741"/>
                </a:solidFill>
                <a:latin typeface="Open Sans"/>
              </a:rPr>
              <a:t>Source(s): </a:t>
            </a:r>
            <a:r>
              <a:rPr sz="600" b="0">
                <a:solidFill>
                  <a:srgbClr val="0F2741"/>
                </a:solidFill>
                <a:latin typeface="Open Sans"/>
              </a:rPr>
              <a:t>App Ape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48</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Share of active Instagram users in the United States as of January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Rate of Instagram user activity in the U.S. 2021</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May 2022, 33 percent of surveyed adults in the United States reported that they had a somewhat favorable opinion of Instagram, whilst 16 percent said that they had a very favorable opinion of the social media platform. Furthermore, nine percent stated that they had a very unfavorable opinion of Instagram.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30 to May 03, 2022; 2,210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49</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in the United States who have a favorable impression of Instagram as of May 2022</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have a favorable impression of Instagram 2022</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TikTok</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06</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social video app TikTok had approximately 86.9 million users in the United States. This figure is projected to increase by around eight percent year-over-year, reaching 94 million users in 2022. TikTok is one of the fastest-growing social media apps in the United States and especially popular with younger digital audiences.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2022; * Forecast Internet users who access their TikTok account via any device at least once per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eMarketer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51</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TikTok users in the United States from 2019 to 2025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number of users in the United States 20219-2025</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TikTok increased its U.S. user base by over 29 percent compared to the previous year. Audience growth of the social video platform is projected to remain in double digits until 2021, before slowing down to a 8.1 percent annual user growth rate in 2022. In 2021, TikTok had 86.9 million users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2022;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eMarketer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52</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Annual TikTok user growth in the United States from 2019 to 2025</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TikTok user development 2019-2025</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April 2022, almost half of TikTok users in the United States were between 18 and 34 years, making up the largest demographic group for the platform. TikTok users aged between 12 and 17 made up approximately 17.7 percent of the popular social video app user base in the United States, while 2.5 percent of TikTok users in the country were 11 years old or younger. While TikTok requires users to be at least 12 years old to have a profile, kids and younger children can access the TikTok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2022; monthly active users</a:t>
            </a:r>
          </a:p>
          <a:p>
            <a:r>
              <a:rPr sz="600" b="1">
                <a:solidFill>
                  <a:srgbClr val="0F2741"/>
                </a:solidFill>
                <a:latin typeface="Open Sans"/>
              </a:rPr>
              <a:t>Source(s): </a:t>
            </a:r>
            <a:r>
              <a:rPr sz="600" b="0">
                <a:solidFill>
                  <a:srgbClr val="0F2741"/>
                </a:solidFill>
                <a:latin typeface="Open Sans"/>
              </a:rPr>
              <a:t>eMarketer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53</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monthly active TikTok users in the United States as of April 2022, by age group</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usage distribution in the U.S. 2022, by age</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conducted in September 2021, just over 50 percent of all TikTok users in the United States visited the social video platform nearly everyday, whilst 29.64 percent of users visited the platform at least once a week. Additionally, almost 20 percent of users said that they used TikTok at least once a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September 20 to 21, 2021; 16,939 respondents</a:t>
            </a:r>
          </a:p>
          <a:p>
            <a:r>
              <a:rPr sz="600" b="1">
                <a:solidFill>
                  <a:srgbClr val="0F2741"/>
                </a:solidFill>
                <a:latin typeface="Open Sans"/>
              </a:rPr>
              <a:t>Source(s): </a:t>
            </a:r>
            <a:r>
              <a:rPr sz="600" b="0">
                <a:solidFill>
                  <a:srgbClr val="0F2741"/>
                </a:solidFill>
                <a:latin typeface="Open Sans"/>
              </a:rPr>
              <a:t>DISQO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54</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Frequency of TikTok usage according to users in the United States as of September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TikTok usage frequency 2021</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conducted in September 2021 found that 52 percent of male TikTok users in the United States used the platform nearly every day. Overall, 50 percent of female users used the video sharing app nearly every day. Furthermore, 17 percent of male TikTok users accessed the social media platform at least once a month.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September 20 to 21, 2021; 16,939 respondents</a:t>
            </a:r>
          </a:p>
          <a:p>
            <a:r>
              <a:rPr sz="600" b="1">
                <a:solidFill>
                  <a:srgbClr val="0F2741"/>
                </a:solidFill>
                <a:latin typeface="Open Sans"/>
              </a:rPr>
              <a:t>Source(s): </a:t>
            </a:r>
            <a:r>
              <a:rPr sz="600" b="0">
                <a:solidFill>
                  <a:srgbClr val="0F2741"/>
                </a:solidFill>
                <a:latin typeface="Open Sans"/>
              </a:rPr>
              <a:t>DISQO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55</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Frequency of TikTok usage according to users in the United States as of September 2021, by gender</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TikTok usage frequency 2021, by gender</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conducted in September 2021 found that U.S. TikTok users with a household income of 100,000 to 150,000 U.S. dollars were the most likely to use the social media app daily. Overall, 53 percent of respondents with a household income of over 150,000 USD used the platform nearly every day. Furthermore, those with a household income of 50,000 to 99,000 USD were the least likely to use the app on a daily basis, however, 36 percent of respondents belonging to this income bracket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September 20 to 21, 2021; 16,027 respondents</a:t>
            </a:r>
          </a:p>
          <a:p>
            <a:r>
              <a:rPr sz="600" b="1">
                <a:solidFill>
                  <a:srgbClr val="0F2741"/>
                </a:solidFill>
                <a:latin typeface="Open Sans"/>
              </a:rPr>
              <a:t>Source(s): </a:t>
            </a:r>
            <a:r>
              <a:rPr sz="600" b="0">
                <a:solidFill>
                  <a:srgbClr val="0F2741"/>
                </a:solidFill>
                <a:latin typeface="Open Sans"/>
              </a:rPr>
              <a:t>DISQO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56</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Frequency of TikTok usage according to users in the United States as of September 2021, by household income</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TikTok usage frequency 2021, by household income</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March 2021, 50.6 percent of Android TikTok app owners in the United States accessed the video sharing app on a daily basis. According to App Ape, 77.1 percent of U.S. TikTok audiences were monthly active users of the app.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2021; active users only; Android users only</a:t>
            </a:r>
          </a:p>
          <a:p>
            <a:r>
              <a:rPr sz="600" b="1">
                <a:solidFill>
                  <a:srgbClr val="0F2741"/>
                </a:solidFill>
                <a:latin typeface="Open Sans"/>
              </a:rPr>
              <a:t>Source(s): </a:t>
            </a:r>
            <a:r>
              <a:rPr sz="600" b="0">
                <a:solidFill>
                  <a:srgbClr val="0F2741"/>
                </a:solidFill>
                <a:latin typeface="Open Sans"/>
              </a:rPr>
              <a:t>App Ape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Share of active TikTok users in the United States as of March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Rate of TikTok user activity in the U.S. 2021</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An online survey conducted in November 2021 found that 21 percent of adults in the United States had a somewhat favorable opinion of the social video app TikTok. Overall, 21 percent of respondents stated that they had a very unfavorable opinion of the app whilst 29 percent said that they didn't know or had no opinion.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October 29 to November 1, 2021; 2,200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58</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in the United States who have a favorable opinion of TikTok as of November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have a favorable opinion of TikTok 2021</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Other major platforms</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07</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Twitter users in the United States was forecast to continuously increase between 2023 and 2027 by in total 4.2 million users (+5.39 percent). The Twitter user base is estimated to amount to 82.1 million users in 2027.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60</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Twitter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Twitter users in the United States 2018-2027</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LinkedIn users in the United States was forecast to continuously increase between 2023 and 2027 by in total ten million users (+5.26 percent). According to this forecast in 2027, the LinkedIn user base will have increased for the fourth consecutive year to 200.24 million users. Notably, the number of LinkedIn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61</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LinkedIn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LinkedIn users in the United States 2018-2027</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Pinterest users in the United States was forecast to continuously increase between 2023 and 2027 by in total 4.9 million users (+5.23 percent). According to this forecast in 2027, the Pinterest user base will have increased for the fourth consecutive year to 98.62 million users. Notably, the number of Pinterest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62</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Pinterest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Pinterest users in the United States 2018-2027</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Reddit users in the United States was forecast to continuously increase between 2023 and 2027 by in total 10.1 million users (+5.29 percent). After the fourth consecutive increasing year, the Reddit user base is estimated to reach 200.84 million users and therefore a new peak in 2027. Notably, the number of Reddit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63</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Reddit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Reddit users in the United States 2018-2027</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number of SnapChat users in the United States was forecast to continuously increase between 2023 and 2027 by in total 5.6 million users (+5.4 percent). After the fourth consecutive increasing year, the SnapChat user base is estimated to reach 109.33 million users and therefore a new peak in 2027. Notably, the number of SnapChat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2018 to 2027;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64</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SnapChat users in the United States from 2018 to 2027 (in millions)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SnapChat users in the United States 2018-2027</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brand profiles</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08</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When it comes to the most well-known social networks in the United States, YouTube and Facebook are leading the pack with a brand awareness of 94% each, among internet users. Third is Instagram, with 90% of U.S. respondents knowing them, closely followed by TikTok, Twitter, and Snapchat. At the bottom of the ranking are Truth Social and Clubhouse, each with no more than a quarter of internet users knowing them.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1241 respondents; 18 to 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OleObject"/>
          <p:cNvGraphicFramePr>
            <a:graphicFrameLocks noChangeAspect="1"/>
          </p:cNvGraphicFramePr>
          <p:nvPr/>
        </p:nvGraphicFramePr>
        <p:xfrm>
          <a:off x="9399600" y="5401865"/>
          <a:ext cx="2203200" cy="629486"/>
        </p:xfrm>
        <a:graphic>
          <a:graphicData uri="http://schemas.openxmlformats.org/presentationml/2006/ole">
            <mc:AlternateContent xmlns:mc="http://schemas.openxmlformats.org/markup-compatibility/2006">
              <mc:Choice xmlns:v="urn:schemas-microsoft-com:vml" Requires="v">
                <p:oleObj r:id="rId8" imgW="2203200" imgH="629486" progId=".xls">
                  <p:embed/>
                </p:oleObj>
              </mc:Choice>
              <mc:Fallback>
                <p:oleObj r:id="rId8" imgW="2203200" imgH="629486" progId=".xls">
                  <p:embed/>
                  <p:pic>
                    <p:nvPicPr>
                      <p:cNvPr id="6" name="OleObject"/>
                      <p:cNvPicPr/>
                      <p:nvPr/>
                    </p:nvPicPr>
                    <p:blipFill>
                      <a:blip r:embed="rId9"/>
                      <a:srcRect t="100000"/>
                      <a:tile tx="0" ty="0" sx="100000" sy="100000" flip="none" algn="tl"/>
                    </p:blipFill>
                    <p:spPr>
                      <a:xfrm>
                        <a:off x="9399600" y="5401865"/>
                        <a:ext cx="2203200" cy="629486"/>
                      </a:xfrm>
                      <a:prstGeom prst="rect">
                        <a:avLst/>
                      </a:prstGeom>
                      <a:blipFill>
                        <a:blip r:embed="rId10"/>
                        <a:stretch>
                          <a:fillRect/>
                        </a:stretch>
                      </a:blipFill>
                      <a:ln>
                        <a:noFill/>
                      </a:ln>
                    </p:spPr>
                  </p:pic>
                </p:oleObj>
              </mc:Fallback>
            </mc:AlternateContent>
          </a:graphicData>
        </a:graphic>
      </p:graphicFrame>
      <p:sp>
        <p:nvSpPr>
          <p:cNvPr id="7"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8"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66</a:t>
            </a:r>
          </a:p>
        </p:txBody>
      </p:sp>
      <p:sp>
        <p:nvSpPr>
          <p:cNvPr id="9"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social networks ranked by brand awareness in the United States in 2022</a:t>
            </a:r>
          </a:p>
        </p:txBody>
      </p:sp>
      <p:sp>
        <p:nvSpPr>
          <p:cNvPr id="10"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well-known social networks in the United States 2022</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Facebook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brand profile in the United States 2022</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Instagram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68</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Instagram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brand profile in the United States 2022</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TikTok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69</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TikTok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brand profile in the United States 2022</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Twitter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70</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Twitter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Twitter brand profile in the United States 2022</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LinkedIn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71</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LinkedIn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LinkedIn brand profile in the United States 2022</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Pinterest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72</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Pinterest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Pinterest brand profile in the United States 2022</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Reddit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73</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Reddit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Reddit brand profile in the United States 2022</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Snapchat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March 22 to 29, 2022; 1166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74</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Snapchat brand awareness, usage, popularity, loyalty, and buzz among social media users in the United States in 2022</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Snapchat brand profile in the United States 2022</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Marketing</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09</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social media advertising spending per internet user in the U.S. is expected to grow from 208.9 U.S. dollars in 2021 to 376.4 dollars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76</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average spending per internet user in the United States from 2017 to 2026 (in U.S. dollars)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per internet user U.S. 2017-2026</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social media ad spend in the United States grew by 28.5 percent in 2021 compared to the previous year.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growth in the United States from 2018 to 2026</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change in the U.S. 2018-2026</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in the United States grew by 30.1 percent in 2021 compared to the previous year.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78</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growth in the United States from 2018 to 2026, by device</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change U.S. 2018-2026, by device</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per internet user in the United States is expected to grow from 177.4 U.S. dollars in 2021 to 334 dollars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79</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average spending per internet user in the United States from 2017 to 2026, by device (in U.S. dollars)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SM ad spend per internet user U.S. 2017-2026, by device</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mobile social media ad spend in the United States is expected to grow from 53.6 billion U.S. dollars in 2021 to 108.5 billion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80</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the United States from 2017 to 2026, by device (in billion U.S. dollars)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in the U.S. 2017-2026, by device</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social media ad spend in the United States is expected to grow from 63.1 billion U.S. dollars in 2021 to 122.2 billion in 2026.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81</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the United States from 2017 to 2026 (in billion U.S. dollars)</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 spend in the U.S. 2017-2026</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social media advertising spending in the United States us expected to show a growth of 27.8 percent. An overview of all Digital Markets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82</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Change in social media advertising spending in the United States from 2018 to 2026</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ad spend growth in the U.S. 2018-2026</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ew shap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Opinions</a:t>
            </a:r>
          </a:p>
        </p:txBody>
      </p:sp>
      <p:sp>
        <p:nvSpPr>
          <p:cNvPr id="3" name="New shap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10</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September 2021 survey of internet users in the United States, 39 percent of responding adults thought that social media was bad for the society. Overall, only 22 percent of respondents thought social media had a good impact on the society. Furthermore, 27 percent of respondents answered that it was neither good or bad.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September 2021; 7,134 respondents; 18 years and older</a:t>
            </a:r>
          </a:p>
          <a:p>
            <a:r>
              <a:rPr sz="600" b="1">
                <a:solidFill>
                  <a:srgbClr val="0F2741"/>
                </a:solidFill>
                <a:latin typeface="Open Sans"/>
              </a:rPr>
              <a:t>Source(s): </a:t>
            </a:r>
            <a:r>
              <a:rPr sz="600" b="0">
                <a:solidFill>
                  <a:srgbClr val="0F2741"/>
                </a:solidFill>
                <a:latin typeface="Open Sans"/>
              </a:rPr>
              <a:t>YouGov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84</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internet users in the United States who think social media is a good or bad thing for society as of September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internet users who think social media is good or bad for society 2021</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conducted in January 2022 in the United States found that 43 percent of 18 to 34 year olds strongly supported identity verification to create a social media profile, whereas six percent of respondents in this age group strong opposed. Additionally, over 60 percent of respondents aged 65 and over strongly supported identity verification to create a social networking profile, as did 57 percent of those aged 45 to 64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14 to 15, 2022; 2,211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85</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in the United States who support identity verification to create a social media profile as of January 2022, by age group</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supporting verification to create social media profile 2022, by age group</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January 2022 survey conducted in the United States found that 54 percent of female respondents and 50 percent of male respondents strongly supported social media companies requiring users to verify their identity before creating a profile. Overall, just three percent of women and five percent of men strongly opposed identity verification when opening a social media account.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14 to 15, 2022; 2,211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86</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in the United States who support identity verification to create a social media profile as of January 2022, by gender</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supporting ID verification to create social media profile 2022, by gender</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 December 2021 survey, 24 percent of responding adults in the United States thought that the metaverse could totally replace social media as we currently know and use it, whilst 42 percent thought the metaverse would partially replace social media. However, 55 percent of respondents stated that they did not know what the metaverse is.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December 2021; 1,002 respondents; 18 years and older; U.S. consumers</a:t>
            </a:r>
          </a:p>
          <a:p>
            <a:r>
              <a:rPr sz="600" b="1">
                <a:solidFill>
                  <a:srgbClr val="0F2741"/>
                </a:solidFill>
                <a:latin typeface="Open Sans"/>
              </a:rPr>
              <a:t>Source(s): </a:t>
            </a:r>
            <a:r>
              <a:rPr sz="600" b="0">
                <a:solidFill>
                  <a:srgbClr val="0F2741"/>
                </a:solidFill>
                <a:latin typeface="Open Sans"/>
              </a:rPr>
              <a:t>MSN; NordVPN; Propeller Insights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1882800"/>
          <a:ext cx="11016000" cy="41485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87</a:t>
            </a:r>
          </a:p>
        </p:txBody>
      </p:sp>
      <p:sp>
        <p:nvSpPr>
          <p:cNvPr id="6"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adults in the United States who think that the metaverse could totally replace social media as of December 2021</a:t>
            </a:r>
          </a:p>
        </p:txBody>
      </p:sp>
      <p:sp>
        <p:nvSpPr>
          <p:cNvPr id="7"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on the metaverse replacing social media 2021</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an online survey conducted in the United States in September 2021, 45 percent of Gen Z respondents said that there was too much pressure to be perfect on social media, whereas only 33 percent of other age groups agreed with this statement. Furthermore, 42 percent of those in the Gen Z demographic stated that people should show more of their real selves/lives on social media. Additionally, 39 percent of Gen Z respondents reported that they cared less about impressing others on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September 2021; 9,223 respondents; 16-64 years</a:t>
            </a:r>
          </a:p>
          <a:p>
            <a:r>
              <a:rPr sz="600" b="1">
                <a:solidFill>
                  <a:srgbClr val="0F2741"/>
                </a:solidFill>
                <a:latin typeface="Open Sans"/>
              </a:rPr>
              <a:t>Source(s): </a:t>
            </a:r>
            <a:r>
              <a:rPr sz="600" b="0">
                <a:solidFill>
                  <a:srgbClr val="0F2741"/>
                </a:solidFill>
                <a:latin typeface="Open Sans"/>
              </a:rPr>
              <a:t>GWI </a:t>
            </a:r>
          </a:p>
        </p:txBody>
      </p:sp>
      <p:sp>
        <p:nvSpPr>
          <p:cNvPr id="3" name="New shap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p:cNvGraphicFramePr/>
          <p:nvPr/>
        </p:nvGraphicFramePr>
        <p:xfrm>
          <a:off x="586800" y="2098700"/>
          <a:ext cx="11016000" cy="3932650"/>
        </p:xfrm>
        <a:graphic>
          <a:graphicData uri="http://schemas.openxmlformats.org/drawingml/2006/chart">
            <c:chart xmlns:c="http://schemas.openxmlformats.org/drawingml/2006/chart" xmlns:r="http://schemas.openxmlformats.org/officeDocument/2006/relationships" r:id="rId6"/>
          </a:graphicData>
        </a:graphic>
      </p:graphicFrame>
      <p:sp>
        <p:nvSpPr>
          <p:cNvPr id="5" name="New shap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88</a:t>
            </a:r>
          </a:p>
        </p:txBody>
      </p:sp>
      <p:sp>
        <p:nvSpPr>
          <p:cNvPr id="7"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Generation Z in the United States opinion of curated social media appearance as of September 2021</a:t>
            </a:r>
          </a:p>
        </p:txBody>
      </p:sp>
      <p:sp>
        <p:nvSpPr>
          <p:cNvPr id="8" name="New shap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Gen Z opinion of social media appearance 2021</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ew shap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New shap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89</a:t>
            </a:r>
          </a:p>
        </p:txBody>
      </p:sp>
      <p:sp>
        <p:nvSpPr>
          <p:cNvPr id="7" name="New shap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Agility PR Solutions</a:t>
            </a:r>
          </a:p>
        </p:txBody>
      </p:sp>
      <p:sp>
        <p:nvSpPr>
          <p:cNvPr id="8" name="New shap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Airnow</a:t>
            </a:r>
          </a:p>
        </p:txBody>
      </p:sp>
      <p:sp>
        <p:nvSpPr>
          <p:cNvPr id="9" name="New shap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App Ape</a:t>
            </a:r>
          </a:p>
        </p:txBody>
      </p:sp>
      <p:sp>
        <p:nvSpPr>
          <p:cNvPr id="10" name="New shap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Apptopia</a:t>
            </a:r>
          </a:p>
        </p:txBody>
      </p:sp>
      <p:sp>
        <p:nvSpPr>
          <p:cNvPr id="11" name="New shap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Axios</a:t>
            </a:r>
          </a:p>
        </p:txBody>
      </p:sp>
      <p:sp>
        <p:nvSpPr>
          <p:cNvPr id="12" name="New shap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Censuswide</a:t>
            </a:r>
          </a:p>
        </p:txBody>
      </p:sp>
      <p:sp>
        <p:nvSpPr>
          <p:cNvPr id="13" name="New shap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Cint</a:t>
            </a:r>
          </a:p>
        </p:txBody>
      </p:sp>
      <p:sp>
        <p:nvSpPr>
          <p:cNvPr id="14" name="New shap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CivicScience</a:t>
            </a:r>
          </a:p>
        </p:txBody>
      </p:sp>
      <p:sp>
        <p:nvSpPr>
          <p:cNvPr id="15" name="New shap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Common Sense Media</a:t>
            </a:r>
          </a:p>
        </p:txBody>
      </p:sp>
      <p:sp>
        <p:nvSpPr>
          <p:cNvPr id="16" name="New shap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comScore</a:t>
            </a:r>
          </a:p>
        </p:txBody>
      </p:sp>
      <p:sp>
        <p:nvSpPr>
          <p:cNvPr id="17" name="New shap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DataReportal</a:t>
            </a:r>
          </a:p>
        </p:txBody>
      </p:sp>
      <p:sp>
        <p:nvSpPr>
          <p:cNvPr id="18" name="New shap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DISQO</a:t>
            </a:r>
          </a:p>
        </p:txBody>
      </p:sp>
      <p:sp>
        <p:nvSpPr>
          <p:cNvPr id="19" name="New shap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eMarketer</a:t>
            </a:r>
          </a:p>
        </p:txBody>
      </p:sp>
      <p:sp>
        <p:nvSpPr>
          <p:cNvPr id="20" name="New shap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Facebook</a:t>
            </a:r>
          </a:p>
        </p:txBody>
      </p:sp>
      <p:sp>
        <p:nvSpPr>
          <p:cNvPr id="21" name="New shap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Forrester Research</a:t>
            </a:r>
          </a:p>
        </p:txBody>
      </p:sp>
      <p:sp>
        <p:nvSpPr>
          <p:cNvPr id="22" name="New shap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GWI</a:t>
            </a:r>
          </a:p>
        </p:txBody>
      </p:sp>
      <p:sp>
        <p:nvSpPr>
          <p:cNvPr id="23" name="New shap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Ipsos</a:t>
            </a:r>
          </a:p>
        </p:txBody>
      </p:sp>
      <p:sp>
        <p:nvSpPr>
          <p:cNvPr id="24" name="New shap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Meltwater</a:t>
            </a:r>
          </a:p>
        </p:txBody>
      </p:sp>
      <p:sp>
        <p:nvSpPr>
          <p:cNvPr id="25" name="New shap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Meta Platforms</a:t>
            </a:r>
          </a:p>
        </p:txBody>
      </p:sp>
      <p:sp>
        <p:nvSpPr>
          <p:cNvPr id="26" name="New shape"/>
          <p:cNvSpPr/>
          <p:nvPr/>
        </p:nvSpPr>
        <p:spPr>
          <a:xfrm>
            <a:off x="496800" y="511171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Morning Consult</a:t>
            </a:r>
          </a:p>
        </p:txBody>
      </p:sp>
      <p:sp>
        <p:nvSpPr>
          <p:cNvPr id="27" name="New shape"/>
          <p:cNvSpPr/>
          <p:nvPr/>
        </p:nvSpPr>
        <p:spPr>
          <a:xfrm>
            <a:off x="496800" y="528166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MSN</a:t>
            </a:r>
          </a:p>
        </p:txBody>
      </p:sp>
      <p:sp>
        <p:nvSpPr>
          <p:cNvPr id="28" name="New shape"/>
          <p:cNvSpPr/>
          <p:nvPr/>
        </p:nvSpPr>
        <p:spPr>
          <a:xfrm>
            <a:off x="496800" y="545160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NapoleonCat</a:t>
            </a:r>
          </a:p>
        </p:txBody>
      </p:sp>
      <p:sp>
        <p:nvSpPr>
          <p:cNvPr id="29" name="New shape"/>
          <p:cNvSpPr/>
          <p:nvPr/>
        </p:nvSpPr>
        <p:spPr>
          <a:xfrm>
            <a:off x="6094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NewsWhip</a:t>
            </a:r>
          </a:p>
        </p:txBody>
      </p:sp>
      <p:sp>
        <p:nvSpPr>
          <p:cNvPr id="30" name="New shape"/>
          <p:cNvSpPr/>
          <p:nvPr/>
        </p:nvSpPr>
        <p:spPr>
          <a:xfrm>
            <a:off x="6094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NordVPN</a:t>
            </a:r>
          </a:p>
        </p:txBody>
      </p:sp>
      <p:sp>
        <p:nvSpPr>
          <p:cNvPr id="31" name="New shape"/>
          <p:cNvSpPr/>
          <p:nvPr/>
        </p:nvSpPr>
        <p:spPr>
          <a:xfrm>
            <a:off x="6094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Pew Research Center</a:t>
            </a:r>
          </a:p>
        </p:txBody>
      </p:sp>
      <p:sp>
        <p:nvSpPr>
          <p:cNvPr id="32" name="New shape"/>
          <p:cNvSpPr/>
          <p:nvPr/>
        </p:nvSpPr>
        <p:spPr>
          <a:xfrm>
            <a:off x="6094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Piper Sandler</a:t>
            </a:r>
          </a:p>
        </p:txBody>
      </p:sp>
      <p:sp>
        <p:nvSpPr>
          <p:cNvPr id="33" name="New shape"/>
          <p:cNvSpPr/>
          <p:nvPr/>
        </p:nvSpPr>
        <p:spPr>
          <a:xfrm>
            <a:off x="6094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Propeller Insights</a:t>
            </a:r>
          </a:p>
        </p:txBody>
      </p:sp>
      <p:sp>
        <p:nvSpPr>
          <p:cNvPr id="34" name="New shape"/>
          <p:cNvSpPr/>
          <p:nvPr/>
        </p:nvSpPr>
        <p:spPr>
          <a:xfrm>
            <a:off x="6094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Social Media Today</a:t>
            </a:r>
          </a:p>
        </p:txBody>
      </p:sp>
      <p:sp>
        <p:nvSpPr>
          <p:cNvPr id="35" name="New shape"/>
          <p:cNvSpPr/>
          <p:nvPr/>
        </p:nvSpPr>
        <p:spPr>
          <a:xfrm>
            <a:off x="6094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Sprout Social</a:t>
            </a:r>
          </a:p>
        </p:txBody>
      </p:sp>
      <p:sp>
        <p:nvSpPr>
          <p:cNvPr id="36" name="New shape"/>
          <p:cNvSpPr/>
          <p:nvPr/>
        </p:nvSpPr>
        <p:spPr>
          <a:xfrm>
            <a:off x="6094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StatCounter</a:t>
            </a:r>
          </a:p>
        </p:txBody>
      </p:sp>
      <p:sp>
        <p:nvSpPr>
          <p:cNvPr id="37" name="New shape"/>
          <p:cNvSpPr/>
          <p:nvPr/>
        </p:nvSpPr>
        <p:spPr>
          <a:xfrm>
            <a:off x="6094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a:t>
            </a:r>
          </a:p>
        </p:txBody>
      </p:sp>
      <p:sp>
        <p:nvSpPr>
          <p:cNvPr id="38" name="New shape"/>
          <p:cNvSpPr/>
          <p:nvPr/>
        </p:nvSpPr>
        <p:spPr>
          <a:xfrm>
            <a:off x="6094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Consumer Insights</a:t>
            </a:r>
          </a:p>
        </p:txBody>
      </p:sp>
      <p:sp>
        <p:nvSpPr>
          <p:cNvPr id="39" name="New shape"/>
          <p:cNvSpPr/>
          <p:nvPr/>
        </p:nvSpPr>
        <p:spPr>
          <a:xfrm>
            <a:off x="6094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Digital Market Insights</a:t>
            </a:r>
          </a:p>
        </p:txBody>
      </p:sp>
      <p:sp>
        <p:nvSpPr>
          <p:cNvPr id="40" name="New shape"/>
          <p:cNvSpPr/>
          <p:nvPr/>
        </p:nvSpPr>
        <p:spPr>
          <a:xfrm>
            <a:off x="6094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TheSoul Publishing</a:t>
            </a:r>
          </a:p>
        </p:txBody>
      </p:sp>
      <p:sp>
        <p:nvSpPr>
          <p:cNvPr id="41" name="New shape"/>
          <p:cNvSpPr/>
          <p:nvPr/>
        </p:nvSpPr>
        <p:spPr>
          <a:xfrm>
            <a:off x="6094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We Are Social</a:t>
            </a:r>
          </a:p>
        </p:txBody>
      </p:sp>
      <p:sp>
        <p:nvSpPr>
          <p:cNvPr id="42" name="New shape"/>
          <p:cNvSpPr/>
          <p:nvPr/>
        </p:nvSpPr>
        <p:spPr>
          <a:xfrm>
            <a:off x="6094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YouGov</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10501</Words>
  <Application>Microsoft Office PowerPoint</Application>
  <PresentationFormat>와이드스크린</PresentationFormat>
  <Paragraphs>900</Paragraphs>
  <Slides>90</Slides>
  <Notes>0</Notes>
  <HiddenSlides>0</HiddenSlides>
  <MMClips>0</MMClips>
  <ScaleCrop>false</ScaleCrop>
  <HeadingPairs>
    <vt:vector size="8" baseType="variant">
      <vt:variant>
        <vt:lpstr>사용한 글꼴</vt:lpstr>
      </vt:variant>
      <vt:variant>
        <vt:i4>4</vt:i4>
      </vt:variant>
      <vt:variant>
        <vt:lpstr>테마</vt:lpstr>
      </vt:variant>
      <vt:variant>
        <vt:i4>1</vt:i4>
      </vt:variant>
      <vt:variant>
        <vt:lpstr>포함된 OLE 서버</vt:lpstr>
      </vt:variant>
      <vt:variant>
        <vt:i4>1</vt:i4>
      </vt:variant>
      <vt:variant>
        <vt:lpstr>슬라이드 제목</vt:lpstr>
      </vt:variant>
      <vt:variant>
        <vt:i4>90</vt:i4>
      </vt:variant>
    </vt:vector>
  </HeadingPairs>
  <TitlesOfParts>
    <vt:vector size="96" baseType="lpstr">
      <vt:lpstr>Arial</vt:lpstr>
      <vt:lpstr>Calibri</vt:lpstr>
      <vt:lpstr>Open Sans</vt:lpstr>
      <vt:lpstr>Open Sans Light</vt:lpstr>
      <vt:lpstr>Office Theme</vt:lpstr>
      <vt:lpstr>Excel.Sheet.8</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Jang Jaehoon</cp:lastModifiedBy>
  <cp:revision>1</cp:revision>
  <cp:lastPrinted>2023-03-24T12:35:34Z</cp:lastPrinted>
  <dcterms:created xsi:type="dcterms:W3CDTF">2023-03-24T11:35:34Z</dcterms:created>
  <dcterms:modified xsi:type="dcterms:W3CDTF">2023-04-06T08:56:19Z</dcterms:modified>
</cp:coreProperties>
</file>