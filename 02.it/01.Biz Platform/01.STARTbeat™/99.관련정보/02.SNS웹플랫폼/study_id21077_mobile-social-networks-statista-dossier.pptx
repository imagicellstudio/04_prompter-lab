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emf" ContentType="image/x-emf"/>
  <Default Extension="png" ContentType="image/png"/>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2.7-->
<p:presentation xmlns:r="http://schemas.openxmlformats.org/officeDocument/2006/relationships" xmlns:a="http://schemas.openxmlformats.org/drawingml/2006/main" xmlns:p="http://schemas.openxmlformats.org/presentationml/2006/main" saveSubsetFonts="1">
  <p:sldMasterIdLst>
    <p:sldMasterId id="2147483648" r:id="rId1"/>
  </p:sldMasterIdLst>
  <p:sldIdLst>
    <p:sldId id="258" r:id="rId2"/>
    <p:sldId id="260" r:id="rId3"/>
    <p:sldId id="262" r:id="rId4"/>
    <p:sldId id="264" r:id="rId5"/>
    <p:sldId id="266" r:id="rId6"/>
    <p:sldId id="268" r:id="rId7"/>
    <p:sldId id="270" r:id="rId8"/>
    <p:sldId id="272" r:id="rId9"/>
    <p:sldId id="274" r:id="rId10"/>
    <p:sldId id="276" r:id="rId11"/>
    <p:sldId id="278" r:id="rId12"/>
    <p:sldId id="280" r:id="rId13"/>
    <p:sldId id="282" r:id="rId14"/>
    <p:sldId id="284" r:id="rId15"/>
    <p:sldId id="286" r:id="rId16"/>
    <p:sldId id="288" r:id="rId17"/>
    <p:sldId id="290" r:id="rId18"/>
    <p:sldId id="292" r:id="rId19"/>
    <p:sldId id="294" r:id="rId20"/>
    <p:sldId id="296" r:id="rId21"/>
    <p:sldId id="298" r:id="rId22"/>
    <p:sldId id="300" r:id="rId23"/>
    <p:sldId id="302" r:id="rId24"/>
    <p:sldId id="304" r:id="rId25"/>
    <p:sldId id="306" r:id="rId26"/>
    <p:sldId id="308" r:id="rId27"/>
    <p:sldId id="310" r:id="rId28"/>
    <p:sldId id="312" r:id="rId29"/>
    <p:sldId id="314" r:id="rId30"/>
    <p:sldId id="316" r:id="rId31"/>
    <p:sldId id="318" r:id="rId32"/>
    <p:sldId id="320" r:id="rId33"/>
    <p:sldId id="322" r:id="rId34"/>
    <p:sldId id="324" r:id="rId35"/>
    <p:sldId id="326" r:id="rId36"/>
    <p:sldId id="328" r:id="rId37"/>
    <p:sldId id="330" r:id="rId38"/>
    <p:sldId id="332" r:id="rId39"/>
    <p:sldId id="334" r:id="rId40"/>
    <p:sldId id="336" r:id="rId41"/>
    <p:sldId id="338" r:id="rId42"/>
    <p:sldId id="340" r:id="rId43"/>
    <p:sldId id="342" r:id="rId44"/>
    <p:sldId id="344" r:id="rId45"/>
    <p:sldId id="346" r:id="rId46"/>
    <p:sldId id="348" r:id="rId47"/>
    <p:sldId id="350" r:id="rId48"/>
  </p:sldIdLst>
  <p:sldSz cx="12192120" cy="6858000"/>
  <p:notesSz cx="6858000" cy="9144000"/>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 Type="http://schemas.openxmlformats.org/officeDocument/2006/relationships/slide" Target="slides/slide1.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 Type="http://schemas.openxmlformats.org/officeDocument/2006/relationships/slide" Target="slides/slide2.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 Type="http://schemas.openxmlformats.org/officeDocument/2006/relationships/slide" Target="slides/slide3.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tags" Target="tags/tag1.xml" /><Relationship Id="rId5" Type="http://schemas.openxmlformats.org/officeDocument/2006/relationships/slide" Target="slides/slide4.xml" /><Relationship Id="rId50" Type="http://schemas.openxmlformats.org/officeDocument/2006/relationships/presProps" Target="presProps.xml" /><Relationship Id="rId51" Type="http://schemas.openxmlformats.org/officeDocument/2006/relationships/viewProps" Target="viewProps.xml" /><Relationship Id="rId52" Type="http://schemas.openxmlformats.org/officeDocument/2006/relationships/theme" Target="theme/theme1.xml" /><Relationship Id="rId53" Type="http://schemas.openxmlformats.org/officeDocument/2006/relationships/tableStyles" Target="tableStyles.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s>
</file>

<file path=ppt/charts/_rels/chart1.xml.rels>&#65279;<?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_rels/chart2.xml.rels>&#65279;<?xml version="1.0" encoding="utf-8" standalone="yes"?><Relationships xmlns="http://schemas.openxmlformats.org/package/2006/relationships"><Relationship Id="rId1" Type="http://schemas.openxmlformats.org/officeDocument/2006/relationships/package" Target="../embeddings/Microsoft_Excel_Worksheet3.xlsx" /></Relationships>
</file>

<file path=ppt/charts/_rels/chart3.xml.rels>&#65279;<?xml version="1.0" encoding="utf-8" standalone="yes"?><Relationships xmlns="http://schemas.openxmlformats.org/package/2006/relationships"><Relationship Id="rId1" Type="http://schemas.openxmlformats.org/officeDocument/2006/relationships/package" Target="../embeddings/Microsoft_Excel_Worksheet5.xlsx" /></Relationships>
</file>

<file path=ppt/charts/_rels/chart4.xml.rels>&#65279;<?xml version="1.0" encoding="utf-8" standalone="yes"?><Relationships xmlns="http://schemas.openxmlformats.org/package/2006/relationships"><Relationship Id="rId1" Type="http://schemas.openxmlformats.org/officeDocument/2006/relationships/package" Target="../embeddings/Microsoft_Excel_Worksheet7.xlsx" /></Relationships>
</file>

<file path=ppt/charts/_rels/chart5.xml.rels>&#65279;<?xml version="1.0" encoding="utf-8" standalone="yes"?><Relationships xmlns="http://schemas.openxmlformats.org/package/2006/relationships"><Relationship Id="rId1" Type="http://schemas.openxmlformats.org/officeDocument/2006/relationships/package" Target="../embeddings/Microsoft_Excel_Worksheet9.xlsx" /></Relationships>
</file>

<file path=ppt/charts/_rels/chart6.xml.rels>&#65279;<?xml version="1.0" encoding="utf-8" standalone="yes"?><Relationships xmlns="http://schemas.openxmlformats.org/package/2006/relationships"><Relationship Id="rId1" Type="http://schemas.openxmlformats.org/officeDocument/2006/relationships/package" Target="../embeddings/Microsoft_Excel_Worksheet10.xlsx" /></Relationships>
</file>

<file path=ppt/charts/_rels/chart7.xml.rels>&#65279;<?xml version="1.0" encoding="utf-8" standalone="yes"?><Relationships xmlns="http://schemas.openxmlformats.org/package/2006/relationships"><Relationship Id="rId1" Type="http://schemas.openxmlformats.org/officeDocument/2006/relationships/package" Target="../embeddings/Microsoft_Excel_Worksheet11.xlsx" /></Relationships>
</file>

<file path=ppt/charts/_rels/chart8.xml.rels>&#65279;<?xml version="1.0" encoding="utf-8" standalone="yes"?><Relationships xmlns="http://schemas.openxmlformats.org/package/2006/relationships"><Relationship Id="rId1" Type="http://schemas.openxmlformats.org/officeDocument/2006/relationships/package" Target="../embeddings/Microsoft_Excel_Worksheet12.xlsx" /></Relationships>
</file>

<file path=ppt/charts/_rels/chart9.xml.rels>&#65279;<?xml version="1.0" encoding="utf-8" standalone="yes"?><Relationships xmlns="http://schemas.openxmlformats.org/package/2006/relationships"><Relationship Id="rId1" Type="http://schemas.openxmlformats.org/officeDocument/2006/relationships/package" Target="../embeddings/Microsoft_Excel_Worksheet13.xlsx" /></Relationships>
</file>

<file path=ppt/charts/_rels/chart10.xml.rels>&#65279;<?xml version="1.0" encoding="utf-8" standalone="yes"?><Relationships xmlns="http://schemas.openxmlformats.org/package/2006/relationships"><Relationship Id="rId1" Type="http://schemas.openxmlformats.org/officeDocument/2006/relationships/package" Target="../embeddings/Microsoft_Excel_Worksheet14.xlsx" /></Relationships>
</file>

<file path=ppt/charts/_rels/chart11.xml.rels>&#65279;<?xml version="1.0" encoding="utf-8" standalone="yes"?><Relationships xmlns="http://schemas.openxmlformats.org/package/2006/relationships"><Relationship Id="rId1" Type="http://schemas.openxmlformats.org/officeDocument/2006/relationships/package" Target="../embeddings/Microsoft_Excel_Worksheet15.xlsx" /></Relationships>
</file>

<file path=ppt/charts/_rels/chart12.xml.rels>&#65279;<?xml version="1.0" encoding="utf-8" standalone="yes"?><Relationships xmlns="http://schemas.openxmlformats.org/package/2006/relationships"><Relationship Id="rId1" Type="http://schemas.openxmlformats.org/officeDocument/2006/relationships/package" Target="../embeddings/Microsoft_Excel_Worksheet16.xlsx" /></Relationships>
</file>

<file path=ppt/charts/_rels/chart13.xml.rels>&#65279;<?xml version="1.0" encoding="utf-8" standalone="yes"?><Relationships xmlns="http://schemas.openxmlformats.org/package/2006/relationships"><Relationship Id="rId1" Type="http://schemas.openxmlformats.org/officeDocument/2006/relationships/package" Target="../embeddings/Microsoft_Excel_Worksheet17.xlsx" /></Relationships>
</file>

<file path=ppt/charts/_rels/chart14.xml.rels>&#65279;<?xml version="1.0" encoding="utf-8" standalone="yes"?><Relationships xmlns="http://schemas.openxmlformats.org/package/2006/relationships"><Relationship Id="rId1" Type="http://schemas.openxmlformats.org/officeDocument/2006/relationships/package" Target="../embeddings/Microsoft_Excel_Worksheet18.xlsx" /></Relationships>
</file>

<file path=ppt/charts/_rels/chart15.xml.rels>&#65279;<?xml version="1.0" encoding="utf-8" standalone="yes"?><Relationships xmlns="http://schemas.openxmlformats.org/package/2006/relationships"><Relationship Id="rId1" Type="http://schemas.openxmlformats.org/officeDocument/2006/relationships/package" Target="../embeddings/Microsoft_Excel_Worksheet19.xlsx" /></Relationships>
</file>

<file path=ppt/charts/_rels/chart16.xml.rels>&#65279;<?xml version="1.0" encoding="utf-8" standalone="yes"?><Relationships xmlns="http://schemas.openxmlformats.org/package/2006/relationships"><Relationship Id="rId1" Type="http://schemas.openxmlformats.org/officeDocument/2006/relationships/package" Target="../embeddings/Microsoft_Excel_Worksheet21.xlsx" /></Relationships>
</file>

<file path=ppt/charts/_rels/chart17.xml.rels>&#65279;<?xml version="1.0" encoding="utf-8" standalone="yes"?><Relationships xmlns="http://schemas.openxmlformats.org/package/2006/relationships"><Relationship Id="rId1" Type="http://schemas.openxmlformats.org/officeDocument/2006/relationships/package" Target="../embeddings/Microsoft_Excel_Worksheet23.xlsx" /></Relationships>
</file>

<file path=ppt/charts/_rels/chart18.xml.rels>&#65279;<?xml version="1.0" encoding="utf-8" standalone="yes"?><Relationships xmlns="http://schemas.openxmlformats.org/package/2006/relationships"><Relationship Id="rId1" Type="http://schemas.openxmlformats.org/officeDocument/2006/relationships/package" Target="../embeddings/Microsoft_Excel_Worksheet25.xlsx" /></Relationships>
</file>

<file path=ppt/charts/_rels/chart19.xml.rels>&#65279;<?xml version="1.0" encoding="utf-8" standalone="yes"?><Relationships xmlns="http://schemas.openxmlformats.org/package/2006/relationships"><Relationship Id="rId1" Type="http://schemas.openxmlformats.org/officeDocument/2006/relationships/package" Target="../embeddings/Microsoft_Excel_Worksheet26.xlsx" /></Relationships>
</file>

<file path=ppt/charts/_rels/chart20.xml.rels>&#65279;<?xml version="1.0" encoding="utf-8" standalone="yes"?><Relationships xmlns="http://schemas.openxmlformats.org/package/2006/relationships"><Relationship Id="rId1" Type="http://schemas.openxmlformats.org/officeDocument/2006/relationships/package" Target="../embeddings/Microsoft_Excel_Worksheet27.xlsx" /></Relationships>
</file>

<file path=ppt/charts/_rels/chart21.xml.rels>&#65279;<?xml version="1.0" encoding="utf-8" standalone="yes"?><Relationships xmlns="http://schemas.openxmlformats.org/package/2006/relationships"><Relationship Id="rId1" Type="http://schemas.openxmlformats.org/officeDocument/2006/relationships/package" Target="../embeddings/Microsoft_Excel_Worksheet28.xlsx" /></Relationships>
</file>

<file path=ppt/charts/_rels/chart22.xml.rels>&#65279;<?xml version="1.0" encoding="utf-8" standalone="yes"?><Relationships xmlns="http://schemas.openxmlformats.org/package/2006/relationships"><Relationship Id="rId1" Type="http://schemas.openxmlformats.org/officeDocument/2006/relationships/package" Target="../embeddings/Microsoft_Excel_Worksheet30.xlsx" /></Relationships>
</file>

<file path=ppt/charts/_rels/chart23.xml.rels>&#65279;<?xml version="1.0" encoding="utf-8" standalone="yes"?><Relationships xmlns="http://schemas.openxmlformats.org/package/2006/relationships"><Relationship Id="rId1" Type="http://schemas.openxmlformats.org/officeDocument/2006/relationships/package" Target="../embeddings/Microsoft_Excel_Worksheet31.xlsx" /></Relationships>
</file>

<file path=ppt/charts/_rels/chart24.xml.rels>&#65279;<?xml version="1.0" encoding="utf-8" standalone="yes"?><Relationships xmlns="http://schemas.openxmlformats.org/package/2006/relationships"><Relationship Id="rId1" Type="http://schemas.openxmlformats.org/officeDocument/2006/relationships/package" Target="../embeddings/Microsoft_Excel_Worksheet32.xlsx" /></Relationships>
</file>

<file path=ppt/charts/_rels/chart25.xml.rels>&#65279;<?xml version="1.0" encoding="utf-8" standalone="yes"?><Relationships xmlns="http://schemas.openxmlformats.org/package/2006/relationships"><Relationship Id="rId1" Type="http://schemas.openxmlformats.org/officeDocument/2006/relationships/package" Target="../embeddings/Microsoft_Excel_Worksheet33.xlsx" /></Relationships>
</file>

<file path=ppt/charts/_rels/chart26.xml.rels>&#65279;<?xml version="1.0" encoding="utf-8" standalone="yes"?><Relationships xmlns="http://schemas.openxmlformats.org/package/2006/relationships"><Relationship Id="rId1" Type="http://schemas.openxmlformats.org/officeDocument/2006/relationships/package" Target="../embeddings/Microsoft_Excel_Worksheet34.xlsx" /></Relationships>
</file>

<file path=ppt/charts/_rels/chart27.xml.rels>&#65279;<?xml version="1.0" encoding="utf-8" standalone="yes"?><Relationships xmlns="http://schemas.openxmlformats.org/package/2006/relationships"><Relationship Id="rId1" Type="http://schemas.openxmlformats.org/officeDocument/2006/relationships/package" Target="../embeddings/Microsoft_Excel_Worksheet35.xlsx" /></Relationships>
</file>

<file path=ppt/charts/_rels/chart28.xml.rels>&#65279;<?xml version="1.0" encoding="utf-8" standalone="yes"?><Relationships xmlns="http://schemas.openxmlformats.org/package/2006/relationships"><Relationship Id="rId1" Type="http://schemas.openxmlformats.org/officeDocument/2006/relationships/package" Target="../embeddings/Microsoft_Excel_Worksheet36.xlsx" /></Relationships>
</file>

<file path=ppt/charts/_rels/chart29.xml.rels>&#65279;<?xml version="1.0" encoding="utf-8" standalone="yes"?><Relationships xmlns="http://schemas.openxmlformats.org/package/2006/relationships"><Relationship Id="rId1" Type="http://schemas.openxmlformats.org/officeDocument/2006/relationships/package" Target="../embeddings/Microsoft_Excel_Worksheet37.xlsx" /></Relationships>
</file>

<file path=ppt/charts/_rels/chart30.xml.rels>&#65279;<?xml version="1.0" encoding="utf-8" standalone="yes"?><Relationships xmlns="http://schemas.openxmlformats.org/package/2006/relationships"><Relationship Id="rId1" Type="http://schemas.openxmlformats.org/officeDocument/2006/relationships/package" Target="../embeddings/Microsoft_Excel_Worksheet38.xlsx" /></Relationships>
</file>

<file path=ppt/charts/_rels/chart31.xml.rels>&#65279;<?xml version="1.0" encoding="utf-8" standalone="yes"?><Relationships xmlns="http://schemas.openxmlformats.org/package/2006/relationships"><Relationship Id="rId1" Type="http://schemas.openxmlformats.org/officeDocument/2006/relationships/package" Target="../embeddings/Microsoft_Excel_Worksheet39.xlsx" /></Relationships>
</file>

<file path=ppt/charts/_rels/chart32.xml.rels>&#65279;<?xml version="1.0" encoding="utf-8" standalone="yes"?><Relationships xmlns="http://schemas.openxmlformats.org/package/2006/relationships"><Relationship Id="rId1" Type="http://schemas.openxmlformats.org/officeDocument/2006/relationships/package" Target="../embeddings/Microsoft_Excel_Worksheet40.xlsx" /></Relationships>
</file>

<file path=ppt/charts/_rels/chart33.xml.rels>&#65279;<?xml version="1.0" encoding="utf-8" standalone="yes"?><Relationships xmlns="http://schemas.openxmlformats.org/package/2006/relationships"><Relationship Id="rId1" Type="http://schemas.openxmlformats.org/officeDocument/2006/relationships/package" Target="../embeddings/Microsoft_Excel_Worksheet41.xlsx" /></Relationships>
</file>

<file path=ppt/charts/_rels/chart34.xml.rels>&#65279;<?xml version="1.0" encoding="utf-8" standalone="yes"?><Relationships xmlns="http://schemas.openxmlformats.org/package/2006/relationships"><Relationship Id="rId1" Type="http://schemas.openxmlformats.org/officeDocument/2006/relationships/package" Target="../embeddings/Microsoft_Excel_Worksheet42.xlsx" /></Relationships>
</file>

<file path=ppt/charts/_rels/chart35.xml.rels>&#65279;<?xml version="1.0" encoding="utf-8" standalone="yes"?><Relationships xmlns="http://schemas.openxmlformats.org/package/2006/relationships"><Relationship Id="rId1" Type="http://schemas.openxmlformats.org/officeDocument/2006/relationships/package" Target="../embeddings/Microsoft_Excel_Worksheet43.xlsx" /></Relationships>
</file>

<file path=ppt/charts/_rels/chart36.xml.rels>&#65279;<?xml version="1.0" encoding="utf-8" standalone="yes"?><Relationships xmlns="http://schemas.openxmlformats.org/package/2006/relationships"><Relationship Id="rId1" Type="http://schemas.openxmlformats.org/officeDocument/2006/relationships/package" Target="../embeddings/Microsoft_Excel_Worksheet44.xlsx" /></Relationships>
</file>

<file path=ppt/charts/chart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Sheet1!$A$2:$A$3</c:f>
              <c:strCache>
                <c:ptCount val="2"/>
                <c:pt idx="0">
                  <c:v>Internet users</c:v>
                </c:pt>
                <c:pt idx="1">
                  <c:v>Social media users</c:v>
                </c:pt>
              </c:strCache>
            </c:strRef>
          </c:cat>
          <c:val>
            <c:numRef>
              <c:f>Sheet1!$B$2:$B$3</c:f>
              <c:numCache>
                <c:ptCount val="2"/>
                <c:pt idx="0">
                  <c:v>5.16</c:v>
                </c:pt>
                <c:pt idx="1">
                  <c:v>4.76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users in billions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Honduras</c:v>
                </c:pt>
                <c:pt idx="1">
                  <c:v>Paraguay</c:v>
                </c:pt>
                <c:pt idx="2">
                  <c:v>Costa Rica</c:v>
                </c:pt>
                <c:pt idx="3">
                  <c:v>Guatemala</c:v>
                </c:pt>
                <c:pt idx="4">
                  <c:v>Dominican Republic</c:v>
                </c:pt>
                <c:pt idx="5">
                  <c:v>El Salvador</c:v>
                </c:pt>
                <c:pt idx="6">
                  <c:v>Chile</c:v>
                </c:pt>
                <c:pt idx="7">
                  <c:v>Haiti</c:v>
                </c:pt>
                <c:pt idx="8">
                  <c:v>Nicaragua</c:v>
                </c:pt>
                <c:pt idx="9">
                  <c:v>Bolivia</c:v>
                </c:pt>
                <c:pt idx="10">
                  <c:v>Ecuador</c:v>
                </c:pt>
                <c:pt idx="11">
                  <c:v>Uruguay</c:v>
                </c:pt>
                <c:pt idx="12">
                  <c:v>Peru</c:v>
                </c:pt>
                <c:pt idx="13">
                  <c:v>Brazil</c:v>
                </c:pt>
                <c:pt idx="14">
                  <c:v>Argentina</c:v>
                </c:pt>
              </c:strCache>
            </c:strRef>
          </c:cat>
          <c:val>
            <c:numRef>
              <c:f>Sheet1!$B$2:$B$16</c:f>
              <c:numCache>
                <c:ptCount val="15"/>
                <c:pt idx="0">
                  <c:v>0.995</c:v>
                </c:pt>
                <c:pt idx="1">
                  <c:v>0.994</c:v>
                </c:pt>
                <c:pt idx="2">
                  <c:v>0.993</c:v>
                </c:pt>
                <c:pt idx="3">
                  <c:v>0.992</c:v>
                </c:pt>
                <c:pt idx="4">
                  <c:v>0.992</c:v>
                </c:pt>
                <c:pt idx="5">
                  <c:v>0.992</c:v>
                </c:pt>
                <c:pt idx="6">
                  <c:v>0.989</c:v>
                </c:pt>
                <c:pt idx="7">
                  <c:v>0.989</c:v>
                </c:pt>
                <c:pt idx="8">
                  <c:v>0.988</c:v>
                </c:pt>
                <c:pt idx="9">
                  <c:v>0.987</c:v>
                </c:pt>
                <c:pt idx="10">
                  <c:v>0.981</c:v>
                </c:pt>
                <c:pt idx="11">
                  <c:v>0.979</c:v>
                </c:pt>
                <c:pt idx="12">
                  <c:v>0.979</c:v>
                </c:pt>
                <c:pt idx="13">
                  <c:v>0.972</c:v>
                </c:pt>
                <c:pt idx="14">
                  <c:v>0.948</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2021</c:v>
                </c:pt>
              </c:strCache>
            </c:strRef>
          </c:tx>
          <c:spPr>
            <a:solidFill>
              <a:srgbClr val="2875DD"/>
            </a:solidFill>
            <a:ln>
              <a:solidFill>
                <a:srgbClr val="2875DD"/>
              </a:solidFill>
            </a:ln>
          </c:spPr>
          <c:invertIfNegative val="0"/>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Albania</c:v>
                </c:pt>
                <c:pt idx="1">
                  <c:v>Andorra</c:v>
                </c:pt>
                <c:pt idx="2">
                  <c:v>Austria</c:v>
                </c:pt>
                <c:pt idx="3">
                  <c:v>Belarus</c:v>
                </c:pt>
                <c:pt idx="4">
                  <c:v>Belgium</c:v>
                </c:pt>
                <c:pt idx="5">
                  <c:v>Bosnia &amp; Herzegovina</c:v>
                </c:pt>
                <c:pt idx="6">
                  <c:v>Bulgaria</c:v>
                </c:pt>
                <c:pt idx="7">
                  <c:v>Croatia</c:v>
                </c:pt>
                <c:pt idx="8">
                  <c:v>Cyprus</c:v>
                </c:pt>
                <c:pt idx="9">
                  <c:v>Czechia</c:v>
                </c:pt>
                <c:pt idx="10">
                  <c:v>Denmark</c:v>
                </c:pt>
                <c:pt idx="11">
                  <c:v>Estonia</c:v>
                </c:pt>
                <c:pt idx="12">
                  <c:v>Finland</c:v>
                </c:pt>
                <c:pt idx="13">
                  <c:v>France</c:v>
                </c:pt>
                <c:pt idx="14">
                  <c:v>Germany</c:v>
                </c:pt>
              </c:strCache>
            </c:strRef>
          </c:cat>
          <c:val>
            <c:numRef>
              <c:f>Sheet1!$B$2:$B$16</c:f>
              <c:numCache>
                <c:ptCount val="15"/>
                <c:pt idx="0">
                  <c:v>0.988</c:v>
                </c:pt>
                <c:pt idx="1">
                  <c:v>0.98</c:v>
                </c:pt>
                <c:pt idx="2">
                  <c:v>0.964</c:v>
                </c:pt>
                <c:pt idx="3">
                  <c:v>0.953</c:v>
                </c:pt>
                <c:pt idx="4">
                  <c:v>0.961</c:v>
                </c:pt>
                <c:pt idx="5">
                  <c:v>0.974</c:v>
                </c:pt>
                <c:pt idx="6">
                  <c:v>0.969</c:v>
                </c:pt>
                <c:pt idx="7">
                  <c:v>0.974</c:v>
                </c:pt>
                <c:pt idx="8">
                  <c:v>0.983</c:v>
                </c:pt>
                <c:pt idx="9">
                  <c:v>0.946</c:v>
                </c:pt>
                <c:pt idx="10">
                  <c:v>0.968</c:v>
                </c:pt>
                <c:pt idx="11">
                  <c:v>0.944</c:v>
                </c:pt>
                <c:pt idx="12">
                  <c:v>0.958</c:v>
                </c:pt>
                <c:pt idx="13">
                  <c:v>0.961</c:v>
                </c:pt>
                <c:pt idx="14">
                  <c:v>0.96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Taiwan</c:v>
                </c:pt>
                <c:pt idx="1">
                  <c:v>South Korea</c:v>
                </c:pt>
                <c:pt idx="2">
                  <c:v>Brunei</c:v>
                </c:pt>
                <c:pt idx="3">
                  <c:v>Maldives</c:v>
                </c:pt>
                <c:pt idx="4">
                  <c:v>Malaysia</c:v>
                </c:pt>
                <c:pt idx="5">
                  <c:v>Singapore</c:v>
                </c:pt>
                <c:pt idx="6">
                  <c:v>China</c:v>
                </c:pt>
                <c:pt idx="7">
                  <c:v>Hong Kong</c:v>
                </c:pt>
                <c:pt idx="8">
                  <c:v>Thailand</c:v>
                </c:pt>
                <c:pt idx="9">
                  <c:v>Philippines</c:v>
                </c:pt>
                <c:pt idx="10">
                  <c:v>Mongolia</c:v>
                </c:pt>
                <c:pt idx="11">
                  <c:v>New Zealand</c:v>
                </c:pt>
                <c:pt idx="12">
                  <c:v>Australia</c:v>
                </c:pt>
                <c:pt idx="13">
                  <c:v>Japan</c:v>
                </c:pt>
                <c:pt idx="14">
                  <c:v>Vietnam</c:v>
                </c:pt>
              </c:strCache>
            </c:strRef>
          </c:cat>
          <c:val>
            <c:numRef>
              <c:f>Sheet1!$B$2:$B$16</c:f>
              <c:numCache>
                <c:ptCount val="15"/>
                <c:pt idx="0">
                  <c:v>0.89</c:v>
                </c:pt>
                <c:pt idx="1">
                  <c:v>0.85</c:v>
                </c:pt>
                <c:pt idx="2">
                  <c:v>0.82</c:v>
                </c:pt>
                <c:pt idx="3">
                  <c:v>0.78</c:v>
                </c:pt>
                <c:pt idx="4">
                  <c:v>0.74</c:v>
                </c:pt>
                <c:pt idx="5">
                  <c:v>0.72</c:v>
                </c:pt>
                <c:pt idx="6">
                  <c:v>0.71</c:v>
                </c:pt>
                <c:pt idx="7">
                  <c:v>0.71</c:v>
                </c:pt>
                <c:pt idx="8">
                  <c:v>0.71</c:v>
                </c:pt>
                <c:pt idx="9">
                  <c:v>0.67</c:v>
                </c:pt>
                <c:pt idx="10">
                  <c:v>0.67</c:v>
                </c:pt>
                <c:pt idx="11">
                  <c:v>0.65</c:v>
                </c:pt>
                <c:pt idx="12">
                  <c:v>0.64</c:v>
                </c:pt>
                <c:pt idx="13">
                  <c:v>0.61</c:v>
                </c:pt>
                <c:pt idx="14">
                  <c:v>0.6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Sheet1!$A$2:$A$4</c:f>
              <c:strCache>
                <c:ptCount val="3"/>
                <c:pt idx="0">
                  <c:v>South America</c:v>
                </c:pt>
                <c:pt idx="1">
                  <c:v>Central America &amp; Mexico</c:v>
                </c:pt>
                <c:pt idx="2">
                  <c:v>The Caribbean</c:v>
                </c:pt>
              </c:strCache>
            </c:strRef>
          </c:cat>
          <c:val>
            <c:numRef>
              <c:f>Sheet1!$B$2:$B$4</c:f>
              <c:numCache>
                <c:ptCount val="3"/>
                <c:pt idx="0">
                  <c:v>262</c:v>
                </c:pt>
                <c:pt idx="1">
                  <c:v>107</c:v>
                </c:pt>
                <c:pt idx="2">
                  <c:v>19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monthly active social media users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stacked"/>
        <c:varyColors val="0"/>
        <c:ser>
          <c:idx val="0"/>
          <c:order val="0"/>
          <c:tx>
            <c:strRef>
              <c:f>Sheet1!$B$1</c:f>
              <c:strCache>
                <c:ptCount val="1"/>
                <c:pt idx="0">
                  <c:v>Games</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Sheet1!$A$2:$A$5</c:f>
              <c:strCache>
                <c:ptCount val="4"/>
                <c:pt idx="0">
                  <c:v>2019</c:v>
                </c:pt>
                <c:pt idx="1">
                  <c:v>2020</c:v>
                </c:pt>
                <c:pt idx="2">
                  <c:v>2021*</c:v>
                </c:pt>
                <c:pt idx="3">
                  <c:v>2025*</c:v>
                </c:pt>
              </c:strCache>
            </c:strRef>
          </c:cat>
          <c:val>
            <c:numRef>
              <c:f>Sheet1!$B$2:$B$5</c:f>
              <c:numCache>
                <c:ptCount val="4"/>
                <c:pt idx="0">
                  <c:v>0.68</c:v>
                </c:pt>
                <c:pt idx="1">
                  <c:v>0.66</c:v>
                </c:pt>
                <c:pt idx="2">
                  <c:v>0.61</c:v>
                </c:pt>
                <c:pt idx="3">
                  <c:v>0.42</c:v>
                </c:pt>
              </c:numCache>
            </c:numRef>
          </c:val>
        </c:ser>
        <c:ser>
          <c:idx val="1"/>
          <c:order val="1"/>
          <c:tx>
            <c:strRef>
              <c:f>Sheet1!$C$1</c:f>
              <c:strCache>
                <c:ptCount val="1"/>
                <c:pt idx="0">
                  <c:v>Photo &amp; video</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Sheet1!$A$2:$A$5</c:f>
              <c:strCache>
                <c:ptCount val="4"/>
                <c:pt idx="0">
                  <c:v>2019</c:v>
                </c:pt>
                <c:pt idx="1">
                  <c:v>2020</c:v>
                </c:pt>
                <c:pt idx="2">
                  <c:v>2021*</c:v>
                </c:pt>
                <c:pt idx="3">
                  <c:v>2025*</c:v>
                </c:pt>
              </c:strCache>
            </c:strRef>
          </c:cat>
          <c:val>
            <c:numRef>
              <c:f>Sheet1!$C$2:$C$5</c:f>
              <c:numCache>
                <c:ptCount val="4"/>
                <c:pt idx="0">
                  <c:v>0.04</c:v>
                </c:pt>
                <c:pt idx="1">
                  <c:v>0.05</c:v>
                </c:pt>
                <c:pt idx="2">
                  <c:v>0.07</c:v>
                </c:pt>
                <c:pt idx="3">
                  <c:v>0.13</c:v>
                </c:pt>
              </c:numCache>
            </c:numRef>
          </c:val>
        </c:ser>
        <c:ser>
          <c:idx val="2"/>
          <c:order val="2"/>
          <c:tx>
            <c:strRef>
              <c:f>Sheet1!$D$1</c:f>
              <c:strCache>
                <c:ptCount val="1"/>
                <c:pt idx="0">
                  <c:v>Entertainment</c:v>
                </c:pt>
              </c:strCache>
            </c:strRef>
          </c:tx>
          <c:spPr>
            <a:solidFill>
              <a:srgbClr val="BABABA"/>
            </a:solidFill>
            <a:ln>
              <a:solidFill>
                <a:srgbClr val="BABABA"/>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Sheet1!$A$2:$A$5</c:f>
              <c:strCache>
                <c:ptCount val="4"/>
                <c:pt idx="0">
                  <c:v>2019</c:v>
                </c:pt>
                <c:pt idx="1">
                  <c:v>2020</c:v>
                </c:pt>
                <c:pt idx="2">
                  <c:v>2021*</c:v>
                </c:pt>
                <c:pt idx="3">
                  <c:v>2025*</c:v>
                </c:pt>
              </c:strCache>
            </c:strRef>
          </c:cat>
          <c:val>
            <c:numRef>
              <c:f>Sheet1!$D$2:$D$5</c:f>
              <c:numCache>
                <c:ptCount val="4"/>
                <c:pt idx="0">
                  <c:v>0.07</c:v>
                </c:pt>
                <c:pt idx="1">
                  <c:v>0.07</c:v>
                </c:pt>
                <c:pt idx="2">
                  <c:v>0.08</c:v>
                </c:pt>
                <c:pt idx="3">
                  <c:v>0.11</c:v>
                </c:pt>
              </c:numCache>
            </c:numRef>
          </c:val>
        </c:ser>
        <c:ser>
          <c:idx val="3"/>
          <c:order val="3"/>
          <c:tx>
            <c:strRef>
              <c:f>Sheet1!$E$1</c:f>
              <c:strCache>
                <c:ptCount val="1"/>
                <c:pt idx="0">
                  <c:v>Social networking</c:v>
                </c:pt>
              </c:strCache>
            </c:strRef>
          </c:tx>
          <c:spPr>
            <a:solidFill>
              <a:srgbClr val="A60B0B"/>
            </a:solidFill>
            <a:ln>
              <a:solidFill>
                <a:srgbClr val="A60B0B"/>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Sheet1!$A$2:$A$5</c:f>
              <c:strCache>
                <c:ptCount val="4"/>
                <c:pt idx="0">
                  <c:v>2019</c:v>
                </c:pt>
                <c:pt idx="1">
                  <c:v>2020</c:v>
                </c:pt>
                <c:pt idx="2">
                  <c:v>2021*</c:v>
                </c:pt>
                <c:pt idx="3">
                  <c:v>2025*</c:v>
                </c:pt>
              </c:strCache>
            </c:strRef>
          </c:cat>
          <c:val>
            <c:numRef>
              <c:f>Sheet1!$E$2:$E$5</c:f>
              <c:numCache>
                <c:ptCount val="4"/>
                <c:pt idx="0">
                  <c:v>0.05</c:v>
                </c:pt>
                <c:pt idx="1">
                  <c:v>0.05</c:v>
                </c:pt>
                <c:pt idx="2">
                  <c:v>0.05</c:v>
                </c:pt>
                <c:pt idx="3">
                  <c:v>0.07</c:v>
                </c:pt>
              </c:numCache>
            </c:numRef>
          </c:val>
        </c:ser>
        <c:ser>
          <c:idx val="4"/>
          <c:order val="4"/>
          <c:tx>
            <c:strRef>
              <c:f>Sheet1!$F$1</c:f>
              <c:strCache>
                <c:ptCount val="1"/>
                <c:pt idx="0">
                  <c:v>Books</c:v>
                </c:pt>
              </c:strCache>
            </c:strRef>
          </c:tx>
          <c:spPr>
            <a:solidFill>
              <a:srgbClr val="87BC24"/>
            </a:solidFill>
            <a:ln>
              <a:solidFill>
                <a:srgbClr val="87BC24"/>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Sheet1!$A$2:$A$5</c:f>
              <c:strCache>
                <c:ptCount val="4"/>
                <c:pt idx="0">
                  <c:v>2019</c:v>
                </c:pt>
                <c:pt idx="1">
                  <c:v>2020</c:v>
                </c:pt>
                <c:pt idx="2">
                  <c:v>2021*</c:v>
                </c:pt>
                <c:pt idx="3">
                  <c:v>2025*</c:v>
                </c:pt>
              </c:strCache>
            </c:strRef>
          </c:cat>
          <c:val>
            <c:numRef>
              <c:f>Sheet1!$F$2:$F$5</c:f>
              <c:numCache>
                <c:ptCount val="4"/>
                <c:pt idx="0">
                  <c:v>0.02</c:v>
                </c:pt>
                <c:pt idx="1">
                  <c:v>0.02</c:v>
                </c:pt>
                <c:pt idx="2">
                  <c:v>0.03</c:v>
                </c:pt>
                <c:pt idx="3">
                  <c:v>0.04</c:v>
                </c:pt>
              </c:numCache>
            </c:numRef>
          </c:val>
        </c:ser>
        <c:ser>
          <c:idx val="5"/>
          <c:order val="5"/>
          <c:tx>
            <c:strRef>
              <c:f>Sheet1!$G$1</c:f>
              <c:strCache>
                <c:ptCount val="1"/>
                <c:pt idx="0">
                  <c:v>Music</c:v>
                </c:pt>
              </c:strCache>
            </c:strRef>
          </c:tx>
          <c:spPr>
            <a:solidFill>
              <a:srgbClr val="EBB523"/>
            </a:solidFill>
            <a:ln>
              <a:solidFill>
                <a:srgbClr val="EBB523"/>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Sheet1!$A$2:$A$5</c:f>
              <c:strCache>
                <c:ptCount val="4"/>
                <c:pt idx="0">
                  <c:v>2019</c:v>
                </c:pt>
                <c:pt idx="1">
                  <c:v>2020</c:v>
                </c:pt>
                <c:pt idx="2">
                  <c:v>2021*</c:v>
                </c:pt>
                <c:pt idx="3">
                  <c:v>2025*</c:v>
                </c:pt>
              </c:strCache>
            </c:strRef>
          </c:cat>
          <c:val>
            <c:numRef>
              <c:f>Sheet1!$G$2:$G$5</c:f>
              <c:numCache>
                <c:ptCount val="4"/>
                <c:pt idx="0">
                  <c:v>0.03</c:v>
                </c:pt>
                <c:pt idx="1">
                  <c:v>0.03</c:v>
                </c:pt>
                <c:pt idx="2">
                  <c:v>0.03</c:v>
                </c:pt>
                <c:pt idx="3">
                  <c:v>0.04</c:v>
                </c:pt>
              </c:numCache>
            </c:numRef>
          </c:val>
        </c:ser>
        <c:ser>
          <c:idx val="6"/>
          <c:order val="6"/>
          <c:tx>
            <c:strRef>
              <c:f>Sheet1!$H$1</c:f>
              <c:strCache>
                <c:ptCount val="1"/>
                <c:pt idx="0">
                  <c:v>Other</c:v>
                </c:pt>
              </c:strCache>
            </c:strRef>
          </c:tx>
          <c:spPr>
            <a:solidFill>
              <a:srgbClr val="5D2B76"/>
            </a:solidFill>
            <a:ln>
              <a:solidFill>
                <a:srgbClr val="5D2B76"/>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Sheet1!$A$2:$A$5</c:f>
              <c:strCache>
                <c:ptCount val="4"/>
                <c:pt idx="0">
                  <c:v>2019</c:v>
                </c:pt>
                <c:pt idx="1">
                  <c:v>2020</c:v>
                </c:pt>
                <c:pt idx="2">
                  <c:v>2021*</c:v>
                </c:pt>
                <c:pt idx="3">
                  <c:v>2025*</c:v>
                </c:pt>
              </c:strCache>
            </c:strRef>
          </c:cat>
          <c:val>
            <c:numRef>
              <c:f>Sheet1!$H$2:$H$5</c:f>
              <c:numCache>
                <c:ptCount val="4"/>
                <c:pt idx="0">
                  <c:v>0.11</c:v>
                </c:pt>
                <c:pt idx="1">
                  <c:v>0.12</c:v>
                </c:pt>
                <c:pt idx="2">
                  <c:v>0.13</c:v>
                </c:pt>
                <c:pt idx="3">
                  <c:v>0.19</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Games</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Sheet1!$A$2:$A$5</c:f>
              <c:strCache>
                <c:ptCount val="4"/>
                <c:pt idx="0">
                  <c:v>2019</c:v>
                </c:pt>
                <c:pt idx="1">
                  <c:v>2020</c:v>
                </c:pt>
                <c:pt idx="2">
                  <c:v>2021*</c:v>
                </c:pt>
                <c:pt idx="3">
                  <c:v>2025*</c:v>
                </c:pt>
              </c:strCache>
            </c:strRef>
          </c:cat>
          <c:val>
            <c:numRef>
              <c:f>Sheet1!$B$2:$B$5</c:f>
              <c:numCache>
                <c:ptCount val="4"/>
                <c:pt idx="0">
                  <c:v>0.85</c:v>
                </c:pt>
                <c:pt idx="1">
                  <c:v>0.83</c:v>
                </c:pt>
                <c:pt idx="2">
                  <c:v>0.8</c:v>
                </c:pt>
                <c:pt idx="3">
                  <c:v>0.71</c:v>
                </c:pt>
              </c:numCache>
            </c:numRef>
          </c:val>
        </c:ser>
        <c:ser>
          <c:idx val="1"/>
          <c:order val="1"/>
          <c:tx>
            <c:strRef>
              <c:f>Sheet1!$C$1</c:f>
              <c:strCache>
                <c:ptCount val="1"/>
                <c:pt idx="0">
                  <c:v>Social</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Sheet1!$A$2:$A$5</c:f>
              <c:strCache>
                <c:ptCount val="4"/>
                <c:pt idx="0">
                  <c:v>2019</c:v>
                </c:pt>
                <c:pt idx="1">
                  <c:v>2020</c:v>
                </c:pt>
                <c:pt idx="2">
                  <c:v>2021*</c:v>
                </c:pt>
                <c:pt idx="3">
                  <c:v>2025*</c:v>
                </c:pt>
              </c:strCache>
            </c:strRef>
          </c:cat>
          <c:val>
            <c:numRef>
              <c:f>Sheet1!$C$2:$C$5</c:f>
              <c:numCache>
                <c:ptCount val="4"/>
                <c:pt idx="0">
                  <c:v>0.02</c:v>
                </c:pt>
                <c:pt idx="1">
                  <c:v>0.03</c:v>
                </c:pt>
                <c:pt idx="2">
                  <c:v>0.04</c:v>
                </c:pt>
                <c:pt idx="3">
                  <c:v>0.05</c:v>
                </c:pt>
              </c:numCache>
            </c:numRef>
          </c:val>
        </c:ser>
        <c:ser>
          <c:idx val="2"/>
          <c:order val="2"/>
          <c:tx>
            <c:strRef>
              <c:f>Sheet1!$D$1</c:f>
              <c:strCache>
                <c:ptCount val="1"/>
                <c:pt idx="0">
                  <c:v>Entertainment</c:v>
                </c:pt>
              </c:strCache>
            </c:strRef>
          </c:tx>
          <c:spPr>
            <a:solidFill>
              <a:srgbClr val="BABABA"/>
            </a:solidFill>
            <a:ln>
              <a:solidFill>
                <a:srgbClr val="BABABA"/>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Sheet1!$A$2:$A$5</c:f>
              <c:strCache>
                <c:ptCount val="4"/>
                <c:pt idx="0">
                  <c:v>2019</c:v>
                </c:pt>
                <c:pt idx="1">
                  <c:v>2020</c:v>
                </c:pt>
                <c:pt idx="2">
                  <c:v>2021*</c:v>
                </c:pt>
                <c:pt idx="3">
                  <c:v>2025*</c:v>
                </c:pt>
              </c:strCache>
            </c:strRef>
          </c:cat>
          <c:val>
            <c:numRef>
              <c:f>Sheet1!$D$2:$D$5</c:f>
              <c:numCache>
                <c:ptCount val="4"/>
                <c:pt idx="0">
                  <c:v>0.02</c:v>
                </c:pt>
                <c:pt idx="1">
                  <c:v>0.03</c:v>
                </c:pt>
                <c:pt idx="2">
                  <c:v>0.03</c:v>
                </c:pt>
                <c:pt idx="3">
                  <c:v>0.04</c:v>
                </c:pt>
              </c:numCache>
            </c:numRef>
          </c:val>
        </c:ser>
        <c:ser>
          <c:idx val="3"/>
          <c:order val="3"/>
          <c:tx>
            <c:strRef>
              <c:f>Sheet1!$E$1</c:f>
              <c:strCache>
                <c:ptCount val="1"/>
                <c:pt idx="0">
                  <c:v>Comics</c:v>
                </c:pt>
              </c:strCache>
            </c:strRef>
          </c:tx>
          <c:spPr>
            <a:solidFill>
              <a:srgbClr val="A60B0B"/>
            </a:solidFill>
            <a:ln>
              <a:solidFill>
                <a:srgbClr val="A60B0B"/>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Sheet1!$A$2:$A$5</c:f>
              <c:strCache>
                <c:ptCount val="4"/>
                <c:pt idx="0">
                  <c:v>2019</c:v>
                </c:pt>
                <c:pt idx="1">
                  <c:v>2020</c:v>
                </c:pt>
                <c:pt idx="2">
                  <c:v>2021*</c:v>
                </c:pt>
                <c:pt idx="3">
                  <c:v>2025*</c:v>
                </c:pt>
              </c:strCache>
            </c:strRef>
          </c:cat>
          <c:val>
            <c:numRef>
              <c:f>Sheet1!$E$2:$E$5</c:f>
              <c:numCache>
                <c:ptCount val="4"/>
                <c:pt idx="0">
                  <c:v>0.01</c:v>
                </c:pt>
                <c:pt idx="1">
                  <c:v>0.01</c:v>
                </c:pt>
                <c:pt idx="2">
                  <c:v>0.03</c:v>
                </c:pt>
                <c:pt idx="3">
                  <c:v>0.04</c:v>
                </c:pt>
              </c:numCache>
            </c:numRef>
          </c:val>
        </c:ser>
        <c:ser>
          <c:idx val="4"/>
          <c:order val="4"/>
          <c:tx>
            <c:strRef>
              <c:f>Sheet1!$F$1</c:f>
              <c:strCache>
                <c:ptCount val="1"/>
                <c:pt idx="0">
                  <c:v>Productivity</c:v>
                </c:pt>
              </c:strCache>
            </c:strRef>
          </c:tx>
          <c:spPr>
            <a:solidFill>
              <a:srgbClr val="87BC24"/>
            </a:solidFill>
            <a:ln>
              <a:solidFill>
                <a:srgbClr val="87BC24"/>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Sheet1!$A$2:$A$5</c:f>
              <c:strCache>
                <c:ptCount val="4"/>
                <c:pt idx="0">
                  <c:v>2019</c:v>
                </c:pt>
                <c:pt idx="1">
                  <c:v>2020</c:v>
                </c:pt>
                <c:pt idx="2">
                  <c:v>2021*</c:v>
                </c:pt>
                <c:pt idx="3">
                  <c:v>2025*</c:v>
                </c:pt>
              </c:strCache>
            </c:strRef>
          </c:cat>
          <c:val>
            <c:numRef>
              <c:f>Sheet1!$F$2:$F$5</c:f>
              <c:numCache>
                <c:ptCount val="4"/>
                <c:pt idx="0">
                  <c:v>0.02</c:v>
                </c:pt>
                <c:pt idx="1">
                  <c:v>0.02</c:v>
                </c:pt>
                <c:pt idx="2">
                  <c:v>0.02</c:v>
                </c:pt>
                <c:pt idx="3">
                  <c:v>0.02</c:v>
                </c:pt>
              </c:numCache>
            </c:numRef>
          </c:val>
        </c:ser>
        <c:ser>
          <c:idx val="5"/>
          <c:order val="5"/>
          <c:tx>
            <c:strRef>
              <c:f>Sheet1!$G$1</c:f>
              <c:strCache>
                <c:ptCount val="1"/>
                <c:pt idx="0">
                  <c:v>Health and Fitness</c:v>
                </c:pt>
              </c:strCache>
            </c:strRef>
          </c:tx>
          <c:spPr>
            <a:solidFill>
              <a:srgbClr val="EBB523"/>
            </a:solidFill>
            <a:ln>
              <a:solidFill>
                <a:srgbClr val="EBB523"/>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Sheet1!$A$2:$A$5</c:f>
              <c:strCache>
                <c:ptCount val="4"/>
                <c:pt idx="0">
                  <c:v>2019</c:v>
                </c:pt>
                <c:pt idx="1">
                  <c:v>2020</c:v>
                </c:pt>
                <c:pt idx="2">
                  <c:v>2021*</c:v>
                </c:pt>
                <c:pt idx="3">
                  <c:v>2025*</c:v>
                </c:pt>
              </c:strCache>
            </c:strRef>
          </c:cat>
          <c:val>
            <c:numRef>
              <c:f>Sheet1!$G$2:$G$5</c:f>
              <c:numCache>
                <c:ptCount val="4"/>
                <c:pt idx="0">
                  <c:v>0.01</c:v>
                </c:pt>
                <c:pt idx="1">
                  <c:v>0.01</c:v>
                </c:pt>
                <c:pt idx="2">
                  <c:v>0.01</c:v>
                </c:pt>
                <c:pt idx="3">
                  <c:v>0.02</c:v>
                </c:pt>
              </c:numCache>
            </c:numRef>
          </c:val>
        </c:ser>
        <c:ser>
          <c:idx val="6"/>
          <c:order val="6"/>
          <c:tx>
            <c:strRef>
              <c:f>Sheet1!$H$1</c:f>
              <c:strCache>
                <c:ptCount val="1"/>
                <c:pt idx="0">
                  <c:v>Other</c:v>
                </c:pt>
              </c:strCache>
            </c:strRef>
          </c:tx>
          <c:spPr>
            <a:solidFill>
              <a:srgbClr val="5D2B76"/>
            </a:solidFill>
            <a:ln>
              <a:solidFill>
                <a:srgbClr val="5D2B76"/>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Sheet1!$A$2:$A$5</c:f>
              <c:strCache>
                <c:ptCount val="4"/>
                <c:pt idx="0">
                  <c:v>2019</c:v>
                </c:pt>
                <c:pt idx="1">
                  <c:v>2020</c:v>
                </c:pt>
                <c:pt idx="2">
                  <c:v>2021*</c:v>
                </c:pt>
                <c:pt idx="3">
                  <c:v>2025*</c:v>
                </c:pt>
              </c:strCache>
            </c:strRef>
          </c:cat>
          <c:val>
            <c:numRef>
              <c:f>Sheet1!$H$2:$H$5</c:f>
              <c:numCache>
                <c:ptCount val="4"/>
                <c:pt idx="0">
                  <c:v>0.08</c:v>
                </c:pt>
                <c:pt idx="1">
                  <c:v>0.08</c:v>
                </c:pt>
                <c:pt idx="2">
                  <c:v>0.09</c:v>
                </c:pt>
                <c:pt idx="3">
                  <c:v>0.13</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revenue</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Facebook</c:v>
                </c:pt>
                <c:pt idx="1">
                  <c:v>YouTube</c:v>
                </c:pt>
                <c:pt idx="2">
                  <c:v>WhatsApp*</c:v>
                </c:pt>
                <c:pt idx="3">
                  <c:v>Instagram</c:v>
                </c:pt>
                <c:pt idx="4">
                  <c:v>WeChat</c:v>
                </c:pt>
                <c:pt idx="5">
                  <c:v>TikTok</c:v>
                </c:pt>
                <c:pt idx="6">
                  <c:v>Facebook Messenger</c:v>
                </c:pt>
                <c:pt idx="7">
                  <c:v>Douyin**</c:v>
                </c:pt>
                <c:pt idx="8">
                  <c:v>Telegram</c:v>
                </c:pt>
                <c:pt idx="9">
                  <c:v>Snapchat</c:v>
                </c:pt>
                <c:pt idx="10">
                  <c:v>Kuaishou</c:v>
                </c:pt>
                <c:pt idx="11">
                  <c:v>Sina Weibo</c:v>
                </c:pt>
                <c:pt idx="12">
                  <c:v>QQ</c:v>
                </c:pt>
                <c:pt idx="13">
                  <c:v>Twitter</c:v>
                </c:pt>
                <c:pt idx="14">
                  <c:v>Pinterest</c:v>
                </c:pt>
              </c:strCache>
            </c:strRef>
          </c:cat>
          <c:val>
            <c:numRef>
              <c:f>Sheet1!$B$2:$B$16</c:f>
              <c:numCache>
                <c:ptCount val="15"/>
                <c:pt idx="0">
                  <c:v>2958</c:v>
                </c:pt>
                <c:pt idx="1">
                  <c:v>2514</c:v>
                </c:pt>
                <c:pt idx="2">
                  <c:v>2000</c:v>
                </c:pt>
                <c:pt idx="3">
                  <c:v>2000</c:v>
                </c:pt>
                <c:pt idx="4">
                  <c:v>1309</c:v>
                </c:pt>
                <c:pt idx="5">
                  <c:v>1051</c:v>
                </c:pt>
                <c:pt idx="6">
                  <c:v>931</c:v>
                </c:pt>
                <c:pt idx="7">
                  <c:v>715</c:v>
                </c:pt>
                <c:pt idx="8">
                  <c:v>700</c:v>
                </c:pt>
                <c:pt idx="9">
                  <c:v>635</c:v>
                </c:pt>
                <c:pt idx="10">
                  <c:v>626</c:v>
                </c:pt>
                <c:pt idx="11">
                  <c:v>584</c:v>
                </c:pt>
                <c:pt idx="12">
                  <c:v>574</c:v>
                </c:pt>
                <c:pt idx="13">
                  <c:v>556</c:v>
                </c:pt>
                <c:pt idx="14">
                  <c:v>445</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tickLblPos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Sheet1!$A$2:$A$7</c:f>
              <c:strCache>
                <c:ptCount val="6"/>
                <c:pt idx="0">
                  <c:v>WhatsApp*</c:v>
                </c:pt>
                <c:pt idx="1">
                  <c:v>Weixin / WeChat</c:v>
                </c:pt>
                <c:pt idx="2">
                  <c:v>Facebook Messenger</c:v>
                </c:pt>
                <c:pt idx="3">
                  <c:v>QQ</c:v>
                </c:pt>
                <c:pt idx="4">
                  <c:v>Snapchat</c:v>
                </c:pt>
                <c:pt idx="5">
                  <c:v>Telegram</c:v>
                </c:pt>
              </c:strCache>
            </c:strRef>
          </c:cat>
          <c:val>
            <c:numRef>
              <c:f>Sheet1!$B$2:$B$7</c:f>
              <c:numCache>
                <c:ptCount val="6"/>
                <c:pt idx="0">
                  <c:v>2000</c:v>
                </c:pt>
                <c:pt idx="1">
                  <c:v>1263</c:v>
                </c:pt>
                <c:pt idx="2">
                  <c:v>988</c:v>
                </c:pt>
                <c:pt idx="3">
                  <c:v>574</c:v>
                </c:pt>
                <c:pt idx="4">
                  <c:v>557</c:v>
                </c:pt>
                <c:pt idx="5">
                  <c:v>550</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Sheet1!$A$2:$A$11</c:f>
              <c:strCache>
                <c:ptCount val="10"/>
                <c:pt idx="0">
                  <c:v>WhatsApp Messenger</c:v>
                </c:pt>
                <c:pt idx="1">
                  <c:v>Snapchat</c:v>
                </c:pt>
                <c:pt idx="2">
                  <c:v>WhatsApp Business</c:v>
                </c:pt>
                <c:pt idx="3">
                  <c:v>Messenger</c:v>
                </c:pt>
                <c:pt idx="4">
                  <c:v>Truecaller: Caller ID &amp; Block</c:v>
                </c:pt>
                <c:pt idx="5">
                  <c:v>Messenger Lite</c:v>
                </c:pt>
                <c:pt idx="6">
                  <c:v>Carrier Services</c:v>
                </c:pt>
                <c:pt idx="7">
                  <c:v>Viber - Safe Chats And Calls</c:v>
                </c:pt>
                <c:pt idx="8">
                  <c:v>Messages</c:v>
                </c:pt>
                <c:pt idx="9">
                  <c:v>Skype</c:v>
                </c:pt>
              </c:strCache>
            </c:strRef>
          </c:cat>
          <c:val>
            <c:numRef>
              <c:f>Sheet1!$B$2:$B$11</c:f>
              <c:numCache>
                <c:ptCount val="10"/>
                <c:pt idx="0">
                  <c:v>20.72</c:v>
                </c:pt>
                <c:pt idx="1">
                  <c:v>15.27</c:v>
                </c:pt>
                <c:pt idx="2">
                  <c:v>12.87</c:v>
                </c:pt>
                <c:pt idx="3">
                  <c:v>10.65</c:v>
                </c:pt>
                <c:pt idx="4">
                  <c:v>8.22</c:v>
                </c:pt>
                <c:pt idx="5">
                  <c:v>5.86</c:v>
                </c:pt>
                <c:pt idx="6">
                  <c:v>5.58</c:v>
                </c:pt>
                <c:pt idx="7">
                  <c:v>5.03</c:v>
                </c:pt>
                <c:pt idx="8">
                  <c:v>4.69</c:v>
                </c:pt>
                <c:pt idx="9">
                  <c:v>4.66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Sheet1!$A$2:$A$11</c:f>
              <c:strCache>
                <c:ptCount val="10"/>
                <c:pt idx="0">
                  <c:v>Discord: Talk, Chat &amp; Hang Out</c:v>
                </c:pt>
                <c:pt idx="1">
                  <c:v>Azar - video chat &amp; livestream</c:v>
                </c:pt>
                <c:pt idx="2">
                  <c:v>Mocha TN5250</c:v>
                </c:pt>
                <c:pt idx="3">
                  <c:v>imo-International Calls &amp; Chat</c:v>
                </c:pt>
                <c:pt idx="4">
                  <c:v>LINE: Calls &amp; Messages</c:v>
                </c:pt>
                <c:pt idx="5">
                  <c:v>Kik - Messaging &amp; Chat App</c:v>
                </c:pt>
                <c:pt idx="6">
                  <c:v>Skype</c:v>
                </c:pt>
                <c:pt idx="7">
                  <c:v>Truecaller: Caller ID &amp; Block</c:v>
                </c:pt>
                <c:pt idx="8">
                  <c:v>Snapchat</c:v>
                </c:pt>
                <c:pt idx="9">
                  <c:v>Cafe - Live video chat</c:v>
                </c:pt>
              </c:strCache>
            </c:strRef>
          </c:cat>
          <c:val>
            <c:numRef>
              <c:f>Sheet1!$B$2:$B$11</c:f>
              <c:numCache>
                <c:ptCount val="10"/>
                <c:pt idx="0">
                  <c:v>1722622</c:v>
                </c:pt>
                <c:pt idx="1">
                  <c:v>1503878</c:v>
                </c:pt>
                <c:pt idx="2">
                  <c:v>681791</c:v>
                </c:pt>
                <c:pt idx="3">
                  <c:v>509975</c:v>
                </c:pt>
                <c:pt idx="4">
                  <c:v>509811</c:v>
                </c:pt>
                <c:pt idx="5">
                  <c:v>501016</c:v>
                </c:pt>
                <c:pt idx="6">
                  <c:v>450623</c:v>
                </c:pt>
                <c:pt idx="7">
                  <c:v>385037</c:v>
                </c:pt>
                <c:pt idx="8">
                  <c:v>307527</c:v>
                </c:pt>
                <c:pt idx="9">
                  <c:v>277660</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Sheet1!$A$2:$A$11</c:f>
              <c:strCache>
                <c:ptCount val="10"/>
                <c:pt idx="0">
                  <c:v>BeReal</c:v>
                </c:pt>
                <c:pt idx="1">
                  <c:v>WhatsApp Messenger</c:v>
                </c:pt>
                <c:pt idx="2">
                  <c:v>Telegram Messenger</c:v>
                </c:pt>
                <c:pt idx="3">
                  <c:v>Facebook</c:v>
                </c:pt>
                <c:pt idx="4">
                  <c:v>Messenger</c:v>
                </c:pt>
                <c:pt idx="5">
                  <c:v>WeChat</c:v>
                </c:pt>
                <c:pt idx="6">
                  <c:v>Xiao Hong Shu</c:v>
                </c:pt>
                <c:pt idx="7">
                  <c:v>Discord - Parla e chatta</c:v>
                </c:pt>
                <c:pt idx="8">
                  <c:v>QQ</c:v>
                </c:pt>
                <c:pt idx="9">
                  <c:v>Life360</c:v>
                </c:pt>
              </c:strCache>
            </c:strRef>
          </c:cat>
          <c:val>
            <c:numRef>
              <c:f>Sheet1!$B$2:$B$11</c:f>
              <c:numCache>
                <c:ptCount val="10"/>
                <c:pt idx="0">
                  <c:v>13.89</c:v>
                </c:pt>
                <c:pt idx="1">
                  <c:v>6.96</c:v>
                </c:pt>
                <c:pt idx="2">
                  <c:v>4</c:v>
                </c:pt>
                <c:pt idx="3">
                  <c:v>3.99</c:v>
                </c:pt>
                <c:pt idx="4">
                  <c:v>3.57</c:v>
                </c:pt>
                <c:pt idx="5">
                  <c:v>2.68</c:v>
                </c:pt>
                <c:pt idx="6">
                  <c:v>1.88</c:v>
                </c:pt>
                <c:pt idx="7">
                  <c:v>1.73</c:v>
                </c:pt>
                <c:pt idx="8">
                  <c:v>1.4</c:v>
                </c:pt>
                <c:pt idx="9">
                  <c:v>1.31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Sheet1!$A$2:$A$11</c:f>
              <c:strCache>
                <c:ptCount val="10"/>
                <c:pt idx="0">
                  <c:v>LINE</c:v>
                </c:pt>
                <c:pt idx="1">
                  <c:v>BIGO LIVE - Live, Chat &amp; Meet</c:v>
                </c:pt>
                <c:pt idx="2">
                  <c:v>QQ</c:v>
                </c:pt>
                <c:pt idx="3">
                  <c:v>WeChat</c:v>
                </c:pt>
                <c:pt idx="4">
                  <c:v>Pairs</c:v>
                </c:pt>
                <c:pt idx="5">
                  <c:v>Azar - Video Chat</c:v>
                </c:pt>
                <c:pt idx="6">
                  <c:v>Zhihu</c:v>
                </c:pt>
                <c:pt idx="7">
                  <c:v>Grindr - Gay Dating &amp; Chat</c:v>
                </c:pt>
                <c:pt idx="8">
                  <c:v>Tapple</c:v>
                </c:pt>
                <c:pt idx="9">
                  <c:v>17LIVE - Live Streaming</c:v>
                </c:pt>
              </c:strCache>
            </c:strRef>
          </c:cat>
          <c:val>
            <c:numRef>
              <c:f>Sheet1!$B$2:$B$11</c:f>
              <c:numCache>
                <c:ptCount val="10"/>
                <c:pt idx="0">
                  <c:v>4.94</c:v>
                </c:pt>
                <c:pt idx="1">
                  <c:v>4.54</c:v>
                </c:pt>
                <c:pt idx="2">
                  <c:v>4.19</c:v>
                </c:pt>
                <c:pt idx="3">
                  <c:v>4.12</c:v>
                </c:pt>
                <c:pt idx="4">
                  <c:v>4.09</c:v>
                </c:pt>
                <c:pt idx="5">
                  <c:v>3.73</c:v>
                </c:pt>
                <c:pt idx="6">
                  <c:v>3.41</c:v>
                </c:pt>
                <c:pt idx="7">
                  <c:v>3.08</c:v>
                </c:pt>
                <c:pt idx="8">
                  <c:v>2.63</c:v>
                </c:pt>
                <c:pt idx="9">
                  <c:v>2.58</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Sheet1!$A$2:$A$11</c:f>
              <c:strCache>
                <c:ptCount val="10"/>
                <c:pt idx="0">
                  <c:v>Google LLC</c:v>
                </c:pt>
                <c:pt idx="1">
                  <c:v>Microsoft Corporation</c:v>
                </c:pt>
                <c:pt idx="2">
                  <c:v>Meta Platforms, Inc.</c:v>
                </c:pt>
                <c:pt idx="3">
                  <c:v>TikTok Pte. Ltd.</c:v>
                </c:pt>
                <c:pt idx="4">
                  <c:v>Samsung Electronics Co., Ltd.</c:v>
                </c:pt>
                <c:pt idx="5">
                  <c:v>Amazon Mobile LLC</c:v>
                </c:pt>
                <c:pt idx="6">
                  <c:v>WhatsApp LLC</c:v>
                </c:pt>
                <c:pt idx="7">
                  <c:v>Disney</c:v>
                </c:pt>
                <c:pt idx="8">
                  <c:v>Instagram</c:v>
                </c:pt>
                <c:pt idx="9">
                  <c:v>Snap Inc</c:v>
                </c:pt>
              </c:strCache>
            </c:strRef>
          </c:cat>
          <c:val>
            <c:numRef>
              <c:f>Sheet1!$B$2:$B$11</c:f>
              <c:numCache>
                <c:ptCount val="10"/>
                <c:pt idx="0">
                  <c:v>224.89</c:v>
                </c:pt>
                <c:pt idx="1">
                  <c:v>53.08</c:v>
                </c:pt>
                <c:pt idx="2">
                  <c:v>43.91</c:v>
                </c:pt>
                <c:pt idx="3">
                  <c:v>43.58</c:v>
                </c:pt>
                <c:pt idx="4">
                  <c:v>37.68</c:v>
                </c:pt>
                <c:pt idx="5">
                  <c:v>36.29</c:v>
                </c:pt>
                <c:pt idx="6">
                  <c:v>34.65</c:v>
                </c:pt>
                <c:pt idx="7">
                  <c:v>27.65</c:v>
                </c:pt>
                <c:pt idx="8">
                  <c:v>25.72</c:v>
                </c:pt>
                <c:pt idx="9">
                  <c:v>15.27</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Instagram</c:v>
                </c:pt>
                <c:pt idx="1">
                  <c:v>cristiano</c:v>
                </c:pt>
                <c:pt idx="2">
                  <c:v>leomessi</c:v>
                </c:pt>
                <c:pt idx="3">
                  <c:v>kyliejenner</c:v>
                </c:pt>
                <c:pt idx="4">
                  <c:v>selenagomez</c:v>
                </c:pt>
                <c:pt idx="5">
                  <c:v>therock</c:v>
                </c:pt>
                <c:pt idx="6">
                  <c:v>arianagrande</c:v>
                </c:pt>
                <c:pt idx="7">
                  <c:v>kimkardashian</c:v>
                </c:pt>
                <c:pt idx="8">
                  <c:v>beyonce</c:v>
                </c:pt>
                <c:pt idx="9">
                  <c:v>khloekardashian</c:v>
                </c:pt>
                <c:pt idx="10">
                  <c:v>justinbieber</c:v>
                </c:pt>
                <c:pt idx="11">
                  <c:v>kendalljenner</c:v>
                </c:pt>
                <c:pt idx="12">
                  <c:v>nike</c:v>
                </c:pt>
                <c:pt idx="13">
                  <c:v>natgeo</c:v>
                </c:pt>
                <c:pt idx="14">
                  <c:v>taylorswift</c:v>
                </c:pt>
              </c:strCache>
            </c:strRef>
          </c:cat>
          <c:val>
            <c:numRef>
              <c:f>Sheet1!$B$2:$B$16</c:f>
              <c:numCache>
                <c:ptCount val="15"/>
                <c:pt idx="0">
                  <c:v>597</c:v>
                </c:pt>
                <c:pt idx="1">
                  <c:v>539</c:v>
                </c:pt>
                <c:pt idx="2">
                  <c:v>424</c:v>
                </c:pt>
                <c:pt idx="3">
                  <c:v>379</c:v>
                </c:pt>
                <c:pt idx="4">
                  <c:v>373</c:v>
                </c:pt>
                <c:pt idx="5">
                  <c:v>360</c:v>
                </c:pt>
                <c:pt idx="6">
                  <c:v>352</c:v>
                </c:pt>
                <c:pt idx="7">
                  <c:v>342</c:v>
                </c:pt>
                <c:pt idx="8">
                  <c:v>292</c:v>
                </c:pt>
                <c:pt idx="9">
                  <c:v>291</c:v>
                </c:pt>
                <c:pt idx="10">
                  <c:v>274</c:v>
                </c:pt>
                <c:pt idx="11">
                  <c:v>273</c:v>
                </c:pt>
                <c:pt idx="12">
                  <c:v>264</c:v>
                </c:pt>
                <c:pt idx="13">
                  <c:v>258</c:v>
                </c:pt>
                <c:pt idx="14">
                  <c:v>242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India</c:v>
                </c:pt>
                <c:pt idx="1">
                  <c:v>United States</c:v>
                </c:pt>
                <c:pt idx="2">
                  <c:v>Brazil</c:v>
                </c:pt>
                <c:pt idx="3">
                  <c:v>Indonesia</c:v>
                </c:pt>
                <c:pt idx="4">
                  <c:v>Turkey</c:v>
                </c:pt>
                <c:pt idx="5">
                  <c:v>Japan</c:v>
                </c:pt>
                <c:pt idx="6">
                  <c:v>Mexico</c:v>
                </c:pt>
                <c:pt idx="7">
                  <c:v>United Kingdom</c:v>
                </c:pt>
                <c:pt idx="8">
                  <c:v>Germany</c:v>
                </c:pt>
                <c:pt idx="9">
                  <c:v>Italy</c:v>
                </c:pt>
                <c:pt idx="10">
                  <c:v>France</c:v>
                </c:pt>
                <c:pt idx="11">
                  <c:v>Argentina</c:v>
                </c:pt>
                <c:pt idx="12">
                  <c:v>Spain</c:v>
                </c:pt>
                <c:pt idx="13">
                  <c:v>South Korea</c:v>
                </c:pt>
                <c:pt idx="14">
                  <c:v>Colombia</c:v>
                </c:pt>
              </c:strCache>
            </c:strRef>
          </c:cat>
          <c:val>
            <c:numRef>
              <c:f>Sheet1!$B$2:$B$16</c:f>
              <c:numCache>
                <c:ptCount val="15"/>
                <c:pt idx="0">
                  <c:v>229.55</c:v>
                </c:pt>
                <c:pt idx="1">
                  <c:v>143.35</c:v>
                </c:pt>
                <c:pt idx="2">
                  <c:v>113.5</c:v>
                </c:pt>
                <c:pt idx="3">
                  <c:v>89.15</c:v>
                </c:pt>
                <c:pt idx="4">
                  <c:v>48.65</c:v>
                </c:pt>
                <c:pt idx="5">
                  <c:v>45.7</c:v>
                </c:pt>
                <c:pt idx="6">
                  <c:v>36.7</c:v>
                </c:pt>
                <c:pt idx="7">
                  <c:v>28.75</c:v>
                </c:pt>
                <c:pt idx="8">
                  <c:v>27.45</c:v>
                </c:pt>
                <c:pt idx="9">
                  <c:v>26.2</c:v>
                </c:pt>
                <c:pt idx="10">
                  <c:v>23.75</c:v>
                </c:pt>
                <c:pt idx="11">
                  <c:v>23.4</c:v>
                </c:pt>
                <c:pt idx="12">
                  <c:v>21.9</c:v>
                </c:pt>
                <c:pt idx="13">
                  <c:v>19.25</c:v>
                </c:pt>
                <c:pt idx="14">
                  <c:v>17.75</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Brunei</c:v>
                </c:pt>
                <c:pt idx="1">
                  <c:v>Kazakhstan</c:v>
                </c:pt>
                <c:pt idx="2">
                  <c:v>Bahrain</c:v>
                </c:pt>
                <c:pt idx="3">
                  <c:v>Turkey</c:v>
                </c:pt>
                <c:pt idx="4">
                  <c:v>Cyprus</c:v>
                </c:pt>
                <c:pt idx="5">
                  <c:v>Chile</c:v>
                </c:pt>
                <c:pt idx="6">
                  <c:v>Montenegro</c:v>
                </c:pt>
                <c:pt idx="7">
                  <c:v>Cayman Islands</c:v>
                </c:pt>
                <c:pt idx="8">
                  <c:v>Uruguay</c:v>
                </c:pt>
                <c:pt idx="9">
                  <c:v>Panama</c:v>
                </c:pt>
                <c:pt idx="10">
                  <c:v>Argentina</c:v>
                </c:pt>
                <c:pt idx="11">
                  <c:v>Brazil</c:v>
                </c:pt>
                <c:pt idx="12">
                  <c:v>Sweden</c:v>
                </c:pt>
                <c:pt idx="13">
                  <c:v>Iceland</c:v>
                </c:pt>
                <c:pt idx="14">
                  <c:v>Guam</c:v>
                </c:pt>
              </c:strCache>
            </c:strRef>
          </c:cat>
          <c:val>
            <c:numRef>
              <c:f>Sheet1!$B$2:$B$16</c:f>
              <c:numCache>
                <c:ptCount val="15"/>
                <c:pt idx="0">
                  <c:v>0.741</c:v>
                </c:pt>
                <c:pt idx="1">
                  <c:v>0.725</c:v>
                </c:pt>
                <c:pt idx="2">
                  <c:v>0.72</c:v>
                </c:pt>
                <c:pt idx="3">
                  <c:v>0.711</c:v>
                </c:pt>
                <c:pt idx="4">
                  <c:v>0.668</c:v>
                </c:pt>
                <c:pt idx="5">
                  <c:v>0.663</c:v>
                </c:pt>
                <c:pt idx="6">
                  <c:v>0.662</c:v>
                </c:pt>
                <c:pt idx="7">
                  <c:v>0.656</c:v>
                </c:pt>
                <c:pt idx="8">
                  <c:v>0.645</c:v>
                </c:pt>
                <c:pt idx="9">
                  <c:v>0.641</c:v>
                </c:pt>
                <c:pt idx="10">
                  <c:v>0.639</c:v>
                </c:pt>
                <c:pt idx="11">
                  <c:v>0.636</c:v>
                </c:pt>
                <c:pt idx="12">
                  <c:v>0.635</c:v>
                </c:pt>
                <c:pt idx="13">
                  <c:v>0.631</c:v>
                </c:pt>
                <c:pt idx="14">
                  <c:v>0.616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13-17</c:v>
                </c:pt>
                <c:pt idx="1">
                  <c:v>18-24</c:v>
                </c:pt>
                <c:pt idx="2">
                  <c:v>25-34</c:v>
                </c:pt>
                <c:pt idx="3">
                  <c:v>35-44</c:v>
                </c:pt>
                <c:pt idx="4">
                  <c:v>45-54</c:v>
                </c:pt>
                <c:pt idx="5">
                  <c:v>55-64</c:v>
                </c:pt>
                <c:pt idx="6">
                  <c:v>65+</c:v>
                </c:pt>
              </c:strCache>
            </c:strRef>
          </c:cat>
          <c:val>
            <c:numRef>
              <c:f>Sheet1!$B$2:$B$8</c:f>
              <c:numCache>
                <c:ptCount val="7"/>
                <c:pt idx="0">
                  <c:v>0.08</c:v>
                </c:pt>
                <c:pt idx="1">
                  <c:v>0.308</c:v>
                </c:pt>
                <c:pt idx="2">
                  <c:v>0.303</c:v>
                </c:pt>
                <c:pt idx="3">
                  <c:v>0.157</c:v>
                </c:pt>
                <c:pt idx="4">
                  <c:v>0.084</c:v>
                </c:pt>
                <c:pt idx="5">
                  <c:v>0.043</c:v>
                </c:pt>
                <c:pt idx="6">
                  <c:v>0.026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Percentage of users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pieChart>
        <c:varyColors val="0"/>
        <c:ser>
          <c:idx val="0"/>
          <c:order val="0"/>
          <c:tx>
            <c:strRef>
              <c:f>Sheet1!$B$1</c:f>
              <c:strCache>
                <c:ptCount val="1"/>
                <c:pt idx="0">
                  <c:v>Column1</c:v>
                </c:pt>
              </c:strCache>
            </c:strRef>
          </c:tx>
          <c:spPr>
            <a:solidFill>
              <a:srgbClr val="2875DD"/>
            </a:solidFill>
            <a:ln>
              <a:solidFill>
                <a:srgbClr val="2875DD"/>
              </a:solidFill>
            </a:ln>
          </c:spPr>
          <c:dPt>
            <c:idx val="0"/>
            <c:invertIfNegative val="0"/>
            <c:spPr>
              <a:solidFill>
                <a:srgbClr val="2875DD"/>
              </a:solidFill>
            </c:spPr>
          </c:dPt>
          <c:dPt>
            <c:idx val="1"/>
            <c:invertIfNegative val="0"/>
            <c:spPr>
              <a:solidFill>
                <a:srgbClr val="0F283E"/>
              </a:solidFill>
            </c:spPr>
          </c:dPt>
          <c:dLbls>
            <c:dLbl>
              <c:idx val="0"/>
              <c:numFmt formatCode="#,##0.0%" sourceLinked="0"/>
              <c:txPr>
                <a:bodyPr/>
                <a:p>
                  <a:pPr>
                    <a:defRPr sz="1100" b="0" smtId="4294967295">
                      <a:solidFill>
                        <a:srgbClr val="0F2741"/>
                      </a:solidFill>
                      <a:effectLst>
                        <a:glow rad="50800">
                          <a:srgbClr val="FFFFFF"/>
                        </a:glow>
                      </a:effectLst>
                      <a:latin typeface="Open Sans"/>
                    </a:defRPr>
                  </a:pPr>
                  <a:endParaRPr sz="1100" b="0" smtId="4294967295">
                    <a:solidFill>
                      <a:srgbClr val="0F2741"/>
                    </a:solidFill>
                    <a:effectLst>
                      <a:glow rad="50800">
                        <a:srgbClr val="FFFFFF"/>
                      </a:glow>
                    </a:effectLst>
                    <a:latin typeface="Open Sans"/>
                  </a:endParaRPr>
                </a:p>
              </c:txPr>
              <c:dLblPos val="bestFit"/>
              <c:showLegendKey val="1"/>
              <c:showVal val="0"/>
              <c:showCatName val="1"/>
              <c:showSerName val="0"/>
              <c:showPercent val="1"/>
              <c:showBubbleSize val="0"/>
              <c:separator> </c:separator>
              <c:extLst/>
            </c:dLbl>
            <c:dLbl>
              <c:idx val="1"/>
              <c:numFmt formatCode="#,##0.0%" sourceLinked="0"/>
              <c:txPr>
                <a:bodyPr/>
                <a:p>
                  <a:pPr>
                    <a:defRPr sz="1100" b="0" smtId="4294967295">
                      <a:solidFill>
                        <a:srgbClr val="0F2741"/>
                      </a:solidFill>
                      <a:effectLst>
                        <a:glow rad="50800">
                          <a:srgbClr val="FFFFFF"/>
                        </a:glow>
                      </a:effectLst>
                      <a:latin typeface="Open Sans"/>
                    </a:defRPr>
                  </a:pPr>
                  <a:endParaRPr sz="1100" b="0" smtId="4294967295">
                    <a:solidFill>
                      <a:srgbClr val="0F2741"/>
                    </a:solidFill>
                    <a:effectLst>
                      <a:glow rad="50800">
                        <a:srgbClr val="FFFFFF"/>
                      </a:glow>
                    </a:effectLst>
                    <a:latin typeface="Open Sans"/>
                  </a:endParaRPr>
                </a:p>
              </c:txPr>
              <c:dLblPos val="bestFit"/>
              <c:showLegendKey val="1"/>
              <c:showVal val="0"/>
              <c:showCatName val="1"/>
              <c:showSerName val="0"/>
              <c:showPercent val="1"/>
              <c:showBubbleSize val="0"/>
              <c:separator> </c:separator>
              <c:extLst/>
            </c:dLbl>
            <c:txPr>
              <a:bodyPr/>
              <a:p>
                <a:pPr>
                  <a:defRPr sz="1100" b="0" smtId="4294967295">
                    <a:solidFill>
                      <a:srgbClr val="0F2741"/>
                    </a:solidFill>
                    <a:latin typeface="Open Sans"/>
                  </a:defRPr>
                </a:pPr>
                <a:endParaRPr sz="1100" b="0" smtId="4294967295">
                  <a:solidFill>
                    <a:srgbClr val="0F2741"/>
                  </a:solidFill>
                  <a:latin typeface="Open Sans"/>
                </a:endParaRPr>
              </a:p>
            </c:txPr>
            <c:dLblPos val="bestFit"/>
            <c:showLegendKey val="1"/>
            <c:showVal val="0"/>
            <c:showCatName val="1"/>
            <c:showSerName val="0"/>
            <c:showPercent val="1"/>
            <c:showBubbleSize val="0"/>
            <c:separator> </c:separator>
            <c:showLeaderLines val="1"/>
            <c:extLst/>
          </c:dLbls>
          <c:cat>
            <c:strRef>
              <c:f>Sheet1!$A$2:$A$3</c:f>
              <c:strCache>
                <c:ptCount val="2"/>
                <c:pt idx="0">
                  <c:v>Female</c:v>
                </c:pt>
                <c:pt idx="1">
                  <c:v>Male</c:v>
                </c:pt>
              </c:strCache>
            </c:strRef>
          </c:cat>
          <c:val>
            <c:numRef>
              <c:f>Sheet1!$B$2:$B$3</c:f>
              <c:numCache>
                <c:ptCount val="2"/>
                <c:pt idx="0">
                  <c:v>0.482</c:v>
                </c:pt>
                <c:pt idx="1">
                  <c:v>0.518</c:v>
                </c:pt>
              </c:numCache>
            </c:numRef>
          </c:val>
        </c:ser>
        <c:dLbls>
          <c:showLegendKey val="0"/>
          <c:showVal val="0"/>
          <c:showCatName val="0"/>
          <c:showSerName val="0"/>
          <c:showPercent val="0"/>
          <c:showBubbleSize val="0"/>
          <c:showLeaderLines val="0"/>
        </c:dLbls>
        <c:firstSliceAng/>
      </c:pieChart>
    </c:plotArea>
    <c:plotVisOnly val="1"/>
    <c:dispBlanksAs val="gap"/>
    <c:showDLblsOverMax val="1"/>
  </c:chart>
  <c:txPr>
    <a:bodyPr/>
    <a:p>
      <a:pPr>
        <a:defRPr sz="1800" smtId="4294967295"/>
      </a:pPr>
      <a:endParaRPr sz="1800" smtId="4294967295"/>
    </a:p>
  </c:txPr>
  <c:externalData r:id="rId1"/>
</c:chartSpace>
</file>

<file path=ppt/charts/chart2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Female</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13-17</c:v>
                </c:pt>
                <c:pt idx="1">
                  <c:v>18-24</c:v>
                </c:pt>
                <c:pt idx="2">
                  <c:v>25-34</c:v>
                </c:pt>
                <c:pt idx="3">
                  <c:v>35-44</c:v>
                </c:pt>
                <c:pt idx="4">
                  <c:v>45-54</c:v>
                </c:pt>
                <c:pt idx="5">
                  <c:v>55-64</c:v>
                </c:pt>
                <c:pt idx="6">
                  <c:v>65+</c:v>
                </c:pt>
              </c:strCache>
            </c:strRef>
          </c:cat>
          <c:val>
            <c:numRef>
              <c:f>Sheet1!$B$2:$B$8</c:f>
              <c:numCache>
                <c:ptCount val="7"/>
                <c:pt idx="0">
                  <c:v>0.037</c:v>
                </c:pt>
                <c:pt idx="1">
                  <c:v>0.139</c:v>
                </c:pt>
                <c:pt idx="2">
                  <c:v>0.139</c:v>
                </c:pt>
                <c:pt idx="3">
                  <c:v>0.081</c:v>
                </c:pt>
                <c:pt idx="4">
                  <c:v>0.047</c:v>
                </c:pt>
                <c:pt idx="5">
                  <c:v>0.026</c:v>
                </c:pt>
                <c:pt idx="6">
                  <c:v>0.015</c:v>
                </c:pt>
              </c:numCache>
            </c:numRef>
          </c:val>
        </c:ser>
        <c:ser>
          <c:idx val="1"/>
          <c:order val="1"/>
          <c:tx>
            <c:strRef>
              <c:f>Sheet1!$C$1</c:f>
              <c:strCache>
                <c:ptCount val="1"/>
                <c:pt idx="0">
                  <c:v>Male</c:v>
                </c:pt>
              </c:strCache>
            </c:strRef>
          </c:tx>
          <c:spPr>
            <a:solidFill>
              <a:srgbClr val="0F283E"/>
            </a:solidFill>
            <a:ln>
              <a:solidFill>
                <a:srgbClr val="0F283E"/>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13-17</c:v>
                </c:pt>
                <c:pt idx="1">
                  <c:v>18-24</c:v>
                </c:pt>
                <c:pt idx="2">
                  <c:v>25-34</c:v>
                </c:pt>
                <c:pt idx="3">
                  <c:v>35-44</c:v>
                </c:pt>
                <c:pt idx="4">
                  <c:v>45-54</c:v>
                </c:pt>
                <c:pt idx="5">
                  <c:v>55-64</c:v>
                </c:pt>
                <c:pt idx="6">
                  <c:v>65+</c:v>
                </c:pt>
              </c:strCache>
            </c:strRef>
          </c:cat>
          <c:val>
            <c:numRef>
              <c:f>Sheet1!$C$2:$C$8</c:f>
              <c:numCache>
                <c:ptCount val="7"/>
                <c:pt idx="0">
                  <c:v>0.043</c:v>
                </c:pt>
                <c:pt idx="1">
                  <c:v>0.169</c:v>
                </c:pt>
                <c:pt idx="2">
                  <c:v>0.164</c:v>
                </c:pt>
                <c:pt idx="3">
                  <c:v>0.076</c:v>
                </c:pt>
                <c:pt idx="4">
                  <c:v>0.037</c:v>
                </c:pt>
                <c:pt idx="5">
                  <c:v>0.017</c:v>
                </c:pt>
                <c:pt idx="6">
                  <c:v>0.011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Percentage of users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2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India</c:v>
                </c:pt>
                <c:pt idx="1">
                  <c:v>United States</c:v>
                </c:pt>
                <c:pt idx="2">
                  <c:v>France</c:v>
                </c:pt>
                <c:pt idx="3">
                  <c:v>Pakistan</c:v>
                </c:pt>
                <c:pt idx="4">
                  <c:v>United Kingdom</c:v>
                </c:pt>
                <c:pt idx="5">
                  <c:v>Saudi Arabia</c:v>
                </c:pt>
                <c:pt idx="6">
                  <c:v>Mexico</c:v>
                </c:pt>
                <c:pt idx="7">
                  <c:v>Germany</c:v>
                </c:pt>
                <c:pt idx="8">
                  <c:v>Iraq</c:v>
                </c:pt>
                <c:pt idx="9">
                  <c:v>Egypt</c:v>
                </c:pt>
                <c:pt idx="10">
                  <c:v>Turkey</c:v>
                </c:pt>
                <c:pt idx="11">
                  <c:v>Canada</c:v>
                </c:pt>
                <c:pt idx="12">
                  <c:v>Nigeria</c:v>
                </c:pt>
                <c:pt idx="13">
                  <c:v>Philippines</c:v>
                </c:pt>
                <c:pt idx="14">
                  <c:v>Brazil</c:v>
                </c:pt>
              </c:strCache>
            </c:strRef>
          </c:cat>
          <c:val>
            <c:numRef>
              <c:f>Sheet1!$B$2:$B$16</c:f>
              <c:numCache>
                <c:ptCount val="15"/>
                <c:pt idx="0">
                  <c:v>144.35</c:v>
                </c:pt>
                <c:pt idx="1">
                  <c:v>107.95</c:v>
                </c:pt>
                <c:pt idx="2">
                  <c:v>24.7</c:v>
                </c:pt>
                <c:pt idx="3">
                  <c:v>22.25</c:v>
                </c:pt>
                <c:pt idx="4">
                  <c:v>21.35</c:v>
                </c:pt>
                <c:pt idx="5">
                  <c:v>20.45</c:v>
                </c:pt>
                <c:pt idx="6">
                  <c:v>17.25</c:v>
                </c:pt>
                <c:pt idx="7">
                  <c:v>15.65</c:v>
                </c:pt>
                <c:pt idx="8">
                  <c:v>15.35</c:v>
                </c:pt>
                <c:pt idx="9">
                  <c:v>14.1</c:v>
                </c:pt>
                <c:pt idx="10">
                  <c:v>13.8</c:v>
                </c:pt>
                <c:pt idx="11">
                  <c:v>10.4</c:v>
                </c:pt>
                <c:pt idx="12">
                  <c:v>10.4</c:v>
                </c:pt>
                <c:pt idx="13">
                  <c:v>10.1</c:v>
                </c:pt>
                <c:pt idx="14">
                  <c:v>7.6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Sheet1!$A$2:$A$37</c:f>
              <c:strCache>
                <c:ptCount val="36"/>
                <c:pt idx="0">
                  <c:v>Q1 '14</c:v>
                </c:pt>
                <c:pt idx="1">
                  <c:v>Q2 '14</c:v>
                </c:pt>
                <c:pt idx="2">
                  <c:v>Q3 '14</c:v>
                </c:pt>
                <c:pt idx="3">
                  <c:v>Q4 '14</c:v>
                </c:pt>
                <c:pt idx="4">
                  <c:v>Q1 '15</c:v>
                </c:pt>
                <c:pt idx="5">
                  <c:v>Q2 '15</c:v>
                </c:pt>
                <c:pt idx="6">
                  <c:v>Q3 '15</c:v>
                </c:pt>
                <c:pt idx="7">
                  <c:v>Q4 '15</c:v>
                </c:pt>
                <c:pt idx="8">
                  <c:v>Q1 '16</c:v>
                </c:pt>
                <c:pt idx="9">
                  <c:v>Q2 '16</c:v>
                </c:pt>
                <c:pt idx="10">
                  <c:v>Q3 '16</c:v>
                </c:pt>
                <c:pt idx="11">
                  <c:v>Q4 '16</c:v>
                </c:pt>
                <c:pt idx="12">
                  <c:v>Q1 '17</c:v>
                </c:pt>
                <c:pt idx="13">
                  <c:v>Q2 '17</c:v>
                </c:pt>
                <c:pt idx="14">
                  <c:v>Q3 '17</c:v>
                </c:pt>
                <c:pt idx="15">
                  <c:v>Q4 '17</c:v>
                </c:pt>
                <c:pt idx="16">
                  <c:v>Q1 '18</c:v>
                </c:pt>
                <c:pt idx="17">
                  <c:v>Q2 '18</c:v>
                </c:pt>
                <c:pt idx="18">
                  <c:v>Q3 '18</c:v>
                </c:pt>
                <c:pt idx="19">
                  <c:v>Q4 '18</c:v>
                </c:pt>
                <c:pt idx="20">
                  <c:v>Q1 '19</c:v>
                </c:pt>
                <c:pt idx="21">
                  <c:v>Q2 '19</c:v>
                </c:pt>
                <c:pt idx="22">
                  <c:v>Q3 '19</c:v>
                </c:pt>
                <c:pt idx="23">
                  <c:v>Q4 '19</c:v>
                </c:pt>
                <c:pt idx="24">
                  <c:v>Q1 '20</c:v>
                </c:pt>
                <c:pt idx="25">
                  <c:v>Q2 '20</c:v>
                </c:pt>
                <c:pt idx="26">
                  <c:v>Q3 '20</c:v>
                </c:pt>
                <c:pt idx="27">
                  <c:v>Q4 '20</c:v>
                </c:pt>
                <c:pt idx="28">
                  <c:v>Q1 '21</c:v>
                </c:pt>
                <c:pt idx="29">
                  <c:v>Q2 '21</c:v>
                </c:pt>
                <c:pt idx="30">
                  <c:v>Q3 '21</c:v>
                </c:pt>
                <c:pt idx="31">
                  <c:v>Q4 '21</c:v>
                </c:pt>
                <c:pt idx="32">
                  <c:v>Q1 '22</c:v>
                </c:pt>
                <c:pt idx="33">
                  <c:v>Q2 '22</c:v>
                </c:pt>
                <c:pt idx="34">
                  <c:v>Q3 '22</c:v>
                </c:pt>
                <c:pt idx="35">
                  <c:v>Q4 '22</c:v>
                </c:pt>
              </c:strCache>
            </c:strRef>
          </c:cat>
          <c:val>
            <c:numRef>
              <c:f>Sheet1!$B$2:$B$37</c:f>
              <c:numCache>
                <c:ptCount val="36"/>
                <c:pt idx="0">
                  <c:v>46</c:v>
                </c:pt>
                <c:pt idx="1">
                  <c:v>57</c:v>
                </c:pt>
                <c:pt idx="2">
                  <c:v>62</c:v>
                </c:pt>
                <c:pt idx="3">
                  <c:v>71</c:v>
                </c:pt>
                <c:pt idx="4">
                  <c:v>80</c:v>
                </c:pt>
                <c:pt idx="5">
                  <c:v>86</c:v>
                </c:pt>
                <c:pt idx="6">
                  <c:v>94</c:v>
                </c:pt>
                <c:pt idx="7">
                  <c:v>107</c:v>
                </c:pt>
                <c:pt idx="8">
                  <c:v>122</c:v>
                </c:pt>
                <c:pt idx="9">
                  <c:v>143</c:v>
                </c:pt>
                <c:pt idx="10">
                  <c:v>153</c:v>
                </c:pt>
                <c:pt idx="11">
                  <c:v>158</c:v>
                </c:pt>
                <c:pt idx="12">
                  <c:v>166</c:v>
                </c:pt>
                <c:pt idx="13">
                  <c:v>173</c:v>
                </c:pt>
                <c:pt idx="14">
                  <c:v>178</c:v>
                </c:pt>
                <c:pt idx="15">
                  <c:v>187</c:v>
                </c:pt>
                <c:pt idx="16">
                  <c:v>191</c:v>
                </c:pt>
                <c:pt idx="17">
                  <c:v>188</c:v>
                </c:pt>
                <c:pt idx="18">
                  <c:v>186</c:v>
                </c:pt>
                <c:pt idx="19">
                  <c:v>186</c:v>
                </c:pt>
                <c:pt idx="20">
                  <c:v>190</c:v>
                </c:pt>
                <c:pt idx="21">
                  <c:v>203</c:v>
                </c:pt>
                <c:pt idx="22">
                  <c:v>210</c:v>
                </c:pt>
                <c:pt idx="23">
                  <c:v>218</c:v>
                </c:pt>
                <c:pt idx="24">
                  <c:v>229</c:v>
                </c:pt>
                <c:pt idx="25">
                  <c:v>238</c:v>
                </c:pt>
                <c:pt idx="26">
                  <c:v>249</c:v>
                </c:pt>
                <c:pt idx="27">
                  <c:v>265</c:v>
                </c:pt>
                <c:pt idx="28">
                  <c:v>280</c:v>
                </c:pt>
                <c:pt idx="29">
                  <c:v>293</c:v>
                </c:pt>
                <c:pt idx="30">
                  <c:v>306</c:v>
                </c:pt>
                <c:pt idx="31">
                  <c:v>319</c:v>
                </c:pt>
                <c:pt idx="32">
                  <c:v>332</c:v>
                </c:pt>
                <c:pt idx="33">
                  <c:v>347</c:v>
                </c:pt>
                <c:pt idx="34">
                  <c:v>363</c:v>
                </c:pt>
                <c:pt idx="35">
                  <c:v>375</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DAU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North America</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6"/>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7"/>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8"/>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9"/>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6"/>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7"/>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8"/>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9"/>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Sheet1!$A$2:$A$37</c:f>
              <c:strCache>
                <c:ptCount val="36"/>
                <c:pt idx="0">
                  <c:v>Q1 '14</c:v>
                </c:pt>
                <c:pt idx="1">
                  <c:v>Q2 '14</c:v>
                </c:pt>
                <c:pt idx="2">
                  <c:v>Q3 '14</c:v>
                </c:pt>
                <c:pt idx="3">
                  <c:v>Q4 '14</c:v>
                </c:pt>
                <c:pt idx="4">
                  <c:v>Q1 '15</c:v>
                </c:pt>
                <c:pt idx="5">
                  <c:v>Q2 '15</c:v>
                </c:pt>
                <c:pt idx="6">
                  <c:v>Q3 '15</c:v>
                </c:pt>
                <c:pt idx="7">
                  <c:v>Q4 '15</c:v>
                </c:pt>
                <c:pt idx="8">
                  <c:v>Q1 '16</c:v>
                </c:pt>
                <c:pt idx="9">
                  <c:v>Q2 '16</c:v>
                </c:pt>
                <c:pt idx="10">
                  <c:v>Q3 '16</c:v>
                </c:pt>
                <c:pt idx="11">
                  <c:v>Q4 '16</c:v>
                </c:pt>
                <c:pt idx="12">
                  <c:v>Q1 '17</c:v>
                </c:pt>
                <c:pt idx="13">
                  <c:v>Q2 '17</c:v>
                </c:pt>
                <c:pt idx="14">
                  <c:v>Q3 '17</c:v>
                </c:pt>
                <c:pt idx="15">
                  <c:v>Q4 '17</c:v>
                </c:pt>
                <c:pt idx="16">
                  <c:v>Q1 '18</c:v>
                </c:pt>
                <c:pt idx="17">
                  <c:v>Q2 '18</c:v>
                </c:pt>
                <c:pt idx="18">
                  <c:v>Q3 '18</c:v>
                </c:pt>
                <c:pt idx="19">
                  <c:v>Q4 '18</c:v>
                </c:pt>
                <c:pt idx="20">
                  <c:v>Q1 '19</c:v>
                </c:pt>
                <c:pt idx="21">
                  <c:v>Q2 '19</c:v>
                </c:pt>
                <c:pt idx="22">
                  <c:v>Q3 '19</c:v>
                </c:pt>
                <c:pt idx="23">
                  <c:v>Q4 '19</c:v>
                </c:pt>
                <c:pt idx="24">
                  <c:v>Q1 '20</c:v>
                </c:pt>
                <c:pt idx="25">
                  <c:v>Q2 '20</c:v>
                </c:pt>
                <c:pt idx="26">
                  <c:v>Q3 '20</c:v>
                </c:pt>
                <c:pt idx="27">
                  <c:v>Q4 '20</c:v>
                </c:pt>
                <c:pt idx="28">
                  <c:v>Q1 '21</c:v>
                </c:pt>
                <c:pt idx="29">
                  <c:v>Q2 '21</c:v>
                </c:pt>
                <c:pt idx="30">
                  <c:v>Q3 '21</c:v>
                </c:pt>
                <c:pt idx="31">
                  <c:v>Q4 '21</c:v>
                </c:pt>
                <c:pt idx="32">
                  <c:v>Q1 '22</c:v>
                </c:pt>
                <c:pt idx="33">
                  <c:v>Q2 '22</c:v>
                </c:pt>
                <c:pt idx="34">
                  <c:v>Q3 '22</c:v>
                </c:pt>
                <c:pt idx="35">
                  <c:v>Q4 '22</c:v>
                </c:pt>
              </c:strCache>
            </c:strRef>
          </c:cat>
          <c:val>
            <c:numRef>
              <c:f>Sheet1!$B$2:$B$37</c:f>
              <c:numCache>
                <c:ptCount val="36"/>
                <c:pt idx="0">
                  <c:v>26</c:v>
                </c:pt>
                <c:pt idx="1">
                  <c:v>30</c:v>
                </c:pt>
                <c:pt idx="2">
                  <c:v>32</c:v>
                </c:pt>
                <c:pt idx="3">
                  <c:v>35</c:v>
                </c:pt>
                <c:pt idx="4">
                  <c:v>38</c:v>
                </c:pt>
                <c:pt idx="5">
                  <c:v>40</c:v>
                </c:pt>
                <c:pt idx="6">
                  <c:v>44</c:v>
                </c:pt>
                <c:pt idx="7">
                  <c:v>48</c:v>
                </c:pt>
                <c:pt idx="8">
                  <c:v>54</c:v>
                </c:pt>
                <c:pt idx="9">
                  <c:v>61</c:v>
                </c:pt>
                <c:pt idx="10">
                  <c:v>65</c:v>
                </c:pt>
                <c:pt idx="11">
                  <c:v>68</c:v>
                </c:pt>
                <c:pt idx="12">
                  <c:v>71</c:v>
                </c:pt>
                <c:pt idx="13">
                  <c:v>75</c:v>
                </c:pt>
                <c:pt idx="14">
                  <c:v>77</c:v>
                </c:pt>
                <c:pt idx="15">
                  <c:v>80</c:v>
                </c:pt>
                <c:pt idx="16">
                  <c:v>81</c:v>
                </c:pt>
                <c:pt idx="17">
                  <c:v>80</c:v>
                </c:pt>
                <c:pt idx="18">
                  <c:v>79</c:v>
                </c:pt>
                <c:pt idx="19">
                  <c:v>79</c:v>
                </c:pt>
                <c:pt idx="20">
                  <c:v>80</c:v>
                </c:pt>
                <c:pt idx="21">
                  <c:v>83</c:v>
                </c:pt>
                <c:pt idx="22">
                  <c:v>84</c:v>
                </c:pt>
                <c:pt idx="23">
                  <c:v>86</c:v>
                </c:pt>
                <c:pt idx="24">
                  <c:v>88</c:v>
                </c:pt>
                <c:pt idx="25">
                  <c:v>90</c:v>
                </c:pt>
                <c:pt idx="26">
                  <c:v>90</c:v>
                </c:pt>
                <c:pt idx="27">
                  <c:v>92</c:v>
                </c:pt>
                <c:pt idx="28">
                  <c:v>93</c:v>
                </c:pt>
                <c:pt idx="29">
                  <c:v>95</c:v>
                </c:pt>
                <c:pt idx="30">
                  <c:v>96</c:v>
                </c:pt>
                <c:pt idx="31">
                  <c:v>97</c:v>
                </c:pt>
                <c:pt idx="32">
                  <c:v>98</c:v>
                </c:pt>
                <c:pt idx="33">
                  <c:v>99</c:v>
                </c:pt>
                <c:pt idx="34">
                  <c:v>100</c:v>
                </c:pt>
                <c:pt idx="35">
                  <c:v>100</c:v>
                </c:pt>
              </c:numCache>
            </c:numRef>
          </c:val>
        </c:ser>
        <c:ser>
          <c:idx val="1"/>
          <c:order val="1"/>
          <c:tx>
            <c:strRef>
              <c:f>Sheet1!$C$1</c:f>
              <c:strCache>
                <c:ptCount val="1"/>
                <c:pt idx="0">
                  <c:v>Europe</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6"/>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7"/>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8"/>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9"/>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6"/>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7"/>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8"/>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9"/>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Sheet1!$A$2:$A$37</c:f>
              <c:strCache>
                <c:ptCount val="36"/>
                <c:pt idx="0">
                  <c:v>Q1 '14</c:v>
                </c:pt>
                <c:pt idx="1">
                  <c:v>Q2 '14</c:v>
                </c:pt>
                <c:pt idx="2">
                  <c:v>Q3 '14</c:v>
                </c:pt>
                <c:pt idx="3">
                  <c:v>Q4 '14</c:v>
                </c:pt>
                <c:pt idx="4">
                  <c:v>Q1 '15</c:v>
                </c:pt>
                <c:pt idx="5">
                  <c:v>Q2 '15</c:v>
                </c:pt>
                <c:pt idx="6">
                  <c:v>Q3 '15</c:v>
                </c:pt>
                <c:pt idx="7">
                  <c:v>Q4 '15</c:v>
                </c:pt>
                <c:pt idx="8">
                  <c:v>Q1 '16</c:v>
                </c:pt>
                <c:pt idx="9">
                  <c:v>Q2 '16</c:v>
                </c:pt>
                <c:pt idx="10">
                  <c:v>Q3 '16</c:v>
                </c:pt>
                <c:pt idx="11">
                  <c:v>Q4 '16</c:v>
                </c:pt>
                <c:pt idx="12">
                  <c:v>Q1 '17</c:v>
                </c:pt>
                <c:pt idx="13">
                  <c:v>Q2 '17</c:v>
                </c:pt>
                <c:pt idx="14">
                  <c:v>Q3 '17</c:v>
                </c:pt>
                <c:pt idx="15">
                  <c:v>Q4 '17</c:v>
                </c:pt>
                <c:pt idx="16">
                  <c:v>Q1 '18</c:v>
                </c:pt>
                <c:pt idx="17">
                  <c:v>Q2 '18</c:v>
                </c:pt>
                <c:pt idx="18">
                  <c:v>Q3 '18</c:v>
                </c:pt>
                <c:pt idx="19">
                  <c:v>Q4 '18</c:v>
                </c:pt>
                <c:pt idx="20">
                  <c:v>Q1 '19</c:v>
                </c:pt>
                <c:pt idx="21">
                  <c:v>Q2 '19</c:v>
                </c:pt>
                <c:pt idx="22">
                  <c:v>Q3 '19</c:v>
                </c:pt>
                <c:pt idx="23">
                  <c:v>Q4 '19</c:v>
                </c:pt>
                <c:pt idx="24">
                  <c:v>Q1 '20</c:v>
                </c:pt>
                <c:pt idx="25">
                  <c:v>Q2 '20</c:v>
                </c:pt>
                <c:pt idx="26">
                  <c:v>Q3 '20</c:v>
                </c:pt>
                <c:pt idx="27">
                  <c:v>Q4 '20</c:v>
                </c:pt>
                <c:pt idx="28">
                  <c:v>Q1 '21</c:v>
                </c:pt>
                <c:pt idx="29">
                  <c:v>Q2 '21</c:v>
                </c:pt>
                <c:pt idx="30">
                  <c:v>Q3 '21</c:v>
                </c:pt>
                <c:pt idx="31">
                  <c:v>Q4 '21</c:v>
                </c:pt>
                <c:pt idx="32">
                  <c:v>Q1 '22</c:v>
                </c:pt>
                <c:pt idx="33">
                  <c:v>Q2 '22</c:v>
                </c:pt>
                <c:pt idx="34">
                  <c:v>Q3 '22</c:v>
                </c:pt>
                <c:pt idx="35">
                  <c:v>Q4 '22</c:v>
                </c:pt>
              </c:strCache>
            </c:strRef>
          </c:cat>
          <c:val>
            <c:numRef>
              <c:f>Sheet1!$C$2:$C$37</c:f>
              <c:numCache>
                <c:ptCount val="36"/>
                <c:pt idx="0">
                  <c:v>14</c:v>
                </c:pt>
                <c:pt idx="1">
                  <c:v>18</c:v>
                </c:pt>
                <c:pt idx="2">
                  <c:v>20</c:v>
                </c:pt>
                <c:pt idx="3">
                  <c:v>23</c:v>
                </c:pt>
                <c:pt idx="4">
                  <c:v>27</c:v>
                </c:pt>
                <c:pt idx="5">
                  <c:v>29</c:v>
                </c:pt>
                <c:pt idx="6">
                  <c:v>30</c:v>
                </c:pt>
                <c:pt idx="7">
                  <c:v>34</c:v>
                </c:pt>
                <c:pt idx="8">
                  <c:v>39</c:v>
                </c:pt>
                <c:pt idx="9">
                  <c:v>46</c:v>
                </c:pt>
                <c:pt idx="10">
                  <c:v>49</c:v>
                </c:pt>
                <c:pt idx="11">
                  <c:v>52</c:v>
                </c:pt>
                <c:pt idx="12">
                  <c:v>55</c:v>
                </c:pt>
                <c:pt idx="13">
                  <c:v>57</c:v>
                </c:pt>
                <c:pt idx="14">
                  <c:v>57</c:v>
                </c:pt>
                <c:pt idx="15">
                  <c:v>60</c:v>
                </c:pt>
                <c:pt idx="16">
                  <c:v>62</c:v>
                </c:pt>
                <c:pt idx="17">
                  <c:v>61</c:v>
                </c:pt>
                <c:pt idx="18">
                  <c:v>59</c:v>
                </c:pt>
                <c:pt idx="19">
                  <c:v>60</c:v>
                </c:pt>
                <c:pt idx="20">
                  <c:v>61</c:v>
                </c:pt>
                <c:pt idx="21">
                  <c:v>64</c:v>
                </c:pt>
                <c:pt idx="22">
                  <c:v>65</c:v>
                </c:pt>
                <c:pt idx="23">
                  <c:v>67</c:v>
                </c:pt>
                <c:pt idx="24">
                  <c:v>70</c:v>
                </c:pt>
                <c:pt idx="25">
                  <c:v>71</c:v>
                </c:pt>
                <c:pt idx="26">
                  <c:v>72</c:v>
                </c:pt>
                <c:pt idx="27">
                  <c:v>74</c:v>
                </c:pt>
                <c:pt idx="28">
                  <c:v>77</c:v>
                </c:pt>
                <c:pt idx="29">
                  <c:v>78</c:v>
                </c:pt>
                <c:pt idx="30">
                  <c:v>80</c:v>
                </c:pt>
                <c:pt idx="31">
                  <c:v>82</c:v>
                </c:pt>
                <c:pt idx="32">
                  <c:v>84</c:v>
                </c:pt>
                <c:pt idx="33">
                  <c:v>86</c:v>
                </c:pt>
                <c:pt idx="34">
                  <c:v>88</c:v>
                </c:pt>
                <c:pt idx="35">
                  <c:v>92</c:v>
                </c:pt>
              </c:numCache>
            </c:numRef>
          </c:val>
        </c:ser>
        <c:ser>
          <c:idx val="2"/>
          <c:order val="2"/>
          <c:tx>
            <c:strRef>
              <c:f>Sheet1!$D$1</c:f>
              <c:strCache>
                <c:ptCount val="1"/>
                <c:pt idx="0">
                  <c:v>Rest of World</c:v>
                </c:pt>
              </c:strCache>
            </c:strRef>
          </c:tx>
          <c:spPr>
            <a:solidFill>
              <a:srgbClr val="BABABA"/>
            </a:solidFill>
            <a:ln>
              <a:solidFill>
                <a:srgbClr val="BABABA"/>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6"/>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7"/>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8"/>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9"/>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6"/>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7"/>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8"/>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9"/>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Sheet1!$A$2:$A$37</c:f>
              <c:strCache>
                <c:ptCount val="36"/>
                <c:pt idx="0">
                  <c:v>Q1 '14</c:v>
                </c:pt>
                <c:pt idx="1">
                  <c:v>Q2 '14</c:v>
                </c:pt>
                <c:pt idx="2">
                  <c:v>Q3 '14</c:v>
                </c:pt>
                <c:pt idx="3">
                  <c:v>Q4 '14</c:v>
                </c:pt>
                <c:pt idx="4">
                  <c:v>Q1 '15</c:v>
                </c:pt>
                <c:pt idx="5">
                  <c:v>Q2 '15</c:v>
                </c:pt>
                <c:pt idx="6">
                  <c:v>Q3 '15</c:v>
                </c:pt>
                <c:pt idx="7">
                  <c:v>Q4 '15</c:v>
                </c:pt>
                <c:pt idx="8">
                  <c:v>Q1 '16</c:v>
                </c:pt>
                <c:pt idx="9">
                  <c:v>Q2 '16</c:v>
                </c:pt>
                <c:pt idx="10">
                  <c:v>Q3 '16</c:v>
                </c:pt>
                <c:pt idx="11">
                  <c:v>Q4 '16</c:v>
                </c:pt>
                <c:pt idx="12">
                  <c:v>Q1 '17</c:v>
                </c:pt>
                <c:pt idx="13">
                  <c:v>Q2 '17</c:v>
                </c:pt>
                <c:pt idx="14">
                  <c:v>Q3 '17</c:v>
                </c:pt>
                <c:pt idx="15">
                  <c:v>Q4 '17</c:v>
                </c:pt>
                <c:pt idx="16">
                  <c:v>Q1 '18</c:v>
                </c:pt>
                <c:pt idx="17">
                  <c:v>Q2 '18</c:v>
                </c:pt>
                <c:pt idx="18">
                  <c:v>Q3 '18</c:v>
                </c:pt>
                <c:pt idx="19">
                  <c:v>Q4 '18</c:v>
                </c:pt>
                <c:pt idx="20">
                  <c:v>Q1 '19</c:v>
                </c:pt>
                <c:pt idx="21">
                  <c:v>Q2 '19</c:v>
                </c:pt>
                <c:pt idx="22">
                  <c:v>Q3 '19</c:v>
                </c:pt>
                <c:pt idx="23">
                  <c:v>Q4 '19</c:v>
                </c:pt>
                <c:pt idx="24">
                  <c:v>Q1 '20</c:v>
                </c:pt>
                <c:pt idx="25">
                  <c:v>Q2 '20</c:v>
                </c:pt>
                <c:pt idx="26">
                  <c:v>Q3 '20</c:v>
                </c:pt>
                <c:pt idx="27">
                  <c:v>Q4 '20</c:v>
                </c:pt>
                <c:pt idx="28">
                  <c:v>Q1 '21</c:v>
                </c:pt>
                <c:pt idx="29">
                  <c:v>Q2 '21</c:v>
                </c:pt>
                <c:pt idx="30">
                  <c:v>Q3 '21</c:v>
                </c:pt>
                <c:pt idx="31">
                  <c:v>Q4 '21</c:v>
                </c:pt>
                <c:pt idx="32">
                  <c:v>Q1 '22</c:v>
                </c:pt>
                <c:pt idx="33">
                  <c:v>Q2 '22</c:v>
                </c:pt>
                <c:pt idx="34">
                  <c:v>Q3 '22</c:v>
                </c:pt>
                <c:pt idx="35">
                  <c:v>Q4 '22</c:v>
                </c:pt>
              </c:strCache>
            </c:strRef>
          </c:cat>
          <c:val>
            <c:numRef>
              <c:f>Sheet1!$D$2:$D$37</c:f>
              <c:numCache>
                <c:ptCount val="36"/>
                <c:pt idx="0">
                  <c:v>6</c:v>
                </c:pt>
                <c:pt idx="1">
                  <c:v>9</c:v>
                </c:pt>
                <c:pt idx="2">
                  <c:v>11</c:v>
                </c:pt>
                <c:pt idx="3">
                  <c:v>13</c:v>
                </c:pt>
                <c:pt idx="4">
                  <c:v>16</c:v>
                </c:pt>
                <c:pt idx="5">
                  <c:v>18</c:v>
                </c:pt>
                <c:pt idx="6">
                  <c:v>20</c:v>
                </c:pt>
                <c:pt idx="7">
                  <c:v>24</c:v>
                </c:pt>
                <c:pt idx="8">
                  <c:v>29</c:v>
                </c:pt>
                <c:pt idx="9">
                  <c:v>36</c:v>
                </c:pt>
                <c:pt idx="10">
                  <c:v>39</c:v>
                </c:pt>
                <c:pt idx="11">
                  <c:v>39</c:v>
                </c:pt>
                <c:pt idx="12">
                  <c:v>40</c:v>
                </c:pt>
                <c:pt idx="13">
                  <c:v>42</c:v>
                </c:pt>
                <c:pt idx="14">
                  <c:v>44</c:v>
                </c:pt>
                <c:pt idx="15">
                  <c:v>47</c:v>
                </c:pt>
                <c:pt idx="16">
                  <c:v>48</c:v>
                </c:pt>
                <c:pt idx="17">
                  <c:v>47</c:v>
                </c:pt>
                <c:pt idx="18">
                  <c:v>47</c:v>
                </c:pt>
                <c:pt idx="19">
                  <c:v>47</c:v>
                </c:pt>
                <c:pt idx="20">
                  <c:v>49</c:v>
                </c:pt>
                <c:pt idx="21">
                  <c:v>56</c:v>
                </c:pt>
                <c:pt idx="22">
                  <c:v>61</c:v>
                </c:pt>
                <c:pt idx="23">
                  <c:v>64</c:v>
                </c:pt>
                <c:pt idx="24">
                  <c:v>71</c:v>
                </c:pt>
                <c:pt idx="25">
                  <c:v>77</c:v>
                </c:pt>
                <c:pt idx="26">
                  <c:v>87</c:v>
                </c:pt>
                <c:pt idx="27">
                  <c:v>99</c:v>
                </c:pt>
                <c:pt idx="28">
                  <c:v>111</c:v>
                </c:pt>
                <c:pt idx="29">
                  <c:v>120</c:v>
                </c:pt>
                <c:pt idx="30">
                  <c:v>130</c:v>
                </c:pt>
                <c:pt idx="31">
                  <c:v>140</c:v>
                </c:pt>
                <c:pt idx="32">
                  <c:v>150</c:v>
                </c:pt>
                <c:pt idx="33">
                  <c:v>162</c:v>
                </c:pt>
                <c:pt idx="34">
                  <c:v>175</c:v>
                </c:pt>
                <c:pt idx="35">
                  <c:v>183</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DAU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2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Sheet1!$A$2:$A$33</c:f>
              <c:strCache>
                <c:ptCount val="32"/>
                <c:pt idx="0">
                  <c:v>Q1 '15</c:v>
                </c:pt>
                <c:pt idx="1">
                  <c:v>Q2 '15</c:v>
                </c:pt>
                <c:pt idx="2">
                  <c:v>Q3 '15</c:v>
                </c:pt>
                <c:pt idx="3">
                  <c:v>Q4 '15</c:v>
                </c:pt>
                <c:pt idx="4">
                  <c:v>Q1 '16</c:v>
                </c:pt>
                <c:pt idx="5">
                  <c:v>Q2 '16</c:v>
                </c:pt>
                <c:pt idx="6">
                  <c:v>Q3 '16</c:v>
                </c:pt>
                <c:pt idx="7">
                  <c:v>Q4 '16</c:v>
                </c:pt>
                <c:pt idx="8">
                  <c:v>Q1 '17</c:v>
                </c:pt>
                <c:pt idx="9">
                  <c:v>Q2 '17</c:v>
                </c:pt>
                <c:pt idx="10">
                  <c:v>Q3 '17</c:v>
                </c:pt>
                <c:pt idx="11">
                  <c:v>Q4 '17</c:v>
                </c:pt>
                <c:pt idx="12">
                  <c:v>Q1 '18</c:v>
                </c:pt>
                <c:pt idx="13">
                  <c:v>Q2 '18</c:v>
                </c:pt>
                <c:pt idx="14">
                  <c:v>Q3 '18</c:v>
                </c:pt>
                <c:pt idx="15">
                  <c:v>Q4 '18</c:v>
                </c:pt>
                <c:pt idx="16">
                  <c:v>Q1 '19</c:v>
                </c:pt>
                <c:pt idx="17">
                  <c:v>Q2 '19</c:v>
                </c:pt>
                <c:pt idx="18">
                  <c:v>Q3 '19</c:v>
                </c:pt>
                <c:pt idx="19">
                  <c:v>Q4 '19</c:v>
                </c:pt>
                <c:pt idx="20">
                  <c:v>Q1 '20</c:v>
                </c:pt>
                <c:pt idx="21">
                  <c:v>Q2 '20</c:v>
                </c:pt>
                <c:pt idx="22">
                  <c:v>Q3 '20</c:v>
                </c:pt>
                <c:pt idx="23">
                  <c:v>Q4 '20</c:v>
                </c:pt>
                <c:pt idx="24">
                  <c:v>Q1 '21</c:v>
                </c:pt>
                <c:pt idx="25">
                  <c:v>Q2 '21</c:v>
                </c:pt>
                <c:pt idx="26">
                  <c:v>Q3 '21</c:v>
                </c:pt>
                <c:pt idx="27">
                  <c:v>Q4 '21</c:v>
                </c:pt>
                <c:pt idx="28">
                  <c:v>Q1 '22</c:v>
                </c:pt>
                <c:pt idx="29">
                  <c:v>Q2 '22</c:v>
                </c:pt>
                <c:pt idx="30">
                  <c:v>Q3 '22</c:v>
                </c:pt>
                <c:pt idx="31">
                  <c:v>Q4 '22</c:v>
                </c:pt>
              </c:strCache>
            </c:strRef>
          </c:cat>
          <c:val>
            <c:numRef>
              <c:f>Sheet1!$B$2:$B$33</c:f>
              <c:numCache>
                <c:ptCount val="32"/>
                <c:pt idx="0">
                  <c:v>3.92</c:v>
                </c:pt>
                <c:pt idx="1">
                  <c:v>5.3</c:v>
                </c:pt>
                <c:pt idx="2">
                  <c:v>16.73</c:v>
                </c:pt>
                <c:pt idx="3">
                  <c:v>32.72</c:v>
                </c:pt>
                <c:pt idx="4">
                  <c:v>38.8</c:v>
                </c:pt>
                <c:pt idx="5">
                  <c:v>71.8</c:v>
                </c:pt>
                <c:pt idx="6">
                  <c:v>128.2</c:v>
                </c:pt>
                <c:pt idx="7">
                  <c:v>165.68</c:v>
                </c:pt>
                <c:pt idx="8">
                  <c:v>149.65</c:v>
                </c:pt>
                <c:pt idx="9">
                  <c:v>181.67</c:v>
                </c:pt>
                <c:pt idx="10">
                  <c:v>207.94</c:v>
                </c:pt>
                <c:pt idx="11">
                  <c:v>285.69</c:v>
                </c:pt>
                <c:pt idx="12">
                  <c:v>230.67</c:v>
                </c:pt>
                <c:pt idx="13">
                  <c:v>262.26</c:v>
                </c:pt>
                <c:pt idx="14">
                  <c:v>297.7</c:v>
                </c:pt>
                <c:pt idx="15">
                  <c:v>389.82</c:v>
                </c:pt>
                <c:pt idx="16">
                  <c:v>320.43</c:v>
                </c:pt>
                <c:pt idx="17">
                  <c:v>388.02</c:v>
                </c:pt>
                <c:pt idx="18">
                  <c:v>446.2</c:v>
                </c:pt>
                <c:pt idx="19">
                  <c:v>560.89</c:v>
                </c:pt>
                <c:pt idx="20">
                  <c:v>462.48</c:v>
                </c:pt>
                <c:pt idx="21">
                  <c:v>454.16</c:v>
                </c:pt>
                <c:pt idx="22">
                  <c:v>678.67</c:v>
                </c:pt>
                <c:pt idx="23">
                  <c:v>911</c:v>
                </c:pt>
                <c:pt idx="24">
                  <c:v>770</c:v>
                </c:pt>
                <c:pt idx="25">
                  <c:v>982.11</c:v>
                </c:pt>
                <c:pt idx="26">
                  <c:v>1067.47</c:v>
                </c:pt>
                <c:pt idx="27">
                  <c:v>1297.89</c:v>
                </c:pt>
                <c:pt idx="28">
                  <c:v>1062</c:v>
                </c:pt>
                <c:pt idx="29">
                  <c:v>1110</c:v>
                </c:pt>
                <c:pt idx="30">
                  <c:v>1128.48</c:v>
                </c:pt>
                <c:pt idx="31">
                  <c:v>1299.74</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Revenue in million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Sheet1!$A$2:$A$33</c:f>
              <c:strCache>
                <c:ptCount val="32"/>
                <c:pt idx="0">
                  <c:v>Q1 '15</c:v>
                </c:pt>
                <c:pt idx="1">
                  <c:v>Q2 '15</c:v>
                </c:pt>
                <c:pt idx="2">
                  <c:v>Q3 '15</c:v>
                </c:pt>
                <c:pt idx="3">
                  <c:v>Q4 '15</c:v>
                </c:pt>
                <c:pt idx="4">
                  <c:v>Q1 '16</c:v>
                </c:pt>
                <c:pt idx="5">
                  <c:v>Q2 '16</c:v>
                </c:pt>
                <c:pt idx="6">
                  <c:v>Q3 '16</c:v>
                </c:pt>
                <c:pt idx="7">
                  <c:v>Q4 '16</c:v>
                </c:pt>
                <c:pt idx="8">
                  <c:v>Q1 '17</c:v>
                </c:pt>
                <c:pt idx="9">
                  <c:v>Q2 '17*</c:v>
                </c:pt>
                <c:pt idx="10">
                  <c:v>Q3 '17</c:v>
                </c:pt>
                <c:pt idx="11">
                  <c:v>Q4 '17</c:v>
                </c:pt>
                <c:pt idx="12">
                  <c:v>Q1 '18</c:v>
                </c:pt>
                <c:pt idx="13">
                  <c:v>Q2 '18</c:v>
                </c:pt>
                <c:pt idx="14">
                  <c:v>Q3 '18</c:v>
                </c:pt>
                <c:pt idx="15">
                  <c:v>Q4 '18</c:v>
                </c:pt>
                <c:pt idx="16">
                  <c:v>Q1 '19</c:v>
                </c:pt>
                <c:pt idx="17">
                  <c:v>Q2 '19</c:v>
                </c:pt>
                <c:pt idx="18">
                  <c:v>Q3 '19</c:v>
                </c:pt>
                <c:pt idx="19">
                  <c:v>Q4 '19</c:v>
                </c:pt>
                <c:pt idx="20">
                  <c:v>Q1 '20</c:v>
                </c:pt>
                <c:pt idx="21">
                  <c:v>Q2 '20</c:v>
                </c:pt>
                <c:pt idx="22">
                  <c:v>Q3 '20</c:v>
                </c:pt>
                <c:pt idx="23">
                  <c:v>Q4 '20</c:v>
                </c:pt>
                <c:pt idx="24">
                  <c:v>Q1 '21</c:v>
                </c:pt>
                <c:pt idx="25">
                  <c:v>Q2 '21</c:v>
                </c:pt>
                <c:pt idx="26">
                  <c:v>Q3 '21</c:v>
                </c:pt>
                <c:pt idx="27">
                  <c:v>Q4 '21</c:v>
                </c:pt>
                <c:pt idx="28">
                  <c:v>Q1 '22</c:v>
                </c:pt>
                <c:pt idx="29">
                  <c:v>Q2 '22</c:v>
                </c:pt>
                <c:pt idx="30">
                  <c:v>Q3 '22</c:v>
                </c:pt>
                <c:pt idx="31">
                  <c:v>Q4 '22</c:v>
                </c:pt>
              </c:strCache>
            </c:strRef>
          </c:cat>
          <c:val>
            <c:numRef>
              <c:f>Sheet1!$B$2:$B$33</c:f>
              <c:numCache>
                <c:ptCount val="32"/>
                <c:pt idx="0">
                  <c:v>-98.61</c:v>
                </c:pt>
                <c:pt idx="1">
                  <c:v>-79.84</c:v>
                </c:pt>
                <c:pt idx="2">
                  <c:v>-96.66</c:v>
                </c:pt>
                <c:pt idx="3">
                  <c:v>-97.79</c:v>
                </c:pt>
                <c:pt idx="4">
                  <c:v>-104.58</c:v>
                </c:pt>
                <c:pt idx="5">
                  <c:v>-115.89</c:v>
                </c:pt>
                <c:pt idx="6">
                  <c:v>-124.23</c:v>
                </c:pt>
                <c:pt idx="7">
                  <c:v>-169.95</c:v>
                </c:pt>
                <c:pt idx="8">
                  <c:v>-2208.84</c:v>
                </c:pt>
                <c:pt idx="9">
                  <c:v>-193.99</c:v>
                </c:pt>
                <c:pt idx="10">
                  <c:v>-443.16</c:v>
                </c:pt>
                <c:pt idx="11">
                  <c:v>-349.98</c:v>
                </c:pt>
                <c:pt idx="12">
                  <c:v>-385.79</c:v>
                </c:pt>
                <c:pt idx="13">
                  <c:v>-353.31</c:v>
                </c:pt>
                <c:pt idx="14">
                  <c:v>-325.15</c:v>
                </c:pt>
                <c:pt idx="15">
                  <c:v>-191.67</c:v>
                </c:pt>
                <c:pt idx="16">
                  <c:v>-310.41</c:v>
                </c:pt>
                <c:pt idx="17">
                  <c:v>-255.17</c:v>
                </c:pt>
                <c:pt idx="18">
                  <c:v>-227.38</c:v>
                </c:pt>
                <c:pt idx="19">
                  <c:v>-240.7</c:v>
                </c:pt>
                <c:pt idx="20">
                  <c:v>-305.94</c:v>
                </c:pt>
                <c:pt idx="21">
                  <c:v>-325.95</c:v>
                </c:pt>
                <c:pt idx="22">
                  <c:v>-199.85</c:v>
                </c:pt>
                <c:pt idx="23">
                  <c:v>-113</c:v>
                </c:pt>
                <c:pt idx="24">
                  <c:v>-287</c:v>
                </c:pt>
                <c:pt idx="25">
                  <c:v>-152</c:v>
                </c:pt>
                <c:pt idx="26">
                  <c:v>-71.96</c:v>
                </c:pt>
                <c:pt idx="27">
                  <c:v>22.55</c:v>
                </c:pt>
                <c:pt idx="28">
                  <c:v>-359.62</c:v>
                </c:pt>
                <c:pt idx="29">
                  <c:v>-422.07</c:v>
                </c:pt>
                <c:pt idx="30">
                  <c:v>-360</c:v>
                </c:pt>
                <c:pt idx="31">
                  <c:v>-288</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Net income in million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Sheet1!$A$2:$A$29</c:f>
              <c:strCache>
                <c:ptCount val="28"/>
                <c:pt idx="0">
                  <c:v>Q1 '16</c:v>
                </c:pt>
                <c:pt idx="1">
                  <c:v>Q2 '16</c:v>
                </c:pt>
                <c:pt idx="2">
                  <c:v>Q3 '16</c:v>
                </c:pt>
                <c:pt idx="3">
                  <c:v>Q4 '16</c:v>
                </c:pt>
                <c:pt idx="4">
                  <c:v>Q1 '17</c:v>
                </c:pt>
                <c:pt idx="5">
                  <c:v>Q2 '17</c:v>
                </c:pt>
                <c:pt idx="6">
                  <c:v>Q3 '17</c:v>
                </c:pt>
                <c:pt idx="7">
                  <c:v>Q4 '17</c:v>
                </c:pt>
                <c:pt idx="8">
                  <c:v>Q1 '18</c:v>
                </c:pt>
                <c:pt idx="9">
                  <c:v>Q2 '18</c:v>
                </c:pt>
                <c:pt idx="10">
                  <c:v>Q3 '18</c:v>
                </c:pt>
                <c:pt idx="11">
                  <c:v>Q4 '18</c:v>
                </c:pt>
                <c:pt idx="12">
                  <c:v>Q1 '19</c:v>
                </c:pt>
                <c:pt idx="13">
                  <c:v>Q2 '19</c:v>
                </c:pt>
                <c:pt idx="14">
                  <c:v>Q3 '19</c:v>
                </c:pt>
                <c:pt idx="15">
                  <c:v>Q4 '19</c:v>
                </c:pt>
                <c:pt idx="16">
                  <c:v>Q1 '20</c:v>
                </c:pt>
                <c:pt idx="17">
                  <c:v>Q2 '20</c:v>
                </c:pt>
                <c:pt idx="18">
                  <c:v>Q3 '20</c:v>
                </c:pt>
                <c:pt idx="19">
                  <c:v>Q4 '20</c:v>
                </c:pt>
                <c:pt idx="20">
                  <c:v>Q1 '21</c:v>
                </c:pt>
                <c:pt idx="21">
                  <c:v>Q2 '21</c:v>
                </c:pt>
                <c:pt idx="22">
                  <c:v>Q3 '21</c:v>
                </c:pt>
                <c:pt idx="23">
                  <c:v>Q4 '21</c:v>
                </c:pt>
                <c:pt idx="24">
                  <c:v>Q1 '22</c:v>
                </c:pt>
                <c:pt idx="25">
                  <c:v>Q2 '22</c:v>
                </c:pt>
                <c:pt idx="26">
                  <c:v>Q3 '22</c:v>
                </c:pt>
                <c:pt idx="27">
                  <c:v>Q4 '22</c:v>
                </c:pt>
              </c:strCache>
            </c:strRef>
          </c:cat>
          <c:val>
            <c:numRef>
              <c:f>Sheet1!$B$2:$B$29</c:f>
              <c:numCache>
                <c:ptCount val="28"/>
                <c:pt idx="0">
                  <c:v>0.32</c:v>
                </c:pt>
                <c:pt idx="1">
                  <c:v>0.5</c:v>
                </c:pt>
                <c:pt idx="2">
                  <c:v>0.84</c:v>
                </c:pt>
                <c:pt idx="3">
                  <c:v>1.05</c:v>
                </c:pt>
                <c:pt idx="4">
                  <c:v>0.9</c:v>
                </c:pt>
                <c:pt idx="5">
                  <c:v>1.05</c:v>
                </c:pt>
                <c:pt idx="6">
                  <c:v>1.17</c:v>
                </c:pt>
                <c:pt idx="7">
                  <c:v>1.53</c:v>
                </c:pt>
                <c:pt idx="8">
                  <c:v>1.21</c:v>
                </c:pt>
                <c:pt idx="9">
                  <c:v>1.4</c:v>
                </c:pt>
                <c:pt idx="10">
                  <c:v>1.6</c:v>
                </c:pt>
                <c:pt idx="11">
                  <c:v>2.09</c:v>
                </c:pt>
                <c:pt idx="12">
                  <c:v>1.68</c:v>
                </c:pt>
                <c:pt idx="13">
                  <c:v>1.91</c:v>
                </c:pt>
                <c:pt idx="14">
                  <c:v>2.12</c:v>
                </c:pt>
                <c:pt idx="15">
                  <c:v>2.58</c:v>
                </c:pt>
                <c:pt idx="16">
                  <c:v>2.02</c:v>
                </c:pt>
                <c:pt idx="17">
                  <c:v>1.91</c:v>
                </c:pt>
                <c:pt idx="18">
                  <c:v>2.73</c:v>
                </c:pt>
                <c:pt idx="19">
                  <c:v>3.44</c:v>
                </c:pt>
                <c:pt idx="20">
                  <c:v>2.74</c:v>
                </c:pt>
                <c:pt idx="21">
                  <c:v>3.35</c:v>
                </c:pt>
                <c:pt idx="22">
                  <c:v>3.49</c:v>
                </c:pt>
                <c:pt idx="23">
                  <c:v>4.06</c:v>
                </c:pt>
                <c:pt idx="24">
                  <c:v>3.2</c:v>
                </c:pt>
                <c:pt idx="25">
                  <c:v>3.2</c:v>
                </c:pt>
                <c:pt idx="26">
                  <c:v>3.11</c:v>
                </c:pt>
                <c:pt idx="27">
                  <c:v>3.47</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ARPU in U.S. dollars</a:t>
                </a:r>
              </a:p>
            </c:rich>
          </c:tx>
          <c:overlay val="0"/>
        </c:title>
        <c:numFmt formatCode="#,##0.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North America</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7"/>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2"/>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Sheet1!$A$2:$A$29</c:f>
              <c:strCache>
                <c:ptCount val="28"/>
                <c:pt idx="0">
                  <c:v>Q1 '16</c:v>
                </c:pt>
                <c:pt idx="1">
                  <c:v>Q2 '16</c:v>
                </c:pt>
                <c:pt idx="2">
                  <c:v>Q3 '16</c:v>
                </c:pt>
                <c:pt idx="3">
                  <c:v>Q4 '16</c:v>
                </c:pt>
                <c:pt idx="4">
                  <c:v>Q1 '17</c:v>
                </c:pt>
                <c:pt idx="5">
                  <c:v>Q2 '17</c:v>
                </c:pt>
                <c:pt idx="6">
                  <c:v>Q3 '17</c:v>
                </c:pt>
                <c:pt idx="7">
                  <c:v>Q4 '17</c:v>
                </c:pt>
                <c:pt idx="8">
                  <c:v>Q1 '18</c:v>
                </c:pt>
                <c:pt idx="9">
                  <c:v>Q2 '18</c:v>
                </c:pt>
                <c:pt idx="10">
                  <c:v>Q3 '18</c:v>
                </c:pt>
                <c:pt idx="11">
                  <c:v>Q4 '18</c:v>
                </c:pt>
                <c:pt idx="12">
                  <c:v>Q1 '19</c:v>
                </c:pt>
                <c:pt idx="13">
                  <c:v>Q2 '19</c:v>
                </c:pt>
                <c:pt idx="14">
                  <c:v>Q3 '19</c:v>
                </c:pt>
                <c:pt idx="15">
                  <c:v>Q4 '19</c:v>
                </c:pt>
                <c:pt idx="16">
                  <c:v>Q1 '20</c:v>
                </c:pt>
                <c:pt idx="17">
                  <c:v>Q2 '20</c:v>
                </c:pt>
                <c:pt idx="18">
                  <c:v>Q3 '20</c:v>
                </c:pt>
                <c:pt idx="19">
                  <c:v>Q4 '20</c:v>
                </c:pt>
                <c:pt idx="20">
                  <c:v>Q1 '21</c:v>
                </c:pt>
                <c:pt idx="21">
                  <c:v>Q2 '21</c:v>
                </c:pt>
                <c:pt idx="22">
                  <c:v>Q3 '21</c:v>
                </c:pt>
                <c:pt idx="23">
                  <c:v>Q4 '21</c:v>
                </c:pt>
                <c:pt idx="24">
                  <c:v>Q1 '22</c:v>
                </c:pt>
                <c:pt idx="25">
                  <c:v>Q2 '22</c:v>
                </c:pt>
                <c:pt idx="26">
                  <c:v>Q3 '22</c:v>
                </c:pt>
                <c:pt idx="27">
                  <c:v>Q4 '22</c:v>
                </c:pt>
              </c:strCache>
            </c:strRef>
          </c:cat>
          <c:val>
            <c:numRef>
              <c:f>Sheet1!$B$2:$B$29</c:f>
              <c:numCache>
                <c:ptCount val="28"/>
                <c:pt idx="0">
                  <c:v>0.67</c:v>
                </c:pt>
                <c:pt idx="1">
                  <c:v>1.06</c:v>
                </c:pt>
                <c:pt idx="2">
                  <c:v>1.76</c:v>
                </c:pt>
                <c:pt idx="3">
                  <c:v>2.15</c:v>
                </c:pt>
                <c:pt idx="4">
                  <c:v>1.81</c:v>
                </c:pt>
                <c:pt idx="5">
                  <c:v>1.97</c:v>
                </c:pt>
                <c:pt idx="6">
                  <c:v>2.17</c:v>
                </c:pt>
                <c:pt idx="7">
                  <c:v>2.75</c:v>
                </c:pt>
                <c:pt idx="8">
                  <c:v>2.1</c:v>
                </c:pt>
                <c:pt idx="9">
                  <c:v>2.21</c:v>
                </c:pt>
                <c:pt idx="10">
                  <c:v>2.62</c:v>
                </c:pt>
                <c:pt idx="11">
                  <c:v>3.38</c:v>
                </c:pt>
                <c:pt idx="12">
                  <c:v>2.81</c:v>
                </c:pt>
                <c:pt idx="13">
                  <c:v>3.14</c:v>
                </c:pt>
                <c:pt idx="14">
                  <c:v>3.75</c:v>
                </c:pt>
                <c:pt idx="15">
                  <c:v>4.42</c:v>
                </c:pt>
                <c:pt idx="16">
                  <c:v>3.57</c:v>
                </c:pt>
                <c:pt idx="17">
                  <c:v>3.4</c:v>
                </c:pt>
                <c:pt idx="18">
                  <c:v>5.49</c:v>
                </c:pt>
                <c:pt idx="19">
                  <c:v>7.19</c:v>
                </c:pt>
                <c:pt idx="20">
                  <c:v>5.94</c:v>
                </c:pt>
                <c:pt idx="21">
                  <c:v>7.37</c:v>
                </c:pt>
                <c:pt idx="22">
                  <c:v>8.2</c:v>
                </c:pt>
                <c:pt idx="23">
                  <c:v>9.58</c:v>
                </c:pt>
                <c:pt idx="24">
                  <c:v>7.77</c:v>
                </c:pt>
                <c:pt idx="25">
                  <c:v>7.93</c:v>
                </c:pt>
                <c:pt idx="26">
                  <c:v>8.13</c:v>
                </c:pt>
                <c:pt idx="27">
                  <c:v>8.77</c:v>
                </c:pt>
              </c:numCache>
            </c:numRef>
          </c:val>
        </c:ser>
        <c:ser>
          <c:idx val="1"/>
          <c:order val="1"/>
          <c:tx>
            <c:strRef>
              <c:f>Sheet1!$C$1</c:f>
              <c:strCache>
                <c:ptCount val="1"/>
                <c:pt idx="0">
                  <c:v>Europe</c:v>
                </c:pt>
              </c:strCache>
            </c:strRef>
          </c:tx>
          <c:spPr>
            <a:solidFill>
              <a:srgbClr val="0F283E"/>
            </a:solidFill>
            <a:ln>
              <a:solidFill>
                <a:srgbClr val="0F283E"/>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7"/>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Sheet1!$A$2:$A$29</c:f>
              <c:strCache>
                <c:ptCount val="28"/>
                <c:pt idx="0">
                  <c:v>Q1 '16</c:v>
                </c:pt>
                <c:pt idx="1">
                  <c:v>Q2 '16</c:v>
                </c:pt>
                <c:pt idx="2">
                  <c:v>Q3 '16</c:v>
                </c:pt>
                <c:pt idx="3">
                  <c:v>Q4 '16</c:v>
                </c:pt>
                <c:pt idx="4">
                  <c:v>Q1 '17</c:v>
                </c:pt>
                <c:pt idx="5">
                  <c:v>Q2 '17</c:v>
                </c:pt>
                <c:pt idx="6">
                  <c:v>Q3 '17</c:v>
                </c:pt>
                <c:pt idx="7">
                  <c:v>Q4 '17</c:v>
                </c:pt>
                <c:pt idx="8">
                  <c:v>Q1 '18</c:v>
                </c:pt>
                <c:pt idx="9">
                  <c:v>Q2 '18</c:v>
                </c:pt>
                <c:pt idx="10">
                  <c:v>Q3 '18</c:v>
                </c:pt>
                <c:pt idx="11">
                  <c:v>Q4 '18</c:v>
                </c:pt>
                <c:pt idx="12">
                  <c:v>Q1 '19</c:v>
                </c:pt>
                <c:pt idx="13">
                  <c:v>Q2 '19</c:v>
                </c:pt>
                <c:pt idx="14">
                  <c:v>Q3 '19</c:v>
                </c:pt>
                <c:pt idx="15">
                  <c:v>Q4 '19</c:v>
                </c:pt>
                <c:pt idx="16">
                  <c:v>Q1 '20</c:v>
                </c:pt>
                <c:pt idx="17">
                  <c:v>Q2 '20</c:v>
                </c:pt>
                <c:pt idx="18">
                  <c:v>Q3 '20</c:v>
                </c:pt>
                <c:pt idx="19">
                  <c:v>Q4 '20</c:v>
                </c:pt>
                <c:pt idx="20">
                  <c:v>Q1 '21</c:v>
                </c:pt>
                <c:pt idx="21">
                  <c:v>Q2 '21</c:v>
                </c:pt>
                <c:pt idx="22">
                  <c:v>Q3 '21</c:v>
                </c:pt>
                <c:pt idx="23">
                  <c:v>Q4 '21</c:v>
                </c:pt>
                <c:pt idx="24">
                  <c:v>Q1 '22</c:v>
                </c:pt>
                <c:pt idx="25">
                  <c:v>Q2 '22</c:v>
                </c:pt>
                <c:pt idx="26">
                  <c:v>Q3 '22</c:v>
                </c:pt>
                <c:pt idx="27">
                  <c:v>Q4 '22</c:v>
                </c:pt>
              </c:strCache>
            </c:strRef>
          </c:cat>
          <c:val>
            <c:numRef>
              <c:f>Sheet1!$C$2:$C$29</c:f>
              <c:numCache>
                <c:ptCount val="28"/>
                <c:pt idx="0">
                  <c:v>0.07</c:v>
                </c:pt>
                <c:pt idx="1">
                  <c:v>0.14</c:v>
                </c:pt>
                <c:pt idx="2">
                  <c:v>0.24</c:v>
                </c:pt>
                <c:pt idx="3">
                  <c:v>0.28</c:v>
                </c:pt>
                <c:pt idx="4">
                  <c:v>0.24</c:v>
                </c:pt>
                <c:pt idx="5">
                  <c:v>0.39</c:v>
                </c:pt>
                <c:pt idx="6">
                  <c:v>0.48</c:v>
                </c:pt>
                <c:pt idx="7">
                  <c:v>0.66</c:v>
                </c:pt>
                <c:pt idx="8">
                  <c:v>0.53</c:v>
                </c:pt>
                <c:pt idx="9">
                  <c:v>0.66</c:v>
                </c:pt>
                <c:pt idx="10">
                  <c:v>0.85</c:v>
                </c:pt>
                <c:pt idx="11">
                  <c:v>1.04</c:v>
                </c:pt>
                <c:pt idx="12">
                  <c:v>0.77</c:v>
                </c:pt>
                <c:pt idx="13">
                  <c:v>0.95</c:v>
                </c:pt>
                <c:pt idx="14">
                  <c:v>1.05</c:v>
                </c:pt>
                <c:pt idx="15">
                  <c:v>1.37</c:v>
                </c:pt>
                <c:pt idx="16">
                  <c:v>1.09</c:v>
                </c:pt>
                <c:pt idx="17">
                  <c:v>1.1</c:v>
                </c:pt>
                <c:pt idx="18">
                  <c:v>1.43</c:v>
                </c:pt>
                <c:pt idx="19">
                  <c:v>1.91</c:v>
                </c:pt>
                <c:pt idx="20">
                  <c:v>1.48</c:v>
                </c:pt>
                <c:pt idx="21">
                  <c:v>1.95</c:v>
                </c:pt>
                <c:pt idx="22">
                  <c:v>1.92</c:v>
                </c:pt>
                <c:pt idx="23">
                  <c:v>2.54</c:v>
                </c:pt>
                <c:pt idx="24">
                  <c:v>1.93</c:v>
                </c:pt>
                <c:pt idx="25">
                  <c:v>1.98</c:v>
                </c:pt>
                <c:pt idx="26">
                  <c:v>1.83</c:v>
                </c:pt>
                <c:pt idx="27">
                  <c:v>2.38</c:v>
                </c:pt>
              </c:numCache>
            </c:numRef>
          </c:val>
        </c:ser>
        <c:ser>
          <c:idx val="2"/>
          <c:order val="2"/>
          <c:tx>
            <c:strRef>
              <c:f>Sheet1!$D$1</c:f>
              <c:strCache>
                <c:ptCount val="1"/>
                <c:pt idx="0">
                  <c:v>Rest of world</c:v>
                </c:pt>
              </c:strCache>
            </c:strRef>
          </c:tx>
          <c:spPr>
            <a:solidFill>
              <a:srgbClr val="BABABA"/>
            </a:solidFill>
            <a:ln>
              <a:solidFill>
                <a:srgbClr val="BABABA"/>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3"/>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6"/>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7"/>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Sheet1!$A$2:$A$29</c:f>
              <c:strCache>
                <c:ptCount val="28"/>
                <c:pt idx="0">
                  <c:v>Q1 '16</c:v>
                </c:pt>
                <c:pt idx="1">
                  <c:v>Q2 '16</c:v>
                </c:pt>
                <c:pt idx="2">
                  <c:v>Q3 '16</c:v>
                </c:pt>
                <c:pt idx="3">
                  <c:v>Q4 '16</c:v>
                </c:pt>
                <c:pt idx="4">
                  <c:v>Q1 '17</c:v>
                </c:pt>
                <c:pt idx="5">
                  <c:v>Q2 '17</c:v>
                </c:pt>
                <c:pt idx="6">
                  <c:v>Q3 '17</c:v>
                </c:pt>
                <c:pt idx="7">
                  <c:v>Q4 '17</c:v>
                </c:pt>
                <c:pt idx="8">
                  <c:v>Q1 '18</c:v>
                </c:pt>
                <c:pt idx="9">
                  <c:v>Q2 '18</c:v>
                </c:pt>
                <c:pt idx="10">
                  <c:v>Q3 '18</c:v>
                </c:pt>
                <c:pt idx="11">
                  <c:v>Q4 '18</c:v>
                </c:pt>
                <c:pt idx="12">
                  <c:v>Q1 '19</c:v>
                </c:pt>
                <c:pt idx="13">
                  <c:v>Q2 '19</c:v>
                </c:pt>
                <c:pt idx="14">
                  <c:v>Q3 '19</c:v>
                </c:pt>
                <c:pt idx="15">
                  <c:v>Q4 '19</c:v>
                </c:pt>
                <c:pt idx="16">
                  <c:v>Q1 '20</c:v>
                </c:pt>
                <c:pt idx="17">
                  <c:v>Q2 '20</c:v>
                </c:pt>
                <c:pt idx="18">
                  <c:v>Q3 '20</c:v>
                </c:pt>
                <c:pt idx="19">
                  <c:v>Q4 '20</c:v>
                </c:pt>
                <c:pt idx="20">
                  <c:v>Q1 '21</c:v>
                </c:pt>
                <c:pt idx="21">
                  <c:v>Q2 '21</c:v>
                </c:pt>
                <c:pt idx="22">
                  <c:v>Q3 '21</c:v>
                </c:pt>
                <c:pt idx="23">
                  <c:v>Q4 '21</c:v>
                </c:pt>
                <c:pt idx="24">
                  <c:v>Q1 '22</c:v>
                </c:pt>
                <c:pt idx="25">
                  <c:v>Q2 '22</c:v>
                </c:pt>
                <c:pt idx="26">
                  <c:v>Q3 '22</c:v>
                </c:pt>
                <c:pt idx="27">
                  <c:v>Q4 '22</c:v>
                </c:pt>
              </c:strCache>
            </c:strRef>
          </c:cat>
          <c:val>
            <c:numRef>
              <c:f>Sheet1!$D$2:$D$29</c:f>
              <c:numCache>
                <c:ptCount val="28"/>
                <c:pt idx="0">
                  <c:v>0.01</c:v>
                </c:pt>
                <c:pt idx="1">
                  <c:v>0.01</c:v>
                </c:pt>
                <c:pt idx="2">
                  <c:v>0.04</c:v>
                </c:pt>
                <c:pt idx="3">
                  <c:v>0.15</c:v>
                </c:pt>
                <c:pt idx="4">
                  <c:v>0.19</c:v>
                </c:pt>
                <c:pt idx="5">
                  <c:v>0.29</c:v>
                </c:pt>
                <c:pt idx="6">
                  <c:v>0.3</c:v>
                </c:pt>
                <c:pt idx="7">
                  <c:v>0.56</c:v>
                </c:pt>
                <c:pt idx="8">
                  <c:v>0.58</c:v>
                </c:pt>
                <c:pt idx="9">
                  <c:v>0.96</c:v>
                </c:pt>
                <c:pt idx="10">
                  <c:v>0.84</c:v>
                </c:pt>
                <c:pt idx="11">
                  <c:v>1.24</c:v>
                </c:pt>
                <c:pt idx="12">
                  <c:v>0.97</c:v>
                </c:pt>
                <c:pt idx="13">
                  <c:v>1.2</c:v>
                </c:pt>
                <c:pt idx="14">
                  <c:v>1.01</c:v>
                </c:pt>
                <c:pt idx="15">
                  <c:v>1.35</c:v>
                </c:pt>
                <c:pt idx="16">
                  <c:v>1</c:v>
                </c:pt>
                <c:pt idx="17">
                  <c:v>0.89</c:v>
                </c:pt>
                <c:pt idx="18">
                  <c:v>0.95</c:v>
                </c:pt>
                <c:pt idx="19">
                  <c:v>1.11</c:v>
                </c:pt>
                <c:pt idx="20">
                  <c:v>0.93</c:v>
                </c:pt>
                <c:pt idx="21">
                  <c:v>1.07</c:v>
                </c:pt>
                <c:pt idx="22">
                  <c:v>0.98</c:v>
                </c:pt>
                <c:pt idx="23">
                  <c:v>1.12</c:v>
                </c:pt>
                <c:pt idx="24">
                  <c:v>0.95</c:v>
                </c:pt>
                <c:pt idx="25">
                  <c:v>0.96</c:v>
                </c:pt>
                <c:pt idx="26">
                  <c:v>0.89</c:v>
                </c:pt>
                <c:pt idx="27">
                  <c:v>1.1</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ARPU in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2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Sheet1!$A$2:$A$38</c:f>
              <c:strCache>
                <c:ptCount val="37"/>
                <c:pt idx="0">
                  <c:v>2019-01</c:v>
                </c:pt>
                <c:pt idx="1">
                  <c:v>2019-02</c:v>
                </c:pt>
                <c:pt idx="2">
                  <c:v>2019-03</c:v>
                </c:pt>
                <c:pt idx="3">
                  <c:v>2019-04</c:v>
                </c:pt>
                <c:pt idx="4">
                  <c:v>2019-05</c:v>
                </c:pt>
                <c:pt idx="5">
                  <c:v>2019-06</c:v>
                </c:pt>
                <c:pt idx="6">
                  <c:v>2019-07</c:v>
                </c:pt>
                <c:pt idx="7">
                  <c:v>2019-08</c:v>
                </c:pt>
                <c:pt idx="8">
                  <c:v>2019-09</c:v>
                </c:pt>
                <c:pt idx="9">
                  <c:v>2019-10</c:v>
                </c:pt>
                <c:pt idx="10">
                  <c:v>2019-11</c:v>
                </c:pt>
                <c:pt idx="11">
                  <c:v>2019-12</c:v>
                </c:pt>
                <c:pt idx="12">
                  <c:v>2020-01</c:v>
                </c:pt>
                <c:pt idx="13">
                  <c:v>2020-02</c:v>
                </c:pt>
                <c:pt idx="14">
                  <c:v>2020-03</c:v>
                </c:pt>
                <c:pt idx="15">
                  <c:v>2020-04</c:v>
                </c:pt>
                <c:pt idx="16">
                  <c:v>2020-05</c:v>
                </c:pt>
                <c:pt idx="17">
                  <c:v>2020-06</c:v>
                </c:pt>
                <c:pt idx="18">
                  <c:v>2020-07</c:v>
                </c:pt>
                <c:pt idx="19">
                  <c:v>2020-08</c:v>
                </c:pt>
                <c:pt idx="20">
                  <c:v>2020-09</c:v>
                </c:pt>
                <c:pt idx="21">
                  <c:v>2020-10</c:v>
                </c:pt>
                <c:pt idx="22">
                  <c:v>2020-11</c:v>
                </c:pt>
                <c:pt idx="23">
                  <c:v>2020-12</c:v>
                </c:pt>
                <c:pt idx="24">
                  <c:v>2021-01</c:v>
                </c:pt>
                <c:pt idx="25">
                  <c:v>2021-02</c:v>
                </c:pt>
                <c:pt idx="26">
                  <c:v>2021-03</c:v>
                </c:pt>
                <c:pt idx="27">
                  <c:v>2021-04</c:v>
                </c:pt>
                <c:pt idx="28">
                  <c:v>2021-05</c:v>
                </c:pt>
                <c:pt idx="29">
                  <c:v>2021-06</c:v>
                </c:pt>
                <c:pt idx="30">
                  <c:v>2021-07</c:v>
                </c:pt>
                <c:pt idx="31">
                  <c:v>2021-08</c:v>
                </c:pt>
                <c:pt idx="32">
                  <c:v>2021-09</c:v>
                </c:pt>
                <c:pt idx="33">
                  <c:v>2021-10</c:v>
                </c:pt>
                <c:pt idx="34">
                  <c:v>2021-11</c:v>
                </c:pt>
                <c:pt idx="35">
                  <c:v>2021-12</c:v>
                </c:pt>
                <c:pt idx="36">
                  <c:v>2022-01</c:v>
                </c:pt>
              </c:strCache>
            </c:strRef>
          </c:cat>
          <c:val>
            <c:numRef>
              <c:f>Sheet1!$B$2:$B$38</c:f>
              <c:numCache>
                <c:ptCount val="37"/>
                <c:pt idx="0">
                  <c:v>166.97</c:v>
                </c:pt>
                <c:pt idx="1">
                  <c:v>157.76</c:v>
                </c:pt>
                <c:pt idx="2">
                  <c:v>143.16</c:v>
                </c:pt>
                <c:pt idx="3">
                  <c:v>128.19</c:v>
                </c:pt>
                <c:pt idx="4">
                  <c:v>113.72</c:v>
                </c:pt>
                <c:pt idx="5">
                  <c:v>123.48</c:v>
                </c:pt>
                <c:pt idx="6">
                  <c:v>135.42</c:v>
                </c:pt>
                <c:pt idx="7">
                  <c:v>153.46</c:v>
                </c:pt>
                <c:pt idx="8">
                  <c:v>156.92</c:v>
                </c:pt>
                <c:pt idx="9">
                  <c:v>157.34</c:v>
                </c:pt>
                <c:pt idx="10">
                  <c:v>173.63</c:v>
                </c:pt>
                <c:pt idx="11">
                  <c:v>167.39</c:v>
                </c:pt>
                <c:pt idx="12">
                  <c:v>162.76</c:v>
                </c:pt>
                <c:pt idx="13">
                  <c:v>161.85</c:v>
                </c:pt>
                <c:pt idx="14">
                  <c:v>159.79</c:v>
                </c:pt>
                <c:pt idx="15">
                  <c:v>178.51</c:v>
                </c:pt>
                <c:pt idx="16">
                  <c:v>184.05</c:v>
                </c:pt>
                <c:pt idx="17">
                  <c:v>178.9</c:v>
                </c:pt>
                <c:pt idx="18">
                  <c:v>151.85</c:v>
                </c:pt>
                <c:pt idx="19">
                  <c:v>99.13</c:v>
                </c:pt>
                <c:pt idx="20">
                  <c:v>64.54</c:v>
                </c:pt>
                <c:pt idx="21">
                  <c:v>48.42</c:v>
                </c:pt>
                <c:pt idx="22">
                  <c:v>37.81</c:v>
                </c:pt>
                <c:pt idx="23">
                  <c:v>29.47</c:v>
                </c:pt>
                <c:pt idx="24">
                  <c:v>26.33</c:v>
                </c:pt>
                <c:pt idx="25">
                  <c:v>25.98</c:v>
                </c:pt>
                <c:pt idx="26">
                  <c:v>30.19</c:v>
                </c:pt>
                <c:pt idx="27">
                  <c:v>30.73</c:v>
                </c:pt>
                <c:pt idx="28">
                  <c:v>31.59</c:v>
                </c:pt>
                <c:pt idx="29">
                  <c:v>32.01</c:v>
                </c:pt>
                <c:pt idx="30">
                  <c:v>32.57</c:v>
                </c:pt>
                <c:pt idx="31">
                  <c:v>33.14</c:v>
                </c:pt>
                <c:pt idx="32">
                  <c:v>29.14</c:v>
                </c:pt>
                <c:pt idx="33">
                  <c:v>26.11</c:v>
                </c:pt>
                <c:pt idx="34">
                  <c:v>25.32</c:v>
                </c:pt>
                <c:pt idx="35">
                  <c:v>26.4</c:v>
                </c:pt>
                <c:pt idx="36">
                  <c:v>30.19</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MAU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Sheet1!$A$2:$A$38</c:f>
              <c:strCache>
                <c:ptCount val="37"/>
                <c:pt idx="0">
                  <c:v>2019-01</c:v>
                </c:pt>
                <c:pt idx="1">
                  <c:v>2019-02</c:v>
                </c:pt>
                <c:pt idx="2">
                  <c:v>2019-03</c:v>
                </c:pt>
                <c:pt idx="3">
                  <c:v>2019-04</c:v>
                </c:pt>
                <c:pt idx="4">
                  <c:v>2019-05</c:v>
                </c:pt>
                <c:pt idx="5">
                  <c:v>2019-06</c:v>
                </c:pt>
                <c:pt idx="6">
                  <c:v>2019-07</c:v>
                </c:pt>
                <c:pt idx="7">
                  <c:v>2019-08</c:v>
                </c:pt>
                <c:pt idx="8">
                  <c:v>2019-09</c:v>
                </c:pt>
                <c:pt idx="9">
                  <c:v>2019-10</c:v>
                </c:pt>
                <c:pt idx="10">
                  <c:v>2019-11</c:v>
                </c:pt>
                <c:pt idx="11">
                  <c:v>2019-12</c:v>
                </c:pt>
                <c:pt idx="12">
                  <c:v>2020-01</c:v>
                </c:pt>
                <c:pt idx="13">
                  <c:v>2020-02</c:v>
                </c:pt>
                <c:pt idx="14">
                  <c:v>2020-03</c:v>
                </c:pt>
                <c:pt idx="15">
                  <c:v>2020-04</c:v>
                </c:pt>
                <c:pt idx="16">
                  <c:v>2020-05</c:v>
                </c:pt>
                <c:pt idx="17">
                  <c:v>2020-06</c:v>
                </c:pt>
                <c:pt idx="18">
                  <c:v>2020-07</c:v>
                </c:pt>
                <c:pt idx="19">
                  <c:v>2020-08</c:v>
                </c:pt>
                <c:pt idx="20">
                  <c:v>2020-09</c:v>
                </c:pt>
                <c:pt idx="21">
                  <c:v>2020-10</c:v>
                </c:pt>
                <c:pt idx="22">
                  <c:v>2020-11</c:v>
                </c:pt>
                <c:pt idx="23">
                  <c:v>2020-12</c:v>
                </c:pt>
                <c:pt idx="24">
                  <c:v>2021-01</c:v>
                </c:pt>
                <c:pt idx="25">
                  <c:v>2021-02</c:v>
                </c:pt>
                <c:pt idx="26">
                  <c:v>2021-03</c:v>
                </c:pt>
                <c:pt idx="27">
                  <c:v>2021-04</c:v>
                </c:pt>
                <c:pt idx="28">
                  <c:v>2021-05</c:v>
                </c:pt>
                <c:pt idx="29">
                  <c:v>2021-06</c:v>
                </c:pt>
                <c:pt idx="30">
                  <c:v>2021-07</c:v>
                </c:pt>
                <c:pt idx="31">
                  <c:v>2021-08</c:v>
                </c:pt>
                <c:pt idx="32">
                  <c:v>2021-09</c:v>
                </c:pt>
                <c:pt idx="33">
                  <c:v>2021-10</c:v>
                </c:pt>
                <c:pt idx="34">
                  <c:v>2021-11</c:v>
                </c:pt>
                <c:pt idx="35">
                  <c:v>2021-12</c:v>
                </c:pt>
                <c:pt idx="36">
                  <c:v>2022-01</c:v>
                </c:pt>
              </c:strCache>
            </c:strRef>
          </c:cat>
          <c:val>
            <c:numRef>
              <c:f>Sheet1!$B$2:$B$38</c:f>
              <c:numCache>
                <c:ptCount val="37"/>
                <c:pt idx="0">
                  <c:v>24.33</c:v>
                </c:pt>
                <c:pt idx="1">
                  <c:v>26.57</c:v>
                </c:pt>
                <c:pt idx="2">
                  <c:v>25.55</c:v>
                </c:pt>
                <c:pt idx="3">
                  <c:v>24.57</c:v>
                </c:pt>
                <c:pt idx="4">
                  <c:v>25.62</c:v>
                </c:pt>
                <c:pt idx="5">
                  <c:v>26.62</c:v>
                </c:pt>
                <c:pt idx="6">
                  <c:v>26.67</c:v>
                </c:pt>
                <c:pt idx="7">
                  <c:v>28.34</c:v>
                </c:pt>
                <c:pt idx="8">
                  <c:v>31.13</c:v>
                </c:pt>
                <c:pt idx="9">
                  <c:v>33.25</c:v>
                </c:pt>
                <c:pt idx="10">
                  <c:v>33.96</c:v>
                </c:pt>
                <c:pt idx="11">
                  <c:v>34.3</c:v>
                </c:pt>
                <c:pt idx="12">
                  <c:v>38.99</c:v>
                </c:pt>
                <c:pt idx="13">
                  <c:v>42.14</c:v>
                </c:pt>
                <c:pt idx="14">
                  <c:v>43.98</c:v>
                </c:pt>
                <c:pt idx="15">
                  <c:v>53.11</c:v>
                </c:pt>
                <c:pt idx="16">
                  <c:v>60.07</c:v>
                </c:pt>
                <c:pt idx="17">
                  <c:v>61.9</c:v>
                </c:pt>
                <c:pt idx="18">
                  <c:v>59.82</c:v>
                </c:pt>
                <c:pt idx="19">
                  <c:v>60.07</c:v>
                </c:pt>
                <c:pt idx="20">
                  <c:v>62.8</c:v>
                </c:pt>
                <c:pt idx="21">
                  <c:v>60.19</c:v>
                </c:pt>
                <c:pt idx="22">
                  <c:v>59.34</c:v>
                </c:pt>
                <c:pt idx="23">
                  <c:v>64.26</c:v>
                </c:pt>
                <c:pt idx="24">
                  <c:v>73.19</c:v>
                </c:pt>
                <c:pt idx="25">
                  <c:v>82.98</c:v>
                </c:pt>
                <c:pt idx="26">
                  <c:v>79.54</c:v>
                </c:pt>
                <c:pt idx="27">
                  <c:v>87.87</c:v>
                </c:pt>
                <c:pt idx="28">
                  <c:v>97.29</c:v>
                </c:pt>
                <c:pt idx="29">
                  <c:v>98.03</c:v>
                </c:pt>
                <c:pt idx="30">
                  <c:v>97</c:v>
                </c:pt>
                <c:pt idx="31">
                  <c:v>107.37</c:v>
                </c:pt>
                <c:pt idx="32">
                  <c:v>115.97</c:v>
                </c:pt>
                <c:pt idx="33">
                  <c:v>116.44</c:v>
                </c:pt>
                <c:pt idx="34">
                  <c:v>119.45</c:v>
                </c:pt>
                <c:pt idx="35">
                  <c:v>117.58</c:v>
                </c:pt>
                <c:pt idx="36">
                  <c:v>120.45</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1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MAU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Sheet1!$A$2:$A$9</c:f>
              <c:strCache>
                <c:ptCount val="8"/>
                <c:pt idx="0">
                  <c:v>0-11</c:v>
                </c:pt>
                <c:pt idx="1">
                  <c:v>12-17</c:v>
                </c:pt>
                <c:pt idx="2">
                  <c:v>18-24</c:v>
                </c:pt>
                <c:pt idx="3">
                  <c:v>25-34</c:v>
                </c:pt>
                <c:pt idx="4">
                  <c:v>35-44</c:v>
                </c:pt>
                <c:pt idx="5">
                  <c:v>45-54</c:v>
                </c:pt>
                <c:pt idx="6">
                  <c:v>55-64</c:v>
                </c:pt>
                <c:pt idx="7">
                  <c:v>65+</c:v>
                </c:pt>
              </c:strCache>
            </c:strRef>
          </c:cat>
          <c:val>
            <c:numRef>
              <c:f>Sheet1!$B$2:$B$9</c:f>
              <c:numCache>
                <c:ptCount val="8"/>
                <c:pt idx="0">
                  <c:v>0.025</c:v>
                </c:pt>
                <c:pt idx="1">
                  <c:v>0.177</c:v>
                </c:pt>
                <c:pt idx="2">
                  <c:v>0.239</c:v>
                </c:pt>
                <c:pt idx="3">
                  <c:v>0.252</c:v>
                </c:pt>
                <c:pt idx="4">
                  <c:v>0.171</c:v>
                </c:pt>
                <c:pt idx="5">
                  <c:v>0.067</c:v>
                </c:pt>
                <c:pt idx="6">
                  <c:v>0.052</c:v>
                </c:pt>
                <c:pt idx="7">
                  <c:v>0.018</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TikTok users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Sheet1!$A$2:$A$3</c:f>
              <c:strCache>
                <c:ptCount val="2"/>
                <c:pt idx="0">
                  <c:v>Male</c:v>
                </c:pt>
                <c:pt idx="1">
                  <c:v>Female</c:v>
                </c:pt>
              </c:strCache>
            </c:strRef>
          </c:cat>
          <c:val>
            <c:numRef>
              <c:f>Sheet1!$B$2:$B$3</c:f>
              <c:numCache>
                <c:ptCount val="2"/>
                <c:pt idx="0">
                  <c:v>0.39</c:v>
                </c:pt>
                <c:pt idx="1">
                  <c:v>0.61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users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Desktop</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Sheet1!$A$2:$A$11</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Sheet1!$B$2:$B$11</c:f>
              <c:numCache>
                <c:ptCount val="10"/>
                <c:pt idx="0">
                  <c:v>5.86</c:v>
                </c:pt>
                <c:pt idx="1">
                  <c:v>6.91</c:v>
                </c:pt>
                <c:pt idx="2">
                  <c:v>7.22</c:v>
                </c:pt>
                <c:pt idx="3">
                  <c:v>7.93</c:v>
                </c:pt>
                <c:pt idx="4">
                  <c:v>9.53</c:v>
                </c:pt>
                <c:pt idx="5">
                  <c:v>11.88</c:v>
                </c:pt>
                <c:pt idx="6">
                  <c:v>13.79</c:v>
                </c:pt>
                <c:pt idx="7">
                  <c:v>15.31</c:v>
                </c:pt>
                <c:pt idx="8">
                  <c:v>14.63</c:v>
                </c:pt>
                <c:pt idx="9">
                  <c:v>13.77</c:v>
                </c:pt>
              </c:numCache>
            </c:numRef>
          </c:val>
        </c:ser>
        <c:ser>
          <c:idx val="1"/>
          <c:order val="1"/>
          <c:tx>
            <c:strRef>
              <c:f>Sheet1!$C$1</c:f>
              <c:strCache>
                <c:ptCount val="1"/>
                <c:pt idx="0">
                  <c:v>Mobile</c:v>
                </c:pt>
              </c:strCache>
            </c:strRef>
          </c:tx>
          <c:spPr>
            <a:solidFill>
              <a:srgbClr val="0F283E"/>
            </a:solidFill>
            <a:ln>
              <a:solidFill>
                <a:srgbClr val="0F283E"/>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9"/>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Sheet1!$A$2:$A$11</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Sheet1!$C$2:$C$11</c:f>
              <c:numCache>
                <c:ptCount val="10"/>
                <c:pt idx="0">
                  <c:v>15.54</c:v>
                </c:pt>
                <c:pt idx="1">
                  <c:v>22.71</c:v>
                </c:pt>
                <c:pt idx="2">
                  <c:v>31.22</c:v>
                </c:pt>
                <c:pt idx="3">
                  <c:v>41.2</c:v>
                </c:pt>
                <c:pt idx="4">
                  <c:v>53.62</c:v>
                </c:pt>
                <c:pt idx="5">
                  <c:v>68.79</c:v>
                </c:pt>
                <c:pt idx="6">
                  <c:v>80.63</c:v>
                </c:pt>
                <c:pt idx="7">
                  <c:v>89.73</c:v>
                </c:pt>
                <c:pt idx="8">
                  <c:v>99.39</c:v>
                </c:pt>
                <c:pt idx="9">
                  <c:v>108.5</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Spending in billion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3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Desktop</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9"/>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Sheet1!$A$2:$A$11</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Sheet1!$B$2:$B$11</c:f>
              <c:numCache>
                <c:ptCount val="10"/>
                <c:pt idx="0">
                  <c:v>20.78</c:v>
                </c:pt>
                <c:pt idx="1">
                  <c:v>24.22</c:v>
                </c:pt>
                <c:pt idx="2">
                  <c:v>24.87</c:v>
                </c:pt>
                <c:pt idx="3">
                  <c:v>26.69</c:v>
                </c:pt>
                <c:pt idx="4">
                  <c:v>31.51</c:v>
                </c:pt>
                <c:pt idx="5">
                  <c:v>38.64</c:v>
                </c:pt>
                <c:pt idx="6">
                  <c:v>44.19</c:v>
                </c:pt>
                <c:pt idx="7">
                  <c:v>48.38</c:v>
                </c:pt>
                <c:pt idx="8">
                  <c:v>45.62</c:v>
                </c:pt>
                <c:pt idx="9">
                  <c:v>42.4</c:v>
                </c:pt>
              </c:numCache>
            </c:numRef>
          </c:val>
        </c:ser>
        <c:ser>
          <c:idx val="1"/>
          <c:order val="1"/>
          <c:tx>
            <c:strRef>
              <c:f>Sheet1!$C$1</c:f>
              <c:strCache>
                <c:ptCount val="1"/>
                <c:pt idx="0">
                  <c:v>Mobile</c:v>
                </c:pt>
              </c:strCache>
            </c:strRef>
          </c:tx>
          <c:spPr>
            <a:solidFill>
              <a:srgbClr val="0F283E"/>
            </a:solidFill>
            <a:ln>
              <a:solidFill>
                <a:srgbClr val="0F283E"/>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5"/>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6"/>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7"/>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8"/>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9"/>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Sheet1!$A$2:$A$11</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Sheet1!$C$2:$C$11</c:f>
              <c:numCache>
                <c:ptCount val="10"/>
                <c:pt idx="0">
                  <c:v>55.12</c:v>
                </c:pt>
                <c:pt idx="1">
                  <c:v>79.56</c:v>
                </c:pt>
                <c:pt idx="2">
                  <c:v>107.5</c:v>
                </c:pt>
                <c:pt idx="3">
                  <c:v>138.7</c:v>
                </c:pt>
                <c:pt idx="4">
                  <c:v>177.4</c:v>
                </c:pt>
                <c:pt idx="5">
                  <c:v>223.8</c:v>
                </c:pt>
                <c:pt idx="6">
                  <c:v>258.4</c:v>
                </c:pt>
                <c:pt idx="7">
                  <c:v>283.5</c:v>
                </c:pt>
                <c:pt idx="8">
                  <c:v>309.8</c:v>
                </c:pt>
                <c:pt idx="9">
                  <c:v>334</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Average spending per internet user in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3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Desktop</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Sheet1!$A$2:$A$11</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Sheet1!$B$2:$B$11</c:f>
              <c:numCache>
                <c:ptCount val="10"/>
                <c:pt idx="0">
                  <c:v>0.34</c:v>
                </c:pt>
                <c:pt idx="1">
                  <c:v>0.44</c:v>
                </c:pt>
                <c:pt idx="2">
                  <c:v>0.48</c:v>
                </c:pt>
                <c:pt idx="3">
                  <c:v>0.56</c:v>
                </c:pt>
                <c:pt idx="4">
                  <c:v>0.74</c:v>
                </c:pt>
                <c:pt idx="5">
                  <c:v>0.92</c:v>
                </c:pt>
                <c:pt idx="6">
                  <c:v>1.08</c:v>
                </c:pt>
                <c:pt idx="7">
                  <c:v>1.23</c:v>
                </c:pt>
                <c:pt idx="8">
                  <c:v>1.35</c:v>
                </c:pt>
                <c:pt idx="9">
                  <c:v>1.45</c:v>
                </c:pt>
              </c:numCache>
            </c:numRef>
          </c:val>
        </c:ser>
        <c:ser>
          <c:idx val="1"/>
          <c:order val="1"/>
          <c:tx>
            <c:strRef>
              <c:f>Sheet1!$C$1</c:f>
              <c:strCache>
                <c:ptCount val="1"/>
                <c:pt idx="0">
                  <c:v>Mobile</c:v>
                </c:pt>
              </c:strCache>
            </c:strRef>
          </c:tx>
          <c:spPr>
            <a:solidFill>
              <a:srgbClr val="0F283E"/>
            </a:solidFill>
            <a:ln>
              <a:solidFill>
                <a:srgbClr val="0F283E"/>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Sheet1!$A$2:$A$11</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Sheet1!$C$2:$C$11</c:f>
              <c:numCache>
                <c:ptCount val="10"/>
                <c:pt idx="0">
                  <c:v>0.84</c:v>
                </c:pt>
                <c:pt idx="1">
                  <c:v>1.17</c:v>
                </c:pt>
                <c:pt idx="2">
                  <c:v>1.4</c:v>
                </c:pt>
                <c:pt idx="3">
                  <c:v>1.72</c:v>
                </c:pt>
                <c:pt idx="4">
                  <c:v>2.4</c:v>
                </c:pt>
                <c:pt idx="5">
                  <c:v>3.08</c:v>
                </c:pt>
                <c:pt idx="6">
                  <c:v>3.74</c:v>
                </c:pt>
                <c:pt idx="7">
                  <c:v>4.36</c:v>
                </c:pt>
                <c:pt idx="8">
                  <c:v>4.93</c:v>
                </c:pt>
                <c:pt idx="9">
                  <c:v>5.45</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Spending in billion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3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Desktop</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Sheet1!$A$2:$A$11</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Sheet1!$B$2:$B$11</c:f>
              <c:numCache>
                <c:ptCount val="10"/>
                <c:pt idx="0">
                  <c:v>1.14</c:v>
                </c:pt>
                <c:pt idx="1">
                  <c:v>1.52</c:v>
                </c:pt>
                <c:pt idx="2">
                  <c:v>1.67</c:v>
                </c:pt>
                <c:pt idx="3">
                  <c:v>1.96</c:v>
                </c:pt>
                <c:pt idx="4">
                  <c:v>2.74</c:v>
                </c:pt>
                <c:pt idx="5">
                  <c:v>3.59</c:v>
                </c:pt>
                <c:pt idx="6">
                  <c:v>4.17</c:v>
                </c:pt>
                <c:pt idx="7">
                  <c:v>4.52</c:v>
                </c:pt>
                <c:pt idx="8">
                  <c:v>4.75</c:v>
                </c:pt>
                <c:pt idx="9">
                  <c:v>4.92</c:v>
                </c:pt>
              </c:numCache>
            </c:numRef>
          </c:val>
        </c:ser>
        <c:ser>
          <c:idx val="1"/>
          <c:order val="1"/>
          <c:tx>
            <c:strRef>
              <c:f>Sheet1!$C$1</c:f>
              <c:strCache>
                <c:ptCount val="1"/>
                <c:pt idx="0">
                  <c:v>Mobile</c:v>
                </c:pt>
              </c:strCache>
            </c:strRef>
          </c:tx>
          <c:spPr>
            <a:solidFill>
              <a:srgbClr val="0F283E"/>
            </a:solidFill>
            <a:ln>
              <a:solidFill>
                <a:srgbClr val="0F283E"/>
              </a:solidFill>
            </a:ln>
          </c:spPr>
          <c:invertIfNegative val="0"/>
          <c:dLbls>
            <c:dLbl>
              <c:idx val="0"/>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6"/>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7"/>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Sheet1!$A$2:$A$11</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Sheet1!$C$2:$C$11</c:f>
              <c:numCache>
                <c:ptCount val="10"/>
                <c:pt idx="0">
                  <c:v>2.2</c:v>
                </c:pt>
                <c:pt idx="1">
                  <c:v>3.15</c:v>
                </c:pt>
                <c:pt idx="2">
                  <c:v>3.64</c:v>
                </c:pt>
                <c:pt idx="3">
                  <c:v>4.44</c:v>
                </c:pt>
                <c:pt idx="4">
                  <c:v>6.37</c:v>
                </c:pt>
                <c:pt idx="5">
                  <c:v>8.57</c:v>
                </c:pt>
                <c:pt idx="6">
                  <c:v>10.1</c:v>
                </c:pt>
                <c:pt idx="7">
                  <c:v>11.1</c:v>
                </c:pt>
                <c:pt idx="8">
                  <c:v>11.83</c:v>
                </c:pt>
                <c:pt idx="9">
                  <c:v>12.42</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Spending in billion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3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Desktop</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numRef>
              <c:f>Sheet1!$A$2:$A$11</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Sheet1!$B$2:$B$11</c:f>
              <c:numCache>
                <c:ptCount val="10"/>
                <c:pt idx="0">
                  <c:v>19.38</c:v>
                </c:pt>
                <c:pt idx="1">
                  <c:v>25.4</c:v>
                </c:pt>
                <c:pt idx="2">
                  <c:v>27.4</c:v>
                </c:pt>
                <c:pt idx="3">
                  <c:v>31.65</c:v>
                </c:pt>
                <c:pt idx="4">
                  <c:v>43.5</c:v>
                </c:pt>
                <c:pt idx="5">
                  <c:v>56.58</c:v>
                </c:pt>
                <c:pt idx="6">
                  <c:v>65</c:v>
                </c:pt>
                <c:pt idx="7">
                  <c:v>70</c:v>
                </c:pt>
                <c:pt idx="8">
                  <c:v>73.11</c:v>
                </c:pt>
                <c:pt idx="9">
                  <c:v>75.28</c:v>
                </c:pt>
              </c:numCache>
            </c:numRef>
          </c:val>
          <c:smooth val="0"/>
        </c:ser>
        <c:ser>
          <c:idx val="1"/>
          <c:order val="1"/>
          <c:tx>
            <c:strRef>
              <c:f>Sheet1!$C$1</c:f>
              <c:strCache>
                <c:ptCount val="1"/>
                <c:pt idx="0">
                  <c:v>Mobile</c:v>
                </c:pt>
              </c:strCache>
            </c:strRef>
          </c:tx>
          <c:spPr>
            <a:ln>
              <a:solidFill>
                <a:srgbClr val="0F283E"/>
              </a:solidFill>
            </a:ln>
          </c:spPr>
          <c:marker>
            <c:symbol val="circle"/>
            <c:spPr>
              <a:solidFill>
                <a:srgbClr val="0F283E"/>
              </a:solidFill>
              <a:ln>
                <a:solidFill>
                  <a:srgbClr val="0F283E"/>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numRef>
              <c:f>Sheet1!$A$2:$A$11</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Sheet1!$C$2:$C$11</c:f>
              <c:numCache>
                <c:ptCount val="10"/>
                <c:pt idx="0">
                  <c:v>37.46</c:v>
                </c:pt>
                <c:pt idx="1">
                  <c:v>52.43</c:v>
                </c:pt>
                <c:pt idx="2">
                  <c:v>59.51</c:v>
                </c:pt>
                <c:pt idx="3">
                  <c:v>71.51</c:v>
                </c:pt>
                <c:pt idx="4">
                  <c:v>101.3</c:v>
                </c:pt>
                <c:pt idx="5">
                  <c:v>134.9</c:v>
                </c:pt>
                <c:pt idx="6">
                  <c:v>157.7</c:v>
                </c:pt>
                <c:pt idx="7">
                  <c:v>172</c:v>
                </c:pt>
                <c:pt idx="8">
                  <c:v>182.1</c:v>
                </c:pt>
                <c:pt idx="9">
                  <c:v>190.1</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Average spending per internet user in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800" smtId="4294967295"/>
      </a:pPr>
      <a:endParaRPr sz="800" smtId="4294967295"/>
    </a:p>
  </c:txPr>
  <c:externalData r:id="rId1"/>
</c:chartSpace>
</file>

<file path=ppt/drawings/_rels/vmlDrawing1.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3.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4.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5.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6.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7.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8.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title=""/>
        <p:cNvGrpSpPr/>
        <p:nvPr/>
      </p:nvGrpSpPr>
      <p:grpSpPr>
        <a:xfrm>
          <a:off x="0" y="0"/>
          <a:ext cx="0" cy="0"/>
        </a:xfrm>
      </p:grpSpPr>
      <p:sp>
        <p:nvSpPr>
          <p:cNvPr id="2" name="Title 1" title=""/>
          <p:cNvSpPr>
            <a:spLocks noGrp="1"/>
          </p:cNvSpPr>
          <p:nvPr>
            <p:ph type="ctrTitle"/>
          </p:nvPr>
        </p:nvSpPr>
        <p:spPr/>
        <p:txBody>
          <a:bodyPr/>
          <a:lstStyle/>
          <a:p>
            <a:r>
              <a:rPr lang="en-US" smtClean="0"/>
              <a:t>Click to edit Master title style</a:t>
            </a:r>
            <a:endParaRPr lang="en-US"/>
          </a:p>
        </p:txBody>
      </p:sp>
      <p:sp>
        <p:nvSpPr>
          <p:cNvPr id="3" name="Subtitle 2" title=""/>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title=""/>
          <p:cNvSpPr>
            <a:spLocks noGrp="1"/>
          </p:cNvSpPr>
          <p:nvPr>
            <p:ph type="dt" sz="half" idx="2"/>
          </p:nvPr>
        </p:nvSpPr>
        <p:spPr/>
        <p:txBody>
          <a:bodyPr/>
          <a:lstStyle/>
          <a:p>
            <a:fld id="{7502AAE4-B77F-4155-9BA0-43EBCF34443A}"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idx="1"/>
          </p:nvPr>
        </p:nvSpPr>
        <p:spPr/>
        <p:txBody>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22845CE0-A4D3-4983-80D7-F6055174B4EC}"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title=""/>
        <p:cNvGrpSpPr/>
        <p:nvPr/>
      </p:nvGrpSpPr>
      <p:grpSpPr>
        <a:xfrm>
          <a:off x="0" y="0"/>
          <a:ext cx="0" cy="0"/>
        </a:xfrm>
      </p:grpSpPr>
      <p:sp>
        <p:nvSpPr>
          <p:cNvPr id="2" name="Title 1" title=""/>
          <p:cNvSpPr>
            <a:spLocks noGrp="1"/>
          </p:cNvSpPr>
          <p:nvPr>
            <p:ph type="title"/>
          </p:nvPr>
        </p:nvSpPr>
        <p:spPr/>
        <p:txBody>
          <a:bodyPr anchor="t"/>
          <a:lstStyle>
            <a:lvl1pPr algn="l">
              <a:defRPr sz="4000" b="1" cap="all"/>
            </a:lvl1p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smtClean="0"/>
              <a:t>Click to edit Master text styles</a:t>
            </a:r>
          </a:p>
        </p:txBody>
      </p:sp>
      <p:sp>
        <p:nvSpPr>
          <p:cNvPr id="4" name="Date Placeholder 3" title=""/>
          <p:cNvSpPr>
            <a:spLocks noGrp="1"/>
          </p:cNvSpPr>
          <p:nvPr>
            <p:ph type="dt" sz="half" idx="2"/>
          </p:nvPr>
        </p:nvSpPr>
        <p:spPr/>
        <p:txBody>
          <a:bodyPr/>
          <a:lstStyle/>
          <a:p>
            <a:fld id="{C3BED6C9-E628-409E-83D0-CFAEA9FD574E}"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title=""/>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title=""/>
          <p:cNvSpPr>
            <a:spLocks noGrp="1"/>
          </p:cNvSpPr>
          <p:nvPr>
            <p:ph type="dt" sz="half" idx="3"/>
          </p:nvPr>
        </p:nvSpPr>
        <p:spPr/>
        <p:txBody>
          <a:bodyPr/>
          <a:lstStyle/>
          <a:p>
            <a:fld id="{671E429D-0514-4BF6-BEBD-7E160697D341}"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4" name="Content Placeholder 3" title=""/>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title=""/>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6" name="Content Placeholder 5" title=""/>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title=""/>
          <p:cNvSpPr>
            <a:spLocks noGrp="1"/>
          </p:cNvSpPr>
          <p:nvPr>
            <p:ph type="dt" sz="half" idx="5"/>
          </p:nvPr>
        </p:nvSpPr>
        <p:spPr/>
        <p:txBody>
          <a:bodyPr/>
          <a:lstStyle/>
          <a:p>
            <a:fld id="{F2906A01-522D-4661-897D-2F10A571B088}" type="datetimeFigureOut">
              <a:rPr lang="en-US" smtClean="0"/>
              <a:t>11/7/2009</a:t>
            </a:fld>
            <a:endParaRPr lang="en-US"/>
          </a:p>
        </p:txBody>
      </p:sp>
      <p:sp>
        <p:nvSpPr>
          <p:cNvPr id="8" name="Footer Placeholder 7" title=""/>
          <p:cNvSpPr>
            <a:spLocks noGrp="1"/>
          </p:cNvSpPr>
          <p:nvPr>
            <p:ph type="ftr" sz="quarter" idx="6"/>
          </p:nvPr>
        </p:nvSpPr>
        <p:spPr/>
        <p:txBody>
          <a:bodyPr/>
          <a:lstStyle/>
          <a:p>
            <a:endParaRPr lang="en-US"/>
          </a:p>
        </p:txBody>
      </p:sp>
      <p:sp>
        <p:nvSpPr>
          <p:cNvPr id="9" name="Slide Number Placeholder 8" title=""/>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Date Placeholder 2" title=""/>
          <p:cNvSpPr>
            <a:spLocks noGrp="1"/>
          </p:cNvSpPr>
          <p:nvPr>
            <p:ph type="dt" sz="half" idx="1"/>
          </p:nvPr>
        </p:nvSpPr>
        <p:spPr/>
        <p:txBody>
          <a:bodyPr/>
          <a:lstStyle/>
          <a:p>
            <a:fld id="{C274ADC5-3166-466D-929F-1551121A3821}" type="datetimeFigureOut">
              <a:rPr lang="en-US" smtClean="0"/>
              <a:t>11/7/2009</a:t>
            </a:fld>
            <a:endParaRPr lang="en-US"/>
          </a:p>
        </p:txBody>
      </p:sp>
      <p:sp>
        <p:nvSpPr>
          <p:cNvPr id="4" name="Footer Placeholder 3" title=""/>
          <p:cNvSpPr>
            <a:spLocks noGrp="1"/>
          </p:cNvSpPr>
          <p:nvPr>
            <p:ph type="ftr" sz="quarter" idx="2"/>
          </p:nvPr>
        </p:nvSpPr>
        <p:spPr/>
        <p:txBody>
          <a:bodyPr/>
          <a:lstStyle/>
          <a:p>
            <a:endParaRPr lang="en-US"/>
          </a:p>
        </p:txBody>
      </p:sp>
      <p:sp>
        <p:nvSpPr>
          <p:cNvPr id="5" name="Slide Number Placeholder 4" title=""/>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title=""/>
        <p:cNvGrpSpPr/>
        <p:nvPr/>
      </p:nvGrpSpPr>
      <p:grpSpPr>
        <a:xfrm>
          <a:off x="0" y="0"/>
          <a:ext cx="0" cy="0"/>
        </a:xfrm>
      </p:grpSpPr>
      <p:sp>
        <p:nvSpPr>
          <p:cNvPr id="2" name="Date Placeholder 1" title=""/>
          <p:cNvSpPr>
            <a:spLocks noGrp="1"/>
          </p:cNvSpPr>
          <p:nvPr>
            <p:ph type="dt" sz="half"/>
          </p:nvPr>
        </p:nvSpPr>
        <p:spPr/>
        <p:txBody>
          <a:bodyPr/>
          <a:lstStyle/>
          <a:p>
            <a:fld id="{40909124-1F78-479F-9906-874E62F09713}" type="datetimeFigureOut">
              <a:rPr lang="en-US" smtClean="0"/>
              <a:t>11/7/2009</a:t>
            </a:fld>
            <a:endParaRPr lang="en-US"/>
          </a:p>
        </p:txBody>
      </p:sp>
      <p:sp>
        <p:nvSpPr>
          <p:cNvPr id="3" name="Footer Placeholder 2" title=""/>
          <p:cNvSpPr>
            <a:spLocks noGrp="1"/>
          </p:cNvSpPr>
          <p:nvPr>
            <p:ph type="ftr" sz="quarter" idx="1"/>
          </p:nvPr>
        </p:nvSpPr>
        <p:spPr/>
        <p:txBody>
          <a:bodyPr/>
          <a:lstStyle/>
          <a:p>
            <a:endParaRPr lang="en-US"/>
          </a:p>
        </p:txBody>
      </p:sp>
      <p:sp>
        <p:nvSpPr>
          <p:cNvPr id="4" name="Slide Number Placeholder 3" title=""/>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Content Placeholder 2" title=""/>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C80554BA-F8A9-4C29-AF4A-F473031D0D92}"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Picture Placeholder 2" title=""/>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3F5FFF6A-BE3B-4FE0-8124-897226F04ED3}"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1A76EC22-9CB9-4AC1-A43F-3A01C829DF33}"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title=""/>
        <p:cNvGrpSpPr/>
        <p:nvPr/>
      </p:nvGrpSpPr>
      <p:grpSpPr>
        <a:xfrm>
          <a:off x="0" y="0"/>
          <a:ext cx="0" cy="0"/>
        </a:xfrm>
      </p:grpSpPr>
      <p:sp>
        <p:nvSpPr>
          <p:cNvPr id="2" name="Vertical Title 1" title=""/>
          <p:cNvSpPr>
            <a:spLocks noGrp="1"/>
          </p:cNvSpPr>
          <p:nvPr>
            <p:ph type="title" orient="vert"/>
          </p:nvPr>
        </p:nvSpPr>
        <p:spPr/>
        <p:txBody>
          <a:bodyPr vert="eaVert"/>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C7C359A9-0F51-4512-8320-2B2FA886BFED}"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title=""/>
        <p:cNvGrpSpPr/>
        <p:nvPr/>
      </p:nvGrpSpPr>
      <p:grpSpPr>
        <a:xfrm>
          <a:off x="0" y="0"/>
          <a:ext cx="0" cy="0"/>
        </a:xfrm>
      </p:grpSpPr>
      <p:sp>
        <p:nvSpPr>
          <p:cNvPr id="2" name="Title Placeholder 1" title=""/>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title=""/>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11/7/2009</a:t>
            </a:fld>
            <a:endParaRPr lang="en-US"/>
          </a:p>
        </p:txBody>
      </p:sp>
      <p:sp>
        <p:nvSpPr>
          <p:cNvPr id="5" name="Footer Placeholder 4" title=""/>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title=""/>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emf" /><Relationship Id="rId3" Type="http://schemas.openxmlformats.org/officeDocument/2006/relationships/image" Target="../media/image2.emf"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slide" Target="slide10.xml" TargetMode="Internal" /><Relationship Id="rId11" Type="http://schemas.openxmlformats.org/officeDocument/2006/relationships/slide" Target="slide11.xml" TargetMode="Internal" /><Relationship Id="rId12" Type="http://schemas.openxmlformats.org/officeDocument/2006/relationships/slide" Target="slide12.xml" TargetMode="Internal" /><Relationship Id="rId13" Type="http://schemas.openxmlformats.org/officeDocument/2006/relationships/slide" Target="slide14.xml" TargetMode="Internal" /><Relationship Id="rId14" Type="http://schemas.openxmlformats.org/officeDocument/2006/relationships/slide" Target="slide15.xml" TargetMode="Internal" /><Relationship Id="rId15" Type="http://schemas.openxmlformats.org/officeDocument/2006/relationships/slide" Target="slide16.xml" TargetMode="Internal" /><Relationship Id="rId16" Type="http://schemas.openxmlformats.org/officeDocument/2006/relationships/slide" Target="slide17.xml" TargetMode="Internal" /><Relationship Id="rId17" Type="http://schemas.openxmlformats.org/officeDocument/2006/relationships/slide" Target="slide18.xml" TargetMode="Internal" /><Relationship Id="rId18" Type="http://schemas.openxmlformats.org/officeDocument/2006/relationships/slide" Target="slide19.xml" TargetMode="Internal" /><Relationship Id="rId19" Type="http://schemas.openxmlformats.org/officeDocument/2006/relationships/slide" Target="slide20.xml" TargetMode="Internal" /><Relationship Id="rId2" Type="http://schemas.openxmlformats.org/officeDocument/2006/relationships/image" Target="../media/image3.emf" /><Relationship Id="rId20" Type="http://schemas.openxmlformats.org/officeDocument/2006/relationships/slide" Target="slide22.xml" TargetMode="Internal" /><Relationship Id="rId21" Type="http://schemas.openxmlformats.org/officeDocument/2006/relationships/slide" Target="slide23.xml" TargetMode="Internal" /><Relationship Id="rId22" Type="http://schemas.openxmlformats.org/officeDocument/2006/relationships/slide" Target="slide24.xml" TargetMode="Internal" /><Relationship Id="rId23" Type="http://schemas.openxmlformats.org/officeDocument/2006/relationships/slide" Target="slide25.xml" TargetMode="Internal" /><Relationship Id="rId24" Type="http://schemas.openxmlformats.org/officeDocument/2006/relationships/slide" Target="slide26.xml" TargetMode="Internal" /><Relationship Id="rId25" Type="http://schemas.openxmlformats.org/officeDocument/2006/relationships/slide" Target="slide27.xml" TargetMode="Internal" /><Relationship Id="rId26" Type="http://schemas.openxmlformats.org/officeDocument/2006/relationships/slide" Target="slide29.xml" TargetMode="Internal" /><Relationship Id="rId27" Type="http://schemas.openxmlformats.org/officeDocument/2006/relationships/slide" Target="slide30.xml" TargetMode="Internal" /><Relationship Id="rId28" Type="http://schemas.openxmlformats.org/officeDocument/2006/relationships/slide" Target="slide31.xml" TargetMode="Internal" /><Relationship Id="rId29" Type="http://schemas.openxmlformats.org/officeDocument/2006/relationships/slide" Target="slide32.xml" TargetMode="Internal" /><Relationship Id="rId3" Type="http://schemas.openxmlformats.org/officeDocument/2006/relationships/image" Target="../media/image4.emf" /><Relationship Id="rId30" Type="http://schemas.openxmlformats.org/officeDocument/2006/relationships/slide" Target="slide33.xml" TargetMode="Internal" /><Relationship Id="rId31" Type="http://schemas.openxmlformats.org/officeDocument/2006/relationships/slide" Target="slide34.xml" TargetMode="Internal" /><Relationship Id="rId32" Type="http://schemas.openxmlformats.org/officeDocument/2006/relationships/slide" Target="slide35.xml" TargetMode="Internal" /><Relationship Id="rId33" Type="http://schemas.openxmlformats.org/officeDocument/2006/relationships/slide" Target="slide37.xml" TargetMode="Internal" /><Relationship Id="rId34" Type="http://schemas.openxmlformats.org/officeDocument/2006/relationships/slide" Target="slide38.xml" TargetMode="Internal" /><Relationship Id="rId35" Type="http://schemas.openxmlformats.org/officeDocument/2006/relationships/slide" Target="slide39.xml" TargetMode="Internal" /><Relationship Id="rId36" Type="http://schemas.openxmlformats.org/officeDocument/2006/relationships/slide" Target="slide40.xml" TargetMode="Internal" /><Relationship Id="rId4" Type="http://schemas.openxmlformats.org/officeDocument/2006/relationships/image" Target="../media/image5.emf" /><Relationship Id="rId5" Type="http://schemas.openxmlformats.org/officeDocument/2006/relationships/slide" Target="slide5.xml" TargetMode="Internal" /><Relationship Id="rId6" Type="http://schemas.openxmlformats.org/officeDocument/2006/relationships/slide" Target="slide6.xml" TargetMode="Internal" /><Relationship Id="rId7" Type="http://schemas.openxmlformats.org/officeDocument/2006/relationships/slide" Target="slide7.xml" TargetMode="Internal" /><Relationship Id="rId8" Type="http://schemas.openxmlformats.org/officeDocument/2006/relationships/slide" Target="slide8.xml" TargetMode="Internal" /><Relationship Id="rId9" Type="http://schemas.openxmlformats.org/officeDocument/2006/relationships/slide" Target="slide9.xml" TargetMode="Interna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slide" Target="slide42.xml" TargetMode="Internal" /><Relationship Id="rId6" Type="http://schemas.openxmlformats.org/officeDocument/2006/relationships/slide" Target="slide43.xml" TargetMode="Internal" /><Relationship Id="rId7" Type="http://schemas.openxmlformats.org/officeDocument/2006/relationships/slide" Target="slide44.xml" TargetMode="Internal" /><Relationship Id="rId8" Type="http://schemas.openxmlformats.org/officeDocument/2006/relationships/slide" Target="slide45.xml" TargetMode="Internal" /><Relationship Id="rId9" Type="http://schemas.openxmlformats.org/officeDocument/2006/relationships/slide" Target="slide46.xml" TargetMode="Interna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617136/digital-population-worldwide" TargetMode="External" /><Relationship Id="rId6" Type="http://schemas.openxmlformats.org/officeDocument/2006/relationships/chart" Target="../charts/chart1.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vmlDrawing" Target="../drawings/vmlDrawing1.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95140/new-user-generated-content-uploaded-by-users-per-minute" TargetMode="External" /><Relationship Id="rId6" Type="http://schemas.openxmlformats.org/officeDocument/2006/relationships/image" Target="../media/image7.png" /><Relationship Id="rId7" Type="http://schemas.openxmlformats.org/officeDocument/2006/relationships/oleObject" Target="../embeddings/oleObject2.bin" TargetMode="Internal" /><Relationship Id="rId8" Type="http://schemas.openxmlformats.org/officeDocument/2006/relationships/image" Target="../media/image8.png" /><Relationship Id="rId9" Type="http://schemas.openxmlformats.org/officeDocument/2006/relationships/image" Target="../media/image9.png"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2.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308282/active-social-network-usage-penetration-of-the-americas" TargetMode="External" /><Relationship Id="rId6" Type="http://schemas.openxmlformats.org/officeDocument/2006/relationships/chart" Target="../charts/chart2.xml" /><Relationship Id="rId7" Type="http://schemas.openxmlformats.org/officeDocument/2006/relationships/image" Target="../media/image7.png" /><Relationship Id="rId8" Type="http://schemas.openxmlformats.org/officeDocument/2006/relationships/oleObject" Target="../embeddings/oleObject4.bin" TargetMode="Internal" /><Relationship Id="rId9" Type="http://schemas.openxmlformats.org/officeDocument/2006/relationships/image" Target="../media/image8.png"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3.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99492/active-mobile-social-media-penetration-in-european-countries" TargetMode="External" /><Relationship Id="rId6" Type="http://schemas.openxmlformats.org/officeDocument/2006/relationships/chart" Target="../charts/chart3.xml" /><Relationship Id="rId7" Type="http://schemas.openxmlformats.org/officeDocument/2006/relationships/image" Target="../media/image7.png" /><Relationship Id="rId8" Type="http://schemas.openxmlformats.org/officeDocument/2006/relationships/oleObject" Target="../embeddings/oleObject6.bin" TargetMode="Internal" /><Relationship Id="rId9" Type="http://schemas.openxmlformats.org/officeDocument/2006/relationships/image" Target="../media/image8.png"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4.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95631/active-mobile-social-media-penetration-in-asian-countries" TargetMode="External" /><Relationship Id="rId6" Type="http://schemas.openxmlformats.org/officeDocument/2006/relationships/chart" Target="../charts/chart4.xml" /><Relationship Id="rId7" Type="http://schemas.openxmlformats.org/officeDocument/2006/relationships/image" Target="../media/image7.png" /><Relationship Id="rId8" Type="http://schemas.openxmlformats.org/officeDocument/2006/relationships/oleObject" Target="../embeddings/oleObject8.bin" TargetMode="Internal" /><Relationship Id="rId9" Type="http://schemas.openxmlformats.org/officeDocument/2006/relationships/image" Target="../media/image8.png"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974358/number-active-mobile-social-media-users-latin-america-region" TargetMode="External" /><Relationship Id="rId6" Type="http://schemas.openxmlformats.org/officeDocument/2006/relationships/chart" Target="../charts/chart5.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10701/apple-app-store-revenue-share-by-category-worldwide" TargetMode="External" /><Relationship Id="rId6" Type="http://schemas.openxmlformats.org/officeDocument/2006/relationships/chart" Target="../charts/chart6.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10710/google-play-app-revenue-share-by-category-worldwide" TargetMode="External" /><Relationship Id="rId6" Type="http://schemas.openxmlformats.org/officeDocument/2006/relationships/chart" Target="../charts/chart7.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72014/global-social-networks-ranked-by-number-of-users" TargetMode="External" /><Relationship Id="rId6" Type="http://schemas.openxmlformats.org/officeDocument/2006/relationships/chart" Target="../charts/chart8.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58749/most-popular-global-mobile-messenger-apps" TargetMode="External" /><Relationship Id="rId6" Type="http://schemas.openxmlformats.org/officeDocument/2006/relationships/chart" Target="../charts/chart9.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690864/leading-google-play-communication-apps-worldwide-downloads" TargetMode="External" /><Relationship Id="rId6" Type="http://schemas.openxmlformats.org/officeDocument/2006/relationships/chart" Target="../charts/chart10.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693959/leading-google-play-communication-apps-worldwide-by-revenue" TargetMode="External" /><Relationship Id="rId6" Type="http://schemas.openxmlformats.org/officeDocument/2006/relationships/chart" Target="../charts/chart11.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696167/top-iphone-social-networking-apps-worldwide-by-number-of-downloads" TargetMode="External" /><Relationship Id="rId6" Type="http://schemas.openxmlformats.org/officeDocument/2006/relationships/chart" Target="../charts/chart12.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696209/top-iphone-social-networking-apps-worldwide-by-revenue" TargetMode="External" /><Relationship Id="rId6" Type="http://schemas.openxmlformats.org/officeDocument/2006/relationships/chart" Target="../charts/chart13.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697012/leading-non-gaming-android-app-publishers-worldwide-by-downloads" TargetMode="External" /><Relationship Id="rId6" Type="http://schemas.openxmlformats.org/officeDocument/2006/relationships/chart" Target="../charts/chart14.x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5.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421169/most-followers-instagram" TargetMode="External" /><Relationship Id="rId6" Type="http://schemas.openxmlformats.org/officeDocument/2006/relationships/chart" Target="../charts/chart15.xml" /><Relationship Id="rId7" Type="http://schemas.openxmlformats.org/officeDocument/2006/relationships/image" Target="../media/image7.png" /><Relationship Id="rId8" Type="http://schemas.openxmlformats.org/officeDocument/2006/relationships/oleObject" Target="../embeddings/oleObject20.bin" TargetMode="Internal" /><Relationship Id="rId9" Type="http://schemas.openxmlformats.org/officeDocument/2006/relationships/image" Target="../media/image8.png"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6.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578364/countries-with-most-instagram-users" TargetMode="External" /><Relationship Id="rId6" Type="http://schemas.openxmlformats.org/officeDocument/2006/relationships/chart" Target="../charts/chart16.xml" /><Relationship Id="rId7" Type="http://schemas.openxmlformats.org/officeDocument/2006/relationships/image" Target="../media/image7.png" /><Relationship Id="rId8" Type="http://schemas.openxmlformats.org/officeDocument/2006/relationships/oleObject" Target="../embeddings/oleObject22.bin" TargetMode="Internal" /><Relationship Id="rId9" Type="http://schemas.openxmlformats.org/officeDocument/2006/relationships/image" Target="../media/image8.png"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7.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325567/instagram-penetration-regions" TargetMode="External" /><Relationship Id="rId6" Type="http://schemas.openxmlformats.org/officeDocument/2006/relationships/chart" Target="../charts/chart17.xml" /><Relationship Id="rId7" Type="http://schemas.openxmlformats.org/officeDocument/2006/relationships/image" Target="../media/image7.png" /><Relationship Id="rId8" Type="http://schemas.openxmlformats.org/officeDocument/2006/relationships/oleObject" Target="../embeddings/oleObject24.bin" TargetMode="Internal" /><Relationship Id="rId9" Type="http://schemas.openxmlformats.org/officeDocument/2006/relationships/image" Target="../media/image8.png"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325587/instagram-global-age-group" TargetMode="External" /><Relationship Id="rId6" Type="http://schemas.openxmlformats.org/officeDocument/2006/relationships/chart" Target="../charts/chart18.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802776/distribution-of-users-on-instagram-worldwide-gender" TargetMode="External" /><Relationship Id="rId6" Type="http://schemas.openxmlformats.org/officeDocument/2006/relationships/chart" Target="../charts/chart19.xml"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48769/age-distribution-of-worldwide-instagram-users" TargetMode="External" /><Relationship Id="rId6" Type="http://schemas.openxmlformats.org/officeDocument/2006/relationships/chart" Target="../charts/chart20.xml"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8.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315405/snapchat-user-region-distribution" TargetMode="External" /><Relationship Id="rId6" Type="http://schemas.openxmlformats.org/officeDocument/2006/relationships/chart" Target="../charts/chart21.xml" /><Relationship Id="rId7" Type="http://schemas.openxmlformats.org/officeDocument/2006/relationships/image" Target="../media/image7.png" /><Relationship Id="rId8" Type="http://schemas.openxmlformats.org/officeDocument/2006/relationships/oleObject" Target="../embeddings/oleObject29.bin" TargetMode="Internal" /><Relationship Id="rId9" Type="http://schemas.openxmlformats.org/officeDocument/2006/relationships/image" Target="../media/image8.png"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545967/snapchat-app-dau" TargetMode="External" /><Relationship Id="rId6" Type="http://schemas.openxmlformats.org/officeDocument/2006/relationships/chart" Target="../charts/chart22.xml"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552671/snapchat-app-dau-region" TargetMode="External" /><Relationship Id="rId6" Type="http://schemas.openxmlformats.org/officeDocument/2006/relationships/chart" Target="../charts/chart23.xml"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552694/snapchat-quarterly-revenue" TargetMode="External" /><Relationship Id="rId6" Type="http://schemas.openxmlformats.org/officeDocument/2006/relationships/chart" Target="../charts/chart24.xml"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668096/snapchat-quarterly-net-income-loss" TargetMode="External" /><Relationship Id="rId6" Type="http://schemas.openxmlformats.org/officeDocument/2006/relationships/chart" Target="../charts/chart25.xml"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780448/snapchat-quarterly-revenue-per-user-arpu" TargetMode="External" /><Relationship Id="rId6" Type="http://schemas.openxmlformats.org/officeDocument/2006/relationships/chart" Target="../charts/chart26.xml"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780453/snapchat-quarterly-revenue-per-user-arpu-region" TargetMode="External" /><Relationship Id="rId6" Type="http://schemas.openxmlformats.org/officeDocument/2006/relationships/chart" Target="../charts/chart27.xml" /></Relationships>
</file>

<file path=ppt/slides/_rels/slide3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3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90669/tiktok-mau-worldwide-android" TargetMode="External" /><Relationship Id="rId6" Type="http://schemas.openxmlformats.org/officeDocument/2006/relationships/chart" Target="../charts/chart28.xml" /></Relationships>
</file>

<file path=ppt/slides/_rels/slide3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90767/tiktok-mau-worldwide-ios" TargetMode="External" /><Relationship Id="rId6" Type="http://schemas.openxmlformats.org/officeDocument/2006/relationships/chart" Target="../charts/chart29.xml" /></Relationships>
</file>

<file path=ppt/slides/_rels/slide3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95196/tiktok-us-age-gender-reach" TargetMode="External" /><Relationship Id="rId6" Type="http://schemas.openxmlformats.org/officeDocument/2006/relationships/chart" Target="../charts/chart30.xml" /></Relationships>
</file>

<file path=ppt/slides/_rels/slide4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95201/tiktok-users-gender-usa" TargetMode="External" /><Relationship Id="rId6" Type="http://schemas.openxmlformats.org/officeDocument/2006/relationships/chart" Target="../charts/chart31.xml" /></Relationships>
</file>

<file path=ppt/slides/_rels/slide4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4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456186/social-media-advertising-revenue-device-digital-market-outlook-usa" TargetMode="External" /><Relationship Id="rId6" Type="http://schemas.openxmlformats.org/officeDocument/2006/relationships/chart" Target="../charts/chart32.xml" /></Relationships>
</file>

<file path=ppt/slides/_rels/slide4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459743/social-media-ad-revenue-per-internet-user-device-digital-market-outlook-usa" TargetMode="External" /><Relationship Id="rId6" Type="http://schemas.openxmlformats.org/officeDocument/2006/relationships/chart" Target="../charts/chart33.xml" /></Relationships>
</file>

<file path=ppt/slides/_rels/slide4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456774/social-media-advertising-revenue-device-digital-market-outlook-canada" TargetMode="External" /><Relationship Id="rId6" Type="http://schemas.openxmlformats.org/officeDocument/2006/relationships/chart" Target="../charts/chart34.xml" /></Relationships>
</file>

<file path=ppt/slides/_rels/slide4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456276/social-media-ad-revenue-by-device-digital-market-outlook-uk" TargetMode="External" /><Relationship Id="rId6" Type="http://schemas.openxmlformats.org/officeDocument/2006/relationships/chart" Target="../charts/chart35.xml" /></Relationships>
</file>

<file path=ppt/slides/_rels/slide4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461906/social-media-ad-revenue-per-internet-user-device-digital-market-outlook-uk" TargetMode="External" /><Relationship Id="rId6" Type="http://schemas.openxmlformats.org/officeDocument/2006/relationships/chart" Target="../charts/chart36.xml" /></Relationships>
</file>

<file path=ppt/slides/_rels/slide4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5" name="New shape" title=""/>
          <p:cNvSpPr/>
          <p:nvPr/>
        </p:nvSpPr>
        <p:spPr>
          <a:xfrm>
            <a:off x="74196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583200" y="6231600"/>
            <a:ext cx="1461600" cy="2880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DIGITAL &amp; TRENDS</a:t>
            </a:r>
          </a:p>
        </p:txBody>
      </p:sp>
      <p:sp>
        <p:nvSpPr>
          <p:cNvPr id="3"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Mobile social media worldwide</a:t>
            </a: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6"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5"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Table of Contents</a:t>
            </a:r>
          </a:p>
        </p:txBody>
      </p:sp>
      <p:sp>
        <p:nvSpPr>
          <p:cNvPr id="3"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a:t>
            </a:r>
          </a:p>
        </p:txBody>
      </p:sp>
      <p:sp>
        <p:nvSpPr>
          <p:cNvPr id="7" name="New shape" title=""/>
          <p:cNvSpPr/>
          <p:nvPr/>
        </p:nvSpPr>
        <p:spPr>
          <a:xfrm>
            <a:off x="586800" y="1882800"/>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01 Overview</a:t>
            </a:r>
          </a:p>
        </p:txBody>
      </p:sp>
      <p:sp>
        <p:nvSpPr>
          <p:cNvPr id="8" name="New shape" title=""/>
          <p:cNvSpPr/>
          <p:nvPr/>
        </p:nvSpPr>
        <p:spPr>
          <a:xfrm>
            <a:off x="5544000" y="211624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5" action="ppaction://hlinksldjump">
                  <a:extLst>
                    <a:ext uri="{A12FA001-AC4F-418D-AE19-62706E023703}">
                      <ahyp:hlinkClr xmlns:ahyp="http://schemas.microsoft.com/office/drawing/2018/hyperlinkcolor" val="tx"/>
                    </a:ext>
                  </a:extLst>
                </a:hlinkClick>
              </a:rPr>
              <a:t>04</a:t>
            </a:r>
          </a:p>
        </p:txBody>
      </p:sp>
      <p:sp>
        <p:nvSpPr>
          <p:cNvPr id="9" name="New shape" title=""/>
          <p:cNvSpPr/>
          <p:nvPr/>
        </p:nvSpPr>
        <p:spPr>
          <a:xfrm>
            <a:off x="586800" y="211624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Worldwide digital population 2023</a:t>
            </a:r>
          </a:p>
        </p:txBody>
      </p:sp>
      <p:sp>
        <p:nvSpPr>
          <p:cNvPr id="10" name="New shape" title=""/>
          <p:cNvSpPr/>
          <p:nvPr/>
        </p:nvSpPr>
        <p:spPr>
          <a:xfrm>
            <a:off x="5544000" y="228652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6" action="ppaction://hlinksldjump">
                  <a:extLst>
                    <a:ext uri="{A12FA001-AC4F-418D-AE19-62706E023703}">
                      <ahyp:hlinkClr xmlns:ahyp="http://schemas.microsoft.com/office/drawing/2018/hyperlinkcolor" val="tx"/>
                    </a:ext>
                  </a:extLst>
                </a:hlinkClick>
              </a:rPr>
              <a:t>05</a:t>
            </a:r>
          </a:p>
        </p:txBody>
      </p:sp>
      <p:sp>
        <p:nvSpPr>
          <p:cNvPr id="11" name="New shape" title=""/>
          <p:cNvSpPr/>
          <p:nvPr/>
        </p:nvSpPr>
        <p:spPr>
          <a:xfrm>
            <a:off x="586800" y="228652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Media usage in an online minute 2022</a:t>
            </a:r>
          </a:p>
        </p:txBody>
      </p:sp>
      <p:sp>
        <p:nvSpPr>
          <p:cNvPr id="12" name="New shape" title=""/>
          <p:cNvSpPr/>
          <p:nvPr/>
        </p:nvSpPr>
        <p:spPr>
          <a:xfrm>
            <a:off x="5544000" y="24567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7" action="ppaction://hlinksldjump">
                  <a:extLst>
                    <a:ext uri="{A12FA001-AC4F-418D-AE19-62706E023703}">
                      <ahyp:hlinkClr xmlns:ahyp="http://schemas.microsoft.com/office/drawing/2018/hyperlinkcolor" val="tx"/>
                    </a:ext>
                  </a:extLst>
                </a:hlinkClick>
              </a:rPr>
              <a:t>06</a:t>
            </a:r>
          </a:p>
        </p:txBody>
      </p:sp>
      <p:sp>
        <p:nvSpPr>
          <p:cNvPr id="13" name="New shape" title=""/>
          <p:cNvSpPr/>
          <p:nvPr/>
        </p:nvSpPr>
        <p:spPr>
          <a:xfrm>
            <a:off x="586800" y="24567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Active mobile social media penetration in the Americas 2022</a:t>
            </a:r>
          </a:p>
        </p:txBody>
      </p:sp>
      <p:sp>
        <p:nvSpPr>
          <p:cNvPr id="14" name="New shape" title=""/>
          <p:cNvSpPr/>
          <p:nvPr/>
        </p:nvSpPr>
        <p:spPr>
          <a:xfrm>
            <a:off x="5544000" y="262707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8" action="ppaction://hlinksldjump">
                  <a:extLst>
                    <a:ext uri="{A12FA001-AC4F-418D-AE19-62706E023703}">
                      <ahyp:hlinkClr xmlns:ahyp="http://schemas.microsoft.com/office/drawing/2018/hyperlinkcolor" val="tx"/>
                    </a:ext>
                  </a:extLst>
                </a:hlinkClick>
              </a:rPr>
              <a:t>07</a:t>
            </a:r>
          </a:p>
        </p:txBody>
      </p:sp>
      <p:sp>
        <p:nvSpPr>
          <p:cNvPr id="15" name="New shape" title=""/>
          <p:cNvSpPr/>
          <p:nvPr/>
        </p:nvSpPr>
        <p:spPr>
          <a:xfrm>
            <a:off x="586800" y="262707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Active mobile social media penetration in Europe 2021</a:t>
            </a:r>
          </a:p>
        </p:txBody>
      </p:sp>
      <p:sp>
        <p:nvSpPr>
          <p:cNvPr id="16" name="New shape" title=""/>
          <p:cNvSpPr/>
          <p:nvPr/>
        </p:nvSpPr>
        <p:spPr>
          <a:xfrm>
            <a:off x="5544000" y="279735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9" action="ppaction://hlinksldjump">
                  <a:extLst>
                    <a:ext uri="{A12FA001-AC4F-418D-AE19-62706E023703}">
                      <ahyp:hlinkClr xmlns:ahyp="http://schemas.microsoft.com/office/drawing/2018/hyperlinkcolor" val="tx"/>
                    </a:ext>
                  </a:extLst>
                </a:hlinkClick>
              </a:rPr>
              <a:t>08</a:t>
            </a:r>
          </a:p>
        </p:txBody>
      </p:sp>
      <p:sp>
        <p:nvSpPr>
          <p:cNvPr id="17" name="New shape" title=""/>
          <p:cNvSpPr/>
          <p:nvPr/>
        </p:nvSpPr>
        <p:spPr>
          <a:xfrm>
            <a:off x="586800" y="279735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Active mobile social media penetration in APAC 2019, by country</a:t>
            </a:r>
          </a:p>
        </p:txBody>
      </p:sp>
      <p:sp>
        <p:nvSpPr>
          <p:cNvPr id="18" name="New shape" title=""/>
          <p:cNvSpPr/>
          <p:nvPr/>
        </p:nvSpPr>
        <p:spPr>
          <a:xfrm>
            <a:off x="5544000" y="296763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0" action="ppaction://hlinksldjump">
                  <a:extLst>
                    <a:ext uri="{A12FA001-AC4F-418D-AE19-62706E023703}">
                      <ahyp:hlinkClr xmlns:ahyp="http://schemas.microsoft.com/office/drawing/2018/hyperlinkcolor" val="tx"/>
                    </a:ext>
                  </a:extLst>
                </a:hlinkClick>
              </a:rPr>
              <a:t>09</a:t>
            </a:r>
          </a:p>
        </p:txBody>
      </p:sp>
      <p:sp>
        <p:nvSpPr>
          <p:cNvPr id="19" name="New shape" title=""/>
          <p:cNvSpPr/>
          <p:nvPr/>
        </p:nvSpPr>
        <p:spPr>
          <a:xfrm>
            <a:off x="586800" y="296763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Latin America &amp; the Caribbean: mobile social media users by region 2019</a:t>
            </a:r>
          </a:p>
        </p:txBody>
      </p:sp>
      <p:sp>
        <p:nvSpPr>
          <p:cNvPr id="20" name="New shape" title=""/>
          <p:cNvSpPr/>
          <p:nvPr/>
        </p:nvSpPr>
        <p:spPr>
          <a:xfrm>
            <a:off x="5544000" y="313791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1" action="ppaction://hlinksldjump">
                  <a:extLst>
                    <a:ext uri="{A12FA001-AC4F-418D-AE19-62706E023703}">
                      <ahyp:hlinkClr xmlns:ahyp="http://schemas.microsoft.com/office/drawing/2018/hyperlinkcolor" val="tx"/>
                    </a:ext>
                  </a:extLst>
                </a:hlinkClick>
              </a:rPr>
              <a:t>10</a:t>
            </a:r>
          </a:p>
        </p:txBody>
      </p:sp>
      <p:sp>
        <p:nvSpPr>
          <p:cNvPr id="21" name="New shape" title=""/>
          <p:cNvSpPr/>
          <p:nvPr/>
        </p:nvSpPr>
        <p:spPr>
          <a:xfrm>
            <a:off x="586800" y="313791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Apple App Store app revenue share 2019-2025, by category</a:t>
            </a:r>
          </a:p>
        </p:txBody>
      </p:sp>
      <p:sp>
        <p:nvSpPr>
          <p:cNvPr id="22" name="New shape" title=""/>
          <p:cNvSpPr/>
          <p:nvPr/>
        </p:nvSpPr>
        <p:spPr>
          <a:xfrm>
            <a:off x="5544000" y="330818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2" action="ppaction://hlinksldjump">
                  <a:extLst>
                    <a:ext uri="{A12FA001-AC4F-418D-AE19-62706E023703}">
                      <ahyp:hlinkClr xmlns:ahyp="http://schemas.microsoft.com/office/drawing/2018/hyperlinkcolor" val="tx"/>
                    </a:ext>
                  </a:extLst>
                </a:hlinkClick>
              </a:rPr>
              <a:t>11</a:t>
            </a:r>
          </a:p>
        </p:txBody>
      </p:sp>
      <p:sp>
        <p:nvSpPr>
          <p:cNvPr id="23" name="New shape" title=""/>
          <p:cNvSpPr/>
          <p:nvPr/>
        </p:nvSpPr>
        <p:spPr>
          <a:xfrm>
            <a:off x="586800" y="330818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Google Play app revenue share 2019-2025, by category</a:t>
            </a:r>
          </a:p>
        </p:txBody>
      </p:sp>
      <p:sp>
        <p:nvSpPr>
          <p:cNvPr id="24" name="New shape" title=""/>
          <p:cNvSpPr/>
          <p:nvPr/>
        </p:nvSpPr>
        <p:spPr>
          <a:xfrm>
            <a:off x="586800" y="3605467"/>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02 Market leaders</a:t>
            </a:r>
          </a:p>
        </p:txBody>
      </p:sp>
      <p:sp>
        <p:nvSpPr>
          <p:cNvPr id="25" name="New shape" title=""/>
          <p:cNvSpPr/>
          <p:nvPr/>
        </p:nvSpPr>
        <p:spPr>
          <a:xfrm>
            <a:off x="5544000" y="383891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3" action="ppaction://hlinksldjump">
                  <a:extLst>
                    <a:ext uri="{A12FA001-AC4F-418D-AE19-62706E023703}">
                      <ahyp:hlinkClr xmlns:ahyp="http://schemas.microsoft.com/office/drawing/2018/hyperlinkcolor" val="tx"/>
                    </a:ext>
                  </a:extLst>
                </a:hlinkClick>
              </a:rPr>
              <a:t>13</a:t>
            </a:r>
          </a:p>
        </p:txBody>
      </p:sp>
      <p:sp>
        <p:nvSpPr>
          <p:cNvPr id="26" name="New shape" title=""/>
          <p:cNvSpPr/>
          <p:nvPr/>
        </p:nvSpPr>
        <p:spPr>
          <a:xfrm>
            <a:off x="586800" y="383891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social networks ranked by number of users 2023</a:t>
            </a:r>
          </a:p>
        </p:txBody>
      </p:sp>
      <p:sp>
        <p:nvSpPr>
          <p:cNvPr id="27" name="New shape" title=""/>
          <p:cNvSpPr/>
          <p:nvPr/>
        </p:nvSpPr>
        <p:spPr>
          <a:xfrm>
            <a:off x="5544000" y="400918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4" action="ppaction://hlinksldjump">
                  <a:extLst>
                    <a:ext uri="{A12FA001-AC4F-418D-AE19-62706E023703}">
                      <ahyp:hlinkClr xmlns:ahyp="http://schemas.microsoft.com/office/drawing/2018/hyperlinkcolor" val="tx"/>
                    </a:ext>
                  </a:extLst>
                </a:hlinkClick>
              </a:rPr>
              <a:t>14</a:t>
            </a:r>
          </a:p>
        </p:txBody>
      </p:sp>
      <p:sp>
        <p:nvSpPr>
          <p:cNvPr id="28" name="New shape" title=""/>
          <p:cNvSpPr/>
          <p:nvPr/>
        </p:nvSpPr>
        <p:spPr>
          <a:xfrm>
            <a:off x="586800" y="400918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popular global mobile messaging apps 2022</a:t>
            </a:r>
          </a:p>
        </p:txBody>
      </p:sp>
      <p:sp>
        <p:nvSpPr>
          <p:cNvPr id="29" name="New shape" title=""/>
          <p:cNvSpPr/>
          <p:nvPr/>
        </p:nvSpPr>
        <p:spPr>
          <a:xfrm>
            <a:off x="5544000" y="417946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5" action="ppaction://hlinksldjump">
                  <a:extLst>
                    <a:ext uri="{A12FA001-AC4F-418D-AE19-62706E023703}">
                      <ahyp:hlinkClr xmlns:ahyp="http://schemas.microsoft.com/office/drawing/2018/hyperlinkcolor" val="tx"/>
                    </a:ext>
                  </a:extLst>
                </a:hlinkClick>
              </a:rPr>
              <a:t>15</a:t>
            </a:r>
          </a:p>
        </p:txBody>
      </p:sp>
      <p:sp>
        <p:nvSpPr>
          <p:cNvPr id="30" name="New shape" title=""/>
          <p:cNvSpPr/>
          <p:nvPr/>
        </p:nvSpPr>
        <p:spPr>
          <a:xfrm>
            <a:off x="586800" y="417946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Android communication apps worldwide 2022, by downloads</a:t>
            </a:r>
          </a:p>
        </p:txBody>
      </p:sp>
      <p:sp>
        <p:nvSpPr>
          <p:cNvPr id="31" name="New shape" title=""/>
          <p:cNvSpPr/>
          <p:nvPr/>
        </p:nvSpPr>
        <p:spPr>
          <a:xfrm>
            <a:off x="5544000" y="434974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6" action="ppaction://hlinksldjump">
                  <a:extLst>
                    <a:ext uri="{A12FA001-AC4F-418D-AE19-62706E023703}">
                      <ahyp:hlinkClr xmlns:ahyp="http://schemas.microsoft.com/office/drawing/2018/hyperlinkcolor" val="tx"/>
                    </a:ext>
                  </a:extLst>
                </a:hlinkClick>
              </a:rPr>
              <a:t>16</a:t>
            </a:r>
          </a:p>
        </p:txBody>
      </p:sp>
      <p:sp>
        <p:nvSpPr>
          <p:cNvPr id="32" name="New shape" title=""/>
          <p:cNvSpPr/>
          <p:nvPr/>
        </p:nvSpPr>
        <p:spPr>
          <a:xfrm>
            <a:off x="586800" y="434974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Android communication apps worldwide 2022, by revenue</a:t>
            </a:r>
          </a:p>
        </p:txBody>
      </p:sp>
      <p:sp>
        <p:nvSpPr>
          <p:cNvPr id="33" name="New shape" title=""/>
          <p:cNvSpPr/>
          <p:nvPr/>
        </p:nvSpPr>
        <p:spPr>
          <a:xfrm>
            <a:off x="5544000" y="452002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7" action="ppaction://hlinksldjump">
                  <a:extLst>
                    <a:ext uri="{A12FA001-AC4F-418D-AE19-62706E023703}">
                      <ahyp:hlinkClr xmlns:ahyp="http://schemas.microsoft.com/office/drawing/2018/hyperlinkcolor" val="tx"/>
                    </a:ext>
                  </a:extLst>
                </a:hlinkClick>
              </a:rPr>
              <a:t>17</a:t>
            </a:r>
          </a:p>
        </p:txBody>
      </p:sp>
      <p:sp>
        <p:nvSpPr>
          <p:cNvPr id="34" name="New shape" title=""/>
          <p:cNvSpPr/>
          <p:nvPr/>
        </p:nvSpPr>
        <p:spPr>
          <a:xfrm>
            <a:off x="586800" y="452002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iPhone social media apps worldwide 2022, by downloads</a:t>
            </a:r>
          </a:p>
        </p:txBody>
      </p:sp>
      <p:sp>
        <p:nvSpPr>
          <p:cNvPr id="35" name="New shape" title=""/>
          <p:cNvSpPr/>
          <p:nvPr/>
        </p:nvSpPr>
        <p:spPr>
          <a:xfrm>
            <a:off x="5544000" y="46903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8" action="ppaction://hlinksldjump">
                  <a:extLst>
                    <a:ext uri="{A12FA001-AC4F-418D-AE19-62706E023703}">
                      <ahyp:hlinkClr xmlns:ahyp="http://schemas.microsoft.com/office/drawing/2018/hyperlinkcolor" val="tx"/>
                    </a:ext>
                  </a:extLst>
                </a:hlinkClick>
              </a:rPr>
              <a:t>18</a:t>
            </a:r>
          </a:p>
        </p:txBody>
      </p:sp>
      <p:sp>
        <p:nvSpPr>
          <p:cNvPr id="36" name="New shape" title=""/>
          <p:cNvSpPr/>
          <p:nvPr/>
        </p:nvSpPr>
        <p:spPr>
          <a:xfrm>
            <a:off x="586800" y="46903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iPhone social media apps worldwide 2022, by revenue</a:t>
            </a:r>
          </a:p>
        </p:txBody>
      </p:sp>
      <p:sp>
        <p:nvSpPr>
          <p:cNvPr id="37" name="New shape" title=""/>
          <p:cNvSpPr/>
          <p:nvPr/>
        </p:nvSpPr>
        <p:spPr>
          <a:xfrm>
            <a:off x="5544000" y="48605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9" action="ppaction://hlinksldjump">
                  <a:extLst>
                    <a:ext uri="{A12FA001-AC4F-418D-AE19-62706E023703}">
                      <ahyp:hlinkClr xmlns:ahyp="http://schemas.microsoft.com/office/drawing/2018/hyperlinkcolor" val="tx"/>
                    </a:ext>
                  </a:extLst>
                </a:hlinkClick>
              </a:rPr>
              <a:t>19</a:t>
            </a:r>
          </a:p>
        </p:txBody>
      </p:sp>
      <p:sp>
        <p:nvSpPr>
          <p:cNvPr id="38" name="New shape" title=""/>
          <p:cNvSpPr/>
          <p:nvPr/>
        </p:nvSpPr>
        <p:spPr>
          <a:xfrm>
            <a:off x="586800" y="48605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non-gaming Android app publishers worldwide 2022, by downloads</a:t>
            </a:r>
          </a:p>
        </p:txBody>
      </p:sp>
      <p:sp>
        <p:nvSpPr>
          <p:cNvPr id="39" name="New shape" title=""/>
          <p:cNvSpPr/>
          <p:nvPr/>
        </p:nvSpPr>
        <p:spPr>
          <a:xfrm>
            <a:off x="586800" y="5157856"/>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03 Instagram</a:t>
            </a:r>
          </a:p>
        </p:txBody>
      </p:sp>
      <p:sp>
        <p:nvSpPr>
          <p:cNvPr id="40" name="New shape" title=""/>
          <p:cNvSpPr/>
          <p:nvPr/>
        </p:nvSpPr>
        <p:spPr>
          <a:xfrm>
            <a:off x="5544000" y="53912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0" action="ppaction://hlinksldjump">
                  <a:extLst>
                    <a:ext uri="{A12FA001-AC4F-418D-AE19-62706E023703}">
                      <ahyp:hlinkClr xmlns:ahyp="http://schemas.microsoft.com/office/drawing/2018/hyperlinkcolor" val="tx"/>
                    </a:ext>
                  </a:extLst>
                </a:hlinkClick>
              </a:rPr>
              <a:t>21</a:t>
            </a:r>
          </a:p>
        </p:txBody>
      </p:sp>
      <p:sp>
        <p:nvSpPr>
          <p:cNvPr id="41" name="New shape" title=""/>
          <p:cNvSpPr/>
          <p:nvPr/>
        </p:nvSpPr>
        <p:spPr>
          <a:xfrm>
            <a:off x="586800" y="53912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Instagram accounts with the most followers worldwide 2023</a:t>
            </a:r>
          </a:p>
        </p:txBody>
      </p:sp>
      <p:sp>
        <p:nvSpPr>
          <p:cNvPr id="42" name="New shape" title=""/>
          <p:cNvSpPr/>
          <p:nvPr/>
        </p:nvSpPr>
        <p:spPr>
          <a:xfrm>
            <a:off x="10915200" y="18828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1" action="ppaction://hlinksldjump">
                  <a:extLst>
                    <a:ext uri="{A12FA001-AC4F-418D-AE19-62706E023703}">
                      <ahyp:hlinkClr xmlns:ahyp="http://schemas.microsoft.com/office/drawing/2018/hyperlinkcolor" val="tx"/>
                    </a:ext>
                  </a:extLst>
                </a:hlinkClick>
              </a:rPr>
              <a:t>22</a:t>
            </a:r>
          </a:p>
        </p:txBody>
      </p:sp>
      <p:sp>
        <p:nvSpPr>
          <p:cNvPr id="43" name="New shape" title=""/>
          <p:cNvSpPr/>
          <p:nvPr/>
        </p:nvSpPr>
        <p:spPr>
          <a:xfrm>
            <a:off x="5958000" y="18828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Countries with the most Instagram users 2023</a:t>
            </a:r>
          </a:p>
        </p:txBody>
      </p:sp>
      <p:sp>
        <p:nvSpPr>
          <p:cNvPr id="44" name="New shape" title=""/>
          <p:cNvSpPr/>
          <p:nvPr/>
        </p:nvSpPr>
        <p:spPr>
          <a:xfrm>
            <a:off x="10915200" y="20530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2" action="ppaction://hlinksldjump">
                  <a:extLst>
                    <a:ext uri="{A12FA001-AC4F-418D-AE19-62706E023703}">
                      <ahyp:hlinkClr xmlns:ahyp="http://schemas.microsoft.com/office/drawing/2018/hyperlinkcolor" val="tx"/>
                    </a:ext>
                  </a:extLst>
                </a:hlinkClick>
              </a:rPr>
              <a:t>23</a:t>
            </a:r>
          </a:p>
        </p:txBody>
      </p:sp>
      <p:sp>
        <p:nvSpPr>
          <p:cNvPr id="45" name="New shape" title=""/>
          <p:cNvSpPr/>
          <p:nvPr/>
        </p:nvSpPr>
        <p:spPr>
          <a:xfrm>
            <a:off x="5958000" y="20530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Countries with biggest Instagram reach 2023</a:t>
            </a:r>
          </a:p>
        </p:txBody>
      </p:sp>
      <p:sp>
        <p:nvSpPr>
          <p:cNvPr id="46" name="New shape" title=""/>
          <p:cNvSpPr/>
          <p:nvPr/>
        </p:nvSpPr>
        <p:spPr>
          <a:xfrm>
            <a:off x="10915200" y="22233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3" action="ppaction://hlinksldjump">
                  <a:extLst>
                    <a:ext uri="{A12FA001-AC4F-418D-AE19-62706E023703}">
                      <ahyp:hlinkClr xmlns:ahyp="http://schemas.microsoft.com/office/drawing/2018/hyperlinkcolor" val="tx"/>
                    </a:ext>
                  </a:extLst>
                </a:hlinkClick>
              </a:rPr>
              <a:t>24</a:t>
            </a:r>
          </a:p>
        </p:txBody>
      </p:sp>
      <p:sp>
        <p:nvSpPr>
          <p:cNvPr id="47" name="New shape" title=""/>
          <p:cNvSpPr/>
          <p:nvPr/>
        </p:nvSpPr>
        <p:spPr>
          <a:xfrm>
            <a:off x="5958000" y="22233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Instagram: distribution of global audiences 2023, by age group</a:t>
            </a:r>
          </a:p>
        </p:txBody>
      </p:sp>
      <p:sp>
        <p:nvSpPr>
          <p:cNvPr id="48" name="New shape" title=""/>
          <p:cNvSpPr/>
          <p:nvPr/>
        </p:nvSpPr>
        <p:spPr>
          <a:xfrm>
            <a:off x="10915200" y="239363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4" action="ppaction://hlinksldjump">
                  <a:extLst>
                    <a:ext uri="{A12FA001-AC4F-418D-AE19-62706E023703}">
                      <ahyp:hlinkClr xmlns:ahyp="http://schemas.microsoft.com/office/drawing/2018/hyperlinkcolor" val="tx"/>
                    </a:ext>
                  </a:extLst>
                </a:hlinkClick>
              </a:rPr>
              <a:t>25</a:t>
            </a:r>
          </a:p>
        </p:txBody>
      </p:sp>
      <p:sp>
        <p:nvSpPr>
          <p:cNvPr id="49" name="New shape" title=""/>
          <p:cNvSpPr/>
          <p:nvPr/>
        </p:nvSpPr>
        <p:spPr>
          <a:xfrm>
            <a:off x="5958000" y="239363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Instagram: distribution of global audiences 2023, by gender</a:t>
            </a:r>
          </a:p>
        </p:txBody>
      </p:sp>
      <p:sp>
        <p:nvSpPr>
          <p:cNvPr id="50" name="New shape" title=""/>
          <p:cNvSpPr/>
          <p:nvPr/>
        </p:nvSpPr>
        <p:spPr>
          <a:xfrm>
            <a:off x="10915200" y="256391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5" action="ppaction://hlinksldjump">
                  <a:extLst>
                    <a:ext uri="{A12FA001-AC4F-418D-AE19-62706E023703}">
                      <ahyp:hlinkClr xmlns:ahyp="http://schemas.microsoft.com/office/drawing/2018/hyperlinkcolor" val="tx"/>
                    </a:ext>
                  </a:extLst>
                </a:hlinkClick>
              </a:rPr>
              <a:t>26</a:t>
            </a:r>
          </a:p>
        </p:txBody>
      </p:sp>
      <p:sp>
        <p:nvSpPr>
          <p:cNvPr id="51" name="New shape" title=""/>
          <p:cNvSpPr/>
          <p:nvPr/>
        </p:nvSpPr>
        <p:spPr>
          <a:xfrm>
            <a:off x="5958000" y="256391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Instagram: distribution of global audiences 2023, by age and gender</a:t>
            </a:r>
          </a:p>
        </p:txBody>
      </p:sp>
      <p:sp>
        <p:nvSpPr>
          <p:cNvPr id="52" name="New shape" title=""/>
          <p:cNvSpPr/>
          <p:nvPr/>
        </p:nvSpPr>
        <p:spPr>
          <a:xfrm>
            <a:off x="5958000" y="2861190"/>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04 Snapchat</a:t>
            </a:r>
          </a:p>
        </p:txBody>
      </p:sp>
      <p:sp>
        <p:nvSpPr>
          <p:cNvPr id="53" name="New shape" title=""/>
          <p:cNvSpPr/>
          <p:nvPr/>
        </p:nvSpPr>
        <p:spPr>
          <a:xfrm>
            <a:off x="10915200" y="309463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6" action="ppaction://hlinksldjump">
                  <a:extLst>
                    <a:ext uri="{A12FA001-AC4F-418D-AE19-62706E023703}">
                      <ahyp:hlinkClr xmlns:ahyp="http://schemas.microsoft.com/office/drawing/2018/hyperlinkcolor" val="tx"/>
                    </a:ext>
                  </a:extLst>
                </a:hlinkClick>
              </a:rPr>
              <a:t>28</a:t>
            </a:r>
          </a:p>
        </p:txBody>
      </p:sp>
      <p:sp>
        <p:nvSpPr>
          <p:cNvPr id="54" name="New shape" title=""/>
          <p:cNvSpPr/>
          <p:nvPr/>
        </p:nvSpPr>
        <p:spPr>
          <a:xfrm>
            <a:off x="5958000" y="309463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Countries with the most Snapchat users 2022</a:t>
            </a:r>
          </a:p>
        </p:txBody>
      </p:sp>
      <p:sp>
        <p:nvSpPr>
          <p:cNvPr id="55" name="New shape" title=""/>
          <p:cNvSpPr/>
          <p:nvPr/>
        </p:nvSpPr>
        <p:spPr>
          <a:xfrm>
            <a:off x="10915200" y="326491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7" action="ppaction://hlinksldjump">
                  <a:extLst>
                    <a:ext uri="{A12FA001-AC4F-418D-AE19-62706E023703}">
                      <ahyp:hlinkClr xmlns:ahyp="http://schemas.microsoft.com/office/drawing/2018/hyperlinkcolor" val="tx"/>
                    </a:ext>
                  </a:extLst>
                </a:hlinkClick>
              </a:rPr>
              <a:t>29</a:t>
            </a:r>
          </a:p>
        </p:txBody>
      </p:sp>
      <p:sp>
        <p:nvSpPr>
          <p:cNvPr id="56" name="New shape" title=""/>
          <p:cNvSpPr/>
          <p:nvPr/>
        </p:nvSpPr>
        <p:spPr>
          <a:xfrm>
            <a:off x="5958000" y="326491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Daily active users of Snapchat 2014-2022</a:t>
            </a:r>
          </a:p>
        </p:txBody>
      </p:sp>
      <p:sp>
        <p:nvSpPr>
          <p:cNvPr id="57" name="New shape" title=""/>
          <p:cNvSpPr/>
          <p:nvPr/>
        </p:nvSpPr>
        <p:spPr>
          <a:xfrm>
            <a:off x="10915200" y="343518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8" action="ppaction://hlinksldjump">
                  <a:extLst>
                    <a:ext uri="{A12FA001-AC4F-418D-AE19-62706E023703}">
                      <ahyp:hlinkClr xmlns:ahyp="http://schemas.microsoft.com/office/drawing/2018/hyperlinkcolor" val="tx"/>
                    </a:ext>
                  </a:extLst>
                </a:hlinkClick>
              </a:rPr>
              <a:t>30</a:t>
            </a:r>
          </a:p>
        </p:txBody>
      </p:sp>
      <p:sp>
        <p:nvSpPr>
          <p:cNvPr id="58" name="New shape" title=""/>
          <p:cNvSpPr/>
          <p:nvPr/>
        </p:nvSpPr>
        <p:spPr>
          <a:xfrm>
            <a:off x="5958000" y="343518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Daily active users of Snapchat 2014-2022, by region</a:t>
            </a:r>
          </a:p>
        </p:txBody>
      </p:sp>
      <p:sp>
        <p:nvSpPr>
          <p:cNvPr id="59" name="New shape" title=""/>
          <p:cNvSpPr/>
          <p:nvPr/>
        </p:nvSpPr>
        <p:spPr>
          <a:xfrm>
            <a:off x="10915200" y="360546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9" action="ppaction://hlinksldjump">
                  <a:extLst>
                    <a:ext uri="{A12FA001-AC4F-418D-AE19-62706E023703}">
                      <ahyp:hlinkClr xmlns:ahyp="http://schemas.microsoft.com/office/drawing/2018/hyperlinkcolor" val="tx"/>
                    </a:ext>
                  </a:extLst>
                </a:hlinkClick>
              </a:rPr>
              <a:t>31</a:t>
            </a:r>
          </a:p>
        </p:txBody>
      </p:sp>
      <p:sp>
        <p:nvSpPr>
          <p:cNvPr id="60" name="New shape" title=""/>
          <p:cNvSpPr/>
          <p:nvPr/>
        </p:nvSpPr>
        <p:spPr>
          <a:xfrm>
            <a:off x="5958000" y="360546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Snap worldwide quarterly revenue 2015-2022</a:t>
            </a:r>
          </a:p>
        </p:txBody>
      </p:sp>
      <p:sp>
        <p:nvSpPr>
          <p:cNvPr id="61" name="New shape" title=""/>
          <p:cNvSpPr/>
          <p:nvPr/>
        </p:nvSpPr>
        <p:spPr>
          <a:xfrm>
            <a:off x="10915200" y="377574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0" action="ppaction://hlinksldjump">
                  <a:extLst>
                    <a:ext uri="{A12FA001-AC4F-418D-AE19-62706E023703}">
                      <ahyp:hlinkClr xmlns:ahyp="http://schemas.microsoft.com/office/drawing/2018/hyperlinkcolor" val="tx"/>
                    </a:ext>
                  </a:extLst>
                </a:hlinkClick>
              </a:rPr>
              <a:t>32</a:t>
            </a:r>
          </a:p>
        </p:txBody>
      </p:sp>
      <p:sp>
        <p:nvSpPr>
          <p:cNvPr id="62" name="New shape" title=""/>
          <p:cNvSpPr/>
          <p:nvPr/>
        </p:nvSpPr>
        <p:spPr>
          <a:xfrm>
            <a:off x="5958000" y="377574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Snap worldwide net income/loss 2015-2022, by quarter</a:t>
            </a:r>
          </a:p>
        </p:txBody>
      </p:sp>
      <p:sp>
        <p:nvSpPr>
          <p:cNvPr id="63" name="New shape" title=""/>
          <p:cNvSpPr/>
          <p:nvPr/>
        </p:nvSpPr>
        <p:spPr>
          <a:xfrm>
            <a:off x="10915200" y="394602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1" action="ppaction://hlinksldjump">
                  <a:extLst>
                    <a:ext uri="{A12FA001-AC4F-418D-AE19-62706E023703}">
                      <ahyp:hlinkClr xmlns:ahyp="http://schemas.microsoft.com/office/drawing/2018/hyperlinkcolor" val="tx"/>
                    </a:ext>
                  </a:extLst>
                </a:hlinkClick>
              </a:rPr>
              <a:t>33</a:t>
            </a:r>
          </a:p>
        </p:txBody>
      </p:sp>
      <p:sp>
        <p:nvSpPr>
          <p:cNvPr id="64" name="New shape" title=""/>
          <p:cNvSpPr/>
          <p:nvPr/>
        </p:nvSpPr>
        <p:spPr>
          <a:xfrm>
            <a:off x="5958000" y="394602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Snap quarterly ARPU 2016-2022</a:t>
            </a:r>
          </a:p>
        </p:txBody>
      </p:sp>
      <p:sp>
        <p:nvSpPr>
          <p:cNvPr id="65" name="New shape" title=""/>
          <p:cNvSpPr/>
          <p:nvPr/>
        </p:nvSpPr>
        <p:spPr>
          <a:xfrm>
            <a:off x="10915200" y="411630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2" action="ppaction://hlinksldjump">
                  <a:extLst>
                    <a:ext uri="{A12FA001-AC4F-418D-AE19-62706E023703}">
                      <ahyp:hlinkClr xmlns:ahyp="http://schemas.microsoft.com/office/drawing/2018/hyperlinkcolor" val="tx"/>
                    </a:ext>
                  </a:extLst>
                </a:hlinkClick>
              </a:rPr>
              <a:t>34</a:t>
            </a:r>
          </a:p>
        </p:txBody>
      </p:sp>
      <p:sp>
        <p:nvSpPr>
          <p:cNvPr id="66" name="New shape" title=""/>
          <p:cNvSpPr/>
          <p:nvPr/>
        </p:nvSpPr>
        <p:spPr>
          <a:xfrm>
            <a:off x="5958000" y="411630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Snap quarterly ARPU 2016-2022, by region</a:t>
            </a:r>
          </a:p>
        </p:txBody>
      </p:sp>
      <p:sp>
        <p:nvSpPr>
          <p:cNvPr id="67" name="New shape" title=""/>
          <p:cNvSpPr/>
          <p:nvPr/>
        </p:nvSpPr>
        <p:spPr>
          <a:xfrm>
            <a:off x="5958000" y="4413579"/>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05 TikTok</a:t>
            </a:r>
          </a:p>
        </p:txBody>
      </p:sp>
      <p:sp>
        <p:nvSpPr>
          <p:cNvPr id="68" name="New shape" title=""/>
          <p:cNvSpPr/>
          <p:nvPr/>
        </p:nvSpPr>
        <p:spPr>
          <a:xfrm>
            <a:off x="10915200" y="464702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3" action="ppaction://hlinksldjump">
                  <a:extLst>
                    <a:ext uri="{A12FA001-AC4F-418D-AE19-62706E023703}">
                      <ahyp:hlinkClr xmlns:ahyp="http://schemas.microsoft.com/office/drawing/2018/hyperlinkcolor" val="tx"/>
                    </a:ext>
                  </a:extLst>
                </a:hlinkClick>
              </a:rPr>
              <a:t>36</a:t>
            </a:r>
          </a:p>
        </p:txBody>
      </p:sp>
      <p:sp>
        <p:nvSpPr>
          <p:cNvPr id="69" name="New shape" title=""/>
          <p:cNvSpPr/>
          <p:nvPr/>
        </p:nvSpPr>
        <p:spPr>
          <a:xfrm>
            <a:off x="5958000" y="464702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TikTok Android MAU 2019-2022</a:t>
            </a:r>
          </a:p>
        </p:txBody>
      </p:sp>
      <p:sp>
        <p:nvSpPr>
          <p:cNvPr id="70" name="New shape" title=""/>
          <p:cNvSpPr/>
          <p:nvPr/>
        </p:nvSpPr>
        <p:spPr>
          <a:xfrm>
            <a:off x="10915200" y="48173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4" action="ppaction://hlinksldjump">
                  <a:extLst>
                    <a:ext uri="{A12FA001-AC4F-418D-AE19-62706E023703}">
                      <ahyp:hlinkClr xmlns:ahyp="http://schemas.microsoft.com/office/drawing/2018/hyperlinkcolor" val="tx"/>
                    </a:ext>
                  </a:extLst>
                </a:hlinkClick>
              </a:rPr>
              <a:t>37</a:t>
            </a:r>
          </a:p>
        </p:txBody>
      </p:sp>
      <p:sp>
        <p:nvSpPr>
          <p:cNvPr id="71" name="New shape" title=""/>
          <p:cNvSpPr/>
          <p:nvPr/>
        </p:nvSpPr>
        <p:spPr>
          <a:xfrm>
            <a:off x="5958000" y="48173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TikTok iOS MAU 2019-2022</a:t>
            </a:r>
          </a:p>
        </p:txBody>
      </p:sp>
      <p:sp>
        <p:nvSpPr>
          <p:cNvPr id="72" name="New shape" title=""/>
          <p:cNvSpPr/>
          <p:nvPr/>
        </p:nvSpPr>
        <p:spPr>
          <a:xfrm>
            <a:off x="10915200" y="49875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5" action="ppaction://hlinksldjump">
                  <a:extLst>
                    <a:ext uri="{A12FA001-AC4F-418D-AE19-62706E023703}">
                      <ahyp:hlinkClr xmlns:ahyp="http://schemas.microsoft.com/office/drawing/2018/hyperlinkcolor" val="tx"/>
                    </a:ext>
                  </a:extLst>
                </a:hlinkClick>
              </a:rPr>
              <a:t>38</a:t>
            </a:r>
          </a:p>
        </p:txBody>
      </p:sp>
      <p:sp>
        <p:nvSpPr>
          <p:cNvPr id="73" name="New shape" title=""/>
          <p:cNvSpPr/>
          <p:nvPr/>
        </p:nvSpPr>
        <p:spPr>
          <a:xfrm>
            <a:off x="5958000" y="49875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TikTok usage distribution in the U.S. 2022, by age</a:t>
            </a:r>
          </a:p>
        </p:txBody>
      </p:sp>
      <p:sp>
        <p:nvSpPr>
          <p:cNvPr id="74" name="New shape" title=""/>
          <p:cNvSpPr/>
          <p:nvPr/>
        </p:nvSpPr>
        <p:spPr>
          <a:xfrm>
            <a:off x="10915200" y="51578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6" action="ppaction://hlinksldjump">
                  <a:extLst>
                    <a:ext uri="{A12FA001-AC4F-418D-AE19-62706E023703}">
                      <ahyp:hlinkClr xmlns:ahyp="http://schemas.microsoft.com/office/drawing/2018/hyperlinkcolor" val="tx"/>
                    </a:ext>
                  </a:extLst>
                </a:hlinkClick>
              </a:rPr>
              <a:t>39</a:t>
            </a:r>
          </a:p>
        </p:txBody>
      </p:sp>
      <p:sp>
        <p:nvSpPr>
          <p:cNvPr id="75" name="New shape" title=""/>
          <p:cNvSpPr/>
          <p:nvPr/>
        </p:nvSpPr>
        <p:spPr>
          <a:xfrm>
            <a:off x="5958000" y="51578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TikTok MAU user ratio in the U.S. 2021, by gender</a:t>
            </a:r>
          </a:p>
        </p:txBody>
      </p:sp>
      <p:sp>
        <p:nvSpPr>
          <p:cNvPr id="76" name="New shape" title=""/>
          <p:cNvSpPr/>
          <p:nvPr/>
        </p:nvSpPr>
        <p:spPr>
          <a:xfrm>
            <a:off x="5958000" y="5455134"/>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06 Advertising</a:t>
            </a: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6"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5"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Table of Contents</a:t>
            </a:r>
          </a:p>
        </p:txBody>
      </p:sp>
      <p:sp>
        <p:nvSpPr>
          <p:cNvPr id="3"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a:t>
            </a:r>
          </a:p>
        </p:txBody>
      </p:sp>
      <p:sp>
        <p:nvSpPr>
          <p:cNvPr id="7" name="New shape" title=""/>
          <p:cNvSpPr/>
          <p:nvPr/>
        </p:nvSpPr>
        <p:spPr>
          <a:xfrm>
            <a:off x="5544000" y="18828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5" action="ppaction://hlinksldjump">
                  <a:extLst>
                    <a:ext uri="{A12FA001-AC4F-418D-AE19-62706E023703}">
                      <ahyp:hlinkClr xmlns:ahyp="http://schemas.microsoft.com/office/drawing/2018/hyperlinkcolor" val="tx"/>
                    </a:ext>
                  </a:extLst>
                </a:hlinkClick>
              </a:rPr>
              <a:t>41</a:t>
            </a:r>
          </a:p>
        </p:txBody>
      </p:sp>
      <p:sp>
        <p:nvSpPr>
          <p:cNvPr id="8" name="New shape" title=""/>
          <p:cNvSpPr/>
          <p:nvPr/>
        </p:nvSpPr>
        <p:spPr>
          <a:xfrm>
            <a:off x="586800" y="18828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Digital Market Outlook: social media ad spend in the U.S. 2017-2026, by device</a:t>
            </a:r>
          </a:p>
        </p:txBody>
      </p:sp>
      <p:sp>
        <p:nvSpPr>
          <p:cNvPr id="9" name="New shape" title=""/>
          <p:cNvSpPr/>
          <p:nvPr/>
        </p:nvSpPr>
        <p:spPr>
          <a:xfrm>
            <a:off x="5544000" y="20530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6" action="ppaction://hlinksldjump">
                  <a:extLst>
                    <a:ext uri="{A12FA001-AC4F-418D-AE19-62706E023703}">
                      <ahyp:hlinkClr xmlns:ahyp="http://schemas.microsoft.com/office/drawing/2018/hyperlinkcolor" val="tx"/>
                    </a:ext>
                  </a:extLst>
                </a:hlinkClick>
              </a:rPr>
              <a:t>42</a:t>
            </a:r>
          </a:p>
        </p:txBody>
      </p:sp>
      <p:sp>
        <p:nvSpPr>
          <p:cNvPr id="10" name="New shape" title=""/>
          <p:cNvSpPr/>
          <p:nvPr/>
        </p:nvSpPr>
        <p:spPr>
          <a:xfrm>
            <a:off x="586800" y="20530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Digital Market Outlook: SM ad spend per internet user U.S. 2017-2026, by device</a:t>
            </a:r>
          </a:p>
        </p:txBody>
      </p:sp>
      <p:sp>
        <p:nvSpPr>
          <p:cNvPr id="11" name="New shape" title=""/>
          <p:cNvSpPr/>
          <p:nvPr/>
        </p:nvSpPr>
        <p:spPr>
          <a:xfrm>
            <a:off x="5544000" y="22233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7" action="ppaction://hlinksldjump">
                  <a:extLst>
                    <a:ext uri="{A12FA001-AC4F-418D-AE19-62706E023703}">
                      <ahyp:hlinkClr xmlns:ahyp="http://schemas.microsoft.com/office/drawing/2018/hyperlinkcolor" val="tx"/>
                    </a:ext>
                  </a:extLst>
                </a:hlinkClick>
              </a:rPr>
              <a:t>43</a:t>
            </a:r>
          </a:p>
        </p:txBody>
      </p:sp>
      <p:sp>
        <p:nvSpPr>
          <p:cNvPr id="12" name="New shape" title=""/>
          <p:cNvSpPr/>
          <p:nvPr/>
        </p:nvSpPr>
        <p:spPr>
          <a:xfrm>
            <a:off x="586800" y="22233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Digital Market Outlook: social media ad spend in Canada 2017-2026, by device</a:t>
            </a:r>
          </a:p>
        </p:txBody>
      </p:sp>
      <p:sp>
        <p:nvSpPr>
          <p:cNvPr id="13" name="New shape" title=""/>
          <p:cNvSpPr/>
          <p:nvPr/>
        </p:nvSpPr>
        <p:spPr>
          <a:xfrm>
            <a:off x="5544000" y="239363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8" action="ppaction://hlinksldjump">
                  <a:extLst>
                    <a:ext uri="{A12FA001-AC4F-418D-AE19-62706E023703}">
                      <ahyp:hlinkClr xmlns:ahyp="http://schemas.microsoft.com/office/drawing/2018/hyperlinkcolor" val="tx"/>
                    </a:ext>
                  </a:extLst>
                </a:hlinkClick>
              </a:rPr>
              <a:t>44</a:t>
            </a:r>
          </a:p>
        </p:txBody>
      </p:sp>
      <p:sp>
        <p:nvSpPr>
          <p:cNvPr id="14" name="New shape" title=""/>
          <p:cNvSpPr/>
          <p:nvPr/>
        </p:nvSpPr>
        <p:spPr>
          <a:xfrm>
            <a:off x="586800" y="239363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Digital Market Outlook: social media ad spend in the UK 2017-2026, by device</a:t>
            </a:r>
          </a:p>
        </p:txBody>
      </p:sp>
      <p:sp>
        <p:nvSpPr>
          <p:cNvPr id="15" name="New shape" title=""/>
          <p:cNvSpPr/>
          <p:nvPr/>
        </p:nvSpPr>
        <p:spPr>
          <a:xfrm>
            <a:off x="5544000" y="256391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9" action="ppaction://hlinksldjump">
                  <a:extLst>
                    <a:ext uri="{A12FA001-AC4F-418D-AE19-62706E023703}">
                      <ahyp:hlinkClr xmlns:ahyp="http://schemas.microsoft.com/office/drawing/2018/hyperlinkcolor" val="tx"/>
                    </a:ext>
                  </a:extLst>
                </a:hlinkClick>
              </a:rPr>
              <a:t>45</a:t>
            </a:r>
          </a:p>
        </p:txBody>
      </p:sp>
      <p:sp>
        <p:nvSpPr>
          <p:cNvPr id="16" name="New shape" title=""/>
          <p:cNvSpPr/>
          <p:nvPr/>
        </p:nvSpPr>
        <p:spPr>
          <a:xfrm>
            <a:off x="586800" y="256391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Digital Market Outlook: SM ad spend per internet user UK 2017-2026, by device</a:t>
            </a: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Overview</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01</a:t>
            </a: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there were 5.16 billion internet users worldwide, which is 64.4 percent of the global population. Of this total, 4.76 billion, or 59.4 percent of the world's population, were social media users.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social media users may not represent unique individuals</a:t>
            </a:r>
          </a:p>
          <a:p>
            <a:r>
              <a:rPr sz="600" b="1">
                <a:solidFill>
                  <a:srgbClr val="0F2741"/>
                </a:solidFill>
                <a:latin typeface="Open Sans"/>
              </a:rPr>
              <a:t>Source(s): </a:t>
            </a:r>
            <a:r>
              <a:rPr sz="600" b="0">
                <a:solidFill>
                  <a:srgbClr val="0F2741"/>
                </a:solidFill>
                <a:latin typeface="Open Sans"/>
              </a:rPr>
              <a:t>DataReportal; Meltwater;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internet and social media users worldwide as of January 2023 (in billions)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Worldwide digital population 2023</a:t>
            </a: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2"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 lot of things happen in an internet minute - millions of messages, e-mails and texts are sent, scrolled and uploaded, and hundreds of thousands of hours of content are consumed. In a 2022 internet minute, one million hours of content were streamed by users worldwide.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April 2022</a:t>
            </a:r>
          </a:p>
          <a:p>
            <a:r>
              <a:rPr sz="600" b="1">
                <a:solidFill>
                  <a:srgbClr val="0F2741"/>
                </a:solidFill>
                <a:latin typeface="Open Sans"/>
              </a:rPr>
              <a:t>Source(s): </a:t>
            </a:r>
            <a:r>
              <a:rPr sz="600" b="0">
                <a:solidFill>
                  <a:srgbClr val="0F2741"/>
                </a:solidFill>
                <a:latin typeface="Open Sans"/>
              </a:rPr>
              <a:t>Domo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New Table" title=""/>
          <p:cNvGraphicFramePr>
            <a:graphicFrameLocks noGrp="1"/>
          </p:cNvGraphicFramePr>
          <p:nvPr/>
        </p:nvGraphicFramePr>
        <p:xfrm>
          <a:off x="586800" y="1882800"/>
          <a:ext cx="11016000" cy="3886200"/>
        </p:xfrm>
        <a:graphic>
          <a:graphicData uri="http://schemas.openxmlformats.org/drawingml/2006/table">
            <a:tbl>
              <a:tblPr firstRow="1" bandRow="1">
                <a:tableStyleId>{5C22544A-7EE6-4342-B048-85BDC9FD1C3A}</a:tableStyleId>
              </a:tblPr>
              <a:tblGrid>
                <a:gridCol w="6008700"/>
                <a:gridCol w="5007300"/>
              </a:tblGrid>
              <a:tr h="0">
                <a:tc>
                  <a:txBody>
                    <a:bodyPr/>
                    <a:lstStyle/>
                    <a:p>
                      <a:pPr algn="l"/>
                      <a:endParaRPr sz="1100" b="1">
                        <a:solidFill>
                          <a:srgbClr val="0F2741"/>
                        </a:solidFill>
                        <a:latin typeface="Open Sans"/>
                      </a:endParaRP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Amount per minute</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Emails sent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231400000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Cryptocurrency purchased (USD)</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90200000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Texts sent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16000000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Searches conducted on Google</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5900000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Snaps shared on Snapchat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2430000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Pieces of content shared on Facebook</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1700000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Swipes on Tinder</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1100000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Hours streamed</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1000000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USD spent on Amazon</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443000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USD sent on Venmo</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437600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Tweets shared on Twitter</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347200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Hours spent in Zoom meetings</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104600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USD spent on DoorDash</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76400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Photos shared on Instagram</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66000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bl>
          </a:graphicData>
        </a:graphic>
      </p:graphicFrame>
      <p:sp>
        <p:nvSpPr>
          <p:cNvPr id="5" name="New shape" title=""/>
          <p:cNvSpPr/>
          <p:nvPr/>
        </p:nvSpPr>
        <p:spPr>
          <a:xfrm>
            <a:off x="523300" y="5339925"/>
            <a:ext cx="11143000" cy="691425"/>
          </a:xfrm>
          <a:prstGeom prst="rect">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38" r:id="rId7" imgW="2203200" imgH="629486" progId=".xls">
                  <p:embed/>
                </p:oleObj>
              </mc:Choice>
              <mc:Fallback>
                <p:oleObj r:id="rId7" imgW="2203200" imgH="629486" progId=".xls">
                  <p:embed/>
                  <p:pic>
                    <p:nvPicPr>
                      <p:cNvPr id="0" name="OLE substitute image"/>
                      <p:cNvPicPr/>
                      <p:nvPr/>
                    </p:nvPicPr>
                    <p:blipFill>
                      <a:blip r:embed="rId9"/>
                      <a:srcRect t="100000"/>
                      <a:tile tx="0" ty="0" sx="100000" sy="100000" flip="none" algn="tl"/>
                    </p:blipFill>
                    <p:spPr>
                      <a:xfrm>
                        <a:off x="9399600" y="5401865"/>
                        <a:ext cx="2203200" cy="629486"/>
                      </a:xfrm>
                      <a:prstGeom prst="rect">
                        <a:avLst/>
                      </a:prstGeom>
                      <a:blipFill>
                        <a:blip r:embed="rId8"/>
                        <a:stretch>
                          <a:fillRect/>
                        </a:stretch>
                      </a:blipFill>
                      <a:ln>
                        <a:noFill/>
                      </a:ln>
                    </p:spPr>
                  </p:pic>
                </p:oleObj>
              </mc:Fallback>
            </mc:AlternateContent>
          </a:graphicData>
        </a:graphic>
      </p:graphicFrame>
      <p:sp>
        <p:nvSpPr>
          <p:cNvPr id="7"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a:t>
            </a:r>
          </a:p>
        </p:txBody>
      </p:sp>
      <p:sp>
        <p:nvSpPr>
          <p:cNvPr id="8"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Media usage in an internet minute as of April 2022</a:t>
            </a:r>
          </a:p>
        </p:txBody>
      </p:sp>
      <p:sp>
        <p:nvSpPr>
          <p:cNvPr id="9"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Media usage in an online minute 2022</a:t>
            </a: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Mobile social media usage is near universal among social media audiences in the Americas. As of January 2022, 99.5 percent of active social media users in Honduras accessed social platforms via mobile. In the United States approximately 90 percent of active users accessed social media via mobile devices. Overall, Canada had the lowest mobile social media penetration rate in the Americas in 2022, with 86.5 percent.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North America, Central and South America; January 2022</a:t>
            </a:r>
          </a:p>
          <a:p>
            <a:r>
              <a:rPr sz="600" b="1">
                <a:solidFill>
                  <a:srgbClr val="0F2741"/>
                </a:solidFill>
                <a:latin typeface="Open Sans"/>
              </a:rPr>
              <a:t>Source(s): </a:t>
            </a:r>
            <a:r>
              <a:rPr sz="600" b="0">
                <a:solidFill>
                  <a:srgbClr val="0F2741"/>
                </a:solidFill>
                <a:latin typeface="Open Sans"/>
              </a:rPr>
              <a:t>DataReportal; Hootsuite;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39"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3605600" y="1882800"/>
            <a:ext cx="49784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active social media users accessing via mobile</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Active mobile social media penetration in American countries as of January 2022</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Active mobile social media penetration in the Americas 2022</a:t>
            </a: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2021 Cyprus, Kosovo and Albania were the European countries with the highest mobile social media penetration, at nearly 99 percent of all social media users. Meanwhile, Estonia was the European country with the smallest share of mobile users when it came to social media, at 94.4 percent.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Europe; January 2021</a:t>
            </a:r>
          </a:p>
          <a:p>
            <a:r>
              <a:rPr sz="600" b="1">
                <a:solidFill>
                  <a:srgbClr val="0F2741"/>
                </a:solidFill>
                <a:latin typeface="Open Sans"/>
              </a:rPr>
              <a:t>Source(s): </a:t>
            </a:r>
            <a:r>
              <a:rPr sz="600" b="0">
                <a:solidFill>
                  <a:srgbClr val="0F2741"/>
                </a:solidFill>
                <a:latin typeface="Open Sans"/>
              </a:rPr>
              <a:t>DataReportal; Hootsuite;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0"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4342200" y="1882800"/>
            <a:ext cx="35052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Active mobile social media penetration</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Active mobile social media penetration in European countries in 2021</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Active mobile social media penetration in Europe 2021</a:t>
            </a: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Taiwan had the highest rate of mobile social media user penetration in the Asia Pacific region in 2019, with 89 percent. In comparison, Japan had a mobile social media penetration rate of 61 percent, while Papua New Guinea had a 8 percent penetration rate.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APAC; January 2019</a:t>
            </a:r>
          </a:p>
          <a:p>
            <a:r>
              <a:rPr sz="600" b="1">
                <a:solidFill>
                  <a:srgbClr val="0F2741"/>
                </a:solidFill>
                <a:latin typeface="Open Sans"/>
              </a:rPr>
              <a:t>Source(s): </a:t>
            </a:r>
            <a:r>
              <a:rPr sz="600" b="0">
                <a:solidFill>
                  <a:srgbClr val="0F2741"/>
                </a:solidFill>
                <a:latin typeface="Open Sans"/>
              </a:rPr>
              <a:t>DataReportal; Hootsuite;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1"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4342200" y="1882800"/>
            <a:ext cx="35052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Active mobile social media penetration</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8</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Active mobile social media penetration in Asia Pacific as of January 2019, by country</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Active mobile social media penetration in APAC 2019, by country</a:t>
            </a: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2019, there were 262 million monthly active mobile social media users in South America. Meanwhile, Mexico and Central America were home for 107 million users. Moreover, South America had the highest mobile internet penetration rate in Latin America and the Caribbean.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January 2019; Based on monthly mobile-active accounts on the top social networks in each region. | Compared to population.</a:t>
            </a:r>
          </a:p>
          <a:p>
            <a:r>
              <a:rPr sz="600" b="1">
                <a:solidFill>
                  <a:srgbClr val="0F2741"/>
                </a:solidFill>
                <a:latin typeface="Open Sans"/>
              </a:rPr>
              <a:t>Source(s): </a:t>
            </a:r>
            <a:r>
              <a:rPr sz="600" b="0">
                <a:solidFill>
                  <a:srgbClr val="0F2741"/>
                </a:solidFill>
                <a:latin typeface="Open Sans"/>
              </a:rPr>
              <a:t>DataReportal; Hootsuite;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9</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monthly active mobile social media users in Latin America and the Caribbean as of January 2019, by region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Latin America &amp; the Caribbean: mobile social media users by region 2019</a:t>
            </a: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This statistic presents the distribution of worldwide mobile app revenues in the Apple App Store from 2019 to 2025, sorted by category. In 2020, gaming apps accounted for 66 percent of global App Store consumer spending.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2019 to 2021; consumer spending, selected years only; *Forecast Values may not add up to 100 percent due to rounding.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Sensor Tower; Udonis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12150" y="1882800"/>
            <a:ext cx="17653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revenue</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10</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Distribution of worldwide mobile app revenues in the Apple App Store from 2019 to 2025, by category (in U.S. dollars)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Apple App Store app revenue share 2019-2025, by category</a:t>
            </a:r>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This statistic presents the distribution of worldwide mobile app revenues in the Google Play store from 2019 to 2025, sorted by category. In 2020, gaming apps accounted for 83 percent of global Google Play app revenues.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2019 and 2020; consumer spending; selected years only; excluding third-party stores; *Forecast Values may not add up to 100 percent due to rounding.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AdTrue; Sensor Tower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11</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Distribution of worldwide mobile app revenues in the Google Play store from 2019 to 2025, by category (in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Google Play app revenue share 2019-2025, by category</a:t>
            </a:r>
          </a:p>
        </p:txBody>
      </p:sp>
    </p:spTree>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Market leaders</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02</a:t>
            </a:r>
          </a:p>
        </p:txBody>
      </p:sp>
    </p:spTree>
  </p:cSld>
  <p:clrMapOvr>
    <a:masterClrMapping/>
  </p:clrMapOvr>
  <p:transition/>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Market leader Facebook was the first social network to surpass one billion registered accounts and currently sits at more than 2.9 billion monthly active users. Meta Platforms owns four of the biggest social media platforms, all with over one billion monthly active users each: Facebook (core platform), WhatsApp, Facebook Messenger, and Instagram. In the final quarter of 2022, Facebook reported over 3.7 billion monthly core Family product users.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social networks and messenger/chat app/voip included; figures for TikTok does not include Douyin; *Platforms have not published updated user figures in the past 12 months, figures may be out of date and less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DataReportal; Meltwater;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526350" y="1882800"/>
            <a:ext cx="31369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active users in millions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13</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Most popular social networks worldwide as of January 2023, ranked by number of monthly active users (in millions)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social networks ranked by number of users 2023</a:t>
            </a:r>
          </a:p>
        </p:txBody>
      </p:sp>
    </p:spTree>
  </p:cSld>
  <p:clrMapOvr>
    <a:masterClrMapping/>
  </p:clrMapOvr>
  <p:transition/>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2022, two billion users were accessing the WhatsApp messenger on a monthly basis. The app`s reach is usage penetration is particularly strong in markets outside of the United States and it is one of the most popular mobile social apps worldwide.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2022; *Have not published updated users numbers in the past 12 months.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DataReportal; Hootsuite; Various sources (Company data);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647000" y="1882800"/>
            <a:ext cx="2895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Monthly active users in millions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14</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Most popular global mobile messenger apps as of January 2022, based on number of monthly active users (in millions)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popular global mobile messaging apps 2022</a:t>
            </a:r>
          </a:p>
        </p:txBody>
      </p:sp>
    </p:spTree>
  </p:cSld>
  <p:clrMapOvr>
    <a:masterClrMapping/>
  </p:clrMapOvr>
  <p:transition/>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September 2022, WhatsApp was the most-downloaded communication app in the Google Play Store worldwide. The app generated around 20.7 million downloads from Android users. Snapchat immediately followed with approximately 15.3 million downloads from global users in the examined month.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September 2022; based on downloads to devices worldwide</a:t>
            </a:r>
          </a:p>
          <a:p>
            <a:r>
              <a:rPr sz="600" b="1">
                <a:solidFill>
                  <a:srgbClr val="0F2741"/>
                </a:solidFill>
                <a:latin typeface="Open Sans"/>
              </a:rPr>
              <a:t>Source(s): </a:t>
            </a:r>
            <a:r>
              <a:rPr sz="600" b="0">
                <a:solidFill>
                  <a:srgbClr val="0F2741"/>
                </a:solidFill>
                <a:latin typeface="Open Sans"/>
              </a:rPr>
              <a:t>Airnow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583500" y="1882800"/>
            <a:ext cx="3022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downloads in millions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15</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communication apps in the Google Play Store worldwide in September 2022, by number of downloads (in millions)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Android communication apps worldwide 2022, by downloads</a:t>
            </a:r>
          </a:p>
        </p:txBody>
      </p:sp>
    </p:spTree>
  </p:cSld>
  <p:clrMapOvr>
    <a:masterClrMapping/>
  </p:clrMapOvr>
  <p:transition/>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June 2022, voice-over-Internet and social platform Discord was the top-grossing communication app in the Google Play Store worldwide, with 1.7 million U.S. dollars in revenues. Azar was the second-most successful communication app, with 1.5 million U.S. dollars in revenues from global users.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September 2022; based on total revenue generated worldwide</a:t>
            </a:r>
          </a:p>
          <a:p>
            <a:r>
              <a:rPr sz="600" b="1">
                <a:solidFill>
                  <a:srgbClr val="0F2741"/>
                </a:solidFill>
                <a:latin typeface="Open Sans"/>
              </a:rPr>
              <a:t>Source(s): </a:t>
            </a:r>
            <a:r>
              <a:rPr sz="600" b="0">
                <a:solidFill>
                  <a:srgbClr val="0F2741"/>
                </a:solidFill>
                <a:latin typeface="Open Sans"/>
              </a:rPr>
              <a:t>Airnow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774000" y="1882800"/>
            <a:ext cx="2641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Total revenue in U.S. dollars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16</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communication apps in the Google Play Store worldwide in September 2022, by revenue (in U.S. dollars)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Android communication apps worldwide 2022, by revenue</a:t>
            </a:r>
          </a:p>
        </p:txBody>
      </p:sp>
    </p:spTree>
  </p:cSld>
  <p:clrMapOvr>
    <a:masterClrMapping/>
  </p:clrMapOvr>
  <p:transition/>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September 2022, BeReal was the most-downloaded social networking app for iPhone in the Apple App Store worldwide, with the photo-sharing social app reporting almost 14 million downloads from iPhone users worldwide. Meta-owned WhatsApp was the second most downloaded iPhone app, with the social app generating approximately seven million downloads from iPhone users. Telegram was the third most popular social media app with roughly four million downloads from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September 2022; iPhone apps only, excluding iPad apps</a:t>
            </a:r>
          </a:p>
          <a:p>
            <a:r>
              <a:rPr sz="600" b="1">
                <a:solidFill>
                  <a:srgbClr val="0F2741"/>
                </a:solidFill>
                <a:latin typeface="Open Sans"/>
              </a:rPr>
              <a:t>Source(s): </a:t>
            </a:r>
            <a:r>
              <a:rPr sz="600" b="0">
                <a:solidFill>
                  <a:srgbClr val="0F2741"/>
                </a:solidFill>
                <a:latin typeface="Open Sans"/>
              </a:rPr>
              <a:t>Airnow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583500" y="1882800"/>
            <a:ext cx="3022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downloads in millions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17</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iPhone social media apps in the Apple App Store worldwide in June 2022, by number of downloads (in millions)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iPhone social media apps worldwide 2022, by downloads</a:t>
            </a:r>
          </a:p>
        </p:txBody>
      </p:sp>
    </p:spTree>
  </p:cSld>
  <p:clrMapOvr>
    <a:masterClrMapping/>
  </p:clrMapOvr>
  <p:transition/>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September 2022, LINE was the top-grossing iPhone social networking app app in the Apple App Store worldwide. The service generated almost five million U.S. dollars in revenues from iOS users. Live streaming platform BIGO Live was the second-most successful social networking app with 4.5 million U.S. dollars in revenues from global users, while Chinese micro-blogging and social media app QQ amassed more than four million U.S. dollars in revenues from users worldwide.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September 2022; iPhone apps only, excluding iPad apps</a:t>
            </a:r>
          </a:p>
          <a:p>
            <a:r>
              <a:rPr sz="600" b="1">
                <a:solidFill>
                  <a:srgbClr val="0F2741"/>
                </a:solidFill>
                <a:latin typeface="Open Sans"/>
              </a:rPr>
              <a:t>Source(s): </a:t>
            </a:r>
            <a:r>
              <a:rPr sz="600" b="0">
                <a:solidFill>
                  <a:srgbClr val="0F2741"/>
                </a:solidFill>
                <a:latin typeface="Open Sans"/>
              </a:rPr>
              <a:t>Airnow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666050" y="1882800"/>
            <a:ext cx="28575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Revenue in million U.S. dollars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18</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iPhone social media apps in the Apple App Store worldwide in September 2022, by revenue (in million U.S. dollars)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iPhone social media apps worldwide 2022, by revenue</a:t>
            </a:r>
          </a:p>
        </p:txBody>
      </p:sp>
    </p:spTree>
  </p:cSld>
  <p:clrMapOvr>
    <a:masterClrMapping/>
  </p:clrMapOvr>
  <p:transition/>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September 2022, Google LLC was the top non-gaming app publisher on Google Play worldwide with approximately 225 million app downloads by Android users. Second-ranked Microsoft Corporation generated roughly 58 million Android app downloads through Google Play in the measured period.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September 2022</a:t>
            </a:r>
          </a:p>
          <a:p>
            <a:r>
              <a:rPr sz="600" b="1">
                <a:solidFill>
                  <a:srgbClr val="0F2741"/>
                </a:solidFill>
                <a:latin typeface="Open Sans"/>
              </a:rPr>
              <a:t>Source(s): </a:t>
            </a:r>
            <a:r>
              <a:rPr sz="600" b="0">
                <a:solidFill>
                  <a:srgbClr val="0F2741"/>
                </a:solidFill>
                <a:latin typeface="Open Sans"/>
              </a:rPr>
              <a:t>Airnow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583500" y="1882800"/>
            <a:ext cx="3022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downloads in millions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19</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non-gaming app publishers in the Google Play Store worldwide in September 2022, by number of downloads (in millions)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non-gaming Android app publishers worldwide 2022, by downloads</a:t>
            </a:r>
          </a:p>
        </p:txBody>
      </p:sp>
    </p:spTree>
  </p:cSld>
  <p:clrMapOvr>
    <a:masterClrMapping/>
  </p:clrMapOvr>
  <p:transition/>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Instagram</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03</a:t>
            </a:r>
          </a:p>
        </p:txBody>
      </p:sp>
    </p:spTree>
  </p:cSld>
  <p:clrMapOvr>
    <a:masterClrMapping/>
  </p:clrMapOvr>
  <p:transition/>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Cristiano Ronaldo has one of the most popular Instagram accounts as of January 2023. The Portuguese footballer is the most-followed person on the photo sharing app platform with 539 million followers. Instagram's own account was ranked first with roughly 600 million followers.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January 2023; business / creator accounts</a:t>
            </a:r>
          </a:p>
          <a:p>
            <a:r>
              <a:rPr sz="600" b="1">
                <a:solidFill>
                  <a:srgbClr val="0F2741"/>
                </a:solidFill>
                <a:latin typeface="Open Sans"/>
              </a:rPr>
              <a:t>Source(s): </a:t>
            </a:r>
            <a:r>
              <a:rPr sz="600" b="0">
                <a:solidFill>
                  <a:srgbClr val="0F2741"/>
                </a:solidFill>
                <a:latin typeface="Open Sans"/>
              </a:rPr>
              <a:t>Social Blade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2"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4659700" y="1882800"/>
            <a:ext cx="28702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followers in millions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21</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Instagram accounts with the most followers worldwide as of January 2023 (in millions)</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Instagram accounts with the most followers worldwide 2023</a:t>
            </a:r>
          </a:p>
        </p:txBody>
      </p:sp>
    </p:spTree>
  </p:cSld>
  <p:clrMapOvr>
    <a:masterClrMapping/>
  </p:clrMapOvr>
  <p:transition/>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India had a total of 229 million Instagram users, the largest Instagram audience in the world. The United States had 143 million users, and Brazil had 113 million. Indonesia, Turkey, and Japan ranked in fourth, fifth and sixth position, respectively. Brunei is the leading country for Instagram audience reach, with 92 percent of the population using the social media service. Guam came in second, with a penetration rate of 79.2 percent and the Cayman Islands ranked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13 years and older; based on addressable ad audience</a:t>
            </a:r>
          </a:p>
          <a:p>
            <a:r>
              <a:rPr sz="600" b="1">
                <a:solidFill>
                  <a:srgbClr val="0F2741"/>
                </a:solidFill>
                <a:latin typeface="Open Sans"/>
              </a:rPr>
              <a:t>Source(s): </a:t>
            </a:r>
            <a:r>
              <a:rPr sz="600" b="0">
                <a:solidFill>
                  <a:srgbClr val="0F2741"/>
                </a:solidFill>
                <a:latin typeface="Open Sans"/>
              </a:rPr>
              <a:t>DataReportal; Meltwater; Meta Platforms;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3"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104200" y="1882800"/>
            <a:ext cx="19812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Audience in millions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22</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countries based on Instagram audience size as of January 2023 (in millions)</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Countries with the most Instagram users 2023</a:t>
            </a:r>
          </a:p>
        </p:txBody>
      </p:sp>
    </p:spTree>
  </p:cSld>
  <p:clrMapOvr>
    <a:masterClrMapping/>
  </p:clrMapOvr>
  <p:transition/>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Brunei was the country with the highest Instagram audience reach with 74 percent. Kazakhstan also had a high Instagram audience reach, with 72.5 percent of the population using the social network. Although Portugal and Kuwait saw a relatively lower audience reach, the photo and video sharing platform still reached more than half of the population in both countries.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13 years and older; based on addressable ad audience</a:t>
            </a:r>
          </a:p>
          <a:p>
            <a:r>
              <a:rPr sz="600" b="1">
                <a:solidFill>
                  <a:srgbClr val="0F2741"/>
                </a:solidFill>
                <a:latin typeface="Open Sans"/>
              </a:rPr>
              <a:t>Source(s): </a:t>
            </a:r>
            <a:r>
              <a:rPr sz="600" b="0">
                <a:solidFill>
                  <a:srgbClr val="0F2741"/>
                </a:solidFill>
                <a:latin typeface="Open Sans"/>
              </a:rPr>
              <a:t>DataReportal; Meltwater; Meta Platforms;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4"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123250" y="1882800"/>
            <a:ext cx="19431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population</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23</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Countries and territories with the highest Instagram audience reach as of January 2023</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Countries with biggest Instagram reach 2023</a:t>
            </a:r>
          </a:p>
        </p:txBody>
      </p:sp>
    </p:spTree>
  </p:cSld>
  <p:clrMapOvr>
    <a:masterClrMapping/>
  </p:clrMapOvr>
  <p:transition/>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almost 31 percent of global Instagram audiences were aged between 18 and 24 years, and 30.3 percent of users were aged between 25 and 34 years. Overall, 15.7 percent of users belonged to the 35 to 44 year age group.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13 years and older; based on addressable ad audience</a:t>
            </a:r>
          </a:p>
          <a:p>
            <a:r>
              <a:rPr sz="600" b="1">
                <a:solidFill>
                  <a:srgbClr val="0F2741"/>
                </a:solidFill>
                <a:latin typeface="Open Sans"/>
              </a:rPr>
              <a:t>Source(s): </a:t>
            </a:r>
            <a:r>
              <a:rPr sz="600" b="0">
                <a:solidFill>
                  <a:srgbClr val="0F2741"/>
                </a:solidFill>
                <a:latin typeface="Open Sans"/>
              </a:rPr>
              <a:t>DataReportal; Instagram; Meltwater; Meta Platforms;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Distribution of Instagram users worldwide as of January 2023, by age group</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Instagram: distribution of global audiences 2023, by age group</a:t>
            </a:r>
          </a:p>
        </p:txBody>
      </p:sp>
    </p:spTree>
  </p:cSld>
  <p:clrMapOvr>
    <a:masterClrMapping/>
  </p:clrMapOvr>
  <p:transition/>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51.8 percent of Instagram's audience were men. Additionally, the social media app was most popular amongst younger audiences, with the majority of users being aged between 18 and 24 years.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13 years and older; refers to addressable ad audience</a:t>
            </a:r>
          </a:p>
          <a:p>
            <a:r>
              <a:rPr sz="600" b="1">
                <a:solidFill>
                  <a:srgbClr val="0F2741"/>
                </a:solidFill>
                <a:latin typeface="Open Sans"/>
              </a:rPr>
              <a:t>Source(s): </a:t>
            </a:r>
            <a:r>
              <a:rPr sz="600" b="0">
                <a:solidFill>
                  <a:srgbClr val="0F2741"/>
                </a:solidFill>
                <a:latin typeface="Open Sans"/>
              </a:rPr>
              <a:t>DataReportal; Meltwater; Meta Platforms;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25</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Distribution of Instagram users worldwide as of January 2023, by gender</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Instagram: distribution of global audiences 2023, by gender</a:t>
            </a:r>
          </a:p>
        </p:txBody>
      </p:sp>
    </p:spTree>
  </p:cSld>
  <p:clrMapOvr>
    <a:masterClrMapping/>
  </p:clrMapOvr>
  <p:transition/>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almost 17 percent of global active Instagram users were men between the ages of 18 and 24 years. More than half of the global Instagram population worldwide is aged 34 years or younger.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13 years and older; based on addressable ad audience</a:t>
            </a:r>
          </a:p>
          <a:p>
            <a:r>
              <a:rPr sz="600" b="1">
                <a:solidFill>
                  <a:srgbClr val="0F2741"/>
                </a:solidFill>
                <a:latin typeface="Open Sans"/>
              </a:rPr>
              <a:t>Source(s): </a:t>
            </a:r>
            <a:r>
              <a:rPr sz="600" b="0">
                <a:solidFill>
                  <a:srgbClr val="0F2741"/>
                </a:solidFill>
                <a:latin typeface="Open Sans"/>
              </a:rPr>
              <a:t>DataReportal; Instagram; Meltwater; Meta Platforms;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26</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Distribution of Instagram users worldwide as of January 2023, by age and gender</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Instagram: distribution of global audiences 2023, by age and gender</a:t>
            </a:r>
          </a:p>
        </p:txBody>
      </p:sp>
    </p:spTree>
  </p:cSld>
  <p:clrMapOvr>
    <a:masterClrMapping/>
  </p:clrMapOvr>
  <p:transition/>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Snapchat</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04</a:t>
            </a:r>
          </a:p>
        </p:txBody>
      </p:sp>
    </p:spTree>
  </p:cSld>
  <p:clrMapOvr>
    <a:masterClrMapping/>
  </p:clrMapOvr>
  <p:transition/>
  <p:timing/>
</p:sld>
</file>

<file path=ppt/slides/slide2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April 2022, India had the biggest Snapchat user base in the world, with an audience of 144.35 million users. The United States ranked in second place with a Snapchat audience base of over 107 million users. The photo-sharing platform is projected to reach nearly 400 million global users by 2024.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April 2022; 13 years and older; based on addressable ad audience</a:t>
            </a:r>
          </a:p>
          <a:p>
            <a:r>
              <a:rPr sz="600" b="1">
                <a:solidFill>
                  <a:srgbClr val="0F2741"/>
                </a:solidFill>
                <a:latin typeface="Open Sans"/>
              </a:rPr>
              <a:t>Source(s): </a:t>
            </a:r>
            <a:r>
              <a:rPr sz="600" b="0">
                <a:solidFill>
                  <a:srgbClr val="0F2741"/>
                </a:solidFill>
                <a:latin typeface="Open Sans"/>
              </a:rPr>
              <a:t>DataReportal; Hootsuite; Snap Inc.;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5"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4907350" y="1882800"/>
            <a:ext cx="23749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Audience size in millions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28</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countries based on Snapchat audience size as of April 2022 (in millions)</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Countries with the most Snapchat users 2022</a:t>
            </a:r>
          </a:p>
        </p:txBody>
      </p:sp>
    </p:spTree>
  </p:cSld>
  <p:clrMapOvr>
    <a:masterClrMapping/>
  </p:clrMapOvr>
  <p:transition/>
  <p:timing/>
</p:sld>
</file>

<file path=ppt/slides/slide3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Q1 2014 to Q4 2022; quarterly average</a:t>
            </a:r>
          </a:p>
          <a:p>
            <a:r>
              <a:rPr sz="600" b="1">
                <a:solidFill>
                  <a:srgbClr val="0F2741"/>
                </a:solidFill>
                <a:latin typeface="Open Sans"/>
              </a:rPr>
              <a:t>Source(s): </a:t>
            </a:r>
            <a:r>
              <a:rPr sz="600" b="0">
                <a:solidFill>
                  <a:srgbClr val="0F2741"/>
                </a:solidFill>
                <a:latin typeface="Open Sans"/>
              </a:rPr>
              <a:t>Snap Inc.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29</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daily active Snapchat users from 1st quarter 2014 to 4th quarter 2022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Daily active users of Snapchat 2014-2022</a:t>
            </a:r>
          </a:p>
        </p:txBody>
      </p:sp>
    </p:spTree>
  </p:cSld>
  <p:clrMapOvr>
    <a:masterClrMapping/>
  </p:clrMapOvr>
  <p:transition/>
  <p:timing/>
</p:sld>
</file>

<file path=ppt/slides/slide3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During the final quarter of 2022, Snapchat had 100 million daily active users in North America and 92 million DAU in Europe. Snapchat's largest audience increase came from users outside of North America and Europe, amounting to 183 million users in the fourth quarter of 2022, up from 175 million in the third quarter. During the latest reported period, the photo and video sharing app claimed 375 million daily active users worldwide.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Q1 2014 to Q4 2022; quarterly average</a:t>
            </a:r>
          </a:p>
          <a:p>
            <a:r>
              <a:rPr sz="600" b="1">
                <a:solidFill>
                  <a:srgbClr val="0F2741"/>
                </a:solidFill>
                <a:latin typeface="Open Sans"/>
              </a:rPr>
              <a:t>Source(s): </a:t>
            </a:r>
            <a:r>
              <a:rPr sz="600" b="0">
                <a:solidFill>
                  <a:srgbClr val="0F2741"/>
                </a:solidFill>
                <a:latin typeface="Open Sans"/>
              </a:rPr>
              <a:t>Snap Inc.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30</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daily active Snapchat users from 1st quarter 2014 to 4th quarter 2022, by region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Daily active users of Snapchat 2014-2022, by region</a:t>
            </a:r>
          </a:p>
        </p:txBody>
      </p:sp>
    </p:spTree>
  </p:cSld>
  <p:clrMapOvr>
    <a:masterClrMapping/>
  </p:clrMapOvr>
  <p:transition/>
  <p:timing/>
</p:sld>
</file>

<file path=ppt/slides/slide3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the fourth quarter of 2022, Snap generated close to 1.3 billion U.S. dollars in revenue, up from 1.1 billion in the third quarter of 2022. The final quarter of 2022 saw Snap's highest ever quarterly revenue, and 2022 saw the company's highest ever annual revenue.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Q1 2015 to Q4 2022</a:t>
            </a:r>
          </a:p>
          <a:p>
            <a:r>
              <a:rPr sz="600" b="1">
                <a:solidFill>
                  <a:srgbClr val="0F2741"/>
                </a:solidFill>
                <a:latin typeface="Open Sans"/>
              </a:rPr>
              <a:t>Source(s): </a:t>
            </a:r>
            <a:r>
              <a:rPr sz="600" b="0">
                <a:solidFill>
                  <a:srgbClr val="0F2741"/>
                </a:solidFill>
                <a:latin typeface="Open Sans"/>
              </a:rPr>
              <a:t>Snap Inc.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31</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Global revenue of Snap from 1st quarter 2015 to 4th quarter 2022 (in million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Snap worldwide quarterly revenue 2015-2022</a:t>
            </a:r>
          </a:p>
        </p:txBody>
      </p:sp>
    </p:spTree>
  </p:cSld>
  <p:clrMapOvr>
    <a:masterClrMapping/>
  </p:clrMapOvr>
  <p:transition/>
  <p:timing/>
</p:sld>
</file>

<file path=ppt/slides/slide3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the third quarter of 2022, social media network Snap's net loss was 360 million U.S. dollars. In the third quarter of 2021, Snap's net loss amounted to 72 million USD. In the most recent quarter, the company generated almost 1.3 billion USD in global revenue.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Q1 2015 to Q4 2022</a:t>
            </a:r>
          </a:p>
          <a:p>
            <a:r>
              <a:rPr sz="600" b="1">
                <a:solidFill>
                  <a:srgbClr val="0F2741"/>
                </a:solidFill>
                <a:latin typeface="Open Sans"/>
              </a:rPr>
              <a:t>Source(s): </a:t>
            </a:r>
            <a:r>
              <a:rPr sz="600" b="0">
                <a:solidFill>
                  <a:srgbClr val="0F2741"/>
                </a:solidFill>
                <a:latin typeface="Open Sans"/>
              </a:rPr>
              <a:t>Snap Inc.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32</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Global net income of Snap from 1st quarter 2015 to 4th quarter 2022 (in million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Snap worldwide net income/loss 2015-2022, by quarter</a:t>
            </a:r>
          </a:p>
        </p:txBody>
      </p:sp>
    </p:spTree>
  </p:cSld>
  <p:clrMapOvr>
    <a:masterClrMapping/>
  </p:clrMapOvr>
  <p:transition/>
  <p:timing/>
</p:sld>
</file>

<file path=ppt/slides/slide3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the fourth quarter of 2022, Snap's average revenue per user (ARPU) stood at 3.47 U.S. dollars, up from 3.11 USD in the previous quarter. During the final quarter of 2021, the company's ARPU peaked at 4.06 USD. Snapchat has around 375 million worldwide daily active users (DAU) as of the final quarter of 2022.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Q1 2016 to Q4 2022; global ARPU</a:t>
            </a:r>
          </a:p>
          <a:p>
            <a:r>
              <a:rPr sz="600" b="1">
                <a:solidFill>
                  <a:srgbClr val="0F2741"/>
                </a:solidFill>
                <a:latin typeface="Open Sans"/>
              </a:rPr>
              <a:t>Source(s): </a:t>
            </a:r>
            <a:r>
              <a:rPr sz="600" b="0">
                <a:solidFill>
                  <a:srgbClr val="0F2741"/>
                </a:solidFill>
                <a:latin typeface="Open Sans"/>
              </a:rPr>
              <a:t>Snap Inc.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33</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Snap's average revenue per user from 1st quarter 2016 to 4th quarter 2022 (in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Snap quarterly ARPU 2016-2022</a:t>
            </a:r>
          </a:p>
        </p:txBody>
      </p:sp>
    </p:spTree>
  </p:cSld>
  <p:clrMapOvr>
    <a:masterClrMapping/>
  </p:clrMapOvr>
  <p:transition/>
  <p:timing/>
</p:sld>
</file>

<file path=ppt/slides/slide3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Snapchat's average revenue per user (ARPU) was highest in North America in the fourth quarter of 2022, at 8.77 U.S. dollars. In Europe, this figure was 2.38 USD per user, while for the rest of the world it was 1.1 USD. Overall, Snapchat's worldwide ARPU in Q4 2022 was 3.47 USD, up from 3.11 USD in the previous quarter.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Q1 2016 to Q4 2022</a:t>
            </a:r>
          </a:p>
          <a:p>
            <a:r>
              <a:rPr sz="600" b="1">
                <a:solidFill>
                  <a:srgbClr val="0F2741"/>
                </a:solidFill>
                <a:latin typeface="Open Sans"/>
              </a:rPr>
              <a:t>Source(s): </a:t>
            </a:r>
            <a:r>
              <a:rPr sz="600" b="0">
                <a:solidFill>
                  <a:srgbClr val="0F2741"/>
                </a:solidFill>
                <a:latin typeface="Open Sans"/>
              </a:rPr>
              <a:t>Snap Inc.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Snap's average quarterly revenue per user from 1st quarter 2016 to 4th quarter 2022, by region (in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Snap quarterly ARPU 2016-2022, by region</a:t>
            </a:r>
          </a:p>
        </p:txBody>
      </p:sp>
    </p:spTree>
  </p:cSld>
  <p:clrMapOvr>
    <a:masterClrMapping/>
  </p:clrMapOvr>
  <p:transition/>
  <p:timing/>
</p:sld>
</file>

<file path=ppt/slides/slide3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TikTok</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05</a:t>
            </a:r>
          </a:p>
        </p:txBody>
      </p:sp>
    </p:spTree>
  </p:cSld>
  <p:clrMapOvr>
    <a:masterClrMapping/>
  </p:clrMapOvr>
  <p:transition/>
  <p:timing/>
</p:sld>
</file>

<file path=ppt/slides/slide3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January 2022, video sharing app TikTok had over 30 million monthly active users via Android devices worldwide, down from an all-time high over 184 million monthly active users in May 2020. TikTok is one of the most downloaded apps in the Google Play store. In June 2020, TikTok was banned in India, one of the biggest Android mobile markets worldwide.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2019 to January 2022; Android only</a:t>
            </a:r>
          </a:p>
          <a:p>
            <a:r>
              <a:rPr sz="600" b="1">
                <a:solidFill>
                  <a:srgbClr val="0F2741"/>
                </a:solidFill>
                <a:latin typeface="Open Sans"/>
              </a:rPr>
              <a:t>Source(s): </a:t>
            </a:r>
            <a:r>
              <a:rPr sz="600" b="0">
                <a:solidFill>
                  <a:srgbClr val="0F2741"/>
                </a:solidFill>
                <a:latin typeface="Open Sans"/>
              </a:rPr>
              <a:t>Airnow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36</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monthly active TikTok users via Android worldwide from January 2019 to January 2022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TikTok Android MAU 2019-2022</a:t>
            </a:r>
          </a:p>
        </p:txBody>
      </p:sp>
    </p:spTree>
  </p:cSld>
  <p:clrMapOvr>
    <a:masterClrMapping/>
  </p:clrMapOvr>
  <p:transition/>
  <p:timing/>
</p:sld>
</file>

<file path=ppt/slides/slide3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January 2022, video sharing app TikTok had approximately 120.5 million monthly active users via iOS devices worldwide. TikTok is one of the most downloaded entertainment apps in the Apple App Store.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2019 to January 2022; iPhone and iPad combined</a:t>
            </a:r>
          </a:p>
          <a:p>
            <a:r>
              <a:rPr sz="600" b="1">
                <a:solidFill>
                  <a:srgbClr val="0F2741"/>
                </a:solidFill>
                <a:latin typeface="Open Sans"/>
              </a:rPr>
              <a:t>Source(s): </a:t>
            </a:r>
            <a:r>
              <a:rPr sz="600" b="0">
                <a:solidFill>
                  <a:srgbClr val="0F2741"/>
                </a:solidFill>
                <a:latin typeface="Open Sans"/>
              </a:rPr>
              <a:t>Airnow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37</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TikTok monthly active users (MAU) via iOS worldwide from January 2019 to January 2022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TikTok iOS MAU 2019-2022</a:t>
            </a:r>
          </a:p>
        </p:txBody>
      </p:sp>
    </p:spTree>
  </p:cSld>
  <p:clrMapOvr>
    <a:masterClrMapping/>
  </p:clrMapOvr>
  <p:transition/>
  <p:timing/>
</p:sld>
</file>

<file path=ppt/slides/slide3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April 2022, almost half of TikTok users in the United States were between 18 and 34 years, making up the largest demographic group for the platform. TikTok users aged between 12 and 17 made up approximately 17.7 percent of the popular social video app user base in the United States, while 2.5 percent of TikTok users in the country were 11 years old or younger. While TikTok requires users to be at least 12 years old to have a profile, kids and younger children can access the TikTok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April 2022; monthly active users</a:t>
            </a:r>
          </a:p>
          <a:p>
            <a:r>
              <a:rPr sz="600" b="1">
                <a:solidFill>
                  <a:srgbClr val="0F2741"/>
                </a:solidFill>
                <a:latin typeface="Open Sans"/>
              </a:rPr>
              <a:t>Source(s): </a:t>
            </a:r>
            <a:r>
              <a:rPr sz="600" b="0">
                <a:solidFill>
                  <a:srgbClr val="0F2741"/>
                </a:solidFill>
                <a:latin typeface="Open Sans"/>
              </a:rPr>
              <a:t>eMarketer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38</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Distribution of monthly active TikTok users in the United States as of April 2022, by age group</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TikTok usage distribution in the U.S. 2022, by age</a:t>
            </a:r>
          </a:p>
        </p:txBody>
      </p:sp>
    </p:spTree>
  </p:cSld>
  <p:clrMapOvr>
    <a:masterClrMapping/>
  </p:clrMapOvr>
  <p:transition/>
  <p:timing/>
</p:sld>
</file>

<file path=ppt/slides/slide4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March 2021, female users accounted for 61 percent of TikTok's active user accounts in the United States. According to App Ape, male users only accounted for 39 percent of the video sharing app's user base on the Android platform.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March 2021; Monthly active users only; Android users</a:t>
            </a:r>
          </a:p>
          <a:p>
            <a:r>
              <a:rPr sz="600" b="1">
                <a:solidFill>
                  <a:srgbClr val="0F2741"/>
                </a:solidFill>
                <a:latin typeface="Open Sans"/>
              </a:rPr>
              <a:t>Source(s): </a:t>
            </a:r>
            <a:r>
              <a:rPr sz="600" b="0">
                <a:solidFill>
                  <a:srgbClr val="0F2741"/>
                </a:solidFill>
                <a:latin typeface="Open Sans"/>
              </a:rPr>
              <a:t>App Ape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39</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Distribution of monthly active TikTok users in the United States as of March 2021, by gender</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TikTok MAU user ratio in the U.S. 2021, by gender</a:t>
            </a:r>
          </a:p>
        </p:txBody>
      </p:sp>
    </p:spTree>
  </p:cSld>
  <p:clrMapOvr>
    <a:masterClrMapping/>
  </p:clrMapOvr>
  <p:transition/>
  <p:timing/>
</p:sld>
</file>

<file path=ppt/slides/slide4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Advertising</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06</a:t>
            </a:r>
          </a:p>
        </p:txBody>
      </p:sp>
    </p:spTree>
  </p:cSld>
  <p:clrMapOvr>
    <a:masterClrMapping/>
  </p:clrMapOvr>
  <p:transition/>
  <p:timing/>
</p:sld>
</file>

<file path=ppt/slides/slide4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mobile social media ad spend in the United States is expected to grow from 53.6 billion U.S. dollars in 2021 to 108.5 billion in 2026. An overview of all Digital Markets can be found here.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a:t>
            </a:r>
          </a:p>
          <a:p>
            <a:r>
              <a:rPr sz="600" b="1">
                <a:solidFill>
                  <a:srgbClr val="0F2741"/>
                </a:solidFill>
                <a:latin typeface="Open Sans"/>
              </a:rPr>
              <a:t>Source(s): </a:t>
            </a:r>
            <a:r>
              <a:rPr sz="600" b="0">
                <a:solidFill>
                  <a:srgbClr val="0F2741"/>
                </a:solidFill>
                <a:latin typeface="Open Sans"/>
              </a:rPr>
              <a:t>Statista; Statista Digital Market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41</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Social media advertising spending in the United States from 2017 to 2026, by device (in billion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Digital Market Outlook: social media ad spend in the U.S. 2017-2026, by device</a:t>
            </a:r>
          </a:p>
        </p:txBody>
      </p:sp>
    </p:spTree>
  </p:cSld>
  <p:clrMapOvr>
    <a:masterClrMapping/>
  </p:clrMapOvr>
  <p:transition/>
  <p:timing/>
</p:sld>
</file>

<file path=ppt/slides/slide4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mobile social media ad spend per internet user in the United States is expected to grow from 177.4 U.S. dollars in 2021 to 334 dollars in 2026. An overview of all Digital Markets can be found here.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a:t>
            </a:r>
          </a:p>
          <a:p>
            <a:r>
              <a:rPr sz="600" b="1">
                <a:solidFill>
                  <a:srgbClr val="0F2741"/>
                </a:solidFill>
                <a:latin typeface="Open Sans"/>
              </a:rPr>
              <a:t>Source(s): </a:t>
            </a:r>
            <a:r>
              <a:rPr sz="600" b="0">
                <a:solidFill>
                  <a:srgbClr val="0F2741"/>
                </a:solidFill>
                <a:latin typeface="Open Sans"/>
              </a:rPr>
              <a:t>Statista; Statista Digital Market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42</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Social media advertising average spending per internet user in the United States from 2017 to 2026, by device (in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Digital Market Outlook: SM ad spend per internet user U.S. 2017-2026, by device</a:t>
            </a:r>
          </a:p>
        </p:txBody>
      </p:sp>
    </p:spTree>
  </p:cSld>
  <p:clrMapOvr>
    <a:masterClrMapping/>
  </p:clrMapOvr>
  <p:transition/>
  <p:timing/>
</p:sld>
</file>

<file path=ppt/slides/slide4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mobile social media ad spend in Canada is expected to grow from 2.4 billion U.S. dollars in 2021 to 5.45 billion dollars in 2026. An overview of all Digital Markets can be found here.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endParaRPr sz="600" b="0">
              <a:solidFill>
                <a:srgbClr val="0F2741"/>
              </a:solidFill>
              <a:latin typeface="Open Sans"/>
            </a:endParaRPr>
          </a:p>
          <a:p>
            <a:r>
              <a:rPr sz="600" b="1">
                <a:solidFill>
                  <a:srgbClr val="0F2741"/>
                </a:solidFill>
                <a:latin typeface="Open Sans"/>
              </a:rPr>
              <a:t>Source(s): </a:t>
            </a:r>
            <a:r>
              <a:rPr sz="600" b="0">
                <a:solidFill>
                  <a:srgbClr val="0F2741"/>
                </a:solidFill>
                <a:latin typeface="Open Sans"/>
              </a:rPr>
              <a:t>Statista; Statista Digital Market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43</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Social media advertising spending in Canada from 2017 to 2026, by device (in billion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Digital Market Outlook: social media ad spend in Canada 2017-2026, by device</a:t>
            </a:r>
          </a:p>
        </p:txBody>
      </p:sp>
    </p:spTree>
  </p:cSld>
  <p:clrMapOvr>
    <a:masterClrMapping/>
  </p:clrMapOvr>
  <p:transition/>
  <p:timing/>
</p:sld>
</file>

<file path=ppt/slides/slide4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mobile social ad spending in the United Kingdom is expected to grow from 6.37 billion U.S. dollars in 2021 to approximately 12.42 billion dollars in 2026. An overview of all Digital Markets can be found here.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Kingdom</a:t>
            </a:r>
          </a:p>
          <a:p>
            <a:r>
              <a:rPr sz="600" b="1">
                <a:solidFill>
                  <a:srgbClr val="0F2741"/>
                </a:solidFill>
                <a:latin typeface="Open Sans"/>
              </a:rPr>
              <a:t>Source(s): </a:t>
            </a:r>
            <a:r>
              <a:rPr sz="600" b="0">
                <a:solidFill>
                  <a:srgbClr val="0F2741"/>
                </a:solidFill>
                <a:latin typeface="Open Sans"/>
              </a:rPr>
              <a:t>Statista; Statista Digital Market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Social media advertising spending in United Kingdom (UK) from 2017 to 2026, by device (in billion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Digital Market Outlook: social media ad spend in the UK 2017-2026, by device</a:t>
            </a:r>
          </a:p>
        </p:txBody>
      </p:sp>
    </p:spTree>
  </p:cSld>
  <p:clrMapOvr>
    <a:masterClrMapping/>
  </p:clrMapOvr>
  <p:transition/>
  <p:timing/>
</p:sld>
</file>

<file path=ppt/slides/slide4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mobile social media ad spend per internet user in the UK is expected to grow from 101.3 U.S. dollars in 2021 to 190.1 dollars in 2026. An overview of all Digital Markets can be found here.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Kingdom</a:t>
            </a:r>
          </a:p>
          <a:p>
            <a:r>
              <a:rPr sz="600" b="1">
                <a:solidFill>
                  <a:srgbClr val="0F2741"/>
                </a:solidFill>
                <a:latin typeface="Open Sans"/>
              </a:rPr>
              <a:t>Source(s): </a:t>
            </a:r>
            <a:r>
              <a:rPr sz="600" b="0">
                <a:solidFill>
                  <a:srgbClr val="0F2741"/>
                </a:solidFill>
                <a:latin typeface="Open Sans"/>
              </a:rPr>
              <a:t>Statista; Statista Digital Market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45</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Social media advertising average spending per internet user in the United Kingdom (UK) from 2017 to 2026, by device (in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Digital Market Outlook: SM ad spend per internet user UK 2017-2026, by device</a:t>
            </a:r>
          </a:p>
        </p:txBody>
      </p:sp>
    </p:spTree>
  </p:cSld>
  <p:clrMapOvr>
    <a:masterClrMapping/>
  </p:clrMapOvr>
  <p:transition/>
  <p:timing/>
</p:sld>
</file>

<file path=ppt/slides/slide4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6"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5"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Sources</a:t>
            </a:r>
          </a:p>
        </p:txBody>
      </p:sp>
      <p:sp>
        <p:nvSpPr>
          <p:cNvPr id="3"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46</a:t>
            </a:r>
          </a:p>
        </p:txBody>
      </p:sp>
      <p:sp>
        <p:nvSpPr>
          <p:cNvPr id="7" name="New shape" title=""/>
          <p:cNvSpPr/>
          <p:nvPr/>
        </p:nvSpPr>
        <p:spPr>
          <a:xfrm>
            <a:off x="496800" y="188280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AdTrue</a:t>
            </a:r>
          </a:p>
        </p:txBody>
      </p:sp>
      <p:sp>
        <p:nvSpPr>
          <p:cNvPr id="8" name="New shape" title=""/>
          <p:cNvSpPr/>
          <p:nvPr/>
        </p:nvSpPr>
        <p:spPr>
          <a:xfrm>
            <a:off x="496800" y="205274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Airnow</a:t>
            </a:r>
          </a:p>
        </p:txBody>
      </p:sp>
      <p:sp>
        <p:nvSpPr>
          <p:cNvPr id="9" name="New shape" title=""/>
          <p:cNvSpPr/>
          <p:nvPr/>
        </p:nvSpPr>
        <p:spPr>
          <a:xfrm>
            <a:off x="496800" y="222268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App Ape</a:t>
            </a:r>
          </a:p>
        </p:txBody>
      </p:sp>
      <p:sp>
        <p:nvSpPr>
          <p:cNvPr id="10" name="New shape" title=""/>
          <p:cNvSpPr/>
          <p:nvPr/>
        </p:nvSpPr>
        <p:spPr>
          <a:xfrm>
            <a:off x="496800" y="239262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DataReportal</a:t>
            </a:r>
          </a:p>
        </p:txBody>
      </p:sp>
      <p:sp>
        <p:nvSpPr>
          <p:cNvPr id="11" name="New shape" title=""/>
          <p:cNvSpPr/>
          <p:nvPr/>
        </p:nvSpPr>
        <p:spPr>
          <a:xfrm>
            <a:off x="496800" y="256257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Domo</a:t>
            </a:r>
          </a:p>
        </p:txBody>
      </p:sp>
      <p:sp>
        <p:nvSpPr>
          <p:cNvPr id="12" name="New shape" title=""/>
          <p:cNvSpPr/>
          <p:nvPr/>
        </p:nvSpPr>
        <p:spPr>
          <a:xfrm>
            <a:off x="496800" y="273251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eMarketer</a:t>
            </a:r>
          </a:p>
        </p:txBody>
      </p:sp>
      <p:sp>
        <p:nvSpPr>
          <p:cNvPr id="13" name="New shape" title=""/>
          <p:cNvSpPr/>
          <p:nvPr/>
        </p:nvSpPr>
        <p:spPr>
          <a:xfrm>
            <a:off x="496800" y="290245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Hootsuite</a:t>
            </a:r>
          </a:p>
        </p:txBody>
      </p:sp>
      <p:sp>
        <p:nvSpPr>
          <p:cNvPr id="14" name="New shape" title=""/>
          <p:cNvSpPr/>
          <p:nvPr/>
        </p:nvSpPr>
        <p:spPr>
          <a:xfrm>
            <a:off x="496800" y="307240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Instagram</a:t>
            </a:r>
          </a:p>
        </p:txBody>
      </p:sp>
      <p:sp>
        <p:nvSpPr>
          <p:cNvPr id="15" name="New shape" title=""/>
          <p:cNvSpPr/>
          <p:nvPr/>
        </p:nvSpPr>
        <p:spPr>
          <a:xfrm>
            <a:off x="496800" y="3242345"/>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Meltwater</a:t>
            </a:r>
          </a:p>
        </p:txBody>
      </p:sp>
      <p:sp>
        <p:nvSpPr>
          <p:cNvPr id="16" name="New shape" title=""/>
          <p:cNvSpPr/>
          <p:nvPr/>
        </p:nvSpPr>
        <p:spPr>
          <a:xfrm>
            <a:off x="496800" y="3412288"/>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Meta Platforms</a:t>
            </a:r>
          </a:p>
        </p:txBody>
      </p:sp>
      <p:sp>
        <p:nvSpPr>
          <p:cNvPr id="17" name="New shape" title=""/>
          <p:cNvSpPr/>
          <p:nvPr/>
        </p:nvSpPr>
        <p:spPr>
          <a:xfrm>
            <a:off x="496800" y="3582231"/>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Sensor Tower</a:t>
            </a:r>
          </a:p>
        </p:txBody>
      </p:sp>
      <p:sp>
        <p:nvSpPr>
          <p:cNvPr id="18" name="New shape" title=""/>
          <p:cNvSpPr/>
          <p:nvPr/>
        </p:nvSpPr>
        <p:spPr>
          <a:xfrm>
            <a:off x="496800" y="3752174"/>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Snap Inc.</a:t>
            </a:r>
          </a:p>
        </p:txBody>
      </p:sp>
      <p:sp>
        <p:nvSpPr>
          <p:cNvPr id="19" name="New shape" title=""/>
          <p:cNvSpPr/>
          <p:nvPr/>
        </p:nvSpPr>
        <p:spPr>
          <a:xfrm>
            <a:off x="496800" y="3922117"/>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Social Blade</a:t>
            </a:r>
          </a:p>
        </p:txBody>
      </p:sp>
      <p:sp>
        <p:nvSpPr>
          <p:cNvPr id="20" name="New shape" title=""/>
          <p:cNvSpPr/>
          <p:nvPr/>
        </p:nvSpPr>
        <p:spPr>
          <a:xfrm>
            <a:off x="496800" y="409206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Statista</a:t>
            </a:r>
          </a:p>
        </p:txBody>
      </p:sp>
      <p:sp>
        <p:nvSpPr>
          <p:cNvPr id="21" name="New shape" title=""/>
          <p:cNvSpPr/>
          <p:nvPr/>
        </p:nvSpPr>
        <p:spPr>
          <a:xfrm>
            <a:off x="496800" y="426200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Statista Digital Market Insights</a:t>
            </a:r>
          </a:p>
        </p:txBody>
      </p:sp>
      <p:sp>
        <p:nvSpPr>
          <p:cNvPr id="22" name="New shape" title=""/>
          <p:cNvSpPr/>
          <p:nvPr/>
        </p:nvSpPr>
        <p:spPr>
          <a:xfrm>
            <a:off x="496800" y="4431947"/>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Udonis</a:t>
            </a:r>
          </a:p>
        </p:txBody>
      </p:sp>
      <p:sp>
        <p:nvSpPr>
          <p:cNvPr id="23" name="New shape" title=""/>
          <p:cNvSpPr/>
          <p:nvPr/>
        </p:nvSpPr>
        <p:spPr>
          <a:xfrm>
            <a:off x="496800" y="460189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Various sources</a:t>
            </a:r>
          </a:p>
        </p:txBody>
      </p:sp>
      <p:sp>
        <p:nvSpPr>
          <p:cNvPr id="24" name="New shape" title=""/>
          <p:cNvSpPr/>
          <p:nvPr/>
        </p:nvSpPr>
        <p:spPr>
          <a:xfrm>
            <a:off x="496800" y="477183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Various sources (Company data)</a:t>
            </a:r>
          </a:p>
        </p:txBody>
      </p:sp>
      <p:sp>
        <p:nvSpPr>
          <p:cNvPr id="25" name="New shape" title=""/>
          <p:cNvSpPr/>
          <p:nvPr/>
        </p:nvSpPr>
        <p:spPr>
          <a:xfrm>
            <a:off x="496800" y="494177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We Are Social</a:t>
            </a:r>
          </a:p>
        </p:txBody>
      </p:sp>
    </p:spTree>
  </p:cSld>
  <p:clrMapOvr>
    <a:masterClrMapping/>
  </p:clrMapOvr>
  <p:transition/>
  <p:timing/>
</p:sld>
</file>

<file path=ppt/tags/tag1.xml><?xml version="1.0" encoding="utf-8"?>
<p:tagLst xmlns:p="http://schemas.openxmlformats.org/presentationml/2006/main">
  <p:tag name="AS_NET" val="4.0.30319.42000"/>
  <p:tag name="AS_OS" val="Microsoft Windows NT 6.2.9200.0"/>
  <p:tag name="AS_RELEASE_DATE" val="2022.07.14"/>
  <p:tag name="AS_TITLE" val="Aspose.Slides for .NET 4.0 Client Profile"/>
  <p:tag name="AS_VERSION" val="22.7"/>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resentationFormat>On-screen Show (4:3)</PresentationFormat>
  <Paragraphs>356</Paragraphs>
  <Slides>47</Slides>
  <Notes>0</Notes>
  <TotalTime>1</TotalTime>
  <HiddenSlides>0</HiddenSlides>
  <MMClips>0</MMClips>
  <ScaleCrop>0</ScaleCrop>
  <HeadingPairs>
    <vt:vector baseType="variant" size="6">
      <vt:variant>
        <vt:lpstr>Fonts used</vt:lpstr>
      </vt:variant>
      <vt:variant>
        <vt:i4>4</vt:i4>
      </vt:variant>
      <vt:variant>
        <vt:lpstr>Theme</vt:lpstr>
      </vt:variant>
      <vt:variant>
        <vt:i4>1</vt:i4>
      </vt:variant>
      <vt:variant>
        <vt:lpstr>Slide Titles</vt:lpstr>
      </vt:variant>
      <vt:variant>
        <vt:i4>47</vt:i4>
      </vt:variant>
    </vt:vector>
  </HeadingPairs>
  <TitlesOfParts>
    <vt:vector baseType="lpstr" size="52">
      <vt:lpstr>Arial</vt:lpstr>
      <vt:lpstr>Calibri</vt:lpstr>
      <vt:lpstr>Open Sans</vt:lpstr>
      <vt:lpstr>Open Sans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22.0700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2023-03-02T21:05:01.386</cp:lastPrinted>
  <dcterms:created xsi:type="dcterms:W3CDTF">2023-03-02T20:05:01Z</dcterms:created>
  <dcterms:modified xsi:type="dcterms:W3CDTF">2023-03-02T20:05:01Z</dcterms:modified>
</cp:coreProperties>
</file>