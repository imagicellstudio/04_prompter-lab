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emf" ContentType="image/x-emf"/>
  <Default Extension="png" ContentType="image/png"/>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2.7-->
<p:presentation xmlns:r="http://schemas.openxmlformats.org/officeDocument/2006/relationships" xmlns:a="http://schemas.openxmlformats.org/drawingml/2006/main" xmlns:p="http://schemas.openxmlformats.org/presentationml/2006/main" saveSubsetFonts="1">
  <p:sldMasterIdLst>
    <p:sldMasterId id="2147483648" r:id="rId1"/>
  </p:sldMasterIdLst>
  <p:sldIdLst>
    <p:sldId id="258" r:id="rId2"/>
    <p:sldId id="260" r:id="rId3"/>
    <p:sldId id="262" r:id="rId4"/>
    <p:sldId id="264" r:id="rId5"/>
    <p:sldId id="266" r:id="rId6"/>
    <p:sldId id="268" r:id="rId7"/>
    <p:sldId id="270" r:id="rId8"/>
    <p:sldId id="272" r:id="rId9"/>
    <p:sldId id="274" r:id="rId10"/>
    <p:sldId id="276" r:id="rId11"/>
    <p:sldId id="278" r:id="rId12"/>
    <p:sldId id="280" r:id="rId13"/>
    <p:sldId id="282" r:id="rId14"/>
    <p:sldId id="284" r:id="rId15"/>
    <p:sldId id="286" r:id="rId16"/>
    <p:sldId id="288" r:id="rId17"/>
    <p:sldId id="290" r:id="rId18"/>
    <p:sldId id="292" r:id="rId19"/>
    <p:sldId id="294" r:id="rId20"/>
    <p:sldId id="296" r:id="rId21"/>
    <p:sldId id="298" r:id="rId22"/>
    <p:sldId id="300" r:id="rId23"/>
    <p:sldId id="302" r:id="rId24"/>
    <p:sldId id="304" r:id="rId25"/>
    <p:sldId id="306" r:id="rId26"/>
    <p:sldId id="308" r:id="rId27"/>
    <p:sldId id="310" r:id="rId28"/>
    <p:sldId id="312" r:id="rId29"/>
    <p:sldId id="314" r:id="rId30"/>
    <p:sldId id="316" r:id="rId31"/>
    <p:sldId id="318" r:id="rId32"/>
    <p:sldId id="320" r:id="rId33"/>
    <p:sldId id="322" r:id="rId34"/>
    <p:sldId id="324" r:id="rId35"/>
    <p:sldId id="326" r:id="rId36"/>
    <p:sldId id="328" r:id="rId37"/>
    <p:sldId id="330" r:id="rId38"/>
    <p:sldId id="332" r:id="rId39"/>
    <p:sldId id="334" r:id="rId40"/>
    <p:sldId id="336" r:id="rId41"/>
    <p:sldId id="338" r:id="rId42"/>
    <p:sldId id="340" r:id="rId43"/>
    <p:sldId id="342" r:id="rId44"/>
    <p:sldId id="344" r:id="rId45"/>
    <p:sldId id="346" r:id="rId46"/>
    <p:sldId id="348" r:id="rId47"/>
    <p:sldId id="350" r:id="rId48"/>
    <p:sldId id="352" r:id="rId49"/>
    <p:sldId id="354" r:id="rId50"/>
    <p:sldId id="356" r:id="rId51"/>
    <p:sldId id="358" r:id="rId52"/>
    <p:sldId id="360" r:id="rId53"/>
    <p:sldId id="362" r:id="rId54"/>
    <p:sldId id="364" r:id="rId55"/>
    <p:sldId id="366" r:id="rId56"/>
    <p:sldId id="368" r:id="rId57"/>
    <p:sldId id="370" r:id="rId58"/>
    <p:sldId id="372" r:id="rId59"/>
    <p:sldId id="374" r:id="rId60"/>
    <p:sldId id="376" r:id="rId61"/>
    <p:sldId id="378" r:id="rId62"/>
    <p:sldId id="380" r:id="rId63"/>
    <p:sldId id="382" r:id="rId64"/>
    <p:sldId id="384" r:id="rId65"/>
    <p:sldId id="386" r:id="rId66"/>
    <p:sldId id="388" r:id="rId67"/>
    <p:sldId id="390" r:id="rId68"/>
    <p:sldId id="392" r:id="rId69"/>
    <p:sldId id="394" r:id="rId70"/>
    <p:sldId id="396" r:id="rId71"/>
    <p:sldId id="398" r:id="rId72"/>
    <p:sldId id="400" r:id="rId73"/>
    <p:sldId id="402" r:id="rId74"/>
    <p:sldId id="404" r:id="rId75"/>
    <p:sldId id="406" r:id="rId76"/>
    <p:sldId id="408" r:id="rId77"/>
    <p:sldId id="410" r:id="rId78"/>
    <p:sldId id="412" r:id="rId79"/>
  </p:sldIdLst>
  <p:sldSz cx="12192120" cy="6858000"/>
  <p:notesSz cx="6858000" cy="9144000"/>
  <p:custDataLst>
    <p:tags r:id="rId8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 Type="http://schemas.openxmlformats.org/officeDocument/2006/relationships/slide" Target="slides/slide1.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 Type="http://schemas.openxmlformats.org/officeDocument/2006/relationships/slide" Target="slides/slide2.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 Type="http://schemas.openxmlformats.org/officeDocument/2006/relationships/slide" Target="slides/slide3.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 Type="http://schemas.openxmlformats.org/officeDocument/2006/relationships/slide" Target="slides/slide4.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 Type="http://schemas.openxmlformats.org/officeDocument/2006/relationships/slide" Target="slides/slide5.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 Type="http://schemas.openxmlformats.org/officeDocument/2006/relationships/slide" Target="slides/slide6.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 Type="http://schemas.openxmlformats.org/officeDocument/2006/relationships/slide" Target="slides/slide7.xml" /><Relationship Id="rId80" Type="http://schemas.openxmlformats.org/officeDocument/2006/relationships/tags" Target="tags/tag1.xml" /><Relationship Id="rId81" Type="http://schemas.openxmlformats.org/officeDocument/2006/relationships/presProps" Target="presProps.xml" /><Relationship Id="rId82" Type="http://schemas.openxmlformats.org/officeDocument/2006/relationships/viewProps" Target="viewProps.xml" /><Relationship Id="rId83" Type="http://schemas.openxmlformats.org/officeDocument/2006/relationships/theme" Target="theme/theme1.xml" /><Relationship Id="rId84" Type="http://schemas.openxmlformats.org/officeDocument/2006/relationships/tableStyles" Target="tableStyles.xml" /><Relationship Id="rId9" Type="http://schemas.openxmlformats.org/officeDocument/2006/relationships/slide" Target="slides/slide8.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_rels/chart2.xml.rels>&#65279;<?xml version="1.0" encoding="utf-8" standalone="yes"?><Relationships xmlns="http://schemas.openxmlformats.org/package/2006/relationships"><Relationship Id="rId1" Type="http://schemas.openxmlformats.org/officeDocument/2006/relationships/package" Target="../embeddings/Microsoft_Excel_Worksheet2.xlsx" /></Relationships>
</file>

<file path=ppt/charts/_rels/chart3.xml.rels>&#65279;<?xml version="1.0" encoding="utf-8" standalone="yes"?><Relationships xmlns="http://schemas.openxmlformats.org/package/2006/relationships"><Relationship Id="rId1" Type="http://schemas.openxmlformats.org/officeDocument/2006/relationships/package" Target="../embeddings/Microsoft_Excel_Worksheet3.xlsx" /></Relationships>
</file>

<file path=ppt/charts/_rels/chart4.xml.rels>&#65279;<?xml version="1.0" encoding="utf-8" standalone="yes"?><Relationships xmlns="http://schemas.openxmlformats.org/package/2006/relationships"><Relationship Id="rId1" Type="http://schemas.openxmlformats.org/officeDocument/2006/relationships/package" Target="../embeddings/Microsoft_Excel_Worksheet4.xlsx" /></Relationships>
</file>

<file path=ppt/charts/_rels/chart5.xml.rels>&#65279;<?xml version="1.0" encoding="utf-8" standalone="yes"?><Relationships xmlns="http://schemas.openxmlformats.org/package/2006/relationships"><Relationship Id="rId1" Type="http://schemas.openxmlformats.org/officeDocument/2006/relationships/package" Target="../embeddings/Microsoft_Excel_Worksheet5.xlsx" /></Relationships>
</file>

<file path=ppt/charts/_rels/chart6.xml.rels>&#65279;<?xml version="1.0" encoding="utf-8" standalone="yes"?><Relationships xmlns="http://schemas.openxmlformats.org/package/2006/relationships"><Relationship Id="rId1" Type="http://schemas.openxmlformats.org/officeDocument/2006/relationships/package" Target="../embeddings/Microsoft_Excel_Worksheet7.xlsx" /></Relationships>
</file>

<file path=ppt/charts/_rels/chart7.xml.rels>&#65279;<?xml version="1.0" encoding="utf-8" standalone="yes"?><Relationships xmlns="http://schemas.openxmlformats.org/package/2006/relationships"><Relationship Id="rId1" Type="http://schemas.openxmlformats.org/officeDocument/2006/relationships/package" Target="../embeddings/Microsoft_Excel_Worksheet9.xlsx" /></Relationships>
</file>

<file path=ppt/charts/_rels/chart8.xml.rels>&#65279;<?xml version="1.0" encoding="utf-8" standalone="yes"?><Relationships xmlns="http://schemas.openxmlformats.org/package/2006/relationships"><Relationship Id="rId1" Type="http://schemas.openxmlformats.org/officeDocument/2006/relationships/package" Target="../embeddings/Microsoft_Excel_Worksheet11.xlsx" /></Relationships>
</file>

<file path=ppt/charts/_rels/chart9.xml.rels>&#65279;<?xml version="1.0" encoding="utf-8" standalone="yes"?><Relationships xmlns="http://schemas.openxmlformats.org/package/2006/relationships"><Relationship Id="rId1" Type="http://schemas.openxmlformats.org/officeDocument/2006/relationships/package" Target="../embeddings/Microsoft_Excel_Worksheet13.xlsx" /></Relationships>
</file>

<file path=ppt/charts/_rels/chart10.xml.rels>&#65279;<?xml version="1.0" encoding="utf-8" standalone="yes"?><Relationships xmlns="http://schemas.openxmlformats.org/package/2006/relationships"><Relationship Id="rId1" Type="http://schemas.openxmlformats.org/officeDocument/2006/relationships/package" Target="../embeddings/Microsoft_Excel_Worksheet15.xlsx" /></Relationships>
</file>

<file path=ppt/charts/_rels/chart11.xml.rels>&#65279;<?xml version="1.0" encoding="utf-8" standalone="yes"?><Relationships xmlns="http://schemas.openxmlformats.org/package/2006/relationships"><Relationship Id="rId1" Type="http://schemas.openxmlformats.org/officeDocument/2006/relationships/package" Target="../embeddings/Microsoft_Excel_Worksheet16.xlsx" /></Relationships>
</file>

<file path=ppt/charts/_rels/chart12.xml.rels>&#65279;<?xml version="1.0" encoding="utf-8" standalone="yes"?><Relationships xmlns="http://schemas.openxmlformats.org/package/2006/relationships"><Relationship Id="rId1" Type="http://schemas.openxmlformats.org/officeDocument/2006/relationships/package" Target="../embeddings/Microsoft_Excel_Worksheet17.xlsx" /></Relationships>
</file>

<file path=ppt/charts/_rels/chart13.xml.rels>&#65279;<?xml version="1.0" encoding="utf-8" standalone="yes"?><Relationships xmlns="http://schemas.openxmlformats.org/package/2006/relationships"><Relationship Id="rId1" Type="http://schemas.openxmlformats.org/officeDocument/2006/relationships/package" Target="../embeddings/Microsoft_Excel_Worksheet18.xlsx" /></Relationships>
</file>

<file path=ppt/charts/_rels/chart14.xml.rels>&#65279;<?xml version="1.0" encoding="utf-8" standalone="yes"?><Relationships xmlns="http://schemas.openxmlformats.org/package/2006/relationships"><Relationship Id="rId1" Type="http://schemas.openxmlformats.org/officeDocument/2006/relationships/package" Target="../embeddings/Microsoft_Excel_Worksheet19.xlsx" /></Relationships>
</file>

<file path=ppt/charts/_rels/chart15.xml.rels>&#65279;<?xml version="1.0" encoding="utf-8" standalone="yes"?><Relationships xmlns="http://schemas.openxmlformats.org/package/2006/relationships"><Relationship Id="rId1" Type="http://schemas.openxmlformats.org/officeDocument/2006/relationships/package" Target="../embeddings/Microsoft_Excel_Worksheet20.xlsx" /></Relationships>
</file>

<file path=ppt/charts/_rels/chart16.xml.rels>&#65279;<?xml version="1.0" encoding="utf-8" standalone="yes"?><Relationships xmlns="http://schemas.openxmlformats.org/package/2006/relationships"><Relationship Id="rId1" Type="http://schemas.openxmlformats.org/officeDocument/2006/relationships/package" Target="../embeddings/Microsoft_Excel_Worksheet21.xlsx" /></Relationships>
</file>

<file path=ppt/charts/_rels/chart17.xml.rels>&#65279;<?xml version="1.0" encoding="utf-8" standalone="yes"?><Relationships xmlns="http://schemas.openxmlformats.org/package/2006/relationships"><Relationship Id="rId1" Type="http://schemas.openxmlformats.org/officeDocument/2006/relationships/package" Target="../embeddings/Microsoft_Excel_Worksheet22.xlsx" /></Relationships>
</file>

<file path=ppt/charts/_rels/chart18.xml.rels>&#65279;<?xml version="1.0" encoding="utf-8" standalone="yes"?><Relationships xmlns="http://schemas.openxmlformats.org/package/2006/relationships"><Relationship Id="rId1" Type="http://schemas.openxmlformats.org/officeDocument/2006/relationships/package" Target="../embeddings/Microsoft_Excel_Worksheet24.xlsx" /></Relationships>
</file>

<file path=ppt/charts/_rels/chart19.xml.rels>&#65279;<?xml version="1.0" encoding="utf-8" standalone="yes"?><Relationships xmlns="http://schemas.openxmlformats.org/package/2006/relationships"><Relationship Id="rId1" Type="http://schemas.openxmlformats.org/officeDocument/2006/relationships/package" Target="../embeddings/Microsoft_Excel_Worksheet25.xlsx" /></Relationships>
</file>

<file path=ppt/charts/_rels/chart20.xml.rels>&#65279;<?xml version="1.0" encoding="utf-8" standalone="yes"?><Relationships xmlns="http://schemas.openxmlformats.org/package/2006/relationships"><Relationship Id="rId1" Type="http://schemas.openxmlformats.org/officeDocument/2006/relationships/package" Target="../embeddings/Microsoft_Excel_Worksheet26.xlsx" /></Relationships>
</file>

<file path=ppt/charts/_rels/chart21.xml.rels>&#65279;<?xml version="1.0" encoding="utf-8" standalone="yes"?><Relationships xmlns="http://schemas.openxmlformats.org/package/2006/relationships"><Relationship Id="rId1" Type="http://schemas.openxmlformats.org/officeDocument/2006/relationships/package" Target="../embeddings/Microsoft_Excel_Worksheet28.xlsx" /></Relationships>
</file>

<file path=ppt/charts/_rels/chart22.xml.rels>&#65279;<?xml version="1.0" encoding="utf-8" standalone="yes"?><Relationships xmlns="http://schemas.openxmlformats.org/package/2006/relationships"><Relationship Id="rId1" Type="http://schemas.openxmlformats.org/officeDocument/2006/relationships/package" Target="../embeddings/Microsoft_Excel_Worksheet30.xlsx" /></Relationships>
</file>

<file path=ppt/charts/_rels/chart23.xml.rels>&#65279;<?xml version="1.0" encoding="utf-8" standalone="yes"?><Relationships xmlns="http://schemas.openxmlformats.org/package/2006/relationships"><Relationship Id="rId1" Type="http://schemas.openxmlformats.org/officeDocument/2006/relationships/package" Target="../embeddings/Microsoft_Excel_Worksheet31.xlsx" /></Relationships>
</file>

<file path=ppt/charts/_rels/chart24.xml.rels>&#65279;<?xml version="1.0" encoding="utf-8" standalone="yes"?><Relationships xmlns="http://schemas.openxmlformats.org/package/2006/relationships"><Relationship Id="rId1" Type="http://schemas.openxmlformats.org/officeDocument/2006/relationships/package" Target="../embeddings/Microsoft_Excel_Worksheet33.xlsx" /></Relationships>
</file>

<file path=ppt/charts/_rels/chart25.xml.rels>&#65279;<?xml version="1.0" encoding="utf-8" standalone="yes"?><Relationships xmlns="http://schemas.openxmlformats.org/package/2006/relationships"><Relationship Id="rId1" Type="http://schemas.openxmlformats.org/officeDocument/2006/relationships/package" Target="../embeddings/Microsoft_Excel_Worksheet35.xlsx" /></Relationships>
</file>

<file path=ppt/charts/_rels/chart26.xml.rels>&#65279;<?xml version="1.0" encoding="utf-8" standalone="yes"?><Relationships xmlns="http://schemas.openxmlformats.org/package/2006/relationships"><Relationship Id="rId1" Type="http://schemas.openxmlformats.org/officeDocument/2006/relationships/package" Target="../embeddings/Microsoft_Excel_Worksheet36.xlsx" /></Relationships>
</file>

<file path=ppt/charts/_rels/chart27.xml.rels>&#65279;<?xml version="1.0" encoding="utf-8" standalone="yes"?><Relationships xmlns="http://schemas.openxmlformats.org/package/2006/relationships"><Relationship Id="rId1" Type="http://schemas.openxmlformats.org/officeDocument/2006/relationships/package" Target="../embeddings/Microsoft_Excel_Worksheet37.xlsx" /></Relationships>
</file>

<file path=ppt/charts/_rels/chart28.xml.rels>&#65279;<?xml version="1.0" encoding="utf-8" standalone="yes"?><Relationships xmlns="http://schemas.openxmlformats.org/package/2006/relationships"><Relationship Id="rId1" Type="http://schemas.openxmlformats.org/officeDocument/2006/relationships/package" Target="../embeddings/Microsoft_Excel_Worksheet38.xlsx" /></Relationships>
</file>

<file path=ppt/charts/_rels/chart29.xml.rels>&#65279;<?xml version="1.0" encoding="utf-8" standalone="yes"?><Relationships xmlns="http://schemas.openxmlformats.org/package/2006/relationships"><Relationship Id="rId1" Type="http://schemas.openxmlformats.org/officeDocument/2006/relationships/package" Target="../embeddings/Microsoft_Excel_Worksheet40.xlsx" /></Relationships>
</file>

<file path=ppt/charts/_rels/chart30.xml.rels>&#65279;<?xml version="1.0" encoding="utf-8" standalone="yes"?><Relationships xmlns="http://schemas.openxmlformats.org/package/2006/relationships"><Relationship Id="rId1" Type="http://schemas.openxmlformats.org/officeDocument/2006/relationships/package" Target="../embeddings/Microsoft_Excel_Worksheet41.xlsx" /></Relationships>
</file>

<file path=ppt/charts/_rels/chart31.xml.rels>&#65279;<?xml version="1.0" encoding="utf-8" standalone="yes"?><Relationships xmlns="http://schemas.openxmlformats.org/package/2006/relationships"><Relationship Id="rId1" Type="http://schemas.openxmlformats.org/officeDocument/2006/relationships/package" Target="../embeddings/Microsoft_Excel_Worksheet42.xlsx" /></Relationships>
</file>

<file path=ppt/charts/_rels/chart32.xml.rels>&#65279;<?xml version="1.0" encoding="utf-8" standalone="yes"?><Relationships xmlns="http://schemas.openxmlformats.org/package/2006/relationships"><Relationship Id="rId1" Type="http://schemas.openxmlformats.org/officeDocument/2006/relationships/package" Target="../embeddings/Microsoft_Excel_Worksheet44.xlsx" /></Relationships>
</file>

<file path=ppt/charts/_rels/chart33.xml.rels>&#65279;<?xml version="1.0" encoding="utf-8" standalone="yes"?><Relationships xmlns="http://schemas.openxmlformats.org/package/2006/relationships"><Relationship Id="rId1" Type="http://schemas.openxmlformats.org/officeDocument/2006/relationships/package" Target="../embeddings/Microsoft_Excel_Worksheet45.xlsx" /></Relationships>
</file>

<file path=ppt/charts/_rels/chart34.xml.rels>&#65279;<?xml version="1.0" encoding="utf-8" standalone="yes"?><Relationships xmlns="http://schemas.openxmlformats.org/package/2006/relationships"><Relationship Id="rId1" Type="http://schemas.openxmlformats.org/officeDocument/2006/relationships/package" Target="../embeddings/Microsoft_Excel_Worksheet46.xlsx" /></Relationships>
</file>

<file path=ppt/charts/_rels/chart35.xml.rels>&#65279;<?xml version="1.0" encoding="utf-8" standalone="yes"?><Relationships xmlns="http://schemas.openxmlformats.org/package/2006/relationships"><Relationship Id="rId1" Type="http://schemas.openxmlformats.org/officeDocument/2006/relationships/package" Target="../embeddings/Microsoft_Excel_Worksheet47.xlsx" /></Relationships>
</file>

<file path=ppt/charts/_rels/chart36.xml.rels>&#65279;<?xml version="1.0" encoding="utf-8" standalone="yes"?><Relationships xmlns="http://schemas.openxmlformats.org/package/2006/relationships"><Relationship Id="rId1" Type="http://schemas.openxmlformats.org/officeDocument/2006/relationships/package" Target="../embeddings/Microsoft_Excel_Worksheet49.xlsx" /></Relationships>
</file>

<file path=ppt/charts/_rels/chart37.xml.rels>&#65279;<?xml version="1.0" encoding="utf-8" standalone="yes"?><Relationships xmlns="http://schemas.openxmlformats.org/package/2006/relationships"><Relationship Id="rId1" Type="http://schemas.openxmlformats.org/officeDocument/2006/relationships/package" Target="../embeddings/Microsoft_Excel_Worksheet50.xlsx" /></Relationships>
</file>

<file path=ppt/charts/_rels/chart38.xml.rels>&#65279;<?xml version="1.0" encoding="utf-8" standalone="yes"?><Relationships xmlns="http://schemas.openxmlformats.org/package/2006/relationships"><Relationship Id="rId1" Type="http://schemas.openxmlformats.org/officeDocument/2006/relationships/package" Target="../embeddings/Microsoft_Excel_Worksheet51.xlsx" /></Relationships>
</file>

<file path=ppt/charts/_rels/chart39.xml.rels>&#65279;<?xml version="1.0" encoding="utf-8" standalone="yes"?><Relationships xmlns="http://schemas.openxmlformats.org/package/2006/relationships"><Relationship Id="rId1" Type="http://schemas.openxmlformats.org/officeDocument/2006/relationships/package" Target="../embeddings/Microsoft_Excel_Worksheet52.xlsx" /></Relationships>
</file>

<file path=ppt/charts/_rels/chart40.xml.rels>&#65279;<?xml version="1.0" encoding="utf-8" standalone="yes"?><Relationships xmlns="http://schemas.openxmlformats.org/package/2006/relationships"><Relationship Id="rId1" Type="http://schemas.openxmlformats.org/officeDocument/2006/relationships/package" Target="../embeddings/Microsoft_Excel_Worksheet53.xlsx" /></Relationships>
</file>

<file path=ppt/charts/_rels/chart41.xml.rels>&#65279;<?xml version="1.0" encoding="utf-8" standalone="yes"?><Relationships xmlns="http://schemas.openxmlformats.org/package/2006/relationships"><Relationship Id="rId1" Type="http://schemas.openxmlformats.org/officeDocument/2006/relationships/package" Target="../embeddings/Microsoft_Excel_Worksheet54.xlsx" /></Relationships>
</file>

<file path=ppt/charts/_rels/chart42.xml.rels>&#65279;<?xml version="1.0" encoding="utf-8" standalone="yes"?><Relationships xmlns="http://schemas.openxmlformats.org/package/2006/relationships"><Relationship Id="rId1" Type="http://schemas.openxmlformats.org/officeDocument/2006/relationships/package" Target="../embeddings/Microsoft_Excel_Worksheet55.xlsx" /></Relationships>
</file>

<file path=ppt/charts/_rels/chart43.xml.rels>&#65279;<?xml version="1.0" encoding="utf-8" standalone="yes"?><Relationships xmlns="http://schemas.openxmlformats.org/package/2006/relationships"><Relationship Id="rId1" Type="http://schemas.openxmlformats.org/officeDocument/2006/relationships/package" Target="../embeddings/Microsoft_Excel_Worksheet56.xlsx" /></Relationships>
</file>

<file path=ppt/charts/_rels/chart44.xml.rels>&#65279;<?xml version="1.0" encoding="utf-8" standalone="yes"?><Relationships xmlns="http://schemas.openxmlformats.org/package/2006/relationships"><Relationship Id="rId1" Type="http://schemas.openxmlformats.org/officeDocument/2006/relationships/package" Target="../embeddings/Microsoft_Excel_Worksheet57.xlsx" /></Relationships>
</file>

<file path=ppt/charts/_rels/chart45.xml.rels>&#65279;<?xml version="1.0" encoding="utf-8" standalone="yes"?><Relationships xmlns="http://schemas.openxmlformats.org/package/2006/relationships"><Relationship Id="rId1" Type="http://schemas.openxmlformats.org/officeDocument/2006/relationships/package" Target="../embeddings/Microsoft_Excel_Worksheet58.xlsx" /></Relationships>
</file>

<file path=ppt/charts/_rels/chart46.xml.rels>&#65279;<?xml version="1.0" encoding="utf-8" standalone="yes"?><Relationships xmlns="http://schemas.openxmlformats.org/package/2006/relationships"><Relationship Id="rId1" Type="http://schemas.openxmlformats.org/officeDocument/2006/relationships/package" Target="../embeddings/Microsoft_Excel_Worksheet59.xlsx" /></Relationships>
</file>

<file path=ppt/charts/_rels/chart47.xml.rels>&#65279;<?xml version="1.0" encoding="utf-8" standalone="yes"?><Relationships xmlns="http://schemas.openxmlformats.org/package/2006/relationships"><Relationship Id="rId1" Type="http://schemas.openxmlformats.org/officeDocument/2006/relationships/package" Target="../embeddings/Microsoft_Excel_Worksheet60.xlsx" /></Relationships>
</file>

<file path=ppt/charts/_rels/chart48.xml.rels>&#65279;<?xml version="1.0" encoding="utf-8" standalone="yes"?><Relationships xmlns="http://schemas.openxmlformats.org/package/2006/relationships"><Relationship Id="rId1" Type="http://schemas.openxmlformats.org/officeDocument/2006/relationships/package" Target="../embeddings/Microsoft_Excel_Worksheet61.xlsx" /></Relationships>
</file>

<file path=ppt/charts/_rels/chart49.xml.rels>&#65279;<?xml version="1.0" encoding="utf-8" standalone="yes"?><Relationships xmlns="http://schemas.openxmlformats.org/package/2006/relationships"><Relationship Id="rId1" Type="http://schemas.openxmlformats.org/officeDocument/2006/relationships/package" Target="../embeddings/Microsoft_Excel_Worksheet63.xlsx" /></Relationships>
</file>

<file path=ppt/charts/_rels/chart50.xml.rels>&#65279;<?xml version="1.0" encoding="utf-8" standalone="yes"?><Relationships xmlns="http://schemas.openxmlformats.org/package/2006/relationships"><Relationship Id="rId1" Type="http://schemas.openxmlformats.org/officeDocument/2006/relationships/package" Target="../embeddings/Microsoft_Excel_Worksheet64.xlsx" /></Relationships>
</file>

<file path=ppt/charts/_rels/chart51.xml.rels>&#65279;<?xml version="1.0" encoding="utf-8" standalone="yes"?><Relationships xmlns="http://schemas.openxmlformats.org/package/2006/relationships"><Relationship Id="rId1" Type="http://schemas.openxmlformats.org/officeDocument/2006/relationships/package" Target="../embeddings/Microsoft_Excel_Worksheet65.xlsx" /></Relationships>
</file>

<file path=ppt/charts/_rels/chart52.xml.rels>&#65279;<?xml version="1.0" encoding="utf-8" standalone="yes"?><Relationships xmlns="http://schemas.openxmlformats.org/package/2006/relationships"><Relationship Id="rId1" Type="http://schemas.openxmlformats.org/officeDocument/2006/relationships/package" Target="../embeddings/Microsoft_Excel_Worksheet66.xlsx" /></Relationships>
</file>

<file path=ppt/charts/_rels/chart53.xml.rels>&#65279;<?xml version="1.0" encoding="utf-8" standalone="yes"?><Relationships xmlns="http://schemas.openxmlformats.org/package/2006/relationships"><Relationship Id="rId1" Type="http://schemas.openxmlformats.org/officeDocument/2006/relationships/package" Target="../embeddings/Microsoft_Excel_Worksheet67.xlsx" /></Relationships>
</file>

<file path=ppt/charts/_rels/chart54.xml.rels>&#65279;<?xml version="1.0" encoding="utf-8" standalone="yes"?><Relationships xmlns="http://schemas.openxmlformats.org/package/2006/relationships"><Relationship Id="rId1" Type="http://schemas.openxmlformats.org/officeDocument/2006/relationships/package" Target="../embeddings/Microsoft_Excel_Worksheet68.xlsx" /></Relationships>
</file>

<file path=ppt/charts/_rels/chart55.xml.rels>&#65279;<?xml version="1.0" encoding="utf-8" standalone="yes"?><Relationships xmlns="http://schemas.openxmlformats.org/package/2006/relationships"><Relationship Id="rId1" Type="http://schemas.openxmlformats.org/officeDocument/2006/relationships/package" Target="../embeddings/Microsoft_Excel_Worksheet69.xlsx" /></Relationships>
</file>

<file path=ppt/charts/_rels/chart56.xml.rels>&#65279;<?xml version="1.0" encoding="utf-8" standalone="yes"?><Relationships xmlns="http://schemas.openxmlformats.org/package/2006/relationships"><Relationship Id="rId1" Type="http://schemas.openxmlformats.org/officeDocument/2006/relationships/package" Target="../embeddings/Microsoft_Excel_Worksheet70.xlsx" /></Relationships>
</file>

<file path=ppt/charts/_rels/chart57.xml.rels>&#65279;<?xml version="1.0" encoding="utf-8" standalone="yes"?><Relationships xmlns="http://schemas.openxmlformats.org/package/2006/relationships"><Relationship Id="rId1" Type="http://schemas.openxmlformats.org/officeDocument/2006/relationships/package" Target="../embeddings/Microsoft_Excel_Worksheet71.xlsx" /></Relationships>
</file>

<file path=ppt/charts/_rels/chart58.xml.rels>&#65279;<?xml version="1.0" encoding="utf-8" standalone="yes"?><Relationships xmlns="http://schemas.openxmlformats.org/package/2006/relationships"><Relationship Id="rId1" Type="http://schemas.openxmlformats.org/officeDocument/2006/relationships/package" Target="../embeddings/Microsoft_Excel_Worksheet72.xlsx" /></Relationships>
</file>

<file path=ppt/charts/_rels/chart59.xml.rels>&#65279;<?xml version="1.0" encoding="utf-8" standalone="yes"?><Relationships xmlns="http://schemas.openxmlformats.org/package/2006/relationships"><Relationship Id="rId1" Type="http://schemas.openxmlformats.org/officeDocument/2006/relationships/package" Target="../embeddings/Microsoft_Excel_Worksheet74.xlsx" /></Relationships>
</file>

<file path=ppt/charts/_rels/chart60.xml.rels>&#65279;<?xml version="1.0" encoding="utf-8" standalone="yes"?><Relationships xmlns="http://schemas.openxmlformats.org/package/2006/relationships"><Relationship Id="rId1" Type="http://schemas.openxmlformats.org/officeDocument/2006/relationships/package" Target="../embeddings/Microsoft_Excel_Worksheet75.xlsx" /></Relationships>
</file>

<file path=ppt/charts/_rels/chart61.xml.rels>&#65279;<?xml version="1.0" encoding="utf-8" standalone="yes"?><Relationships xmlns="http://schemas.openxmlformats.org/package/2006/relationships"><Relationship Id="rId1" Type="http://schemas.openxmlformats.org/officeDocument/2006/relationships/package" Target="../embeddings/Microsoft_Excel_Worksheet76.xlsx" /></Relationships>
</file>

<file path=ppt/charts/_rels/chart62.xml.rels>&#65279;<?xml version="1.0" encoding="utf-8" standalone="yes"?><Relationships xmlns="http://schemas.openxmlformats.org/package/2006/relationships"><Relationship Id="rId1" Type="http://schemas.openxmlformats.org/officeDocument/2006/relationships/package" Target="../embeddings/Microsoft_Excel_Worksheet78.xlsx" /></Relationships>
</file>

<file path=ppt/charts/_rels/chart63.xml.rels>&#65279;<?xml version="1.0" encoding="utf-8" standalone="yes"?><Relationships xmlns="http://schemas.openxmlformats.org/package/2006/relationships"><Relationship Id="rId1" Type="http://schemas.openxmlformats.org/officeDocument/2006/relationships/package" Target="../embeddings/Microsoft_Excel_Worksheet79.xlsx"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Sheet1!$A$2:$A$3</c:f>
              <c:strCache>
                <c:ptCount val="2"/>
                <c:pt idx="0">
                  <c:v>Internet users</c:v>
                </c:pt>
                <c:pt idx="1">
                  <c:v>Social media users</c:v>
                </c:pt>
              </c:strCache>
            </c:strRef>
          </c:cat>
          <c:val>
            <c:numRef>
              <c:f>Sheet1!$B$2:$B$3</c:f>
              <c:numCache>
                <c:ptCount val="2"/>
                <c:pt idx="0">
                  <c:v>5.16</c:v>
                </c:pt>
                <c:pt idx="1">
                  <c:v>4.76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billions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2017</c:v>
                </c:pt>
                <c:pt idx="1">
                  <c:v>2018</c:v>
                </c:pt>
                <c:pt idx="2">
                  <c:v>2019</c:v>
                </c:pt>
                <c:pt idx="3">
                  <c:v>2020</c:v>
                </c:pt>
                <c:pt idx="4">
                  <c:v>2021</c:v>
                </c:pt>
                <c:pt idx="5">
                  <c:v>2022</c:v>
                </c:pt>
                <c:pt idx="6">
                  <c:v>2023*</c:v>
                </c:pt>
                <c:pt idx="7">
                  <c:v>2024*</c:v>
                </c:pt>
                <c:pt idx="8">
                  <c:v>2025*</c:v>
                </c:pt>
                <c:pt idx="9">
                  <c:v>2026*</c:v>
                </c:pt>
                <c:pt idx="10">
                  <c:v>2027*</c:v>
                </c:pt>
              </c:strCache>
            </c:strRef>
          </c:cat>
          <c:val>
            <c:numRef>
              <c:f>Sheet1!$B$2:$B$12</c:f>
              <c:numCache>
                <c:ptCount val="11"/>
                <c:pt idx="0">
                  <c:v>2.73</c:v>
                </c:pt>
                <c:pt idx="1">
                  <c:v>3.1</c:v>
                </c:pt>
                <c:pt idx="2">
                  <c:v>3.51</c:v>
                </c:pt>
                <c:pt idx="3">
                  <c:v>3.9</c:v>
                </c:pt>
                <c:pt idx="4">
                  <c:v>4.26</c:v>
                </c:pt>
                <c:pt idx="5">
                  <c:v>4.59</c:v>
                </c:pt>
                <c:pt idx="6">
                  <c:v>4.89</c:v>
                </c:pt>
                <c:pt idx="7">
                  <c:v>5.17</c:v>
                </c:pt>
                <c:pt idx="8">
                  <c:v>5.42</c:v>
                </c:pt>
                <c:pt idx="9">
                  <c:v>5.64</c:v>
                </c:pt>
                <c:pt idx="10">
                  <c:v>5.85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billions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2018</c:v>
                </c:pt>
                <c:pt idx="1">
                  <c:v>2019</c:v>
                </c:pt>
                <c:pt idx="2">
                  <c:v>2020</c:v>
                </c:pt>
                <c:pt idx="3">
                  <c:v>2021</c:v>
                </c:pt>
                <c:pt idx="4">
                  <c:v>2022</c:v>
                </c:pt>
                <c:pt idx="5">
                  <c:v>2023*</c:v>
                </c:pt>
                <c:pt idx="6">
                  <c:v>2024*</c:v>
                </c:pt>
                <c:pt idx="7">
                  <c:v>2025*</c:v>
                </c:pt>
                <c:pt idx="8">
                  <c:v>2026*</c:v>
                </c:pt>
                <c:pt idx="9">
                  <c:v>2027*</c:v>
                </c:pt>
              </c:strCache>
            </c:strRef>
          </c:cat>
          <c:val>
            <c:numRef>
              <c:f>Sheet1!$B$2:$B$11</c:f>
              <c:numCache>
                <c:ptCount val="10"/>
                <c:pt idx="0">
                  <c:v>0.42</c:v>
                </c:pt>
                <c:pt idx="1">
                  <c:v>0.47</c:v>
                </c:pt>
                <c:pt idx="2">
                  <c:v>0.52</c:v>
                </c:pt>
                <c:pt idx="3">
                  <c:v>0.56</c:v>
                </c:pt>
                <c:pt idx="4">
                  <c:v>0.6</c:v>
                </c:pt>
                <c:pt idx="5">
                  <c:v>0.64</c:v>
                </c:pt>
                <c:pt idx="6">
                  <c:v>0.67</c:v>
                </c:pt>
                <c:pt idx="7">
                  <c:v>0.69</c:v>
                </c:pt>
                <c:pt idx="8">
                  <c:v>0.72</c:v>
                </c:pt>
                <c:pt idx="9">
                  <c:v>0.74</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population</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Meta**</c:v>
                </c:pt>
              </c:strCache>
            </c:strRef>
          </c:tx>
          <c:spPr>
            <a:ln>
              <a:solidFill>
                <a:srgbClr val="2875DD"/>
              </a:solidFill>
            </a:ln>
          </c:spPr>
          <c:marker>
            <c:symbol val="circle"/>
            <c:spPr>
              <a:solidFill>
                <a:srgbClr val="2875DD"/>
              </a:solidFill>
              <a:ln>
                <a:solidFill>
                  <a:srgbClr val="2875DD"/>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Sheet1!$A$2:$A$9</c:f>
              <c:numCache>
                <c:formatCode>General</c:formatCode>
                <c:ptCount val="8"/>
                <c:pt idx="0">
                  <c:v>2014</c:v>
                </c:pt>
                <c:pt idx="1">
                  <c:v>2015</c:v>
                </c:pt>
                <c:pt idx="2">
                  <c:v>2016</c:v>
                </c:pt>
                <c:pt idx="3">
                  <c:v>2017</c:v>
                </c:pt>
                <c:pt idx="4">
                  <c:v>2018</c:v>
                </c:pt>
                <c:pt idx="5">
                  <c:v>2019</c:v>
                </c:pt>
                <c:pt idx="6">
                  <c:v>2020</c:v>
                </c:pt>
                <c:pt idx="7">
                  <c:v>2021</c:v>
                </c:pt>
              </c:numCache>
            </c:numRef>
          </c:cat>
          <c:val>
            <c:numRef>
              <c:f>Sheet1!$B$2:$B$9</c:f>
              <c:numCache>
                <c:ptCount val="8"/>
                <c:pt idx="0">
                  <c:v>12466</c:v>
                </c:pt>
                <c:pt idx="1">
                  <c:v>17928</c:v>
                </c:pt>
                <c:pt idx="2">
                  <c:v>27638</c:v>
                </c:pt>
                <c:pt idx="3">
                  <c:v>40653</c:v>
                </c:pt>
                <c:pt idx="4">
                  <c:v>55838</c:v>
                </c:pt>
                <c:pt idx="5">
                  <c:v>70697</c:v>
                </c:pt>
                <c:pt idx="6">
                  <c:v>85965</c:v>
                </c:pt>
                <c:pt idx="7">
                  <c:v>117929</c:v>
                </c:pt>
              </c:numCache>
            </c:numRef>
          </c:val>
          <c:smooth val="0"/>
        </c:ser>
        <c:ser>
          <c:idx val="1"/>
          <c:order val="1"/>
          <c:tx>
            <c:strRef>
              <c:f>Sheet1!$C$1</c:f>
              <c:strCache>
                <c:ptCount val="1"/>
                <c:pt idx="0">
                  <c:v>Twitter</c:v>
                </c:pt>
              </c:strCache>
            </c:strRef>
          </c:tx>
          <c:spPr>
            <a:ln>
              <a:solidFill>
                <a:srgbClr val="0F283E"/>
              </a:solidFill>
            </a:ln>
          </c:spPr>
          <c:marker>
            <c:symbol val="circle"/>
            <c:spPr>
              <a:solidFill>
                <a:srgbClr val="0F283E"/>
              </a:solidFill>
              <a:ln>
                <a:solidFill>
                  <a:srgbClr val="0F283E"/>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Sheet1!$A$2:$A$9</c:f>
              <c:numCache>
                <c:formatCode>General</c:formatCode>
                <c:ptCount val="8"/>
                <c:pt idx="0">
                  <c:v>2014</c:v>
                </c:pt>
                <c:pt idx="1">
                  <c:v>2015</c:v>
                </c:pt>
                <c:pt idx="2">
                  <c:v>2016</c:v>
                </c:pt>
                <c:pt idx="3">
                  <c:v>2017</c:v>
                </c:pt>
                <c:pt idx="4">
                  <c:v>2018</c:v>
                </c:pt>
                <c:pt idx="5">
                  <c:v>2019</c:v>
                </c:pt>
                <c:pt idx="6">
                  <c:v>2020</c:v>
                </c:pt>
                <c:pt idx="7">
                  <c:v>2021</c:v>
                </c:pt>
              </c:numCache>
            </c:numRef>
          </c:cat>
          <c:val>
            <c:numRef>
              <c:f>Sheet1!$C$2:$C$9</c:f>
              <c:numCache>
                <c:ptCount val="8"/>
                <c:pt idx="0">
                  <c:v>1403</c:v>
                </c:pt>
                <c:pt idx="1">
                  <c:v>2218.03</c:v>
                </c:pt>
                <c:pt idx="2">
                  <c:v>2529.62</c:v>
                </c:pt>
                <c:pt idx="3">
                  <c:v>2443.3</c:v>
                </c:pt>
                <c:pt idx="4">
                  <c:v>3042.36</c:v>
                </c:pt>
                <c:pt idx="5">
                  <c:v>3459.33</c:v>
                </c:pt>
                <c:pt idx="6">
                  <c:v>3716.35</c:v>
                </c:pt>
                <c:pt idx="7">
                  <c:v>5077.48</c:v>
                </c:pt>
              </c:numCache>
            </c:numRef>
          </c:val>
          <c:smooth val="0"/>
        </c:ser>
        <c:ser>
          <c:idx val="2"/>
          <c:order val="2"/>
          <c:tx>
            <c:strRef>
              <c:f>Sheet1!$D$1</c:f>
              <c:strCache>
                <c:ptCount val="1"/>
                <c:pt idx="0">
                  <c:v>Snapchat</c:v>
                </c:pt>
              </c:strCache>
            </c:strRef>
          </c:tx>
          <c:spPr>
            <a:ln>
              <a:solidFill>
                <a:srgbClr val="BABABA"/>
              </a:solidFill>
            </a:ln>
          </c:spPr>
          <c:marker>
            <c:symbol val="circle"/>
            <c:spPr>
              <a:solidFill>
                <a:srgbClr val="BABABA"/>
              </a:solidFill>
              <a:ln>
                <a:solidFill>
                  <a:srgbClr val="BABABA"/>
                </a:solidFill>
              </a:ln>
            </c:spPr>
          </c:marker>
          <c:dPt>
            <c:idx val="0"/>
            <c:invertIfNegative val="1"/>
            <c:marker>
              <c:spPr>
                <a:noFill/>
                <a:ln>
                  <a:noFill/>
                </a:ln>
              </c:spPr>
            </c:marker>
            <c:spPr>
              <a:noFill/>
              <a:ln>
                <a:noFill/>
              </a:ln>
            </c:spPr>
          </c:dPt>
          <c:dPt>
            <c:idx val="1"/>
            <c:invertIfNegative val="1"/>
            <c:marker>
              <c:spPr>
                <a:noFill/>
                <a:ln>
                  <a:noFill/>
                </a:ln>
              </c:spPr>
            </c:marker>
            <c:spPr>
              <a:noFill/>
              <a:ln>
                <a:noFill/>
              </a:ln>
            </c:spPr>
          </c:dPt>
          <c:dLbls>
            <c:dLbl>
              <c:idx val="0"/>
              <c:delete val="1"/>
              <c:txPr>
                <a:bodyPr/>
                <a:p>
                  <a:pPr>
                    <a:defRPr smtId="4294967295">
                      <a:noFill/>
                    </a:defRPr>
                  </a:pPr>
                  <a:endParaRPr smtId="4294967295">
                    <a:noFill/>
                  </a:endParaRPr>
                </a:p>
              </c:txPr>
              <c:extLst/>
            </c:dLbl>
            <c:dLbl>
              <c:idx val="1"/>
              <c:delete val="1"/>
              <c:txPr>
                <a:bodyPr/>
                <a:p>
                  <a:pPr>
                    <a:defRPr smtId="4294967295">
                      <a:noFill/>
                    </a:defRPr>
                  </a:pPr>
                  <a:endParaRPr smtId="4294967295">
                    <a:noFill/>
                  </a:endParaRPr>
                </a:p>
              </c:txPr>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Sheet1!$A$2:$A$9</c:f>
              <c:numCache>
                <c:formatCode>General</c:formatCode>
                <c:ptCount val="8"/>
                <c:pt idx="0">
                  <c:v>2014</c:v>
                </c:pt>
                <c:pt idx="1">
                  <c:v>2015</c:v>
                </c:pt>
                <c:pt idx="2">
                  <c:v>2016</c:v>
                </c:pt>
                <c:pt idx="3">
                  <c:v>2017</c:v>
                </c:pt>
                <c:pt idx="4">
                  <c:v>2018</c:v>
                </c:pt>
                <c:pt idx="5">
                  <c:v>2019</c:v>
                </c:pt>
                <c:pt idx="6">
                  <c:v>2020</c:v>
                </c:pt>
                <c:pt idx="7">
                  <c:v>2021</c:v>
                </c:pt>
              </c:numCache>
            </c:numRef>
          </c:cat>
          <c:val>
            <c:numRef>
              <c:f>Sheet1!$D$2:$D$9</c:f>
              <c:numCache>
                <c:ptCount val="8"/>
                <c:pt idx="2">
                  <c:v>404.48</c:v>
                </c:pt>
                <c:pt idx="3">
                  <c:v>824.95</c:v>
                </c:pt>
                <c:pt idx="4">
                  <c:v>1180.45</c:v>
                </c:pt>
                <c:pt idx="5">
                  <c:v>1715.53</c:v>
                </c:pt>
                <c:pt idx="6">
                  <c:v>2506.62</c:v>
                </c:pt>
                <c:pt idx="7">
                  <c:v>4117.05</c:v>
                </c:pt>
              </c:numCache>
            </c:numRef>
          </c:val>
          <c:smooth val="0"/>
        </c:ser>
        <c:ser>
          <c:idx val="3"/>
          <c:order val="3"/>
          <c:tx>
            <c:strRef>
              <c:f>Sheet1!$E$1</c:f>
              <c:strCache>
                <c:ptCount val="1"/>
                <c:pt idx="0">
                  <c:v>Yelp</c:v>
                </c:pt>
              </c:strCache>
            </c:strRef>
          </c:tx>
          <c:spPr>
            <a:ln>
              <a:solidFill>
                <a:srgbClr val="A60B0B"/>
              </a:solidFill>
            </a:ln>
          </c:spPr>
          <c:marker>
            <c:symbol val="circle"/>
            <c:spPr>
              <a:solidFill>
                <a:srgbClr val="A60B0B"/>
              </a:solidFill>
              <a:ln>
                <a:solidFill>
                  <a:srgbClr val="A60B0B"/>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Sheet1!$A$2:$A$9</c:f>
              <c:numCache>
                <c:formatCode>General</c:formatCode>
                <c:ptCount val="8"/>
                <c:pt idx="0">
                  <c:v>2014</c:v>
                </c:pt>
                <c:pt idx="1">
                  <c:v>2015</c:v>
                </c:pt>
                <c:pt idx="2">
                  <c:v>2016</c:v>
                </c:pt>
                <c:pt idx="3">
                  <c:v>2017</c:v>
                </c:pt>
                <c:pt idx="4">
                  <c:v>2018</c:v>
                </c:pt>
                <c:pt idx="5">
                  <c:v>2019</c:v>
                </c:pt>
                <c:pt idx="6">
                  <c:v>2020</c:v>
                </c:pt>
                <c:pt idx="7">
                  <c:v>2021</c:v>
                </c:pt>
              </c:numCache>
            </c:numRef>
          </c:cat>
          <c:val>
            <c:numRef>
              <c:f>Sheet1!$E$2:$E$9</c:f>
              <c:numCache>
                <c:ptCount val="8"/>
                <c:pt idx="0">
                  <c:v>377.5</c:v>
                </c:pt>
                <c:pt idx="1">
                  <c:v>549.71</c:v>
                </c:pt>
                <c:pt idx="2">
                  <c:v>716</c:v>
                </c:pt>
                <c:pt idx="3">
                  <c:v>850.85</c:v>
                </c:pt>
                <c:pt idx="4">
                  <c:v>942.77</c:v>
                </c:pt>
                <c:pt idx="5">
                  <c:v>1014.19</c:v>
                </c:pt>
                <c:pt idx="6">
                  <c:v>872.93</c:v>
                </c:pt>
                <c:pt idx="7">
                  <c:v>1031.84</c:v>
                </c:pt>
              </c:numCache>
            </c:numRef>
          </c:val>
          <c:smooth val="0"/>
        </c:ser>
        <c:ser>
          <c:idx val="4"/>
          <c:order val="4"/>
          <c:tx>
            <c:strRef>
              <c:f>Sheet1!$F$1</c:f>
              <c:strCache>
                <c:ptCount val="1"/>
                <c:pt idx="0">
                  <c:v>LinkedIn*</c:v>
                </c:pt>
              </c:strCache>
            </c:strRef>
          </c:tx>
          <c:spPr>
            <a:ln>
              <a:solidFill>
                <a:srgbClr val="87BC24"/>
              </a:solidFill>
            </a:ln>
          </c:spPr>
          <c:marker>
            <c:symbol val="circle"/>
            <c:spPr>
              <a:solidFill>
                <a:srgbClr val="87BC24"/>
              </a:solidFill>
              <a:ln>
                <a:solidFill>
                  <a:srgbClr val="87BC24"/>
                </a:solidFill>
              </a:ln>
            </c:spPr>
          </c:marker>
          <c:dPt>
            <c:idx val="2"/>
            <c:invertIfNegative val="1"/>
            <c:marker>
              <c:spPr>
                <a:noFill/>
                <a:ln>
                  <a:noFill/>
                </a:ln>
              </c:spPr>
            </c:marker>
            <c:spPr>
              <a:noFill/>
              <a:ln>
                <a:noFill/>
              </a:ln>
            </c:spPr>
          </c:dPt>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delete val="1"/>
              <c:txPr>
                <a:bodyPr/>
                <a:p>
                  <a:pPr>
                    <a:defRPr smtId="4294967295">
                      <a:noFill/>
                    </a:defRPr>
                  </a:pPr>
                  <a:endParaRPr smtId="4294967295">
                    <a:noFill/>
                  </a:endParaRPr>
                </a:p>
              </c:txPr>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Sheet1!$A$2:$A$9</c:f>
              <c:numCache>
                <c:formatCode>General</c:formatCode>
                <c:ptCount val="8"/>
                <c:pt idx="0">
                  <c:v>2014</c:v>
                </c:pt>
                <c:pt idx="1">
                  <c:v>2015</c:v>
                </c:pt>
                <c:pt idx="2">
                  <c:v>2016</c:v>
                </c:pt>
                <c:pt idx="3">
                  <c:v>2017</c:v>
                </c:pt>
                <c:pt idx="4">
                  <c:v>2018</c:v>
                </c:pt>
                <c:pt idx="5">
                  <c:v>2019</c:v>
                </c:pt>
                <c:pt idx="6">
                  <c:v>2020</c:v>
                </c:pt>
                <c:pt idx="7">
                  <c:v>2021</c:v>
                </c:pt>
              </c:numCache>
            </c:numRef>
          </c:cat>
          <c:val>
            <c:numRef>
              <c:f>Sheet1!$F$2:$F$8</c:f>
              <c:numCache>
                <c:ptCount val="7"/>
                <c:pt idx="0">
                  <c:v>2219</c:v>
                </c:pt>
                <c:pt idx="1">
                  <c:v>2991</c:v>
                </c:pt>
                <c:pt idx="3">
                  <c:v>2271</c:v>
                </c:pt>
                <c:pt idx="4">
                  <c:v>5259</c:v>
                </c:pt>
                <c:pt idx="5">
                  <c:v>6754</c:v>
                </c:pt>
                <c:pt idx="6">
                  <c:v>8050</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Revenue in million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2027*</c:v>
                </c:pt>
              </c:strCache>
            </c:strRef>
          </c:tx>
          <c:spPr>
            <a:solidFill>
              <a:srgbClr val="0F283E"/>
            </a:solidFill>
            <a:ln>
              <a:solidFill>
                <a:srgbClr val="0F283E"/>
              </a:solidFill>
            </a:ln>
          </c:spPr>
          <c:invertIfNegative val="0"/>
          <c:dLbls>
            <c:dLbl>
              <c:idx val="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China</c:v>
                </c:pt>
                <c:pt idx="1">
                  <c:v>India</c:v>
                </c:pt>
                <c:pt idx="2">
                  <c:v>United States</c:v>
                </c:pt>
                <c:pt idx="3">
                  <c:v>Indonesia</c:v>
                </c:pt>
                <c:pt idx="4">
                  <c:v>Brazil</c:v>
                </c:pt>
                <c:pt idx="5">
                  <c:v>Russia</c:v>
                </c:pt>
                <c:pt idx="6">
                  <c:v>Japan</c:v>
                </c:pt>
                <c:pt idx="7">
                  <c:v>Mexico</c:v>
                </c:pt>
                <c:pt idx="8">
                  <c:v>Philippines</c:v>
                </c:pt>
                <c:pt idx="9">
                  <c:v>Vietnam</c:v>
                </c:pt>
                <c:pt idx="10">
                  <c:v>Turkey</c:v>
                </c:pt>
                <c:pt idx="11">
                  <c:v>United Kingdom</c:v>
                </c:pt>
                <c:pt idx="12">
                  <c:v>Germany</c:v>
                </c:pt>
                <c:pt idx="13">
                  <c:v>Thailand</c:v>
                </c:pt>
              </c:strCache>
            </c:strRef>
          </c:cat>
          <c:val>
            <c:numRef>
              <c:f>Sheet1!$B$2:$B$15</c:f>
              <c:numCache>
                <c:ptCount val="14"/>
                <c:pt idx="0">
                  <c:v>1212.38</c:v>
                </c:pt>
                <c:pt idx="1">
                  <c:v>1177.5</c:v>
                </c:pt>
                <c:pt idx="2">
                  <c:v>327.22</c:v>
                </c:pt>
                <c:pt idx="3">
                  <c:v>261.7</c:v>
                </c:pt>
                <c:pt idx="4">
                  <c:v>188.35</c:v>
                </c:pt>
                <c:pt idx="5">
                  <c:v>126.37</c:v>
                </c:pt>
                <c:pt idx="6">
                  <c:v>113.03</c:v>
                </c:pt>
                <c:pt idx="7">
                  <c:v>122.07</c:v>
                </c:pt>
                <c:pt idx="8">
                  <c:v>92.68</c:v>
                </c:pt>
                <c:pt idx="9">
                  <c:v>81.63</c:v>
                </c:pt>
                <c:pt idx="10">
                  <c:v>76.58</c:v>
                </c:pt>
                <c:pt idx="11">
                  <c:v>65.23</c:v>
                </c:pt>
                <c:pt idx="12">
                  <c:v>73.15</c:v>
                </c:pt>
                <c:pt idx="13">
                  <c:v>59.32</c:v>
                </c:pt>
              </c:numCache>
            </c:numRef>
          </c:val>
        </c:ser>
        <c:ser>
          <c:idx val="1"/>
          <c:order val="1"/>
          <c:tx>
            <c:strRef>
              <c:f>Sheet1!$C$1</c:f>
              <c:strCache>
                <c:ptCount val="1"/>
                <c:pt idx="0">
                  <c:v>2022</c:v>
                </c:pt>
              </c:strCache>
            </c:strRef>
          </c:tx>
          <c:spPr>
            <a:solidFill>
              <a:srgbClr val="2875DD"/>
            </a:solidFill>
            <a:ln>
              <a:solidFill>
                <a:srgbClr val="2875DD"/>
              </a:solidFill>
            </a:ln>
          </c:spPr>
          <c:invertIfNegative val="0"/>
          <c:dLbls>
            <c:dLbl>
              <c:idx val="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China</c:v>
                </c:pt>
                <c:pt idx="1">
                  <c:v>India</c:v>
                </c:pt>
                <c:pt idx="2">
                  <c:v>United States</c:v>
                </c:pt>
                <c:pt idx="3">
                  <c:v>Indonesia</c:v>
                </c:pt>
                <c:pt idx="4">
                  <c:v>Brazil</c:v>
                </c:pt>
                <c:pt idx="5">
                  <c:v>Russia</c:v>
                </c:pt>
                <c:pt idx="6">
                  <c:v>Japan</c:v>
                </c:pt>
                <c:pt idx="7">
                  <c:v>Mexico</c:v>
                </c:pt>
                <c:pt idx="8">
                  <c:v>Philippines</c:v>
                </c:pt>
                <c:pt idx="9">
                  <c:v>Vietnam</c:v>
                </c:pt>
                <c:pt idx="10">
                  <c:v>Turkey</c:v>
                </c:pt>
                <c:pt idx="11">
                  <c:v>United Kingdom</c:v>
                </c:pt>
                <c:pt idx="12">
                  <c:v>Germany</c:v>
                </c:pt>
                <c:pt idx="13">
                  <c:v>Thailand</c:v>
                </c:pt>
              </c:strCache>
            </c:strRef>
          </c:cat>
          <c:val>
            <c:numRef>
              <c:f>Sheet1!$C$2:$C$15</c:f>
              <c:numCache>
                <c:ptCount val="14"/>
                <c:pt idx="0">
                  <c:v>1021.96</c:v>
                </c:pt>
                <c:pt idx="1">
                  <c:v>755.47</c:v>
                </c:pt>
                <c:pt idx="2">
                  <c:v>302.25</c:v>
                </c:pt>
                <c:pt idx="3">
                  <c:v>217.53</c:v>
                </c:pt>
                <c:pt idx="4">
                  <c:v>165.45</c:v>
                </c:pt>
                <c:pt idx="5">
                  <c:v>115.05</c:v>
                </c:pt>
                <c:pt idx="6">
                  <c:v>101.98</c:v>
                </c:pt>
                <c:pt idx="7">
                  <c:v>98.21</c:v>
                </c:pt>
                <c:pt idx="8">
                  <c:v>84.07</c:v>
                </c:pt>
                <c:pt idx="9">
                  <c:v>72.29</c:v>
                </c:pt>
                <c:pt idx="10">
                  <c:v>67.11</c:v>
                </c:pt>
                <c:pt idx="11">
                  <c:v>61.67</c:v>
                </c:pt>
                <c:pt idx="12">
                  <c:v>60.88</c:v>
                </c:pt>
                <c:pt idx="13">
                  <c:v>56.27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Eastern Asia</c:v>
                </c:pt>
                <c:pt idx="1">
                  <c:v>Southern Asia</c:v>
                </c:pt>
                <c:pt idx="2">
                  <c:v>Southeast Asia</c:v>
                </c:pt>
                <c:pt idx="3">
                  <c:v>Northern America</c:v>
                </c:pt>
                <c:pt idx="4">
                  <c:v>South America</c:v>
                </c:pt>
                <c:pt idx="5">
                  <c:v>Central &amp; Western Europe</c:v>
                </c:pt>
                <c:pt idx="6">
                  <c:v>Eastern Europe</c:v>
                </c:pt>
                <c:pt idx="7">
                  <c:v>Southern Europe</c:v>
                </c:pt>
                <c:pt idx="8">
                  <c:v>Western Asia</c:v>
                </c:pt>
                <c:pt idx="9">
                  <c:v>Northern Africa</c:v>
                </c:pt>
                <c:pt idx="10">
                  <c:v>Western Africa</c:v>
                </c:pt>
                <c:pt idx="11">
                  <c:v>Eastern Africa</c:v>
                </c:pt>
                <c:pt idx="12">
                  <c:v>Southern Africa</c:v>
                </c:pt>
                <c:pt idx="13">
                  <c:v>Northern Europe</c:v>
                </c:pt>
                <c:pt idx="14">
                  <c:v>Australia &amp; Oceania</c:v>
                </c:pt>
              </c:strCache>
            </c:strRef>
          </c:cat>
          <c:val>
            <c:numRef>
              <c:f>Sheet1!$B$2:$B$16</c:f>
              <c:numCache>
                <c:ptCount val="15"/>
                <c:pt idx="0">
                  <c:v>0.26</c:v>
                </c:pt>
                <c:pt idx="1">
                  <c:v>0.1844</c:v>
                </c:pt>
                <c:pt idx="2">
                  <c:v>0.1102</c:v>
                </c:pt>
                <c:pt idx="3">
                  <c:v>0.0947</c:v>
                </c:pt>
                <c:pt idx="4">
                  <c:v>0.0668</c:v>
                </c:pt>
                <c:pt idx="5">
                  <c:v>0.057</c:v>
                </c:pt>
                <c:pt idx="6">
                  <c:v>0.04</c:v>
                </c:pt>
                <c:pt idx="7">
                  <c:v>0.0399</c:v>
                </c:pt>
                <c:pt idx="8">
                  <c:v>0.0357</c:v>
                </c:pt>
                <c:pt idx="9">
                  <c:v>0.0336</c:v>
                </c:pt>
                <c:pt idx="10">
                  <c:v>0.0193</c:v>
                </c:pt>
                <c:pt idx="11">
                  <c:v>0.0144</c:v>
                </c:pt>
                <c:pt idx="12">
                  <c:v>0.0099</c:v>
                </c:pt>
                <c:pt idx="13">
                  <c:v>0.0064</c:v>
                </c:pt>
                <c:pt idx="14">
                  <c:v>0.0061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Pt>
            <c:idx val="11"/>
            <c:invertIfNegative val="0"/>
            <c:spPr>
              <a:solidFill>
                <a:srgbClr val="C0C0C0"/>
              </a:solidFill>
            </c:spPr>
          </c:dPt>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Northern Europe</c:v>
                </c:pt>
                <c:pt idx="1">
                  <c:v>Western Europe</c:v>
                </c:pt>
                <c:pt idx="2">
                  <c:v>Southern Europe</c:v>
                </c:pt>
                <c:pt idx="3">
                  <c:v>Northern America</c:v>
                </c:pt>
                <c:pt idx="4">
                  <c:v>Eastern Asia</c:v>
                </c:pt>
                <c:pt idx="5">
                  <c:v>Southern America</c:v>
                </c:pt>
                <c:pt idx="6">
                  <c:v>Eastern Europe</c:v>
                </c:pt>
                <c:pt idx="7">
                  <c:v>Central America</c:v>
                </c:pt>
                <c:pt idx="8">
                  <c:v>Southeastern Asia</c:v>
                </c:pt>
                <c:pt idx="9">
                  <c:v>Western Asia</c:v>
                </c:pt>
                <c:pt idx="10">
                  <c:v>Oceania</c:v>
                </c:pt>
                <c:pt idx="11">
                  <c:v>Global</c:v>
                </c:pt>
                <c:pt idx="12">
                  <c:v>Caribbean</c:v>
                </c:pt>
                <c:pt idx="13">
                  <c:v>Northern Africa</c:v>
                </c:pt>
                <c:pt idx="14">
                  <c:v>Southern Africa</c:v>
                </c:pt>
              </c:strCache>
            </c:strRef>
          </c:cat>
          <c:val>
            <c:numRef>
              <c:f>Sheet1!$B$2:$B$16</c:f>
              <c:numCache>
                <c:ptCount val="15"/>
                <c:pt idx="0">
                  <c:v>0.836</c:v>
                </c:pt>
                <c:pt idx="1">
                  <c:v>0.833</c:v>
                </c:pt>
                <c:pt idx="2">
                  <c:v>0.767</c:v>
                </c:pt>
                <c:pt idx="3">
                  <c:v>0.739</c:v>
                </c:pt>
                <c:pt idx="4">
                  <c:v>0.72</c:v>
                </c:pt>
                <c:pt idx="5">
                  <c:v>0.713</c:v>
                </c:pt>
                <c:pt idx="6">
                  <c:v>0.705</c:v>
                </c:pt>
                <c:pt idx="7">
                  <c:v>0.675</c:v>
                </c:pt>
                <c:pt idx="8">
                  <c:v>0.637</c:v>
                </c:pt>
                <c:pt idx="9">
                  <c:v>0.636</c:v>
                </c:pt>
                <c:pt idx="10">
                  <c:v>0.62</c:v>
                </c:pt>
                <c:pt idx="11">
                  <c:v>0.594</c:v>
                </c:pt>
                <c:pt idx="12">
                  <c:v>0.506</c:v>
                </c:pt>
                <c:pt idx="13">
                  <c:v>0.488</c:v>
                </c:pt>
                <c:pt idx="14">
                  <c:v>0.413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Eastern Asia</c:v>
                </c:pt>
                <c:pt idx="1">
                  <c:v>Southern Asia</c:v>
                </c:pt>
                <c:pt idx="2">
                  <c:v>Southeast Asia</c:v>
                </c:pt>
                <c:pt idx="3">
                  <c:v>Northern America</c:v>
                </c:pt>
                <c:pt idx="4">
                  <c:v>South America</c:v>
                </c:pt>
                <c:pt idx="5">
                  <c:v>Central &amp; Western Europe</c:v>
                </c:pt>
                <c:pt idx="6">
                  <c:v>Eastern Europe</c:v>
                </c:pt>
                <c:pt idx="7">
                  <c:v>Southern Europe</c:v>
                </c:pt>
                <c:pt idx="8">
                  <c:v>Western Asia</c:v>
                </c:pt>
                <c:pt idx="9">
                  <c:v>Northern Africa</c:v>
                </c:pt>
                <c:pt idx="10">
                  <c:v>Western Africa</c:v>
                </c:pt>
                <c:pt idx="11">
                  <c:v>Eastern Africa</c:v>
                </c:pt>
                <c:pt idx="12">
                  <c:v>Southern Africa</c:v>
                </c:pt>
                <c:pt idx="13">
                  <c:v>Northern Europe</c:v>
                </c:pt>
                <c:pt idx="14">
                  <c:v>Australia &amp; Oceania</c:v>
                </c:pt>
              </c:strCache>
            </c:strRef>
          </c:cat>
          <c:val>
            <c:numRef>
              <c:f>Sheet1!$B$2:$B$16</c:f>
              <c:numCache>
                <c:ptCount val="15"/>
                <c:pt idx="0">
                  <c:v>1194.2</c:v>
                </c:pt>
                <c:pt idx="1">
                  <c:v>847.17</c:v>
                </c:pt>
                <c:pt idx="2">
                  <c:v>506.3</c:v>
                </c:pt>
                <c:pt idx="3">
                  <c:v>434.93</c:v>
                </c:pt>
                <c:pt idx="4">
                  <c:v>306.76</c:v>
                </c:pt>
                <c:pt idx="5">
                  <c:v>261.89</c:v>
                </c:pt>
                <c:pt idx="6">
                  <c:v>183.7</c:v>
                </c:pt>
                <c:pt idx="7">
                  <c:v>183.26</c:v>
                </c:pt>
                <c:pt idx="8">
                  <c:v>163.9</c:v>
                </c:pt>
                <c:pt idx="9">
                  <c:v>154.18</c:v>
                </c:pt>
                <c:pt idx="10">
                  <c:v>88.68</c:v>
                </c:pt>
                <c:pt idx="11">
                  <c:v>65.93</c:v>
                </c:pt>
                <c:pt idx="12">
                  <c:v>45.31</c:v>
                </c:pt>
                <c:pt idx="13">
                  <c:v>29.18</c:v>
                </c:pt>
                <c:pt idx="14">
                  <c:v>27.79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UAE</c:v>
                </c:pt>
                <c:pt idx="1">
                  <c:v>South Korea</c:v>
                </c:pt>
                <c:pt idx="2">
                  <c:v>Hong Kong</c:v>
                </c:pt>
                <c:pt idx="3">
                  <c:v>Netherlands</c:v>
                </c:pt>
                <c:pt idx="4">
                  <c:v>Canada</c:v>
                </c:pt>
                <c:pt idx="5">
                  <c:v>Spain</c:v>
                </c:pt>
                <c:pt idx="6">
                  <c:v>Germany</c:v>
                </c:pt>
                <c:pt idx="7">
                  <c:v>Singapore</c:v>
                </c:pt>
                <c:pt idx="8">
                  <c:v>Norway</c:v>
                </c:pt>
                <c:pt idx="9">
                  <c:v>Taiwan</c:v>
                </c:pt>
                <c:pt idx="10">
                  <c:v>UK</c:v>
                </c:pt>
                <c:pt idx="11">
                  <c:v>Chile</c:v>
                </c:pt>
                <c:pt idx="12">
                  <c:v>Denmark</c:v>
                </c:pt>
                <c:pt idx="13">
                  <c:v>Switzerland</c:v>
                </c:pt>
                <c:pt idx="14">
                  <c:v>Sweden</c:v>
                </c:pt>
              </c:strCache>
            </c:strRef>
          </c:cat>
          <c:val>
            <c:numRef>
              <c:f>Sheet1!$B$2:$B$16</c:f>
              <c:numCache>
                <c:ptCount val="15"/>
                <c:pt idx="0">
                  <c:v>1.055</c:v>
                </c:pt>
                <c:pt idx="1">
                  <c:v>0.92</c:v>
                </c:pt>
                <c:pt idx="2">
                  <c:v>0.899</c:v>
                </c:pt>
                <c:pt idx="3">
                  <c:v>0.881</c:v>
                </c:pt>
                <c:pt idx="4">
                  <c:v>0.857</c:v>
                </c:pt>
                <c:pt idx="5">
                  <c:v>0.856</c:v>
                </c:pt>
                <c:pt idx="6">
                  <c:v>0.851</c:v>
                </c:pt>
                <c:pt idx="7">
                  <c:v>0.847</c:v>
                </c:pt>
                <c:pt idx="8">
                  <c:v>0.847</c:v>
                </c:pt>
                <c:pt idx="9">
                  <c:v>0.845</c:v>
                </c:pt>
                <c:pt idx="10">
                  <c:v>0.844</c:v>
                </c:pt>
                <c:pt idx="11">
                  <c:v>0.844</c:v>
                </c:pt>
                <c:pt idx="12">
                  <c:v>0.838</c:v>
                </c:pt>
                <c:pt idx="13">
                  <c:v>0.831</c:v>
                </c:pt>
                <c:pt idx="14">
                  <c:v>0.822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Facebook</c:v>
                </c:pt>
                <c:pt idx="1">
                  <c:v>YouTube</c:v>
                </c:pt>
                <c:pt idx="2">
                  <c:v>WhatsApp*</c:v>
                </c:pt>
                <c:pt idx="3">
                  <c:v>Instagram</c:v>
                </c:pt>
                <c:pt idx="4">
                  <c:v>WeChat</c:v>
                </c:pt>
                <c:pt idx="5">
                  <c:v>TikTok</c:v>
                </c:pt>
                <c:pt idx="6">
                  <c:v>Facebook Messenger</c:v>
                </c:pt>
                <c:pt idx="7">
                  <c:v>Douyin**</c:v>
                </c:pt>
                <c:pt idx="8">
                  <c:v>Telegram</c:v>
                </c:pt>
                <c:pt idx="9">
                  <c:v>Snapchat</c:v>
                </c:pt>
                <c:pt idx="10">
                  <c:v>Kuaishou</c:v>
                </c:pt>
                <c:pt idx="11">
                  <c:v>Sina Weibo</c:v>
                </c:pt>
                <c:pt idx="12">
                  <c:v>QQ</c:v>
                </c:pt>
                <c:pt idx="13">
                  <c:v>Twitter</c:v>
                </c:pt>
                <c:pt idx="14">
                  <c:v>Pinterest</c:v>
                </c:pt>
              </c:strCache>
            </c:strRef>
          </c:cat>
          <c:val>
            <c:numRef>
              <c:f>Sheet1!$B$2:$B$16</c:f>
              <c:numCache>
                <c:ptCount val="15"/>
                <c:pt idx="0">
                  <c:v>2958</c:v>
                </c:pt>
                <c:pt idx="1">
                  <c:v>2514</c:v>
                </c:pt>
                <c:pt idx="2">
                  <c:v>2000</c:v>
                </c:pt>
                <c:pt idx="3">
                  <c:v>2000</c:v>
                </c:pt>
                <c:pt idx="4">
                  <c:v>1309</c:v>
                </c:pt>
                <c:pt idx="5">
                  <c:v>1051</c:v>
                </c:pt>
                <c:pt idx="6">
                  <c:v>931</c:v>
                </c:pt>
                <c:pt idx="7">
                  <c:v>715</c:v>
                </c:pt>
                <c:pt idx="8">
                  <c:v>700</c:v>
                </c:pt>
                <c:pt idx="9">
                  <c:v>635</c:v>
                </c:pt>
                <c:pt idx="10">
                  <c:v>626</c:v>
                </c:pt>
                <c:pt idx="11">
                  <c:v>584</c:v>
                </c:pt>
                <c:pt idx="12">
                  <c:v>574</c:v>
                </c:pt>
                <c:pt idx="13">
                  <c:v>556</c:v>
                </c:pt>
                <c:pt idx="14">
                  <c:v>445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tickLblPos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Instagram</c:v>
                </c:pt>
                <c:pt idx="1">
                  <c:v>WhatsApp</c:v>
                </c:pt>
                <c:pt idx="2">
                  <c:v>Telegram</c:v>
                </c:pt>
                <c:pt idx="3">
                  <c:v>Facebook</c:v>
                </c:pt>
                <c:pt idx="4">
                  <c:v>Messenger</c:v>
                </c:pt>
                <c:pt idx="5">
                  <c:v>Twitter</c:v>
                </c:pt>
                <c:pt idx="6">
                  <c:v>Facebook Lite</c:v>
                </c:pt>
                <c:pt idx="7">
                  <c:v>Discord</c:v>
                </c:pt>
                <c:pt idx="8">
                  <c:v>WeChat</c:v>
                </c:pt>
                <c:pt idx="9">
                  <c:v>BeReal</c:v>
                </c:pt>
              </c:strCache>
            </c:strRef>
          </c:cat>
          <c:val>
            <c:numRef>
              <c:f>Sheet1!$B$2:$B$11</c:f>
              <c:numCache>
                <c:ptCount val="10"/>
                <c:pt idx="0">
                  <c:v>547</c:v>
                </c:pt>
                <c:pt idx="1">
                  <c:v>424</c:v>
                </c:pt>
                <c:pt idx="2">
                  <c:v>310</c:v>
                </c:pt>
                <c:pt idx="3">
                  <c:v>298</c:v>
                </c:pt>
                <c:pt idx="4">
                  <c:v>210</c:v>
                </c:pt>
                <c:pt idx="5">
                  <c:v>159</c:v>
                </c:pt>
                <c:pt idx="6">
                  <c:v>151</c:v>
                </c:pt>
                <c:pt idx="7">
                  <c:v>105</c:v>
                </c:pt>
                <c:pt idx="8">
                  <c:v>96</c:v>
                </c:pt>
                <c:pt idx="9">
                  <c:v>91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Sheet1!$A$2:$A$10</c:f>
              <c:strCache>
                <c:ptCount val="9"/>
                <c:pt idx="0">
                  <c:v>YouTube</c:v>
                </c:pt>
                <c:pt idx="1">
                  <c:v>Facebook</c:v>
                </c:pt>
                <c:pt idx="2">
                  <c:v>WhatsApp</c:v>
                </c:pt>
                <c:pt idx="3">
                  <c:v>Instagram</c:v>
                </c:pt>
                <c:pt idx="4">
                  <c:v>Facebook Messenger</c:v>
                </c:pt>
                <c:pt idx="5">
                  <c:v>Twitter</c:v>
                </c:pt>
                <c:pt idx="6">
                  <c:v>Snapchat</c:v>
                </c:pt>
                <c:pt idx="7">
                  <c:v>TikTok</c:v>
                </c:pt>
                <c:pt idx="8">
                  <c:v>Telegram</c:v>
                </c:pt>
              </c:strCache>
            </c:strRef>
          </c:cat>
          <c:val>
            <c:numRef>
              <c:f>Sheet1!$B$2:$B$10</c:f>
              <c:numCache>
                <c:ptCount val="9"/>
                <c:pt idx="0">
                  <c:v>0.62</c:v>
                </c:pt>
                <c:pt idx="1">
                  <c:v>0.61</c:v>
                </c:pt>
                <c:pt idx="2">
                  <c:v>0.52</c:v>
                </c:pt>
                <c:pt idx="3">
                  <c:v>0.39</c:v>
                </c:pt>
                <c:pt idx="4">
                  <c:v>0.36</c:v>
                </c:pt>
                <c:pt idx="5">
                  <c:v>0.22</c:v>
                </c:pt>
                <c:pt idx="6">
                  <c:v>0.13</c:v>
                </c:pt>
                <c:pt idx="7">
                  <c:v>0.12</c:v>
                </c:pt>
                <c:pt idx="8">
                  <c:v>0.1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BeReal</c:v>
                </c:pt>
                <c:pt idx="1">
                  <c:v>WhatsApp Messenger</c:v>
                </c:pt>
                <c:pt idx="2">
                  <c:v>Telegram Messenger</c:v>
                </c:pt>
                <c:pt idx="3">
                  <c:v>Facebook</c:v>
                </c:pt>
                <c:pt idx="4">
                  <c:v>Messenger</c:v>
                </c:pt>
                <c:pt idx="5">
                  <c:v>WeChat</c:v>
                </c:pt>
                <c:pt idx="6">
                  <c:v>Xiao Hong Shu</c:v>
                </c:pt>
                <c:pt idx="7">
                  <c:v>Discord - Parla e chatta</c:v>
                </c:pt>
                <c:pt idx="8">
                  <c:v>QQ</c:v>
                </c:pt>
                <c:pt idx="9">
                  <c:v>Life360</c:v>
                </c:pt>
              </c:strCache>
            </c:strRef>
          </c:cat>
          <c:val>
            <c:numRef>
              <c:f>Sheet1!$B$2:$B$11</c:f>
              <c:numCache>
                <c:ptCount val="10"/>
                <c:pt idx="0">
                  <c:v>13.89</c:v>
                </c:pt>
                <c:pt idx="1">
                  <c:v>6.96</c:v>
                </c:pt>
                <c:pt idx="2">
                  <c:v>4</c:v>
                </c:pt>
                <c:pt idx="3">
                  <c:v>3.99</c:v>
                </c:pt>
                <c:pt idx="4">
                  <c:v>3.57</c:v>
                </c:pt>
                <c:pt idx="5">
                  <c:v>2.68</c:v>
                </c:pt>
                <c:pt idx="6">
                  <c:v>1.88</c:v>
                </c:pt>
                <c:pt idx="7">
                  <c:v>1.73</c:v>
                </c:pt>
                <c:pt idx="8">
                  <c:v>1.4</c:v>
                </c:pt>
                <c:pt idx="9">
                  <c:v>1.31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LINE</c:v>
                </c:pt>
                <c:pt idx="1">
                  <c:v>BIGO LIVE - Live, Chat &amp; Meet</c:v>
                </c:pt>
                <c:pt idx="2">
                  <c:v>QQ</c:v>
                </c:pt>
                <c:pt idx="3">
                  <c:v>WeChat</c:v>
                </c:pt>
                <c:pt idx="4">
                  <c:v>Pairs</c:v>
                </c:pt>
                <c:pt idx="5">
                  <c:v>Azar - Video Chat</c:v>
                </c:pt>
                <c:pt idx="6">
                  <c:v>Zhihu</c:v>
                </c:pt>
                <c:pt idx="7">
                  <c:v>Grindr - Gay Dating &amp; Chat</c:v>
                </c:pt>
                <c:pt idx="8">
                  <c:v>Tapple</c:v>
                </c:pt>
                <c:pt idx="9">
                  <c:v>17LIVE - Live Streaming</c:v>
                </c:pt>
              </c:strCache>
            </c:strRef>
          </c:cat>
          <c:val>
            <c:numRef>
              <c:f>Sheet1!$B$2:$B$11</c:f>
              <c:numCache>
                <c:ptCount val="10"/>
                <c:pt idx="0">
                  <c:v>4.94</c:v>
                </c:pt>
                <c:pt idx="1">
                  <c:v>4.54</c:v>
                </c:pt>
                <c:pt idx="2">
                  <c:v>4.19</c:v>
                </c:pt>
                <c:pt idx="3">
                  <c:v>4.12</c:v>
                </c:pt>
                <c:pt idx="4">
                  <c:v>4.09</c:v>
                </c:pt>
                <c:pt idx="5">
                  <c:v>3.73</c:v>
                </c:pt>
                <c:pt idx="6">
                  <c:v>3.41</c:v>
                </c:pt>
                <c:pt idx="7">
                  <c:v>3.08</c:v>
                </c:pt>
                <c:pt idx="8">
                  <c:v>2.63</c:v>
                </c:pt>
                <c:pt idx="9">
                  <c:v>2.58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WhatsApp Messenger</c:v>
                </c:pt>
                <c:pt idx="1">
                  <c:v>Snapchat</c:v>
                </c:pt>
                <c:pt idx="2">
                  <c:v>WhatsApp Business</c:v>
                </c:pt>
                <c:pt idx="3">
                  <c:v>Messenger</c:v>
                </c:pt>
                <c:pt idx="4">
                  <c:v>Truecaller: Caller ID &amp; Block</c:v>
                </c:pt>
                <c:pt idx="5">
                  <c:v>Messenger Lite</c:v>
                </c:pt>
                <c:pt idx="6">
                  <c:v>Carrier Services</c:v>
                </c:pt>
                <c:pt idx="7">
                  <c:v>Viber - Safe Chats And Calls</c:v>
                </c:pt>
                <c:pt idx="8">
                  <c:v>Messages</c:v>
                </c:pt>
                <c:pt idx="9">
                  <c:v>Skype</c:v>
                </c:pt>
              </c:strCache>
            </c:strRef>
          </c:cat>
          <c:val>
            <c:numRef>
              <c:f>Sheet1!$B$2:$B$11</c:f>
              <c:numCache>
                <c:ptCount val="10"/>
                <c:pt idx="0">
                  <c:v>20.72</c:v>
                </c:pt>
                <c:pt idx="1">
                  <c:v>15.27</c:v>
                </c:pt>
                <c:pt idx="2">
                  <c:v>12.87</c:v>
                </c:pt>
                <c:pt idx="3">
                  <c:v>10.65</c:v>
                </c:pt>
                <c:pt idx="4">
                  <c:v>8.22</c:v>
                </c:pt>
                <c:pt idx="5">
                  <c:v>5.86</c:v>
                </c:pt>
                <c:pt idx="6">
                  <c:v>5.58</c:v>
                </c:pt>
                <c:pt idx="7">
                  <c:v>5.03</c:v>
                </c:pt>
                <c:pt idx="8">
                  <c:v>4.69</c:v>
                </c:pt>
                <c:pt idx="9">
                  <c:v>4.66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Discord: Talk, Chat &amp; Hang Out</c:v>
                </c:pt>
                <c:pt idx="1">
                  <c:v>Azar - video chat &amp; livestream</c:v>
                </c:pt>
                <c:pt idx="2">
                  <c:v>Mocha TN5250</c:v>
                </c:pt>
                <c:pt idx="3">
                  <c:v>imo-International Calls &amp; Chat</c:v>
                </c:pt>
                <c:pt idx="4">
                  <c:v>LINE: Calls &amp; Messages</c:v>
                </c:pt>
                <c:pt idx="5">
                  <c:v>Kik - Messaging &amp; Chat App</c:v>
                </c:pt>
                <c:pt idx="6">
                  <c:v>Skype</c:v>
                </c:pt>
                <c:pt idx="7">
                  <c:v>Truecaller: Caller ID &amp; Block</c:v>
                </c:pt>
                <c:pt idx="8">
                  <c:v>Snapchat</c:v>
                </c:pt>
                <c:pt idx="9">
                  <c:v>Cafe - Live video chat</c:v>
                </c:pt>
              </c:strCache>
            </c:strRef>
          </c:cat>
          <c:val>
            <c:numRef>
              <c:f>Sheet1!$B$2:$B$11</c:f>
              <c:numCache>
                <c:ptCount val="10"/>
                <c:pt idx="0">
                  <c:v>1722622</c:v>
                </c:pt>
                <c:pt idx="1">
                  <c:v>1503878</c:v>
                </c:pt>
                <c:pt idx="2">
                  <c:v>681791</c:v>
                </c:pt>
                <c:pt idx="3">
                  <c:v>509975</c:v>
                </c:pt>
                <c:pt idx="4">
                  <c:v>509811</c:v>
                </c:pt>
                <c:pt idx="5">
                  <c:v>501016</c:v>
                </c:pt>
                <c:pt idx="6">
                  <c:v>450623</c:v>
                </c:pt>
                <c:pt idx="7">
                  <c:v>385037</c:v>
                </c:pt>
                <c:pt idx="8">
                  <c:v>307527</c:v>
                </c:pt>
                <c:pt idx="9">
                  <c:v>277660</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Keeping in touch with friends and family</c:v>
                </c:pt>
                <c:pt idx="1">
                  <c:v>Filling spare time</c:v>
                </c:pt>
                <c:pt idx="2">
                  <c:v>Reading news stories</c:v>
                </c:pt>
                <c:pt idx="3">
                  <c:v>Finding content (E.g. articles, videos)</c:v>
                </c:pt>
                <c:pt idx="4">
                  <c:v>Seeing what's being talked about</c:v>
                </c:pt>
                <c:pt idx="5">
                  <c:v>Finding inspiration for things to do and buy</c:v>
                </c:pt>
                <c:pt idx="6">
                  <c:v>Finding products to purchase</c:v>
                </c:pt>
                <c:pt idx="7">
                  <c:v>Watching live streams</c:v>
                </c:pt>
                <c:pt idx="8">
                  <c:v>Sharing and discussing opinions with others</c:v>
                </c:pt>
                <c:pt idx="9">
                  <c:v>Making new contacts</c:v>
                </c:pt>
                <c:pt idx="10">
                  <c:v>Seeing content for your favorite brands</c:v>
                </c:pt>
                <c:pt idx="11">
                  <c:v>Work-related networking and research</c:v>
                </c:pt>
                <c:pt idx="12">
                  <c:v>Watching or following sports</c:v>
                </c:pt>
                <c:pt idx="13">
                  <c:v>Finding like-minded communities and interest groups</c:v>
                </c:pt>
                <c:pt idx="14">
                  <c:v>Posting about your life</c:v>
                </c:pt>
              </c:strCache>
            </c:strRef>
          </c:cat>
          <c:val>
            <c:numRef>
              <c:f>Sheet1!$B$2:$B$16</c:f>
              <c:numCache>
                <c:ptCount val="15"/>
                <c:pt idx="0">
                  <c:v>0.471</c:v>
                </c:pt>
                <c:pt idx="1">
                  <c:v>0.362</c:v>
                </c:pt>
                <c:pt idx="2">
                  <c:v>0.342</c:v>
                </c:pt>
                <c:pt idx="3">
                  <c:v>0.303</c:v>
                </c:pt>
                <c:pt idx="4">
                  <c:v>0.288</c:v>
                </c:pt>
                <c:pt idx="5">
                  <c:v>0.273</c:v>
                </c:pt>
                <c:pt idx="6">
                  <c:v>0.259</c:v>
                </c:pt>
                <c:pt idx="7">
                  <c:v>0.237</c:v>
                </c:pt>
                <c:pt idx="8">
                  <c:v>0.234</c:v>
                </c:pt>
                <c:pt idx="9">
                  <c:v>0.23</c:v>
                </c:pt>
                <c:pt idx="10">
                  <c:v>0.227</c:v>
                </c:pt>
                <c:pt idx="11">
                  <c:v>0.22</c:v>
                </c:pt>
                <c:pt idx="12">
                  <c:v>0.218</c:v>
                </c:pt>
                <c:pt idx="13">
                  <c:v>0.214</c:v>
                </c:pt>
                <c:pt idx="14">
                  <c:v>0.213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numRef>
              <c:f>Sheet1!$A$2:$A$12</c:f>
              <c:numCache>
                <c:formatCode>General</c:formatCode>
                <c:ptCount val="11"/>
                <c:pt idx="0">
                  <c:v>2012</c:v>
                </c:pt>
                <c:pt idx="1">
                  <c:v>2013</c:v>
                </c:pt>
                <c:pt idx="2">
                  <c:v>2014</c:v>
                </c:pt>
                <c:pt idx="3">
                  <c:v>2015</c:v>
                </c:pt>
                <c:pt idx="4">
                  <c:v>2016</c:v>
                </c:pt>
                <c:pt idx="5">
                  <c:v>2017</c:v>
                </c:pt>
                <c:pt idx="6">
                  <c:v>2018</c:v>
                </c:pt>
                <c:pt idx="7">
                  <c:v>2019</c:v>
                </c:pt>
                <c:pt idx="8">
                  <c:v>2020</c:v>
                </c:pt>
                <c:pt idx="9">
                  <c:v>2021</c:v>
                </c:pt>
                <c:pt idx="10">
                  <c:v>2022</c:v>
                </c:pt>
              </c:numCache>
            </c:numRef>
          </c:cat>
          <c:val>
            <c:numRef>
              <c:f>Sheet1!$B$2:$B$12</c:f>
              <c:numCache>
                <c:ptCount val="11"/>
                <c:pt idx="0">
                  <c:v>90</c:v>
                </c:pt>
                <c:pt idx="1">
                  <c:v>95</c:v>
                </c:pt>
                <c:pt idx="2">
                  <c:v>104</c:v>
                </c:pt>
                <c:pt idx="3">
                  <c:v>111</c:v>
                </c:pt>
                <c:pt idx="4">
                  <c:v>128</c:v>
                </c:pt>
                <c:pt idx="5">
                  <c:v>134</c:v>
                </c:pt>
                <c:pt idx="6">
                  <c:v>142</c:v>
                </c:pt>
                <c:pt idx="7">
                  <c:v>145</c:v>
                </c:pt>
                <c:pt idx="8">
                  <c:v>145</c:v>
                </c:pt>
                <c:pt idx="9">
                  <c:v>145</c:v>
                </c:pt>
                <c:pt idx="10">
                  <c:v>147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Minutes per day</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Sheet1!$A$2:$A$3</c:f>
              <c:strCache>
                <c:ptCount val="2"/>
                <c:pt idx="0">
                  <c:v>Female</c:v>
                </c:pt>
                <c:pt idx="1">
                  <c:v>Male</c:v>
                </c:pt>
              </c:strCache>
            </c:strRef>
          </c:cat>
          <c:val>
            <c:numRef>
              <c:f>Sheet1!$B$2:$B$3</c:f>
              <c:numCache>
                <c:ptCount val="2"/>
                <c:pt idx="0">
                  <c:v>62.59</c:v>
                </c:pt>
                <c:pt idx="1">
                  <c:v>49.53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Average minutes per day</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Sheet1!$A$2:$A$9</c:f>
              <c:strCache>
                <c:ptCount val="8"/>
                <c:pt idx="0">
                  <c:v>0-19</c:v>
                </c:pt>
                <c:pt idx="1">
                  <c:v>20-24</c:v>
                </c:pt>
                <c:pt idx="2">
                  <c:v>25-29</c:v>
                </c:pt>
                <c:pt idx="3">
                  <c:v>30-34</c:v>
                </c:pt>
                <c:pt idx="4">
                  <c:v>35-39</c:v>
                </c:pt>
                <c:pt idx="5">
                  <c:v>40-44</c:v>
                </c:pt>
                <c:pt idx="6">
                  <c:v>45-49</c:v>
                </c:pt>
                <c:pt idx="7">
                  <c:v>50-99</c:v>
                </c:pt>
              </c:strCache>
            </c:strRef>
          </c:cat>
          <c:val>
            <c:numRef>
              <c:f>Sheet1!$B$2:$B$9</c:f>
              <c:numCache>
                <c:ptCount val="8"/>
                <c:pt idx="0">
                  <c:v>49.12</c:v>
                </c:pt>
                <c:pt idx="1">
                  <c:v>49.8</c:v>
                </c:pt>
                <c:pt idx="2">
                  <c:v>55.58</c:v>
                </c:pt>
                <c:pt idx="3">
                  <c:v>58.35</c:v>
                </c:pt>
                <c:pt idx="4">
                  <c:v>59.28</c:v>
                </c:pt>
                <c:pt idx="5">
                  <c:v>59.85</c:v>
                </c:pt>
                <c:pt idx="6">
                  <c:v>59.23</c:v>
                </c:pt>
                <c:pt idx="7">
                  <c:v>56.43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Average minutes per day</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Sheet1!$A$2:$A$16</c:f>
              <c:strCache>
                <c:ptCount val="15"/>
                <c:pt idx="0">
                  <c:v>Kenya</c:v>
                </c:pt>
                <c:pt idx="1">
                  <c:v>Malaysia</c:v>
                </c:pt>
                <c:pt idx="2">
                  <c:v>Philippines</c:v>
                </c:pt>
                <c:pt idx="3">
                  <c:v>Bulgaria</c:v>
                </c:pt>
                <c:pt idx="4">
                  <c:v>Greece</c:v>
                </c:pt>
                <c:pt idx="5">
                  <c:v>Chile</c:v>
                </c:pt>
                <c:pt idx="6">
                  <c:v>Argentina</c:v>
                </c:pt>
                <c:pt idx="7">
                  <c:v>Mexico</c:v>
                </c:pt>
                <c:pt idx="8">
                  <c:v>South Africa</c:v>
                </c:pt>
                <c:pt idx="9">
                  <c:v>Brazil</c:v>
                </c:pt>
                <c:pt idx="10">
                  <c:v>Hungary</c:v>
                </c:pt>
                <c:pt idx="11">
                  <c:v>Turkey</c:v>
                </c:pt>
                <c:pt idx="12">
                  <c:v>Romania</c:v>
                </c:pt>
                <c:pt idx="13">
                  <c:v>Hong Kong</c:v>
                </c:pt>
                <c:pt idx="14">
                  <c:v>Croatia</c:v>
                </c:pt>
              </c:strCache>
            </c:strRef>
          </c:cat>
          <c:val>
            <c:numRef>
              <c:f>Sheet1!$B$2:$B$16</c:f>
              <c:numCache>
                <c:ptCount val="15"/>
                <c:pt idx="0">
                  <c:v>0.82</c:v>
                </c:pt>
                <c:pt idx="1">
                  <c:v>0.75</c:v>
                </c:pt>
                <c:pt idx="2">
                  <c:v>0.73</c:v>
                </c:pt>
                <c:pt idx="3">
                  <c:v>0.72</c:v>
                </c:pt>
                <c:pt idx="4">
                  <c:v>0.71</c:v>
                </c:pt>
                <c:pt idx="5">
                  <c:v>0.7</c:v>
                </c:pt>
                <c:pt idx="6">
                  <c:v>0.69</c:v>
                </c:pt>
                <c:pt idx="7">
                  <c:v>0.68</c:v>
                </c:pt>
                <c:pt idx="8">
                  <c:v>0.68</c:v>
                </c:pt>
                <c:pt idx="9">
                  <c:v>0.64</c:v>
                </c:pt>
                <c:pt idx="10">
                  <c:v>0.64</c:v>
                </c:pt>
                <c:pt idx="11">
                  <c:v>0.63</c:v>
                </c:pt>
                <c:pt idx="12">
                  <c:v>0.63</c:v>
                </c:pt>
                <c:pt idx="13">
                  <c:v>0.6</c:v>
                </c:pt>
                <c:pt idx="14">
                  <c:v>0.6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data</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Sheet1!$A$2:$A$12</c:f>
              <c:numCache>
                <c:formatCode>General</c:formatCode>
                <c:ptCount val="11"/>
                <c:pt idx="0">
                  <c:v>2017</c:v>
                </c:pt>
                <c:pt idx="1">
                  <c:v>2018</c:v>
                </c:pt>
                <c:pt idx="2">
                  <c:v>2019</c:v>
                </c:pt>
                <c:pt idx="3">
                  <c:v>2020</c:v>
                </c:pt>
                <c:pt idx="4">
                  <c:v>2021</c:v>
                </c:pt>
                <c:pt idx="5">
                  <c:v>2022</c:v>
                </c:pt>
                <c:pt idx="6">
                  <c:v>2023</c:v>
                </c:pt>
                <c:pt idx="7">
                  <c:v>2024</c:v>
                </c:pt>
                <c:pt idx="8">
                  <c:v>2025</c:v>
                </c:pt>
                <c:pt idx="9">
                  <c:v>2026</c:v>
                </c:pt>
                <c:pt idx="10">
                  <c:v>2027</c:v>
                </c:pt>
              </c:numCache>
            </c:numRef>
          </c:cat>
          <c:val>
            <c:numRef>
              <c:f>Sheet1!$B$2:$B$12</c:f>
              <c:numCache>
                <c:ptCount val="11"/>
                <c:pt idx="0">
                  <c:v>1581.57</c:v>
                </c:pt>
                <c:pt idx="1">
                  <c:v>1795.37</c:v>
                </c:pt>
                <c:pt idx="2">
                  <c:v>1994.52</c:v>
                </c:pt>
                <c:pt idx="3">
                  <c:v>2368.92</c:v>
                </c:pt>
                <c:pt idx="4">
                  <c:v>2561.64</c:v>
                </c:pt>
                <c:pt idx="5">
                  <c:v>2605.87</c:v>
                </c:pt>
                <c:pt idx="6">
                  <c:v>2722.05</c:v>
                </c:pt>
                <c:pt idx="7">
                  <c:v>2829.72</c:v>
                </c:pt>
                <c:pt idx="8">
                  <c:v>2930.28</c:v>
                </c:pt>
                <c:pt idx="9">
                  <c:v>3024.56</c:v>
                </c:pt>
                <c:pt idx="10">
                  <c:v>3113.01</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100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India</c:v>
                </c:pt>
                <c:pt idx="1">
                  <c:v>United States</c:v>
                </c:pt>
                <c:pt idx="2">
                  <c:v>Indonesia</c:v>
                </c:pt>
                <c:pt idx="3">
                  <c:v>Brazil</c:v>
                </c:pt>
                <c:pt idx="4">
                  <c:v>Mexico</c:v>
                </c:pt>
                <c:pt idx="5">
                  <c:v>Philippines</c:v>
                </c:pt>
                <c:pt idx="6">
                  <c:v>Vietnam</c:v>
                </c:pt>
                <c:pt idx="7">
                  <c:v>Thailand</c:v>
                </c:pt>
                <c:pt idx="8">
                  <c:v>Bangladesh</c:v>
                </c:pt>
                <c:pt idx="9">
                  <c:v>Egypt</c:v>
                </c:pt>
                <c:pt idx="10">
                  <c:v>Pakistan</c:v>
                </c:pt>
                <c:pt idx="11">
                  <c:v>United Kingdom</c:v>
                </c:pt>
                <c:pt idx="12">
                  <c:v>Colombia</c:v>
                </c:pt>
                <c:pt idx="13">
                  <c:v>Turkey</c:v>
                </c:pt>
                <c:pt idx="14">
                  <c:v>France</c:v>
                </c:pt>
              </c:strCache>
            </c:strRef>
          </c:cat>
          <c:val>
            <c:numRef>
              <c:f>Sheet1!$B$2:$B$16</c:f>
              <c:numCache>
                <c:ptCount val="15"/>
                <c:pt idx="0">
                  <c:v>314.6</c:v>
                </c:pt>
                <c:pt idx="1">
                  <c:v>175</c:v>
                </c:pt>
                <c:pt idx="2">
                  <c:v>119.9</c:v>
                </c:pt>
                <c:pt idx="3">
                  <c:v>109.05</c:v>
                </c:pt>
                <c:pt idx="4">
                  <c:v>83.75</c:v>
                </c:pt>
                <c:pt idx="5">
                  <c:v>80.3</c:v>
                </c:pt>
                <c:pt idx="6">
                  <c:v>66.2</c:v>
                </c:pt>
                <c:pt idx="7">
                  <c:v>48.1</c:v>
                </c:pt>
                <c:pt idx="8">
                  <c:v>43.25</c:v>
                </c:pt>
                <c:pt idx="9">
                  <c:v>42</c:v>
                </c:pt>
                <c:pt idx="10">
                  <c:v>37.3</c:v>
                </c:pt>
                <c:pt idx="11">
                  <c:v>34.4</c:v>
                </c:pt>
                <c:pt idx="12">
                  <c:v>33.5</c:v>
                </c:pt>
                <c:pt idx="13">
                  <c:v>32.8</c:v>
                </c:pt>
                <c:pt idx="14">
                  <c:v>30.4</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Libya*</c:v>
                </c:pt>
                <c:pt idx="1">
                  <c:v>Mongolia*</c:v>
                </c:pt>
                <c:pt idx="2">
                  <c:v>Philippines*</c:v>
                </c:pt>
                <c:pt idx="3">
                  <c:v>U.A.E.</c:v>
                </c:pt>
                <c:pt idx="4">
                  <c:v>Peru*</c:v>
                </c:pt>
                <c:pt idx="5">
                  <c:v>Georgia</c:v>
                </c:pt>
                <c:pt idx="6">
                  <c:v>Ecuador*</c:v>
                </c:pt>
                <c:pt idx="7">
                  <c:v>Qatar</c:v>
                </c:pt>
                <c:pt idx="8">
                  <c:v>Vietnam</c:v>
                </c:pt>
                <c:pt idx="9">
                  <c:v>Mexico</c:v>
                </c:pt>
                <c:pt idx="10">
                  <c:v>Cambodia</c:v>
                </c:pt>
                <c:pt idx="11">
                  <c:v>Aruba</c:v>
                </c:pt>
                <c:pt idx="12">
                  <c:v>Tonga*</c:v>
                </c:pt>
                <c:pt idx="13">
                  <c:v>Greenland</c:v>
                </c:pt>
                <c:pt idx="14">
                  <c:v>Faroe Islands</c:v>
                </c:pt>
              </c:strCache>
            </c:strRef>
          </c:cat>
          <c:val>
            <c:numRef>
              <c:f>Sheet1!$B$2:$B$16</c:f>
              <c:numCache>
                <c:ptCount val="15"/>
                <c:pt idx="0">
                  <c:v>0.961</c:v>
                </c:pt>
                <c:pt idx="1">
                  <c:v>0.941</c:v>
                </c:pt>
                <c:pt idx="2">
                  <c:v>0.935</c:v>
                </c:pt>
                <c:pt idx="3">
                  <c:v>0.889</c:v>
                </c:pt>
                <c:pt idx="4">
                  <c:v>0.86</c:v>
                </c:pt>
                <c:pt idx="5">
                  <c:v>0.855</c:v>
                </c:pt>
                <c:pt idx="6">
                  <c:v>0.85</c:v>
                </c:pt>
                <c:pt idx="7">
                  <c:v>0.836</c:v>
                </c:pt>
                <c:pt idx="8">
                  <c:v>0.834</c:v>
                </c:pt>
                <c:pt idx="9">
                  <c:v>0.827</c:v>
                </c:pt>
                <c:pt idx="10">
                  <c:v>0.826</c:v>
                </c:pt>
                <c:pt idx="11">
                  <c:v>0.826</c:v>
                </c:pt>
                <c:pt idx="12">
                  <c:v>0.819</c:v>
                </c:pt>
                <c:pt idx="13">
                  <c:v>0.819</c:v>
                </c:pt>
                <c:pt idx="14">
                  <c:v>0.801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Any kind of mobile phone</c:v>
                </c:pt>
                <c:pt idx="1">
                  <c:v>Laptop or desktop computer</c:v>
                </c:pt>
                <c:pt idx="2">
                  <c:v>Both phones and computers</c:v>
                </c:pt>
                <c:pt idx="3">
                  <c:v>Only via a mobile phone</c:v>
                </c:pt>
              </c:strCache>
            </c:strRef>
          </c:cat>
          <c:val>
            <c:numRef>
              <c:f>Sheet1!$B$2:$B$5</c:f>
              <c:numCache>
                <c:ptCount val="4"/>
                <c:pt idx="0">
                  <c:v>0.985</c:v>
                </c:pt>
                <c:pt idx="1">
                  <c:v>0.015</c:v>
                </c:pt>
                <c:pt idx="2">
                  <c:v>0.167</c:v>
                </c:pt>
                <c:pt idx="3">
                  <c:v>0.818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users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Sheet1!$A$2:$A$58</c:f>
              <c:strCache>
                <c:ptCount val="57"/>
                <c:pt idx="0">
                  <c:v>Q3 '08</c:v>
                </c:pt>
                <c:pt idx="1">
                  <c:v>Q1 '09</c:v>
                </c:pt>
                <c:pt idx="2">
                  <c:v>Q2 '09</c:v>
                </c:pt>
                <c:pt idx="3">
                  <c:v>Q3 '09</c:v>
                </c:pt>
                <c:pt idx="4">
                  <c:v>Q4 '09</c:v>
                </c:pt>
                <c:pt idx="5">
                  <c:v>Q1 '10</c:v>
                </c:pt>
                <c:pt idx="6">
                  <c:v>Q2 '10</c:v>
                </c:pt>
                <c:pt idx="7">
                  <c:v>Q3 '10</c:v>
                </c:pt>
                <c:pt idx="8">
                  <c:v>Q4 '10</c:v>
                </c:pt>
                <c:pt idx="9">
                  <c:v>Q1 '11</c:v>
                </c:pt>
                <c:pt idx="10">
                  <c:v>Q2 '11</c:v>
                </c:pt>
                <c:pt idx="11">
                  <c:v>Q3 '11</c:v>
                </c:pt>
                <c:pt idx="12">
                  <c:v>Q4 '11</c:v>
                </c:pt>
                <c:pt idx="13">
                  <c:v>Q1 '12</c:v>
                </c:pt>
                <c:pt idx="14">
                  <c:v>Q2 '12</c:v>
                </c:pt>
                <c:pt idx="15">
                  <c:v>Q3 '12</c:v>
                </c:pt>
                <c:pt idx="16">
                  <c:v>Q4 '12</c:v>
                </c:pt>
                <c:pt idx="17">
                  <c:v>Q1 '13</c:v>
                </c:pt>
                <c:pt idx="18">
                  <c:v>Q2 '13</c:v>
                </c:pt>
                <c:pt idx="19">
                  <c:v>Q3 '13</c:v>
                </c:pt>
                <c:pt idx="20">
                  <c:v>Q4 '13</c:v>
                </c:pt>
                <c:pt idx="21">
                  <c:v>Q1 '14</c:v>
                </c:pt>
                <c:pt idx="22">
                  <c:v>Q2 '14</c:v>
                </c:pt>
                <c:pt idx="23">
                  <c:v>Q3 '14</c:v>
                </c:pt>
                <c:pt idx="24">
                  <c:v>Q4 '14</c:v>
                </c:pt>
                <c:pt idx="25">
                  <c:v>Q1 '15</c:v>
                </c:pt>
                <c:pt idx="26">
                  <c:v>Q2 '15</c:v>
                </c:pt>
                <c:pt idx="27">
                  <c:v>Q3 '15</c:v>
                </c:pt>
                <c:pt idx="28">
                  <c:v>Q4 '15</c:v>
                </c:pt>
                <c:pt idx="29">
                  <c:v>Q1 '16</c:v>
                </c:pt>
                <c:pt idx="30">
                  <c:v>Q2 '16</c:v>
                </c:pt>
                <c:pt idx="31">
                  <c:v>Q3 '16</c:v>
                </c:pt>
                <c:pt idx="32">
                  <c:v>Q4 '16</c:v>
                </c:pt>
                <c:pt idx="33">
                  <c:v>Q1 '17</c:v>
                </c:pt>
                <c:pt idx="34">
                  <c:v>Q2 '17</c:v>
                </c:pt>
                <c:pt idx="35">
                  <c:v>Q3 '17</c:v>
                </c:pt>
                <c:pt idx="36">
                  <c:v>Q4 '17</c:v>
                </c:pt>
                <c:pt idx="37">
                  <c:v>Q1 '18</c:v>
                </c:pt>
                <c:pt idx="38">
                  <c:v>Q2 '18</c:v>
                </c:pt>
                <c:pt idx="39">
                  <c:v>Q3 '18</c:v>
                </c:pt>
                <c:pt idx="40">
                  <c:v>Q4 '18</c:v>
                </c:pt>
                <c:pt idx="41">
                  <c:v>Q1 '19</c:v>
                </c:pt>
                <c:pt idx="42">
                  <c:v>Q2 '19</c:v>
                </c:pt>
                <c:pt idx="43">
                  <c:v>Q3 '19</c:v>
                </c:pt>
                <c:pt idx="44">
                  <c:v>Q4 '19</c:v>
                </c:pt>
                <c:pt idx="45">
                  <c:v>Q1 '20</c:v>
                </c:pt>
                <c:pt idx="46">
                  <c:v>Q2 '20</c:v>
                </c:pt>
                <c:pt idx="47">
                  <c:v>Q3 '20</c:v>
                </c:pt>
                <c:pt idx="48">
                  <c:v>Q4 '20</c:v>
                </c:pt>
                <c:pt idx="49">
                  <c:v>Q1 '21</c:v>
                </c:pt>
                <c:pt idx="50">
                  <c:v>Q2 '21</c:v>
                </c:pt>
                <c:pt idx="51">
                  <c:v>Q3 '21</c:v>
                </c:pt>
                <c:pt idx="52">
                  <c:v>Q4 '21</c:v>
                </c:pt>
                <c:pt idx="53">
                  <c:v>Q1 '22</c:v>
                </c:pt>
                <c:pt idx="54">
                  <c:v>Q2 '22</c:v>
                </c:pt>
                <c:pt idx="55">
                  <c:v>Q3 '22</c:v>
                </c:pt>
                <c:pt idx="56">
                  <c:v>Q4 '22</c:v>
                </c:pt>
              </c:strCache>
            </c:strRef>
          </c:cat>
          <c:val>
            <c:numRef>
              <c:f>Sheet1!$B$2:$B$58</c:f>
              <c:numCache>
                <c:ptCount val="57"/>
                <c:pt idx="0">
                  <c:v>100</c:v>
                </c:pt>
                <c:pt idx="1">
                  <c:v>197</c:v>
                </c:pt>
                <c:pt idx="2">
                  <c:v>242</c:v>
                </c:pt>
                <c:pt idx="3">
                  <c:v>305</c:v>
                </c:pt>
                <c:pt idx="4">
                  <c:v>360</c:v>
                </c:pt>
                <c:pt idx="5">
                  <c:v>431</c:v>
                </c:pt>
                <c:pt idx="6">
                  <c:v>482</c:v>
                </c:pt>
                <c:pt idx="7">
                  <c:v>550</c:v>
                </c:pt>
                <c:pt idx="8">
                  <c:v>608</c:v>
                </c:pt>
                <c:pt idx="9">
                  <c:v>680</c:v>
                </c:pt>
                <c:pt idx="10">
                  <c:v>739</c:v>
                </c:pt>
                <c:pt idx="11">
                  <c:v>800</c:v>
                </c:pt>
                <c:pt idx="12">
                  <c:v>845</c:v>
                </c:pt>
                <c:pt idx="13">
                  <c:v>901</c:v>
                </c:pt>
                <c:pt idx="14">
                  <c:v>955</c:v>
                </c:pt>
                <c:pt idx="15">
                  <c:v>1007</c:v>
                </c:pt>
                <c:pt idx="16">
                  <c:v>1056</c:v>
                </c:pt>
                <c:pt idx="17">
                  <c:v>1110</c:v>
                </c:pt>
                <c:pt idx="18">
                  <c:v>1155</c:v>
                </c:pt>
                <c:pt idx="19">
                  <c:v>1189</c:v>
                </c:pt>
                <c:pt idx="20">
                  <c:v>1228</c:v>
                </c:pt>
                <c:pt idx="21">
                  <c:v>1276</c:v>
                </c:pt>
                <c:pt idx="22">
                  <c:v>1317</c:v>
                </c:pt>
                <c:pt idx="23">
                  <c:v>1350</c:v>
                </c:pt>
                <c:pt idx="24">
                  <c:v>1393</c:v>
                </c:pt>
                <c:pt idx="25">
                  <c:v>1441</c:v>
                </c:pt>
                <c:pt idx="26">
                  <c:v>1490</c:v>
                </c:pt>
                <c:pt idx="27">
                  <c:v>1545</c:v>
                </c:pt>
                <c:pt idx="28">
                  <c:v>1591</c:v>
                </c:pt>
                <c:pt idx="29">
                  <c:v>1654</c:v>
                </c:pt>
                <c:pt idx="30">
                  <c:v>1712</c:v>
                </c:pt>
                <c:pt idx="31">
                  <c:v>1788</c:v>
                </c:pt>
                <c:pt idx="32">
                  <c:v>1860</c:v>
                </c:pt>
                <c:pt idx="33">
                  <c:v>1936</c:v>
                </c:pt>
                <c:pt idx="34">
                  <c:v>2006</c:v>
                </c:pt>
                <c:pt idx="35">
                  <c:v>2072</c:v>
                </c:pt>
                <c:pt idx="36">
                  <c:v>2129</c:v>
                </c:pt>
                <c:pt idx="37">
                  <c:v>2196</c:v>
                </c:pt>
                <c:pt idx="38">
                  <c:v>2234</c:v>
                </c:pt>
                <c:pt idx="39">
                  <c:v>2271</c:v>
                </c:pt>
                <c:pt idx="40">
                  <c:v>2320</c:v>
                </c:pt>
                <c:pt idx="41">
                  <c:v>2375</c:v>
                </c:pt>
                <c:pt idx="42">
                  <c:v>2414</c:v>
                </c:pt>
                <c:pt idx="43">
                  <c:v>2449</c:v>
                </c:pt>
                <c:pt idx="44">
                  <c:v>2498</c:v>
                </c:pt>
                <c:pt idx="45">
                  <c:v>2603</c:v>
                </c:pt>
                <c:pt idx="46">
                  <c:v>2701</c:v>
                </c:pt>
                <c:pt idx="47">
                  <c:v>2740</c:v>
                </c:pt>
                <c:pt idx="48">
                  <c:v>2797</c:v>
                </c:pt>
                <c:pt idx="49">
                  <c:v>2853</c:v>
                </c:pt>
                <c:pt idx="50">
                  <c:v>2895</c:v>
                </c:pt>
                <c:pt idx="51">
                  <c:v>2910</c:v>
                </c:pt>
                <c:pt idx="52">
                  <c:v>2912</c:v>
                </c:pt>
                <c:pt idx="53">
                  <c:v>2936</c:v>
                </c:pt>
                <c:pt idx="54">
                  <c:v>2934</c:v>
                </c:pt>
                <c:pt idx="55">
                  <c:v>2958</c:v>
                </c:pt>
                <c:pt idx="56">
                  <c:v>2963</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Sheet1!$A$2:$A$49</c:f>
              <c:strCache>
                <c:ptCount val="48"/>
                <c:pt idx="0">
                  <c:v>Q1 '11</c:v>
                </c:pt>
                <c:pt idx="1">
                  <c:v>Q2 '11</c:v>
                </c:pt>
                <c:pt idx="2">
                  <c:v>Q3 '11</c:v>
                </c:pt>
                <c:pt idx="3">
                  <c:v>Q4 '11</c:v>
                </c:pt>
                <c:pt idx="4">
                  <c:v>Q1 '12</c:v>
                </c:pt>
                <c:pt idx="5">
                  <c:v>Q2 '12</c:v>
                </c:pt>
                <c:pt idx="6">
                  <c:v>Q3 '12</c:v>
                </c:pt>
                <c:pt idx="7">
                  <c:v>Q4 '12</c:v>
                </c:pt>
                <c:pt idx="8">
                  <c:v>Q1 '13</c:v>
                </c:pt>
                <c:pt idx="9">
                  <c:v>Q2 '13</c:v>
                </c:pt>
                <c:pt idx="10">
                  <c:v>Q3 '13</c:v>
                </c:pt>
                <c:pt idx="11">
                  <c:v>Q4 '13</c:v>
                </c:pt>
                <c:pt idx="12">
                  <c:v>Q1 '14</c:v>
                </c:pt>
                <c:pt idx="13">
                  <c:v>Q2 '14</c:v>
                </c:pt>
                <c:pt idx="14">
                  <c:v>Q3 '14</c:v>
                </c:pt>
                <c:pt idx="15">
                  <c:v>Q4 '14</c:v>
                </c:pt>
                <c:pt idx="16">
                  <c:v>Q1 '15</c:v>
                </c:pt>
                <c:pt idx="17">
                  <c:v>Q2 '15</c:v>
                </c:pt>
                <c:pt idx="18">
                  <c:v>Q3 '15</c:v>
                </c:pt>
                <c:pt idx="19">
                  <c:v>Q4 '15</c:v>
                </c:pt>
                <c:pt idx="20">
                  <c:v>Q1 '16</c:v>
                </c:pt>
                <c:pt idx="21">
                  <c:v>Q2 '16</c:v>
                </c:pt>
                <c:pt idx="22">
                  <c:v>Q3 '16</c:v>
                </c:pt>
                <c:pt idx="23">
                  <c:v>Q4 '16</c:v>
                </c:pt>
                <c:pt idx="24">
                  <c:v>Q1 '17</c:v>
                </c:pt>
                <c:pt idx="25">
                  <c:v>Q2 '17</c:v>
                </c:pt>
                <c:pt idx="26">
                  <c:v>Q3 '17</c:v>
                </c:pt>
                <c:pt idx="27">
                  <c:v>Q4 '17</c:v>
                </c:pt>
                <c:pt idx="28">
                  <c:v>Q1 '18</c:v>
                </c:pt>
                <c:pt idx="29">
                  <c:v>Q2 '18</c:v>
                </c:pt>
                <c:pt idx="30">
                  <c:v>Q3 '18</c:v>
                </c:pt>
                <c:pt idx="31">
                  <c:v>Q4 '18</c:v>
                </c:pt>
                <c:pt idx="32">
                  <c:v>Q1 '19</c:v>
                </c:pt>
                <c:pt idx="33">
                  <c:v>Q2 '19</c:v>
                </c:pt>
                <c:pt idx="34">
                  <c:v>Q3 '19</c:v>
                </c:pt>
                <c:pt idx="35">
                  <c:v>Q4 '19</c:v>
                </c:pt>
                <c:pt idx="36">
                  <c:v>Q1 '20</c:v>
                </c:pt>
                <c:pt idx="37">
                  <c:v>Q2 '20</c:v>
                </c:pt>
                <c:pt idx="38">
                  <c:v>Q3 '20</c:v>
                </c:pt>
                <c:pt idx="39">
                  <c:v>Q4 '20</c:v>
                </c:pt>
                <c:pt idx="40">
                  <c:v>Q1 '21</c:v>
                </c:pt>
                <c:pt idx="41">
                  <c:v>Q2 '21</c:v>
                </c:pt>
                <c:pt idx="42">
                  <c:v>Q3 '21</c:v>
                </c:pt>
                <c:pt idx="43">
                  <c:v>Q4 '21</c:v>
                </c:pt>
                <c:pt idx="44">
                  <c:v>Q1 '22</c:v>
                </c:pt>
                <c:pt idx="45">
                  <c:v>Q2 '22</c:v>
                </c:pt>
                <c:pt idx="46">
                  <c:v>Q3 '22</c:v>
                </c:pt>
                <c:pt idx="47">
                  <c:v>Q4 '22</c:v>
                </c:pt>
              </c:strCache>
            </c:strRef>
          </c:cat>
          <c:val>
            <c:numRef>
              <c:f>Sheet1!$B$2:$B$49</c:f>
              <c:numCache>
                <c:ptCount val="48"/>
                <c:pt idx="0">
                  <c:v>372</c:v>
                </c:pt>
                <c:pt idx="1">
                  <c:v>417</c:v>
                </c:pt>
                <c:pt idx="2">
                  <c:v>457</c:v>
                </c:pt>
                <c:pt idx="3">
                  <c:v>483</c:v>
                </c:pt>
                <c:pt idx="4">
                  <c:v>526</c:v>
                </c:pt>
                <c:pt idx="5">
                  <c:v>552</c:v>
                </c:pt>
                <c:pt idx="6">
                  <c:v>584</c:v>
                </c:pt>
                <c:pt idx="7">
                  <c:v>618</c:v>
                </c:pt>
                <c:pt idx="8">
                  <c:v>665</c:v>
                </c:pt>
                <c:pt idx="9">
                  <c:v>699</c:v>
                </c:pt>
                <c:pt idx="10">
                  <c:v>728</c:v>
                </c:pt>
                <c:pt idx="11">
                  <c:v>757</c:v>
                </c:pt>
                <c:pt idx="12">
                  <c:v>802</c:v>
                </c:pt>
                <c:pt idx="13">
                  <c:v>829</c:v>
                </c:pt>
                <c:pt idx="14">
                  <c:v>864</c:v>
                </c:pt>
                <c:pt idx="15">
                  <c:v>890</c:v>
                </c:pt>
                <c:pt idx="16">
                  <c:v>936</c:v>
                </c:pt>
                <c:pt idx="17">
                  <c:v>968</c:v>
                </c:pt>
                <c:pt idx="18">
                  <c:v>1007</c:v>
                </c:pt>
                <c:pt idx="19">
                  <c:v>1038</c:v>
                </c:pt>
                <c:pt idx="20">
                  <c:v>1090</c:v>
                </c:pt>
                <c:pt idx="21">
                  <c:v>1128</c:v>
                </c:pt>
                <c:pt idx="22">
                  <c:v>1179</c:v>
                </c:pt>
                <c:pt idx="23">
                  <c:v>1227</c:v>
                </c:pt>
                <c:pt idx="24">
                  <c:v>1284</c:v>
                </c:pt>
                <c:pt idx="25">
                  <c:v>1325</c:v>
                </c:pt>
                <c:pt idx="26">
                  <c:v>1368</c:v>
                </c:pt>
                <c:pt idx="27">
                  <c:v>1401</c:v>
                </c:pt>
                <c:pt idx="28">
                  <c:v>1449</c:v>
                </c:pt>
                <c:pt idx="29">
                  <c:v>1471</c:v>
                </c:pt>
                <c:pt idx="30">
                  <c:v>1495</c:v>
                </c:pt>
                <c:pt idx="31">
                  <c:v>1523</c:v>
                </c:pt>
                <c:pt idx="32">
                  <c:v>1562</c:v>
                </c:pt>
                <c:pt idx="33">
                  <c:v>1587</c:v>
                </c:pt>
                <c:pt idx="34">
                  <c:v>1623</c:v>
                </c:pt>
                <c:pt idx="35">
                  <c:v>1657</c:v>
                </c:pt>
                <c:pt idx="36">
                  <c:v>1734</c:v>
                </c:pt>
                <c:pt idx="37">
                  <c:v>1785</c:v>
                </c:pt>
                <c:pt idx="38">
                  <c:v>1820</c:v>
                </c:pt>
                <c:pt idx="39">
                  <c:v>1845</c:v>
                </c:pt>
                <c:pt idx="40">
                  <c:v>1878</c:v>
                </c:pt>
                <c:pt idx="41">
                  <c:v>1908</c:v>
                </c:pt>
                <c:pt idx="42">
                  <c:v>1930</c:v>
                </c:pt>
                <c:pt idx="43">
                  <c:v>1929</c:v>
                </c:pt>
                <c:pt idx="44">
                  <c:v>1960</c:v>
                </c:pt>
                <c:pt idx="45">
                  <c:v>1968</c:v>
                </c:pt>
                <c:pt idx="46">
                  <c:v>1984</c:v>
                </c:pt>
                <c:pt idx="47">
                  <c:v>2000</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Facebook</c:v>
                </c:pt>
                <c:pt idx="1">
                  <c:v>Samsung</c:v>
                </c:pt>
                <c:pt idx="2">
                  <c:v>Cristiano Ronaldo</c:v>
                </c:pt>
                <c:pt idx="3">
                  <c:v>Real Madrid CF</c:v>
                </c:pt>
                <c:pt idx="4">
                  <c:v>Coca-Cola</c:v>
                </c:pt>
                <c:pt idx="5">
                  <c:v>FC Barcelona</c:v>
                </c:pt>
                <c:pt idx="6">
                  <c:v>Shakira</c:v>
                </c:pt>
                <c:pt idx="7">
                  <c:v>Tasty</c:v>
                </c:pt>
                <c:pt idx="8">
                  <c:v>Vin Diesel</c:v>
                </c:pt>
                <c:pt idx="9">
                  <c:v>Leo Messi</c:v>
                </c:pt>
                <c:pt idx="10">
                  <c:v>China Daily</c:v>
                </c:pt>
                <c:pt idx="11">
                  <c:v>Eminem</c:v>
                </c:pt>
                <c:pt idx="12">
                  <c:v>Mr. Bean</c:v>
                </c:pt>
                <c:pt idx="13">
                  <c:v>YouTube</c:v>
                </c:pt>
                <c:pt idx="14">
                  <c:v>McDonald's</c:v>
                </c:pt>
              </c:strCache>
            </c:strRef>
          </c:cat>
          <c:val>
            <c:numRef>
              <c:f>Sheet1!$B$2:$B$16</c:f>
              <c:numCache>
                <c:ptCount val="15"/>
                <c:pt idx="0">
                  <c:v>214.62</c:v>
                </c:pt>
                <c:pt idx="1">
                  <c:v>159.82</c:v>
                </c:pt>
                <c:pt idx="2">
                  <c:v>122.28</c:v>
                </c:pt>
                <c:pt idx="3">
                  <c:v>111.33</c:v>
                </c:pt>
                <c:pt idx="4">
                  <c:v>106.96</c:v>
                </c:pt>
                <c:pt idx="5">
                  <c:v>103.35</c:v>
                </c:pt>
                <c:pt idx="6">
                  <c:v>100.03</c:v>
                </c:pt>
                <c:pt idx="7">
                  <c:v>97.91</c:v>
                </c:pt>
                <c:pt idx="8">
                  <c:v>96.71</c:v>
                </c:pt>
                <c:pt idx="9">
                  <c:v>90.16</c:v>
                </c:pt>
                <c:pt idx="10">
                  <c:v>87.69</c:v>
                </c:pt>
                <c:pt idx="11">
                  <c:v>86.52</c:v>
                </c:pt>
                <c:pt idx="12">
                  <c:v>84.81</c:v>
                </c:pt>
                <c:pt idx="13">
                  <c:v>84.35</c:v>
                </c:pt>
                <c:pt idx="14">
                  <c:v>79.85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dailymail.co.uk</c:v>
                </c:pt>
                <c:pt idx="1">
                  <c:v>mirror.co.uk</c:v>
                </c:pt>
                <c:pt idx="2">
                  <c:v>people.com</c:v>
                </c:pt>
                <c:pt idx="3">
                  <c:v>bbc.co.uk</c:v>
                </c:pt>
                <c:pt idx="4">
                  <c:v>foxnews.com</c:v>
                </c:pt>
                <c:pt idx="5">
                  <c:v>metro.co.uk</c:v>
                </c:pt>
                <c:pt idx="6">
                  <c:v>manchestereveningnews.co.uk</c:v>
                </c:pt>
                <c:pt idx="7">
                  <c:v>cnn.com</c:v>
                </c:pt>
                <c:pt idx="8">
                  <c:v>football.london</c:v>
                </c:pt>
                <c:pt idx="9">
                  <c:v>today.com</c:v>
                </c:pt>
              </c:strCache>
            </c:strRef>
          </c:cat>
          <c:val>
            <c:numRef>
              <c:f>Sheet1!$B$2:$B$11</c:f>
              <c:numCache>
                <c:ptCount val="10"/>
                <c:pt idx="0">
                  <c:v>19.16</c:v>
                </c:pt>
                <c:pt idx="1">
                  <c:v>14.78</c:v>
                </c:pt>
                <c:pt idx="2">
                  <c:v>7.14</c:v>
                </c:pt>
                <c:pt idx="3">
                  <c:v>6.98</c:v>
                </c:pt>
                <c:pt idx="4">
                  <c:v>6.15</c:v>
                </c:pt>
                <c:pt idx="5">
                  <c:v>6.07</c:v>
                </c:pt>
                <c:pt idx="6">
                  <c:v>5.75</c:v>
                </c:pt>
                <c:pt idx="7">
                  <c:v>5.24</c:v>
                </c:pt>
                <c:pt idx="8">
                  <c:v>4.83</c:v>
                </c:pt>
                <c:pt idx="9">
                  <c:v>4.23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Pt>
            <c:idx val="13"/>
            <c:invertIfNegative val="0"/>
            <c:spPr>
              <a:solidFill>
                <a:srgbClr val="A5A5A5"/>
              </a:solidFill>
            </c:spPr>
          </c:dPt>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Alcohol</c:v>
                </c:pt>
                <c:pt idx="1">
                  <c:v>Fashion</c:v>
                </c:pt>
                <c:pt idx="2">
                  <c:v>Financial services</c:v>
                </c:pt>
                <c:pt idx="3">
                  <c:v>Food and beverage</c:v>
                </c:pt>
                <c:pt idx="4">
                  <c:v>Health and beauty</c:v>
                </c:pt>
                <c:pt idx="5">
                  <c:v>Higher education</c:v>
                </c:pt>
                <c:pt idx="6">
                  <c:v>Home decor</c:v>
                </c:pt>
                <c:pt idx="7">
                  <c:v>Influencers</c:v>
                </c:pt>
                <c:pt idx="8">
                  <c:v>Media</c:v>
                </c:pt>
                <c:pt idx="9">
                  <c:v>Non profits</c:v>
                </c:pt>
                <c:pt idx="10">
                  <c:v>Retail</c:v>
                </c:pt>
                <c:pt idx="11">
                  <c:v>Sports teams</c:v>
                </c:pt>
                <c:pt idx="12">
                  <c:v>Tech and software</c:v>
                </c:pt>
                <c:pt idx="13">
                  <c:v>Total</c:v>
                </c:pt>
                <c:pt idx="14">
                  <c:v>Travel</c:v>
                </c:pt>
              </c:strCache>
            </c:strRef>
          </c:cat>
          <c:val>
            <c:numRef>
              <c:f>Sheet1!$B$2:$B$16</c:f>
              <c:numCache>
                <c:ptCount val="15"/>
                <c:pt idx="0">
                  <c:v>0.0009</c:v>
                </c:pt>
                <c:pt idx="1">
                  <c:v>0.0002</c:v>
                </c:pt>
                <c:pt idx="2">
                  <c:v>0.0004</c:v>
                </c:pt>
                <c:pt idx="3">
                  <c:v>0.0004</c:v>
                </c:pt>
                <c:pt idx="4">
                  <c:v>0.0003</c:v>
                </c:pt>
                <c:pt idx="5">
                  <c:v>0.0015</c:v>
                </c:pt>
                <c:pt idx="6">
                  <c:v>0.0003</c:v>
                </c:pt>
                <c:pt idx="7">
                  <c:v>0.002</c:v>
                </c:pt>
                <c:pt idx="8">
                  <c:v>0.0004</c:v>
                </c:pt>
                <c:pt idx="9">
                  <c:v>0.0007</c:v>
                </c:pt>
                <c:pt idx="10">
                  <c:v>0.0003</c:v>
                </c:pt>
                <c:pt idx="11">
                  <c:v>0.0024</c:v>
                </c:pt>
                <c:pt idx="12">
                  <c:v>0.0004</c:v>
                </c:pt>
                <c:pt idx="13">
                  <c:v>0.0009</c:v>
                </c:pt>
                <c:pt idx="14">
                  <c:v>0.0009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Average engagement rate per post</a:t>
                </a:r>
              </a:p>
            </c:rich>
          </c:tx>
          <c:overlay val="0"/>
        </c:title>
        <c:numFmt formatCode="#,##0.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Brunei</c:v>
                </c:pt>
                <c:pt idx="1">
                  <c:v>Kazakhstan</c:v>
                </c:pt>
                <c:pt idx="2">
                  <c:v>Bahrain</c:v>
                </c:pt>
                <c:pt idx="3">
                  <c:v>Turkey</c:v>
                </c:pt>
                <c:pt idx="4">
                  <c:v>Cyprus</c:v>
                </c:pt>
                <c:pt idx="5">
                  <c:v>Chile</c:v>
                </c:pt>
                <c:pt idx="6">
                  <c:v>Montenegro</c:v>
                </c:pt>
                <c:pt idx="7">
                  <c:v>Cayman Islands</c:v>
                </c:pt>
                <c:pt idx="8">
                  <c:v>Uruguay</c:v>
                </c:pt>
                <c:pt idx="9">
                  <c:v>Panama</c:v>
                </c:pt>
                <c:pt idx="10">
                  <c:v>Argentina</c:v>
                </c:pt>
                <c:pt idx="11">
                  <c:v>Brazil</c:v>
                </c:pt>
                <c:pt idx="12">
                  <c:v>Sweden</c:v>
                </c:pt>
                <c:pt idx="13">
                  <c:v>Iceland</c:v>
                </c:pt>
                <c:pt idx="14">
                  <c:v>Guam</c:v>
                </c:pt>
              </c:strCache>
            </c:strRef>
          </c:cat>
          <c:val>
            <c:numRef>
              <c:f>Sheet1!$B$2:$B$16</c:f>
              <c:numCache>
                <c:ptCount val="15"/>
                <c:pt idx="0">
                  <c:v>0.741</c:v>
                </c:pt>
                <c:pt idx="1">
                  <c:v>0.725</c:v>
                </c:pt>
                <c:pt idx="2">
                  <c:v>0.72</c:v>
                </c:pt>
                <c:pt idx="3">
                  <c:v>0.711</c:v>
                </c:pt>
                <c:pt idx="4">
                  <c:v>0.668</c:v>
                </c:pt>
                <c:pt idx="5">
                  <c:v>0.663</c:v>
                </c:pt>
                <c:pt idx="6">
                  <c:v>0.662</c:v>
                </c:pt>
                <c:pt idx="7">
                  <c:v>0.656</c:v>
                </c:pt>
                <c:pt idx="8">
                  <c:v>0.645</c:v>
                </c:pt>
                <c:pt idx="9">
                  <c:v>0.641</c:v>
                </c:pt>
                <c:pt idx="10">
                  <c:v>0.639</c:v>
                </c:pt>
                <c:pt idx="11">
                  <c:v>0.636</c:v>
                </c:pt>
                <c:pt idx="12">
                  <c:v>0.635</c:v>
                </c:pt>
                <c:pt idx="13">
                  <c:v>0.631</c:v>
                </c:pt>
                <c:pt idx="14">
                  <c:v>0.616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Sheet1!$A$2:$A$14</c:f>
              <c:strCache>
                <c:ptCount val="13"/>
                <c:pt idx="0">
                  <c:v>Jan '13</c:v>
                </c:pt>
                <c:pt idx="1">
                  <c:v>Feb '13</c:v>
                </c:pt>
                <c:pt idx="2">
                  <c:v>Jun '13</c:v>
                </c:pt>
                <c:pt idx="3">
                  <c:v>Sep '13</c:v>
                </c:pt>
                <c:pt idx="4">
                  <c:v>Mar '14</c:v>
                </c:pt>
                <c:pt idx="5">
                  <c:v>Dec '14</c:v>
                </c:pt>
                <c:pt idx="6">
                  <c:v>Sep '15</c:v>
                </c:pt>
                <c:pt idx="7">
                  <c:v>Jun '16</c:v>
                </c:pt>
                <c:pt idx="8">
                  <c:v>Dec '16</c:v>
                </c:pt>
                <c:pt idx="9">
                  <c:v>Apr '17</c:v>
                </c:pt>
                <c:pt idx="10">
                  <c:v>Sep '17</c:v>
                </c:pt>
                <c:pt idx="11">
                  <c:v>Jun '18</c:v>
                </c:pt>
                <c:pt idx="12">
                  <c:v>Dec '21</c:v>
                </c:pt>
              </c:strCache>
            </c:strRef>
          </c:cat>
          <c:val>
            <c:numRef>
              <c:f>Sheet1!$B$2:$B$14</c:f>
              <c:numCache>
                <c:ptCount val="13"/>
                <c:pt idx="0">
                  <c:v>90</c:v>
                </c:pt>
                <c:pt idx="1">
                  <c:v>100</c:v>
                </c:pt>
                <c:pt idx="2">
                  <c:v>130</c:v>
                </c:pt>
                <c:pt idx="3">
                  <c:v>150</c:v>
                </c:pt>
                <c:pt idx="4">
                  <c:v>200</c:v>
                </c:pt>
                <c:pt idx="5">
                  <c:v>300</c:v>
                </c:pt>
                <c:pt idx="6">
                  <c:v>400</c:v>
                </c:pt>
                <c:pt idx="7">
                  <c:v>500</c:v>
                </c:pt>
                <c:pt idx="8">
                  <c:v>600</c:v>
                </c:pt>
                <c:pt idx="9">
                  <c:v>700</c:v>
                </c:pt>
                <c:pt idx="10">
                  <c:v>800</c:v>
                </c:pt>
                <c:pt idx="11">
                  <c:v>1000</c:v>
                </c:pt>
                <c:pt idx="12">
                  <c:v>2000</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13-17</c:v>
                </c:pt>
                <c:pt idx="1">
                  <c:v>18-24</c:v>
                </c:pt>
                <c:pt idx="2">
                  <c:v>25-34</c:v>
                </c:pt>
                <c:pt idx="3">
                  <c:v>35-44</c:v>
                </c:pt>
                <c:pt idx="4">
                  <c:v>45-54</c:v>
                </c:pt>
                <c:pt idx="5">
                  <c:v>55-64</c:v>
                </c:pt>
                <c:pt idx="6">
                  <c:v>65+</c:v>
                </c:pt>
              </c:strCache>
            </c:strRef>
          </c:cat>
          <c:val>
            <c:numRef>
              <c:f>Sheet1!$B$2:$B$8</c:f>
              <c:numCache>
                <c:ptCount val="7"/>
                <c:pt idx="0">
                  <c:v>0.08</c:v>
                </c:pt>
                <c:pt idx="1">
                  <c:v>0.308</c:v>
                </c:pt>
                <c:pt idx="2">
                  <c:v>0.303</c:v>
                </c:pt>
                <c:pt idx="3">
                  <c:v>0.157</c:v>
                </c:pt>
                <c:pt idx="4">
                  <c:v>0.084</c:v>
                </c:pt>
                <c:pt idx="5">
                  <c:v>0.043</c:v>
                </c:pt>
                <c:pt idx="6">
                  <c:v>0.026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users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Female</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13-17</c:v>
                </c:pt>
                <c:pt idx="1">
                  <c:v>18-24</c:v>
                </c:pt>
                <c:pt idx="2">
                  <c:v>25-34</c:v>
                </c:pt>
                <c:pt idx="3">
                  <c:v>35-44</c:v>
                </c:pt>
                <c:pt idx="4">
                  <c:v>45-54</c:v>
                </c:pt>
                <c:pt idx="5">
                  <c:v>55-64</c:v>
                </c:pt>
                <c:pt idx="6">
                  <c:v>65+</c:v>
                </c:pt>
              </c:strCache>
            </c:strRef>
          </c:cat>
          <c:val>
            <c:numRef>
              <c:f>Sheet1!$B$2:$B$8</c:f>
              <c:numCache>
                <c:ptCount val="7"/>
                <c:pt idx="0">
                  <c:v>0.037</c:v>
                </c:pt>
                <c:pt idx="1">
                  <c:v>0.139</c:v>
                </c:pt>
                <c:pt idx="2">
                  <c:v>0.139</c:v>
                </c:pt>
                <c:pt idx="3">
                  <c:v>0.081</c:v>
                </c:pt>
                <c:pt idx="4">
                  <c:v>0.047</c:v>
                </c:pt>
                <c:pt idx="5">
                  <c:v>0.026</c:v>
                </c:pt>
                <c:pt idx="6">
                  <c:v>0.015</c:v>
                </c:pt>
              </c:numCache>
            </c:numRef>
          </c:val>
        </c:ser>
        <c:ser>
          <c:idx val="1"/>
          <c:order val="1"/>
          <c:tx>
            <c:strRef>
              <c:f>Sheet1!$C$1</c:f>
              <c:strCache>
                <c:ptCount val="1"/>
                <c:pt idx="0">
                  <c:v>Male</c:v>
                </c:pt>
              </c:strCache>
            </c:strRef>
          </c:tx>
          <c:spPr>
            <a:solidFill>
              <a:srgbClr val="0F283E"/>
            </a:solidFill>
            <a:ln>
              <a:solidFill>
                <a:srgbClr val="0F283E"/>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13-17</c:v>
                </c:pt>
                <c:pt idx="1">
                  <c:v>18-24</c:v>
                </c:pt>
                <c:pt idx="2">
                  <c:v>25-34</c:v>
                </c:pt>
                <c:pt idx="3">
                  <c:v>35-44</c:v>
                </c:pt>
                <c:pt idx="4">
                  <c:v>45-54</c:v>
                </c:pt>
                <c:pt idx="5">
                  <c:v>55-64</c:v>
                </c:pt>
                <c:pt idx="6">
                  <c:v>65+</c:v>
                </c:pt>
              </c:strCache>
            </c:strRef>
          </c:cat>
          <c:val>
            <c:numRef>
              <c:f>Sheet1!$C$2:$C$8</c:f>
              <c:numCache>
                <c:ptCount val="7"/>
                <c:pt idx="0">
                  <c:v>0.043</c:v>
                </c:pt>
                <c:pt idx="1">
                  <c:v>0.169</c:v>
                </c:pt>
                <c:pt idx="2">
                  <c:v>0.164</c:v>
                </c:pt>
                <c:pt idx="3">
                  <c:v>0.076</c:v>
                </c:pt>
                <c:pt idx="4">
                  <c:v>0.037</c:v>
                </c:pt>
                <c:pt idx="5">
                  <c:v>0.017</c:v>
                </c:pt>
                <c:pt idx="6">
                  <c:v>0.011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users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Instagram</c:v>
                </c:pt>
                <c:pt idx="1">
                  <c:v>cristiano</c:v>
                </c:pt>
                <c:pt idx="2">
                  <c:v>leomessi</c:v>
                </c:pt>
                <c:pt idx="3">
                  <c:v>kyliejenner</c:v>
                </c:pt>
                <c:pt idx="4">
                  <c:v>selenagomez</c:v>
                </c:pt>
                <c:pt idx="5">
                  <c:v>therock</c:v>
                </c:pt>
                <c:pt idx="6">
                  <c:v>arianagrande</c:v>
                </c:pt>
                <c:pt idx="7">
                  <c:v>kimkardashian</c:v>
                </c:pt>
                <c:pt idx="8">
                  <c:v>beyonce</c:v>
                </c:pt>
                <c:pt idx="9">
                  <c:v>khloekardashian</c:v>
                </c:pt>
                <c:pt idx="10">
                  <c:v>justinbieber</c:v>
                </c:pt>
                <c:pt idx="11">
                  <c:v>kendalljenner</c:v>
                </c:pt>
                <c:pt idx="12">
                  <c:v>nike</c:v>
                </c:pt>
                <c:pt idx="13">
                  <c:v>natgeo</c:v>
                </c:pt>
                <c:pt idx="14">
                  <c:v>taylorswift</c:v>
                </c:pt>
              </c:strCache>
            </c:strRef>
          </c:cat>
          <c:val>
            <c:numRef>
              <c:f>Sheet1!$B$2:$B$16</c:f>
              <c:numCache>
                <c:ptCount val="15"/>
                <c:pt idx="0">
                  <c:v>597</c:v>
                </c:pt>
                <c:pt idx="1">
                  <c:v>539</c:v>
                </c:pt>
                <c:pt idx="2">
                  <c:v>424</c:v>
                </c:pt>
                <c:pt idx="3">
                  <c:v>379</c:v>
                </c:pt>
                <c:pt idx="4">
                  <c:v>373</c:v>
                </c:pt>
                <c:pt idx="5">
                  <c:v>360</c:v>
                </c:pt>
                <c:pt idx="6">
                  <c:v>352</c:v>
                </c:pt>
                <c:pt idx="7">
                  <c:v>342</c:v>
                </c:pt>
                <c:pt idx="8">
                  <c:v>292</c:v>
                </c:pt>
                <c:pt idx="9">
                  <c:v>291</c:v>
                </c:pt>
                <c:pt idx="10">
                  <c:v>274</c:v>
                </c:pt>
                <c:pt idx="11">
                  <c:v>273</c:v>
                </c:pt>
                <c:pt idx="12">
                  <c:v>264</c:v>
                </c:pt>
                <c:pt idx="13">
                  <c:v>258</c:v>
                </c:pt>
                <c:pt idx="14">
                  <c:v>242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Sheet1!$A$2:$A$9</c:f>
              <c:strCache>
                <c:ptCount val="8"/>
                <c:pt idx="0">
                  <c:v>Funny</c:v>
                </c:pt>
                <c:pt idx="1">
                  <c:v>Creative</c:v>
                </c:pt>
                <c:pt idx="2">
                  <c:v>Informative</c:v>
                </c:pt>
                <c:pt idx="3">
                  <c:v>Trendy</c:v>
                </c:pt>
                <c:pt idx="4">
                  <c:v>Relaxing</c:v>
                </c:pt>
                <c:pt idx="5">
                  <c:v>Inspirational</c:v>
                </c:pt>
                <c:pt idx="6">
                  <c:v>Engaging</c:v>
                </c:pt>
                <c:pt idx="7">
                  <c:v>Personable</c:v>
                </c:pt>
              </c:strCache>
            </c:strRef>
          </c:cat>
          <c:val>
            <c:numRef>
              <c:f>Sheet1!$B$2:$B$9</c:f>
              <c:numCache>
                <c:ptCount val="8"/>
                <c:pt idx="0">
                  <c:v>0.51</c:v>
                </c:pt>
                <c:pt idx="1">
                  <c:v>0.48</c:v>
                </c:pt>
                <c:pt idx="2">
                  <c:v>0.43</c:v>
                </c:pt>
                <c:pt idx="3">
                  <c:v>0.4</c:v>
                </c:pt>
                <c:pt idx="4">
                  <c:v>0.4</c:v>
                </c:pt>
                <c:pt idx="5">
                  <c:v>0.37</c:v>
                </c:pt>
                <c:pt idx="6">
                  <c:v>0.36</c:v>
                </c:pt>
                <c:pt idx="7">
                  <c:v>0.36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@leomessi: Photos of Lionel Messi and his teammates after winning the 2022 FIFA World Cup with Argentina (Dec 2022)</c:v>
                </c:pt>
                <c:pt idx="1">
                  <c:v>@world_record_egg: Photo of an egg (Jan 2019)</c:v>
                </c:pt>
                <c:pt idx="2">
                  <c:v>@cristiano @georginagio: Their twins pregnancy announcement (Oct 2021)</c:v>
                </c:pt>
                <c:pt idx="3">
                  <c:v>@xxxtentacion: Final image before his death (May 2018)</c:v>
                </c:pt>
                <c:pt idx="4">
                  <c:v>@arianagrande: Photos of her wedding with Dalton Gomez (May 2021)</c:v>
                </c:pt>
                <c:pt idx="5">
                  <c:v>@kyliejenner: Second pregnancy announcement (Sep 2021)</c:v>
                </c:pt>
                <c:pt idx="6">
                  <c:v>@tomholland2013 Recreating the famous Spider-Man meme with Tobey Maguire and Andrew Garfield</c:v>
                </c:pt>
                <c:pt idx="7">
                  <c:v>@kyliejenner: Photo of her daughter with her new-born brother (Feb 2022)</c:v>
                </c:pt>
                <c:pt idx="8">
                  <c:v>@billieeilish: Reveal of her blonde hair (Mar 2021)</c:v>
                </c:pt>
                <c:pt idx="9">
                  <c:v>@leomessi: First post after signing with PSG (Aug 2021)</c:v>
                </c:pt>
              </c:strCache>
            </c:strRef>
          </c:cat>
          <c:val>
            <c:numRef>
              <c:f>Sheet1!$B$2:$B$11</c:f>
              <c:numCache>
                <c:ptCount val="10"/>
                <c:pt idx="0">
                  <c:v>61.2</c:v>
                </c:pt>
                <c:pt idx="1">
                  <c:v>55.9</c:v>
                </c:pt>
                <c:pt idx="2">
                  <c:v>32.8</c:v>
                </c:pt>
                <c:pt idx="3">
                  <c:v>29.3</c:v>
                </c:pt>
                <c:pt idx="4">
                  <c:v>26.6</c:v>
                </c:pt>
                <c:pt idx="5">
                  <c:v>25</c:v>
                </c:pt>
                <c:pt idx="6">
                  <c:v>23.6</c:v>
                </c:pt>
                <c:pt idx="7">
                  <c:v>23</c:v>
                </c:pt>
                <c:pt idx="8">
                  <c:v>22.9</c:v>
                </c:pt>
                <c:pt idx="9">
                  <c:v>22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Sheet1!$A$2:$A$3</c:f>
              <c:strCache>
                <c:ptCount val="2"/>
                <c:pt idx="0">
                  <c:v>Female</c:v>
                </c:pt>
                <c:pt idx="1">
                  <c:v>Male</c:v>
                </c:pt>
              </c:strCache>
            </c:strRef>
          </c:cat>
          <c:val>
            <c:numRef>
              <c:f>Sheet1!$B$2:$B$3</c:f>
              <c:numCache>
                <c:ptCount val="2"/>
                <c:pt idx="0">
                  <c:v>0.541</c:v>
                </c:pt>
                <c:pt idx="1">
                  <c:v>0.459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Female</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18-24</c:v>
                </c:pt>
                <c:pt idx="1">
                  <c:v>25-34</c:v>
                </c:pt>
                <c:pt idx="2">
                  <c:v>35-44</c:v>
                </c:pt>
                <c:pt idx="3">
                  <c:v>45-54</c:v>
                </c:pt>
                <c:pt idx="4">
                  <c:v>55+</c:v>
                </c:pt>
              </c:strCache>
            </c:strRef>
          </c:cat>
          <c:val>
            <c:numRef>
              <c:f>Sheet1!$B$2:$B$6</c:f>
              <c:numCache>
                <c:ptCount val="5"/>
                <c:pt idx="0">
                  <c:v>0.215</c:v>
                </c:pt>
                <c:pt idx="1">
                  <c:v>0.173</c:v>
                </c:pt>
                <c:pt idx="2">
                  <c:v>0.082</c:v>
                </c:pt>
                <c:pt idx="3">
                  <c:v>0.042</c:v>
                </c:pt>
                <c:pt idx="4">
                  <c:v>0.028</c:v>
                </c:pt>
              </c:numCache>
            </c:numRef>
          </c:val>
        </c:ser>
        <c:ser>
          <c:idx val="1"/>
          <c:order val="1"/>
          <c:tx>
            <c:strRef>
              <c:f>Sheet1!$C$1</c:f>
              <c:strCache>
                <c:ptCount val="1"/>
                <c:pt idx="0">
                  <c:v>Male</c:v>
                </c:pt>
              </c:strCache>
            </c:strRef>
          </c:tx>
          <c:spPr>
            <a:solidFill>
              <a:srgbClr val="0F283E"/>
            </a:solidFill>
            <a:ln>
              <a:solidFill>
                <a:srgbClr val="0F283E"/>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18-24</c:v>
                </c:pt>
                <c:pt idx="1">
                  <c:v>25-34</c:v>
                </c:pt>
                <c:pt idx="2">
                  <c:v>35-44</c:v>
                </c:pt>
                <c:pt idx="3">
                  <c:v>45-54</c:v>
                </c:pt>
                <c:pt idx="4">
                  <c:v>55+</c:v>
                </c:pt>
              </c:strCache>
            </c:strRef>
          </c:cat>
          <c:val>
            <c:numRef>
              <c:f>Sheet1!$C$2:$C$6</c:f>
              <c:numCache>
                <c:ptCount val="5"/>
                <c:pt idx="0">
                  <c:v>0.174</c:v>
                </c:pt>
                <c:pt idx="1">
                  <c:v>0.151</c:v>
                </c:pt>
                <c:pt idx="2">
                  <c:v>0.074</c:v>
                </c:pt>
                <c:pt idx="3">
                  <c:v>0.037</c:v>
                </c:pt>
                <c:pt idx="4">
                  <c:v>0.023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active TikTok users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4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Sheet1!$A$2:$A$7</c:f>
              <c:strCache>
                <c:ptCount val="6"/>
                <c:pt idx="0">
                  <c:v>Less than 1 hour</c:v>
                </c:pt>
                <c:pt idx="1">
                  <c:v>1 hour</c:v>
                </c:pt>
                <c:pt idx="2">
                  <c:v>1-2 hours</c:v>
                </c:pt>
                <c:pt idx="3">
                  <c:v>2-5 hours</c:v>
                </c:pt>
                <c:pt idx="4">
                  <c:v>5-10 hours</c:v>
                </c:pt>
                <c:pt idx="5">
                  <c:v>10 hours or more</c:v>
                </c:pt>
              </c:strCache>
            </c:strRef>
          </c:cat>
          <c:val>
            <c:numRef>
              <c:f>Sheet1!$B$2:$B$7</c:f>
              <c:numCache>
                <c:ptCount val="6"/>
                <c:pt idx="0">
                  <c:v>0.3</c:v>
                </c:pt>
                <c:pt idx="1">
                  <c:v>0.19</c:v>
                </c:pt>
                <c:pt idx="2">
                  <c:v>0.19</c:v>
                </c:pt>
                <c:pt idx="3">
                  <c:v>0.15</c:v>
                </c:pt>
                <c:pt idx="4">
                  <c:v>0.11</c:v>
                </c:pt>
                <c:pt idx="5">
                  <c:v>0.06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Sheet1!$A$2:$A$38</c:f>
              <c:strCache>
                <c:ptCount val="37"/>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strCache>
            </c:strRef>
          </c:cat>
          <c:val>
            <c:numRef>
              <c:f>Sheet1!$B$2:$B$38</c:f>
              <c:numCache>
                <c:ptCount val="37"/>
                <c:pt idx="0">
                  <c:v>24.33</c:v>
                </c:pt>
                <c:pt idx="1">
                  <c:v>26.57</c:v>
                </c:pt>
                <c:pt idx="2">
                  <c:v>25.55</c:v>
                </c:pt>
                <c:pt idx="3">
                  <c:v>24.57</c:v>
                </c:pt>
                <c:pt idx="4">
                  <c:v>25.62</c:v>
                </c:pt>
                <c:pt idx="5">
                  <c:v>26.62</c:v>
                </c:pt>
                <c:pt idx="6">
                  <c:v>26.67</c:v>
                </c:pt>
                <c:pt idx="7">
                  <c:v>28.34</c:v>
                </c:pt>
                <c:pt idx="8">
                  <c:v>31.13</c:v>
                </c:pt>
                <c:pt idx="9">
                  <c:v>33.25</c:v>
                </c:pt>
                <c:pt idx="10">
                  <c:v>33.96</c:v>
                </c:pt>
                <c:pt idx="11">
                  <c:v>34.3</c:v>
                </c:pt>
                <c:pt idx="12">
                  <c:v>38.99</c:v>
                </c:pt>
                <c:pt idx="13">
                  <c:v>42.14</c:v>
                </c:pt>
                <c:pt idx="14">
                  <c:v>43.98</c:v>
                </c:pt>
                <c:pt idx="15">
                  <c:v>53.11</c:v>
                </c:pt>
                <c:pt idx="16">
                  <c:v>60.07</c:v>
                </c:pt>
                <c:pt idx="17">
                  <c:v>61.9</c:v>
                </c:pt>
                <c:pt idx="18">
                  <c:v>59.82</c:v>
                </c:pt>
                <c:pt idx="19">
                  <c:v>60.07</c:v>
                </c:pt>
                <c:pt idx="20">
                  <c:v>62.8</c:v>
                </c:pt>
                <c:pt idx="21">
                  <c:v>60.19</c:v>
                </c:pt>
                <c:pt idx="22">
                  <c:v>59.34</c:v>
                </c:pt>
                <c:pt idx="23">
                  <c:v>64.26</c:v>
                </c:pt>
                <c:pt idx="24">
                  <c:v>73.19</c:v>
                </c:pt>
                <c:pt idx="25">
                  <c:v>82.98</c:v>
                </c:pt>
                <c:pt idx="26">
                  <c:v>79.54</c:v>
                </c:pt>
                <c:pt idx="27">
                  <c:v>87.87</c:v>
                </c:pt>
                <c:pt idx="28">
                  <c:v>97.29</c:v>
                </c:pt>
                <c:pt idx="29">
                  <c:v>98.03</c:v>
                </c:pt>
                <c:pt idx="30">
                  <c:v>97</c:v>
                </c:pt>
                <c:pt idx="31">
                  <c:v>107.37</c:v>
                </c:pt>
                <c:pt idx="32">
                  <c:v>115.97</c:v>
                </c:pt>
                <c:pt idx="33">
                  <c:v>116.44</c:v>
                </c:pt>
                <c:pt idx="34">
                  <c:v>119.45</c:v>
                </c:pt>
                <c:pt idx="35">
                  <c:v>117.58</c:v>
                </c:pt>
                <c:pt idx="36">
                  <c:v>120.45</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1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MAU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Sheet1!$A$2:$A$38</c:f>
              <c:strCache>
                <c:ptCount val="37"/>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strCache>
            </c:strRef>
          </c:cat>
          <c:val>
            <c:numRef>
              <c:f>Sheet1!$B$2:$B$38</c:f>
              <c:numCache>
                <c:ptCount val="37"/>
                <c:pt idx="0">
                  <c:v>6.19</c:v>
                </c:pt>
                <c:pt idx="1">
                  <c:v>6.45</c:v>
                </c:pt>
                <c:pt idx="2">
                  <c:v>5.85</c:v>
                </c:pt>
                <c:pt idx="3">
                  <c:v>5.48</c:v>
                </c:pt>
                <c:pt idx="4">
                  <c:v>5.56</c:v>
                </c:pt>
                <c:pt idx="5">
                  <c:v>5.54</c:v>
                </c:pt>
                <c:pt idx="6">
                  <c:v>5.11</c:v>
                </c:pt>
                <c:pt idx="7">
                  <c:v>4.81</c:v>
                </c:pt>
                <c:pt idx="8">
                  <c:v>5.87</c:v>
                </c:pt>
                <c:pt idx="9">
                  <c:v>6.45</c:v>
                </c:pt>
                <c:pt idx="10">
                  <c:v>6.8</c:v>
                </c:pt>
                <c:pt idx="11">
                  <c:v>7.29</c:v>
                </c:pt>
                <c:pt idx="12">
                  <c:v>8.44</c:v>
                </c:pt>
                <c:pt idx="13">
                  <c:v>9.27</c:v>
                </c:pt>
                <c:pt idx="14">
                  <c:v>9.95</c:v>
                </c:pt>
                <c:pt idx="15">
                  <c:v>12.69</c:v>
                </c:pt>
                <c:pt idx="16">
                  <c:v>14.8</c:v>
                </c:pt>
                <c:pt idx="17">
                  <c:v>15.43</c:v>
                </c:pt>
                <c:pt idx="18">
                  <c:v>14.88</c:v>
                </c:pt>
                <c:pt idx="19">
                  <c:v>14.75</c:v>
                </c:pt>
                <c:pt idx="20">
                  <c:v>14.95</c:v>
                </c:pt>
                <c:pt idx="21">
                  <c:v>14.3</c:v>
                </c:pt>
                <c:pt idx="22">
                  <c:v>14.25</c:v>
                </c:pt>
                <c:pt idx="23">
                  <c:v>15.87</c:v>
                </c:pt>
                <c:pt idx="24">
                  <c:v>18.42</c:v>
                </c:pt>
                <c:pt idx="25">
                  <c:v>21.37</c:v>
                </c:pt>
                <c:pt idx="26">
                  <c:v>21.15</c:v>
                </c:pt>
                <c:pt idx="27">
                  <c:v>23.11</c:v>
                </c:pt>
                <c:pt idx="28">
                  <c:v>25.98</c:v>
                </c:pt>
                <c:pt idx="29">
                  <c:v>25.47</c:v>
                </c:pt>
                <c:pt idx="30">
                  <c:v>25.25</c:v>
                </c:pt>
                <c:pt idx="31">
                  <c:v>28.92</c:v>
                </c:pt>
                <c:pt idx="32">
                  <c:v>30.78</c:v>
                </c:pt>
                <c:pt idx="33">
                  <c:v>30.32</c:v>
                </c:pt>
                <c:pt idx="34">
                  <c:v>31.4</c:v>
                </c:pt>
                <c:pt idx="35">
                  <c:v>30.86</c:v>
                </c:pt>
                <c:pt idx="36">
                  <c:v>29.72</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DAU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Sheet1!$A$2:$A$38</c:f>
              <c:strCache>
                <c:ptCount val="37"/>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strCache>
            </c:strRef>
          </c:cat>
          <c:val>
            <c:numRef>
              <c:f>Sheet1!$B$2:$B$38</c:f>
              <c:numCache>
                <c:ptCount val="37"/>
                <c:pt idx="0">
                  <c:v>166.97</c:v>
                </c:pt>
                <c:pt idx="1">
                  <c:v>157.76</c:v>
                </c:pt>
                <c:pt idx="2">
                  <c:v>143.16</c:v>
                </c:pt>
                <c:pt idx="3">
                  <c:v>128.19</c:v>
                </c:pt>
                <c:pt idx="4">
                  <c:v>113.72</c:v>
                </c:pt>
                <c:pt idx="5">
                  <c:v>123.48</c:v>
                </c:pt>
                <c:pt idx="6">
                  <c:v>135.42</c:v>
                </c:pt>
                <c:pt idx="7">
                  <c:v>153.46</c:v>
                </c:pt>
                <c:pt idx="8">
                  <c:v>156.92</c:v>
                </c:pt>
                <c:pt idx="9">
                  <c:v>157.34</c:v>
                </c:pt>
                <c:pt idx="10">
                  <c:v>173.63</c:v>
                </c:pt>
                <c:pt idx="11">
                  <c:v>167.39</c:v>
                </c:pt>
                <c:pt idx="12">
                  <c:v>162.76</c:v>
                </c:pt>
                <c:pt idx="13">
                  <c:v>161.85</c:v>
                </c:pt>
                <c:pt idx="14">
                  <c:v>159.79</c:v>
                </c:pt>
                <c:pt idx="15">
                  <c:v>178.51</c:v>
                </c:pt>
                <c:pt idx="16">
                  <c:v>184.05</c:v>
                </c:pt>
                <c:pt idx="17">
                  <c:v>178.9</c:v>
                </c:pt>
                <c:pt idx="18">
                  <c:v>151.85</c:v>
                </c:pt>
                <c:pt idx="19">
                  <c:v>99.13</c:v>
                </c:pt>
                <c:pt idx="20">
                  <c:v>64.54</c:v>
                </c:pt>
                <c:pt idx="21">
                  <c:v>48.42</c:v>
                </c:pt>
                <c:pt idx="22">
                  <c:v>37.81</c:v>
                </c:pt>
                <c:pt idx="23">
                  <c:v>29.47</c:v>
                </c:pt>
                <c:pt idx="24">
                  <c:v>26.33</c:v>
                </c:pt>
                <c:pt idx="25">
                  <c:v>25.98</c:v>
                </c:pt>
                <c:pt idx="26">
                  <c:v>30.19</c:v>
                </c:pt>
                <c:pt idx="27">
                  <c:v>30.73</c:v>
                </c:pt>
                <c:pt idx="28">
                  <c:v>31.59</c:v>
                </c:pt>
                <c:pt idx="29">
                  <c:v>32.01</c:v>
                </c:pt>
                <c:pt idx="30">
                  <c:v>32.57</c:v>
                </c:pt>
                <c:pt idx="31">
                  <c:v>33.14</c:v>
                </c:pt>
                <c:pt idx="32">
                  <c:v>29.14</c:v>
                </c:pt>
                <c:pt idx="33">
                  <c:v>26.11</c:v>
                </c:pt>
                <c:pt idx="34">
                  <c:v>25.32</c:v>
                </c:pt>
                <c:pt idx="35">
                  <c:v>26.4</c:v>
                </c:pt>
                <c:pt idx="36">
                  <c:v>30.19</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MAU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Sheet1!$A$2:$A$38</c:f>
              <c:strCache>
                <c:ptCount val="37"/>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strCache>
            </c:strRef>
          </c:cat>
          <c:val>
            <c:numRef>
              <c:f>Sheet1!$B$2:$B$38</c:f>
              <c:numCache>
                <c:ptCount val="37"/>
                <c:pt idx="0">
                  <c:v>27.71</c:v>
                </c:pt>
                <c:pt idx="1">
                  <c:v>27.39</c:v>
                </c:pt>
                <c:pt idx="2">
                  <c:v>25.47</c:v>
                </c:pt>
                <c:pt idx="3">
                  <c:v>23.33</c:v>
                </c:pt>
                <c:pt idx="4">
                  <c:v>21.38</c:v>
                </c:pt>
                <c:pt idx="5">
                  <c:v>23.34</c:v>
                </c:pt>
                <c:pt idx="6">
                  <c:v>24.14</c:v>
                </c:pt>
                <c:pt idx="7">
                  <c:v>26.17</c:v>
                </c:pt>
                <c:pt idx="8">
                  <c:v>28.79</c:v>
                </c:pt>
                <c:pt idx="9">
                  <c:v>30.59</c:v>
                </c:pt>
                <c:pt idx="10">
                  <c:v>32</c:v>
                </c:pt>
                <c:pt idx="11">
                  <c:v>32.07</c:v>
                </c:pt>
                <c:pt idx="12">
                  <c:v>33.4</c:v>
                </c:pt>
                <c:pt idx="13">
                  <c:v>35.76</c:v>
                </c:pt>
                <c:pt idx="14">
                  <c:v>36.74</c:v>
                </c:pt>
                <c:pt idx="15">
                  <c:v>35.08</c:v>
                </c:pt>
                <c:pt idx="16">
                  <c:v>33.08</c:v>
                </c:pt>
                <c:pt idx="17">
                  <c:v>32.91</c:v>
                </c:pt>
                <c:pt idx="18">
                  <c:v>29.96</c:v>
                </c:pt>
                <c:pt idx="19">
                  <c:v>25.92</c:v>
                </c:pt>
                <c:pt idx="20">
                  <c:v>20.33</c:v>
                </c:pt>
                <c:pt idx="21">
                  <c:v>16.44</c:v>
                </c:pt>
                <c:pt idx="22">
                  <c:v>14.45</c:v>
                </c:pt>
                <c:pt idx="23">
                  <c:v>12.82</c:v>
                </c:pt>
                <c:pt idx="24">
                  <c:v>12.21</c:v>
                </c:pt>
                <c:pt idx="25">
                  <c:v>11.98</c:v>
                </c:pt>
                <c:pt idx="26">
                  <c:v>13.82</c:v>
                </c:pt>
                <c:pt idx="27">
                  <c:v>14.16</c:v>
                </c:pt>
                <c:pt idx="28">
                  <c:v>14.81</c:v>
                </c:pt>
                <c:pt idx="29">
                  <c:v>15.06</c:v>
                </c:pt>
                <c:pt idx="30">
                  <c:v>15.13</c:v>
                </c:pt>
                <c:pt idx="31">
                  <c:v>15.37</c:v>
                </c:pt>
                <c:pt idx="32">
                  <c:v>14.43</c:v>
                </c:pt>
                <c:pt idx="33">
                  <c:v>13.61</c:v>
                </c:pt>
                <c:pt idx="34">
                  <c:v>13.06</c:v>
                </c:pt>
                <c:pt idx="35">
                  <c:v>13.47</c:v>
                </c:pt>
                <c:pt idx="36">
                  <c:v>15.54</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5"/>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DAU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Sheet1!$A$2:$A$24</c:f>
              <c:strCache>
                <c:ptCount val="23"/>
                <c:pt idx="0">
                  <c:v>Q2 '16</c:v>
                </c:pt>
                <c:pt idx="1">
                  <c:v>Q3 '16</c:v>
                </c:pt>
                <c:pt idx="2">
                  <c:v>Q4 '16</c:v>
                </c:pt>
                <c:pt idx="3">
                  <c:v>Q1 '17</c:v>
                </c:pt>
                <c:pt idx="4">
                  <c:v>Q2 '17</c:v>
                </c:pt>
                <c:pt idx="5">
                  <c:v>Q3 '17</c:v>
                </c:pt>
                <c:pt idx="6">
                  <c:v>Q4 '17</c:v>
                </c:pt>
                <c:pt idx="7">
                  <c:v>Q1 '18</c:v>
                </c:pt>
                <c:pt idx="8">
                  <c:v>Q2 '18</c:v>
                </c:pt>
                <c:pt idx="9">
                  <c:v>Q3 '18</c:v>
                </c:pt>
                <c:pt idx="10">
                  <c:v>Q4 '18</c:v>
                </c:pt>
                <c:pt idx="11">
                  <c:v>Q1 '19</c:v>
                </c:pt>
                <c:pt idx="12">
                  <c:v>Q2 '19</c:v>
                </c:pt>
                <c:pt idx="13">
                  <c:v>Q3 '19</c:v>
                </c:pt>
                <c:pt idx="14">
                  <c:v>Q4 '19</c:v>
                </c:pt>
                <c:pt idx="15">
                  <c:v>Q1 '20</c:v>
                </c:pt>
                <c:pt idx="16">
                  <c:v>Q2 '20</c:v>
                </c:pt>
                <c:pt idx="17">
                  <c:v>Q3 '20</c:v>
                </c:pt>
                <c:pt idx="18">
                  <c:v>Q4 '20</c:v>
                </c:pt>
                <c:pt idx="19">
                  <c:v>Q1 '21</c:v>
                </c:pt>
                <c:pt idx="20">
                  <c:v>Q2 '21</c:v>
                </c:pt>
                <c:pt idx="21">
                  <c:v>Q3 '21</c:v>
                </c:pt>
                <c:pt idx="22">
                  <c:v>Q'4 21</c:v>
                </c:pt>
              </c:strCache>
            </c:strRef>
          </c:cat>
          <c:val>
            <c:numRef>
              <c:f>Sheet1!$B$2:$B$24</c:f>
              <c:numCache>
                <c:ptCount val="23"/>
                <c:pt idx="0">
                  <c:v>21.3</c:v>
                </c:pt>
                <c:pt idx="1">
                  <c:v>21.8</c:v>
                </c:pt>
                <c:pt idx="2">
                  <c:v>24.8</c:v>
                </c:pt>
                <c:pt idx="3">
                  <c:v>22.7</c:v>
                </c:pt>
                <c:pt idx="4">
                  <c:v>28.4</c:v>
                </c:pt>
                <c:pt idx="5">
                  <c:v>33.6</c:v>
                </c:pt>
                <c:pt idx="6">
                  <c:v>46.8</c:v>
                </c:pt>
                <c:pt idx="7">
                  <c:v>110.3</c:v>
                </c:pt>
                <c:pt idx="8">
                  <c:v>156</c:v>
                </c:pt>
                <c:pt idx="9">
                  <c:v>183.8</c:v>
                </c:pt>
                <c:pt idx="10">
                  <c:v>205.7</c:v>
                </c:pt>
                <c:pt idx="11">
                  <c:v>187.3</c:v>
                </c:pt>
                <c:pt idx="12">
                  <c:v>155.9</c:v>
                </c:pt>
                <c:pt idx="13">
                  <c:v>176.3</c:v>
                </c:pt>
                <c:pt idx="14">
                  <c:v>219</c:v>
                </c:pt>
                <c:pt idx="15">
                  <c:v>318</c:v>
                </c:pt>
                <c:pt idx="16">
                  <c:v>301</c:v>
                </c:pt>
                <c:pt idx="17">
                  <c:v>188</c:v>
                </c:pt>
                <c:pt idx="18">
                  <c:v>174</c:v>
                </c:pt>
                <c:pt idx="19">
                  <c:v>178</c:v>
                </c:pt>
                <c:pt idx="20">
                  <c:v>203</c:v>
                </c:pt>
                <c:pt idx="21">
                  <c:v>186</c:v>
                </c:pt>
                <c:pt idx="22">
                  <c:v>173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first-time installs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numRef>
              <c:f>Sheet1!$A$2:$A$6</c:f>
              <c:numCache>
                <c:formatCode>General</c:formatCode>
                <c:ptCount val="5"/>
                <c:pt idx="0">
                  <c:v>2017</c:v>
                </c:pt>
                <c:pt idx="1">
                  <c:v>2018</c:v>
                </c:pt>
                <c:pt idx="2">
                  <c:v>2019</c:v>
                </c:pt>
                <c:pt idx="3">
                  <c:v>2020</c:v>
                </c:pt>
                <c:pt idx="4">
                  <c:v>2021</c:v>
                </c:pt>
              </c:numCache>
            </c:numRef>
          </c:cat>
          <c:val>
            <c:numRef>
              <c:f>Sheet1!$B$2:$B$6</c:f>
              <c:numCache>
                <c:ptCount val="5"/>
                <c:pt idx="0">
                  <c:v>131.5</c:v>
                </c:pt>
                <c:pt idx="1">
                  <c:v>655</c:v>
                </c:pt>
                <c:pt idx="2">
                  <c:v>738</c:v>
                </c:pt>
                <c:pt idx="3">
                  <c:v>980.7</c:v>
                </c:pt>
                <c:pt idx="4">
                  <c:v>740</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first-time installs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Khabane Lame</c:v>
                </c:pt>
                <c:pt idx="1">
                  <c:v>charli d`amelio</c:v>
                </c:pt>
                <c:pt idx="2">
                  <c:v>Bella Poarch</c:v>
                </c:pt>
                <c:pt idx="3">
                  <c:v>Addison</c:v>
                </c:pt>
                <c:pt idx="4">
                  <c:v>MrBeast</c:v>
                </c:pt>
                <c:pt idx="5">
                  <c:v>Zach King</c:v>
                </c:pt>
                <c:pt idx="6">
                  <c:v>Kimberly Loaiza</c:v>
                </c:pt>
                <c:pt idx="7">
                  <c:v>cznburak</c:v>
                </c:pt>
                <c:pt idx="8">
                  <c:v>domelipa</c:v>
                </c:pt>
                <c:pt idx="9">
                  <c:v>dixie</c:v>
                </c:pt>
              </c:strCache>
            </c:strRef>
          </c:cat>
          <c:val>
            <c:numRef>
              <c:f>Sheet1!$B$2:$B$11</c:f>
              <c:numCache>
                <c:ptCount val="10"/>
                <c:pt idx="0">
                  <c:v>155.1</c:v>
                </c:pt>
                <c:pt idx="1">
                  <c:v>150.1</c:v>
                </c:pt>
                <c:pt idx="2">
                  <c:v>93</c:v>
                </c:pt>
                <c:pt idx="3">
                  <c:v>88.8</c:v>
                </c:pt>
                <c:pt idx="4">
                  <c:v>78</c:v>
                </c:pt>
                <c:pt idx="5">
                  <c:v>74</c:v>
                </c:pt>
                <c:pt idx="6">
                  <c:v>73.3</c:v>
                </c:pt>
                <c:pt idx="7">
                  <c:v>69.7</c:v>
                </c:pt>
                <c:pt idx="8">
                  <c:v>64.4</c:v>
                </c:pt>
                <c:pt idx="9">
                  <c:v>57.3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United States</c:v>
                </c:pt>
                <c:pt idx="1">
                  <c:v>China</c:v>
                </c:pt>
                <c:pt idx="2">
                  <c:v>United Kingdom</c:v>
                </c:pt>
                <c:pt idx="3">
                  <c:v>Japan</c:v>
                </c:pt>
                <c:pt idx="4">
                  <c:v>Germany</c:v>
                </c:pt>
                <c:pt idx="5">
                  <c:v>Canada</c:v>
                </c:pt>
                <c:pt idx="6">
                  <c:v>Australia</c:v>
                </c:pt>
                <c:pt idx="7">
                  <c:v>France</c:v>
                </c:pt>
                <c:pt idx="8">
                  <c:v>South Korea</c:v>
                </c:pt>
                <c:pt idx="9">
                  <c:v>Italy</c:v>
                </c:pt>
                <c:pt idx="10">
                  <c:v>Brazil</c:v>
                </c:pt>
                <c:pt idx="11">
                  <c:v>Spain</c:v>
                </c:pt>
                <c:pt idx="12">
                  <c:v>Mexico</c:v>
                </c:pt>
                <c:pt idx="13">
                  <c:v>Netherlands</c:v>
                </c:pt>
                <c:pt idx="14">
                  <c:v>Sweden</c:v>
                </c:pt>
              </c:strCache>
            </c:strRef>
          </c:cat>
          <c:val>
            <c:numRef>
              <c:f>Sheet1!$B$2:$B$16</c:f>
              <c:numCache>
                <c:ptCount val="15"/>
                <c:pt idx="0">
                  <c:v>80670</c:v>
                </c:pt>
                <c:pt idx="1">
                  <c:v>80550</c:v>
                </c:pt>
                <c:pt idx="2">
                  <c:v>12160</c:v>
                </c:pt>
                <c:pt idx="3">
                  <c:v>8913</c:v>
                </c:pt>
                <c:pt idx="4">
                  <c:v>4482</c:v>
                </c:pt>
                <c:pt idx="5">
                  <c:v>3993</c:v>
                </c:pt>
                <c:pt idx="6">
                  <c:v>3782</c:v>
                </c:pt>
                <c:pt idx="7">
                  <c:v>3292</c:v>
                </c:pt>
                <c:pt idx="8">
                  <c:v>2982</c:v>
                </c:pt>
                <c:pt idx="9">
                  <c:v>2283</c:v>
                </c:pt>
                <c:pt idx="10">
                  <c:v>1944</c:v>
                </c:pt>
                <c:pt idx="11">
                  <c:v>1918</c:v>
                </c:pt>
                <c:pt idx="12">
                  <c:v>1876</c:v>
                </c:pt>
                <c:pt idx="13">
                  <c:v>1243</c:v>
                </c:pt>
                <c:pt idx="14">
                  <c:v>1100</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numRef>
              <c:f>Sheet1!$A$2:$A$10</c:f>
              <c:numCache>
                <c:formatCode>General</c:formatCode>
                <c:ptCount val="9"/>
                <c:pt idx="0">
                  <c:v>2017</c:v>
                </c:pt>
                <c:pt idx="1">
                  <c:v>2018</c:v>
                </c:pt>
                <c:pt idx="2">
                  <c:v>2019</c:v>
                </c:pt>
                <c:pt idx="3">
                  <c:v>2020</c:v>
                </c:pt>
                <c:pt idx="4">
                  <c:v>2021</c:v>
                </c:pt>
                <c:pt idx="5">
                  <c:v>2022</c:v>
                </c:pt>
                <c:pt idx="6">
                  <c:v>2023</c:v>
                </c:pt>
                <c:pt idx="7">
                  <c:v>2024</c:v>
                </c:pt>
                <c:pt idx="8">
                  <c:v>2025</c:v>
                </c:pt>
              </c:numCache>
            </c:numRef>
          </c:cat>
          <c:val>
            <c:numRef>
              <c:f>Sheet1!$B$2:$B$10</c:f>
              <c:numCache>
                <c:ptCount val="9"/>
                <c:pt idx="0">
                  <c:v>15.49</c:v>
                </c:pt>
                <c:pt idx="1">
                  <c:v>20.48</c:v>
                </c:pt>
                <c:pt idx="2">
                  <c:v>24.81</c:v>
                </c:pt>
                <c:pt idx="3">
                  <c:v>28.3</c:v>
                </c:pt>
                <c:pt idx="4">
                  <c:v>31.26</c:v>
                </c:pt>
                <c:pt idx="5">
                  <c:v>33.57</c:v>
                </c:pt>
                <c:pt idx="6">
                  <c:v>35.73</c:v>
                </c:pt>
                <c:pt idx="7">
                  <c:v>37.81</c:v>
                </c:pt>
                <c:pt idx="8">
                  <c:v>39.9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Spending in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Facebook</c:v>
                </c:pt>
                <c:pt idx="1">
                  <c:v>Instagram</c:v>
                </c:pt>
                <c:pt idx="2">
                  <c:v>LinkedIn</c:v>
                </c:pt>
                <c:pt idx="3">
                  <c:v>YouTube</c:v>
                </c:pt>
                <c:pt idx="4">
                  <c:v>Twitter</c:v>
                </c:pt>
                <c:pt idx="5">
                  <c:v>TikTok</c:v>
                </c:pt>
                <c:pt idx="6">
                  <c:v>Snapchat</c:v>
                </c:pt>
              </c:strCache>
            </c:strRef>
          </c:cat>
          <c:val>
            <c:numRef>
              <c:f>Sheet1!$B$2:$B$8</c:f>
              <c:numCache>
                <c:ptCount val="7"/>
                <c:pt idx="0">
                  <c:v>0.9</c:v>
                </c:pt>
                <c:pt idx="1">
                  <c:v>0.79</c:v>
                </c:pt>
                <c:pt idx="2">
                  <c:v>0.61</c:v>
                </c:pt>
                <c:pt idx="3">
                  <c:v>0.52</c:v>
                </c:pt>
                <c:pt idx="4">
                  <c:v>0.43</c:v>
                </c:pt>
                <c:pt idx="5">
                  <c:v>0.18</c:v>
                </c:pt>
                <c:pt idx="6">
                  <c:v>0.04</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Increased exposure</c:v>
                </c:pt>
                <c:pt idx="1">
                  <c:v>Increased traffic</c:v>
                </c:pt>
                <c:pt idx="2">
                  <c:v>Generated leads</c:v>
                </c:pt>
                <c:pt idx="3">
                  <c:v>Developed loyal fans</c:v>
                </c:pt>
                <c:pt idx="4">
                  <c:v>Improved sales</c:v>
                </c:pt>
              </c:strCache>
            </c:strRef>
          </c:cat>
          <c:val>
            <c:numRef>
              <c:f>Sheet1!$B$2:$B$6</c:f>
              <c:numCache>
                <c:ptCount val="5"/>
                <c:pt idx="0">
                  <c:v>0.85</c:v>
                </c:pt>
                <c:pt idx="1">
                  <c:v>0.75</c:v>
                </c:pt>
                <c:pt idx="2">
                  <c:v>0.66</c:v>
                </c:pt>
                <c:pt idx="3">
                  <c:v>0.58</c:v>
                </c:pt>
                <c:pt idx="4">
                  <c:v>0.57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Increase</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Sheet1!$A$2:$A$8</c:f>
              <c:strCache>
                <c:ptCount val="7"/>
                <c:pt idx="0">
                  <c:v>Facebook</c:v>
                </c:pt>
                <c:pt idx="1">
                  <c:v>Instagram</c:v>
                </c:pt>
                <c:pt idx="2">
                  <c:v>Youtube</c:v>
                </c:pt>
                <c:pt idx="3">
                  <c:v>LinkedIn</c:v>
                </c:pt>
                <c:pt idx="4">
                  <c:v>Twitter</c:v>
                </c:pt>
                <c:pt idx="5">
                  <c:v>TikTok</c:v>
                </c:pt>
                <c:pt idx="6">
                  <c:v>Snapchat</c:v>
                </c:pt>
              </c:strCache>
            </c:strRef>
          </c:cat>
          <c:val>
            <c:numRef>
              <c:f>Sheet1!$B$2:$B$8</c:f>
              <c:numCache>
                <c:ptCount val="7"/>
                <c:pt idx="0">
                  <c:v>0.41</c:v>
                </c:pt>
                <c:pt idx="1">
                  <c:v>0.61</c:v>
                </c:pt>
                <c:pt idx="2">
                  <c:v>0.57</c:v>
                </c:pt>
                <c:pt idx="3">
                  <c:v>0.54</c:v>
                </c:pt>
                <c:pt idx="4">
                  <c:v>0.28</c:v>
                </c:pt>
                <c:pt idx="5">
                  <c:v>0.37</c:v>
                </c:pt>
                <c:pt idx="6">
                  <c:v>0.07</c:v>
                </c:pt>
              </c:numCache>
            </c:numRef>
          </c:val>
        </c:ser>
        <c:ser>
          <c:idx val="1"/>
          <c:order val="1"/>
          <c:tx>
            <c:strRef>
              <c:f>Sheet1!$C$1</c:f>
              <c:strCache>
                <c:ptCount val="1"/>
                <c:pt idx="0">
                  <c:v>Stay the same</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Sheet1!$A$2:$A$8</c:f>
              <c:strCache>
                <c:ptCount val="7"/>
                <c:pt idx="0">
                  <c:v>Facebook</c:v>
                </c:pt>
                <c:pt idx="1">
                  <c:v>Instagram</c:v>
                </c:pt>
                <c:pt idx="2">
                  <c:v>Youtube</c:v>
                </c:pt>
                <c:pt idx="3">
                  <c:v>LinkedIn</c:v>
                </c:pt>
                <c:pt idx="4">
                  <c:v>Twitter</c:v>
                </c:pt>
                <c:pt idx="5">
                  <c:v>TikTok</c:v>
                </c:pt>
                <c:pt idx="6">
                  <c:v>Snapchat</c:v>
                </c:pt>
              </c:strCache>
            </c:strRef>
          </c:cat>
          <c:val>
            <c:numRef>
              <c:f>Sheet1!$C$2:$C$8</c:f>
              <c:numCache>
                <c:ptCount val="7"/>
                <c:pt idx="0">
                  <c:v>0.41</c:v>
                </c:pt>
                <c:pt idx="1">
                  <c:v>0.25</c:v>
                </c:pt>
                <c:pt idx="2">
                  <c:v>0.23</c:v>
                </c:pt>
                <c:pt idx="3">
                  <c:v>0.25</c:v>
                </c:pt>
                <c:pt idx="4">
                  <c:v>0.33</c:v>
                </c:pt>
                <c:pt idx="5">
                  <c:v>0.08</c:v>
                </c:pt>
                <c:pt idx="6">
                  <c:v>0.09</c:v>
                </c:pt>
              </c:numCache>
            </c:numRef>
          </c:val>
        </c:ser>
        <c:ser>
          <c:idx val="2"/>
          <c:order val="2"/>
          <c:tx>
            <c:strRef>
              <c:f>Sheet1!$D$1</c:f>
              <c:strCache>
                <c:ptCount val="1"/>
                <c:pt idx="0">
                  <c:v>Decrease</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Sheet1!$A$2:$A$8</c:f>
              <c:strCache>
                <c:ptCount val="7"/>
                <c:pt idx="0">
                  <c:v>Facebook</c:v>
                </c:pt>
                <c:pt idx="1">
                  <c:v>Instagram</c:v>
                </c:pt>
                <c:pt idx="2">
                  <c:v>Youtube</c:v>
                </c:pt>
                <c:pt idx="3">
                  <c:v>LinkedIn</c:v>
                </c:pt>
                <c:pt idx="4">
                  <c:v>Twitter</c:v>
                </c:pt>
                <c:pt idx="5">
                  <c:v>TikTok</c:v>
                </c:pt>
                <c:pt idx="6">
                  <c:v>Snapchat</c:v>
                </c:pt>
              </c:strCache>
            </c:strRef>
          </c:cat>
          <c:val>
            <c:numRef>
              <c:f>Sheet1!$D$2:$D$8</c:f>
              <c:numCache>
                <c:ptCount val="7"/>
                <c:pt idx="0">
                  <c:v>0.13</c:v>
                </c:pt>
                <c:pt idx="1">
                  <c:v>0.05</c:v>
                </c:pt>
                <c:pt idx="2">
                  <c:v>0.03</c:v>
                </c:pt>
                <c:pt idx="3">
                  <c:v>0.03</c:v>
                </c:pt>
                <c:pt idx="4">
                  <c:v>0.07</c:v>
                </c:pt>
                <c:pt idx="5">
                  <c:v>0.03</c:v>
                </c:pt>
                <c:pt idx="6">
                  <c:v>0.04</c:v>
                </c:pt>
              </c:numCache>
            </c:numRef>
          </c:val>
        </c:ser>
        <c:ser>
          <c:idx val="3"/>
          <c:order val="3"/>
          <c:tx>
            <c:strRef>
              <c:f>Sheet1!$E$1</c:f>
              <c:strCache>
                <c:ptCount val="1"/>
                <c:pt idx="0">
                  <c:v>No plans to utilize</c:v>
                </c:pt>
              </c:strCache>
            </c:strRef>
          </c:tx>
          <c:spPr>
            <a:solidFill>
              <a:srgbClr val="A60B0B"/>
            </a:solidFill>
            <a:ln>
              <a:solidFill>
                <a:srgbClr val="A60B0B"/>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Sheet1!$A$2:$A$8</c:f>
              <c:strCache>
                <c:ptCount val="7"/>
                <c:pt idx="0">
                  <c:v>Facebook</c:v>
                </c:pt>
                <c:pt idx="1">
                  <c:v>Instagram</c:v>
                </c:pt>
                <c:pt idx="2">
                  <c:v>Youtube</c:v>
                </c:pt>
                <c:pt idx="3">
                  <c:v>LinkedIn</c:v>
                </c:pt>
                <c:pt idx="4">
                  <c:v>Twitter</c:v>
                </c:pt>
                <c:pt idx="5">
                  <c:v>TikTok</c:v>
                </c:pt>
                <c:pt idx="6">
                  <c:v>Snapchat</c:v>
                </c:pt>
              </c:strCache>
            </c:strRef>
          </c:cat>
          <c:val>
            <c:numRef>
              <c:f>Sheet1!$E$2:$E$8</c:f>
              <c:numCache>
                <c:ptCount val="7"/>
                <c:pt idx="0">
                  <c:v>0.05</c:v>
                </c:pt>
                <c:pt idx="1">
                  <c:v>0.09</c:v>
                </c:pt>
                <c:pt idx="2">
                  <c:v>0.17</c:v>
                </c:pt>
                <c:pt idx="3">
                  <c:v>0.18</c:v>
                </c:pt>
                <c:pt idx="4">
                  <c:v>0.32</c:v>
                </c:pt>
                <c:pt idx="5">
                  <c:v>0.52</c:v>
                </c:pt>
                <c:pt idx="6">
                  <c:v>0.8</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1"/>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5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Organic</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Facebook</c:v>
                </c:pt>
                <c:pt idx="1">
                  <c:v>Instagram</c:v>
                </c:pt>
                <c:pt idx="2">
                  <c:v>LinkedIn</c:v>
                </c:pt>
                <c:pt idx="3">
                  <c:v>Twitter</c:v>
                </c:pt>
                <c:pt idx="4">
                  <c:v>YouTube</c:v>
                </c:pt>
                <c:pt idx="5">
                  <c:v>TikTok</c:v>
                </c:pt>
                <c:pt idx="6">
                  <c:v>Other</c:v>
                </c:pt>
              </c:strCache>
            </c:strRef>
          </c:cat>
          <c:val>
            <c:numRef>
              <c:f>Sheet1!$B$2:$B$8</c:f>
              <c:numCache>
                <c:ptCount val="7"/>
                <c:pt idx="0">
                  <c:v>0.87</c:v>
                </c:pt>
                <c:pt idx="1">
                  <c:v>0.8</c:v>
                </c:pt>
                <c:pt idx="2">
                  <c:v>0.76</c:v>
                </c:pt>
                <c:pt idx="3">
                  <c:v>0.62</c:v>
                </c:pt>
                <c:pt idx="4">
                  <c:v>0.62</c:v>
                </c:pt>
                <c:pt idx="5">
                  <c:v>0.27</c:v>
                </c:pt>
                <c:pt idx="6">
                  <c:v>0.08</c:v>
                </c:pt>
              </c:numCache>
            </c:numRef>
          </c:val>
        </c:ser>
        <c:ser>
          <c:idx val="1"/>
          <c:order val="1"/>
          <c:tx>
            <c:strRef>
              <c:f>Sheet1!$C$1</c:f>
              <c:strCache>
                <c:ptCount val="1"/>
                <c:pt idx="0">
                  <c:v>Paid</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Facebook</c:v>
                </c:pt>
                <c:pt idx="1">
                  <c:v>Instagram</c:v>
                </c:pt>
                <c:pt idx="2">
                  <c:v>LinkedIn</c:v>
                </c:pt>
                <c:pt idx="3">
                  <c:v>Twitter</c:v>
                </c:pt>
                <c:pt idx="4">
                  <c:v>YouTube</c:v>
                </c:pt>
                <c:pt idx="5">
                  <c:v>TikTok</c:v>
                </c:pt>
                <c:pt idx="6">
                  <c:v>Other</c:v>
                </c:pt>
              </c:strCache>
            </c:strRef>
          </c:cat>
          <c:val>
            <c:numRef>
              <c:f>Sheet1!$C$2:$C$8</c:f>
              <c:numCache>
                <c:ptCount val="7"/>
                <c:pt idx="0">
                  <c:v>0.55</c:v>
                </c:pt>
                <c:pt idx="1">
                  <c:v>0.47</c:v>
                </c:pt>
                <c:pt idx="2">
                  <c:v>0.3</c:v>
                </c:pt>
                <c:pt idx="3">
                  <c:v>0.18</c:v>
                </c:pt>
                <c:pt idx="4">
                  <c:v>0.27</c:v>
                </c:pt>
                <c:pt idx="5">
                  <c:v>0.12</c:v>
                </c:pt>
                <c:pt idx="6">
                  <c:v>0.09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5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LinkedIn</c:v>
                </c:pt>
                <c:pt idx="1">
                  <c:v>Facebook</c:v>
                </c:pt>
                <c:pt idx="2">
                  <c:v>Twitter</c:v>
                </c:pt>
                <c:pt idx="3">
                  <c:v>YouTube</c:v>
                </c:pt>
                <c:pt idx="4">
                  <c:v>Instagram</c:v>
                </c:pt>
                <c:pt idx="5">
                  <c:v>TikTok</c:v>
                </c:pt>
                <c:pt idx="6">
                  <c:v>Tumblr</c:v>
                </c:pt>
              </c:strCache>
            </c:strRef>
          </c:cat>
          <c:val>
            <c:numRef>
              <c:f>Sheet1!$B$2:$B$8</c:f>
              <c:numCache>
                <c:ptCount val="7"/>
                <c:pt idx="0">
                  <c:v>0.22</c:v>
                </c:pt>
                <c:pt idx="1">
                  <c:v>0.21</c:v>
                </c:pt>
                <c:pt idx="2">
                  <c:v>0.22</c:v>
                </c:pt>
                <c:pt idx="3">
                  <c:v>0.18</c:v>
                </c:pt>
                <c:pt idx="4">
                  <c:v>0.11</c:v>
                </c:pt>
                <c:pt idx="5">
                  <c:v>0.09</c:v>
                </c:pt>
                <c:pt idx="6">
                  <c:v>0.01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Facebook</c:v>
                </c:pt>
                <c:pt idx="1">
                  <c:v>Instagram</c:v>
                </c:pt>
                <c:pt idx="2">
                  <c:v>YouTube</c:v>
                </c:pt>
                <c:pt idx="3">
                  <c:v>TikTok</c:v>
                </c:pt>
                <c:pt idx="4">
                  <c:v>LinkedIn</c:v>
                </c:pt>
              </c:strCache>
            </c:strRef>
          </c:cat>
          <c:val>
            <c:numRef>
              <c:f>Sheet1!$B$2:$B$6</c:f>
              <c:numCache>
                <c:ptCount val="5"/>
                <c:pt idx="0">
                  <c:v>0.22</c:v>
                </c:pt>
                <c:pt idx="1">
                  <c:v>0.16</c:v>
                </c:pt>
                <c:pt idx="2">
                  <c:v>0.16</c:v>
                </c:pt>
                <c:pt idx="3">
                  <c:v>0.16</c:v>
                </c:pt>
                <c:pt idx="4">
                  <c:v>0.07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 </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LinkedIn</c:v>
                </c:pt>
                <c:pt idx="1">
                  <c:v>Instagram</c:v>
                </c:pt>
                <c:pt idx="2">
                  <c:v>Facebook</c:v>
                </c:pt>
                <c:pt idx="3">
                  <c:v>YouTube</c:v>
                </c:pt>
                <c:pt idx="4">
                  <c:v>TikTok</c:v>
                </c:pt>
              </c:strCache>
            </c:strRef>
          </c:cat>
          <c:val>
            <c:numRef>
              <c:f>Sheet1!$B$2:$B$6</c:f>
              <c:numCache>
                <c:ptCount val="5"/>
                <c:pt idx="0">
                  <c:v>0.23</c:v>
                </c:pt>
                <c:pt idx="1">
                  <c:v>0.18</c:v>
                </c:pt>
                <c:pt idx="2">
                  <c:v>0.18</c:v>
                </c:pt>
                <c:pt idx="3">
                  <c:v>0.12</c:v>
                </c:pt>
                <c:pt idx="4">
                  <c:v>0.12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 </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Sheet1!$A$2:$A$6</c:f>
              <c:strCache>
                <c:ptCount val="5"/>
                <c:pt idx="0">
                  <c:v>LinkedIn</c:v>
                </c:pt>
                <c:pt idx="1">
                  <c:v>YouTube</c:v>
                </c:pt>
                <c:pt idx="2">
                  <c:v>Twitter</c:v>
                </c:pt>
                <c:pt idx="3">
                  <c:v>Instagram</c:v>
                </c:pt>
                <c:pt idx="4">
                  <c:v>Facebook</c:v>
                </c:pt>
              </c:strCache>
            </c:strRef>
          </c:cat>
          <c:val>
            <c:numRef>
              <c:f>Sheet1!$B$2:$B$6</c:f>
              <c:numCache>
                <c:ptCount val="5"/>
                <c:pt idx="0">
                  <c:v>0.49</c:v>
                </c:pt>
                <c:pt idx="1">
                  <c:v>0.43</c:v>
                </c:pt>
                <c:pt idx="2">
                  <c:v>0.43</c:v>
                </c:pt>
                <c:pt idx="3">
                  <c:v>0.39</c:v>
                </c:pt>
                <c:pt idx="4">
                  <c:v>0.39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United States</c:v>
                </c:pt>
                <c:pt idx="1">
                  <c:v>India</c:v>
                </c:pt>
                <c:pt idx="2">
                  <c:v>Germany</c:v>
                </c:pt>
                <c:pt idx="3">
                  <c:v>France</c:v>
                </c:pt>
                <c:pt idx="4">
                  <c:v>Brazil</c:v>
                </c:pt>
                <c:pt idx="5">
                  <c:v>United Kingdom</c:v>
                </c:pt>
                <c:pt idx="6">
                  <c:v>Turkey</c:v>
                </c:pt>
                <c:pt idx="7">
                  <c:v>Poland</c:v>
                </c:pt>
                <c:pt idx="8">
                  <c:v>Italy</c:v>
                </c:pt>
                <c:pt idx="9">
                  <c:v>Mexico</c:v>
                </c:pt>
                <c:pt idx="10">
                  <c:v>Argentina</c:v>
                </c:pt>
                <c:pt idx="11">
                  <c:v>Canada</c:v>
                </c:pt>
                <c:pt idx="12">
                  <c:v>Spain</c:v>
                </c:pt>
                <c:pt idx="13">
                  <c:v>Australia</c:v>
                </c:pt>
                <c:pt idx="14">
                  <c:v>Taiwan</c:v>
                </c:pt>
              </c:strCache>
            </c:strRef>
          </c:cat>
          <c:val>
            <c:numRef>
              <c:f>Sheet1!$B$2:$B$16</c:f>
              <c:numCache>
                <c:ptCount val="15"/>
                <c:pt idx="0">
                  <c:v>63657</c:v>
                </c:pt>
                <c:pt idx="1">
                  <c:v>45275</c:v>
                </c:pt>
                <c:pt idx="2">
                  <c:v>15554</c:v>
                </c:pt>
                <c:pt idx="3">
                  <c:v>13822</c:v>
                </c:pt>
                <c:pt idx="4">
                  <c:v>12989</c:v>
                </c:pt>
                <c:pt idx="5">
                  <c:v>10678</c:v>
                </c:pt>
                <c:pt idx="6">
                  <c:v>7825</c:v>
                </c:pt>
                <c:pt idx="7">
                  <c:v>5033</c:v>
                </c:pt>
                <c:pt idx="8">
                  <c:v>4125</c:v>
                </c:pt>
                <c:pt idx="9">
                  <c:v>3041</c:v>
                </c:pt>
                <c:pt idx="10">
                  <c:v>2746</c:v>
                </c:pt>
                <c:pt idx="11">
                  <c:v>2529</c:v>
                </c:pt>
                <c:pt idx="12">
                  <c:v>2417</c:v>
                </c:pt>
                <c:pt idx="13">
                  <c:v>1617</c:v>
                </c:pt>
                <c:pt idx="14">
                  <c:v>1582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tickLblPos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Sheet1!$A$2:$A$20</c:f>
              <c:strCache>
                <c:ptCount val="19"/>
                <c:pt idx="0">
                  <c:v>2013 H1</c:v>
                </c:pt>
                <c:pt idx="1">
                  <c:v>2013 H2</c:v>
                </c:pt>
                <c:pt idx="2">
                  <c:v>2014 H1</c:v>
                </c:pt>
                <c:pt idx="3">
                  <c:v>2014 H2</c:v>
                </c:pt>
                <c:pt idx="4">
                  <c:v>2015 H1</c:v>
                </c:pt>
                <c:pt idx="5">
                  <c:v>2015 H2</c:v>
                </c:pt>
                <c:pt idx="6">
                  <c:v>2016 H1</c:v>
                </c:pt>
                <c:pt idx="7">
                  <c:v>2016 H2</c:v>
                </c:pt>
                <c:pt idx="8">
                  <c:v>2017 H1</c:v>
                </c:pt>
                <c:pt idx="9">
                  <c:v>2017 H2</c:v>
                </c:pt>
                <c:pt idx="10">
                  <c:v>2018 H1</c:v>
                </c:pt>
                <c:pt idx="11">
                  <c:v>2018 H2</c:v>
                </c:pt>
                <c:pt idx="12">
                  <c:v>2019 H1</c:v>
                </c:pt>
                <c:pt idx="13">
                  <c:v>2019 H2</c:v>
                </c:pt>
                <c:pt idx="14">
                  <c:v>2020 H1</c:v>
                </c:pt>
                <c:pt idx="15">
                  <c:v>2020 H2</c:v>
                </c:pt>
                <c:pt idx="16">
                  <c:v>2021 H1</c:v>
                </c:pt>
                <c:pt idx="17">
                  <c:v>2021 H2</c:v>
                </c:pt>
                <c:pt idx="18">
                  <c:v>2022 H1</c:v>
                </c:pt>
              </c:strCache>
            </c:strRef>
          </c:cat>
          <c:val>
            <c:numRef>
              <c:f>Sheet1!$B$2:$B$20</c:f>
              <c:numCache>
                <c:ptCount val="19"/>
                <c:pt idx="0">
                  <c:v>11000</c:v>
                </c:pt>
                <c:pt idx="1">
                  <c:v>12598</c:v>
                </c:pt>
                <c:pt idx="2">
                  <c:v>15433</c:v>
                </c:pt>
                <c:pt idx="3">
                  <c:v>14274</c:v>
                </c:pt>
                <c:pt idx="4">
                  <c:v>17577</c:v>
                </c:pt>
                <c:pt idx="5">
                  <c:v>19235</c:v>
                </c:pt>
                <c:pt idx="6">
                  <c:v>23854</c:v>
                </c:pt>
                <c:pt idx="7">
                  <c:v>26014</c:v>
                </c:pt>
                <c:pt idx="8">
                  <c:v>32716</c:v>
                </c:pt>
                <c:pt idx="9">
                  <c:v>32742</c:v>
                </c:pt>
                <c:pt idx="10">
                  <c:v>42466</c:v>
                </c:pt>
                <c:pt idx="11">
                  <c:v>41336</c:v>
                </c:pt>
                <c:pt idx="12">
                  <c:v>50741</c:v>
                </c:pt>
                <c:pt idx="13">
                  <c:v>51121</c:v>
                </c:pt>
                <c:pt idx="14">
                  <c:v>61528</c:v>
                </c:pt>
                <c:pt idx="15">
                  <c:v>61262</c:v>
                </c:pt>
                <c:pt idx="16">
                  <c:v>63657</c:v>
                </c:pt>
                <c:pt idx="17">
                  <c:v>59996</c:v>
                </c:pt>
                <c:pt idx="18">
                  <c:v>69363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data requests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6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Emergency requests</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India</c:v>
                </c:pt>
                <c:pt idx="1">
                  <c:v>France</c:v>
                </c:pt>
                <c:pt idx="2">
                  <c:v>United States</c:v>
                </c:pt>
                <c:pt idx="3">
                  <c:v>Japan</c:v>
                </c:pt>
                <c:pt idx="4">
                  <c:v>Germany</c:v>
                </c:pt>
                <c:pt idx="5">
                  <c:v>Turkey</c:v>
                </c:pt>
                <c:pt idx="6">
                  <c:v>United Kingdom</c:v>
                </c:pt>
                <c:pt idx="7">
                  <c:v>Brazil</c:v>
                </c:pt>
                <c:pt idx="8">
                  <c:v>South Korea</c:v>
                </c:pt>
                <c:pt idx="9">
                  <c:v>Spain</c:v>
                </c:pt>
              </c:strCache>
            </c:strRef>
          </c:cat>
          <c:val>
            <c:numRef>
              <c:f>Sheet1!$B$2:$B$11</c:f>
              <c:numCache>
                <c:ptCount val="10"/>
                <c:pt idx="0">
                  <c:v>184</c:v>
                </c:pt>
                <c:pt idx="1">
                  <c:v>115</c:v>
                </c:pt>
                <c:pt idx="2">
                  <c:v>571</c:v>
                </c:pt>
                <c:pt idx="3">
                  <c:v>394</c:v>
                </c:pt>
                <c:pt idx="4">
                  <c:v>37</c:v>
                </c:pt>
                <c:pt idx="5">
                  <c:v>16</c:v>
                </c:pt>
                <c:pt idx="6">
                  <c:v>73</c:v>
                </c:pt>
                <c:pt idx="7">
                  <c:v>10</c:v>
                </c:pt>
                <c:pt idx="8">
                  <c:v>91</c:v>
                </c:pt>
                <c:pt idx="9">
                  <c:v>1</c:v>
                </c:pt>
              </c:numCache>
            </c:numRef>
          </c:val>
        </c:ser>
        <c:ser>
          <c:idx val="1"/>
          <c:order val="1"/>
          <c:tx>
            <c:strRef>
              <c:f>Sheet1!$C$1</c:f>
              <c:strCache>
                <c:ptCount val="1"/>
                <c:pt idx="0">
                  <c:v>Routine requests</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India</c:v>
                </c:pt>
                <c:pt idx="1">
                  <c:v>France</c:v>
                </c:pt>
                <c:pt idx="2">
                  <c:v>United States</c:v>
                </c:pt>
                <c:pt idx="3">
                  <c:v>Japan</c:v>
                </c:pt>
                <c:pt idx="4">
                  <c:v>Germany</c:v>
                </c:pt>
                <c:pt idx="5">
                  <c:v>Turkey</c:v>
                </c:pt>
                <c:pt idx="6">
                  <c:v>United Kingdom</c:v>
                </c:pt>
                <c:pt idx="7">
                  <c:v>Brazil</c:v>
                </c:pt>
                <c:pt idx="8">
                  <c:v>South Korea</c:v>
                </c:pt>
                <c:pt idx="9">
                  <c:v>Spain</c:v>
                </c:pt>
              </c:strCache>
            </c:strRef>
          </c:cat>
          <c:val>
            <c:numRef>
              <c:f>Sheet1!$C$2:$C$11</c:f>
              <c:numCache>
                <c:ptCount val="10"/>
                <c:pt idx="0">
                  <c:v>2027</c:v>
                </c:pt>
                <c:pt idx="1">
                  <c:v>1878</c:v>
                </c:pt>
                <c:pt idx="2">
                  <c:v>1762</c:v>
                </c:pt>
                <c:pt idx="3">
                  <c:v>1609</c:v>
                </c:pt>
                <c:pt idx="4">
                  <c:v>597</c:v>
                </c:pt>
                <c:pt idx="5">
                  <c:v>402</c:v>
                </c:pt>
                <c:pt idx="6">
                  <c:v>383</c:v>
                </c:pt>
                <c:pt idx="7">
                  <c:v>276</c:v>
                </c:pt>
                <c:pt idx="8">
                  <c:v>197</c:v>
                </c:pt>
                <c:pt idx="9">
                  <c:v>107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6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Sheet1!$A$2:$A$21</c:f>
              <c:strCache>
                <c:ptCount val="20"/>
                <c:pt idx="0">
                  <c:v>H1 '12</c:v>
                </c:pt>
                <c:pt idx="1">
                  <c:v>H2 '12</c:v>
                </c:pt>
                <c:pt idx="2">
                  <c:v>H1 '13</c:v>
                </c:pt>
                <c:pt idx="3">
                  <c:v>H2 '13</c:v>
                </c:pt>
                <c:pt idx="4">
                  <c:v>H1 '14</c:v>
                </c:pt>
                <c:pt idx="5">
                  <c:v>H2 '14</c:v>
                </c:pt>
                <c:pt idx="6">
                  <c:v>H1 '15</c:v>
                </c:pt>
                <c:pt idx="7">
                  <c:v>H2 '15</c:v>
                </c:pt>
                <c:pt idx="8">
                  <c:v>H1 '16</c:v>
                </c:pt>
                <c:pt idx="9">
                  <c:v>H2 '16</c:v>
                </c:pt>
                <c:pt idx="10">
                  <c:v>H1 '17</c:v>
                </c:pt>
                <c:pt idx="11">
                  <c:v>H2 '17</c:v>
                </c:pt>
                <c:pt idx="12">
                  <c:v>H1 '18</c:v>
                </c:pt>
                <c:pt idx="13">
                  <c:v>H2 '18</c:v>
                </c:pt>
                <c:pt idx="14">
                  <c:v>H1 '19</c:v>
                </c:pt>
                <c:pt idx="15">
                  <c:v>H2 '19</c:v>
                </c:pt>
                <c:pt idx="16">
                  <c:v>H1 '20</c:v>
                </c:pt>
                <c:pt idx="17">
                  <c:v>H2 '20</c:v>
                </c:pt>
                <c:pt idx="18">
                  <c:v>H1 '21</c:v>
                </c:pt>
                <c:pt idx="19">
                  <c:v>H2 '21</c:v>
                </c:pt>
              </c:strCache>
            </c:strRef>
          </c:cat>
          <c:val>
            <c:numRef>
              <c:f>Sheet1!$B$2:$B$21</c:f>
              <c:numCache>
                <c:ptCount val="20"/>
                <c:pt idx="0">
                  <c:v>6</c:v>
                </c:pt>
                <c:pt idx="1">
                  <c:v>42</c:v>
                </c:pt>
                <c:pt idx="2">
                  <c:v>60</c:v>
                </c:pt>
                <c:pt idx="3">
                  <c:v>377</c:v>
                </c:pt>
                <c:pt idx="4">
                  <c:v>433</c:v>
                </c:pt>
                <c:pt idx="5">
                  <c:v>796</c:v>
                </c:pt>
                <c:pt idx="6">
                  <c:v>1003</c:v>
                </c:pt>
                <c:pt idx="7">
                  <c:v>4618</c:v>
                </c:pt>
                <c:pt idx="8">
                  <c:v>5195</c:v>
                </c:pt>
                <c:pt idx="9">
                  <c:v>5925</c:v>
                </c:pt>
                <c:pt idx="10">
                  <c:v>6086</c:v>
                </c:pt>
                <c:pt idx="11">
                  <c:v>6651</c:v>
                </c:pt>
                <c:pt idx="12">
                  <c:v>12244</c:v>
                </c:pt>
                <c:pt idx="13">
                  <c:v>11221</c:v>
                </c:pt>
                <c:pt idx="14">
                  <c:v>18753</c:v>
                </c:pt>
                <c:pt idx="15">
                  <c:v>27538</c:v>
                </c:pt>
                <c:pt idx="16">
                  <c:v>42220</c:v>
                </c:pt>
                <c:pt idx="17">
                  <c:v>38524</c:v>
                </c:pt>
                <c:pt idx="18">
                  <c:v>43387</c:v>
                </c:pt>
                <c:pt idx="19">
                  <c:v>47572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data removal requests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6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H2 '14</c:v>
                </c:pt>
                <c:pt idx="1">
                  <c:v>H1 '15</c:v>
                </c:pt>
                <c:pt idx="2">
                  <c:v>H2 '15</c:v>
                </c:pt>
                <c:pt idx="3">
                  <c:v>H1 '16</c:v>
                </c:pt>
                <c:pt idx="4">
                  <c:v>H2 '16</c:v>
                </c:pt>
                <c:pt idx="5">
                  <c:v>H1 '17</c:v>
                </c:pt>
                <c:pt idx="6">
                  <c:v>H2 '17</c:v>
                </c:pt>
                <c:pt idx="7">
                  <c:v>H1 '18</c:v>
                </c:pt>
                <c:pt idx="8">
                  <c:v>H2 '18</c:v>
                </c:pt>
                <c:pt idx="9">
                  <c:v>H1 '19</c:v>
                </c:pt>
                <c:pt idx="10">
                  <c:v>H2 '19</c:v>
                </c:pt>
                <c:pt idx="11">
                  <c:v>H1 '20</c:v>
                </c:pt>
                <c:pt idx="12">
                  <c:v>H2 '20</c:v>
                </c:pt>
                <c:pt idx="13">
                  <c:v>H1 '21</c:v>
                </c:pt>
              </c:strCache>
            </c:strRef>
          </c:cat>
          <c:val>
            <c:numRef>
              <c:f>Sheet1!$B$2:$B$15</c:f>
              <c:numCache>
                <c:ptCount val="14"/>
                <c:pt idx="0">
                  <c:v>375</c:v>
                </c:pt>
                <c:pt idx="1">
                  <c:v>761</c:v>
                </c:pt>
                <c:pt idx="2">
                  <c:v>862</c:v>
                </c:pt>
                <c:pt idx="3">
                  <c:v>1472</c:v>
                </c:pt>
                <c:pt idx="4">
                  <c:v>2008</c:v>
                </c:pt>
                <c:pt idx="5">
                  <c:v>3726</c:v>
                </c:pt>
                <c:pt idx="6">
                  <c:v>5094</c:v>
                </c:pt>
                <c:pt idx="7">
                  <c:v>7235</c:v>
                </c:pt>
                <c:pt idx="8">
                  <c:v>6826</c:v>
                </c:pt>
                <c:pt idx="9">
                  <c:v>10061</c:v>
                </c:pt>
                <c:pt idx="10">
                  <c:v>11903</c:v>
                </c:pt>
                <c:pt idx="11">
                  <c:v>16931</c:v>
                </c:pt>
                <c:pt idx="12">
                  <c:v>16509</c:v>
                </c:pt>
                <c:pt idx="13">
                  <c:v>18742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title>
          <c:tx>
            <c:rich>
              <a:bodyPr/>
              <a:lstStyle/>
              <a:p>
                <a:pPr>
                  <a:defRPr/>
                </a:pPr>
                <a:r>
                  <a:rPr sz="1100" b="0">
                    <a:solidFill>
                      <a:srgbClr val="0F2741"/>
                    </a:solidFill>
                    <a:latin typeface="Open Sans"/>
                  </a:rPr>
                  <a:t>Period</a:t>
                </a:r>
              </a:p>
            </c:rich>
          </c:tx>
          <c:overlay val="0"/>
        </c:title>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data requests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6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Accounts suspected to be under the age of 13</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Sheet1!$A$2:$A$10</c:f>
              <c:strCache>
                <c:ptCount val="9"/>
                <c:pt idx="0">
                  <c:v>Q3 2020</c:v>
                </c:pt>
                <c:pt idx="1">
                  <c:v>Q4 2020</c:v>
                </c:pt>
                <c:pt idx="2">
                  <c:v>Q1 2021</c:v>
                </c:pt>
                <c:pt idx="3">
                  <c:v>Q2 2021</c:v>
                </c:pt>
                <c:pt idx="4">
                  <c:v>Q3 2021</c:v>
                </c:pt>
                <c:pt idx="5">
                  <c:v>Q4 2021</c:v>
                </c:pt>
                <c:pt idx="6">
                  <c:v>Q1 2022</c:v>
                </c:pt>
                <c:pt idx="7">
                  <c:v>Q2 2022</c:v>
                </c:pt>
                <c:pt idx="8">
                  <c:v>Q3 2022</c:v>
                </c:pt>
              </c:strCache>
            </c:strRef>
          </c:cat>
          <c:val>
            <c:numRef>
              <c:f>Sheet1!$B$2:$B$10</c:f>
              <c:numCache>
                <c:ptCount val="9"/>
                <c:pt idx="0">
                  <c:v>920793</c:v>
                </c:pt>
                <c:pt idx="1">
                  <c:v>3515238</c:v>
                </c:pt>
                <c:pt idx="2">
                  <c:v>7263952</c:v>
                </c:pt>
                <c:pt idx="3">
                  <c:v>11205597</c:v>
                </c:pt>
                <c:pt idx="4">
                  <c:v>12513729</c:v>
                </c:pt>
                <c:pt idx="5">
                  <c:v>15383165</c:v>
                </c:pt>
                <c:pt idx="6">
                  <c:v>20219476</c:v>
                </c:pt>
                <c:pt idx="7">
                  <c:v>20575056</c:v>
                </c:pt>
                <c:pt idx="8">
                  <c:v>19690699</c:v>
                </c:pt>
              </c:numCache>
            </c:numRef>
          </c:val>
        </c:ser>
        <c:ser>
          <c:idx val="1"/>
          <c:order val="1"/>
          <c:tx>
            <c:strRef>
              <c:f>Sheet1!$C$1</c:f>
              <c:strCache>
                <c:ptCount val="1"/>
                <c:pt idx="0">
                  <c:v>Fake accounts</c:v>
                </c:pt>
              </c:strCache>
            </c:strRef>
          </c:tx>
          <c:spPr>
            <a:solidFill>
              <a:srgbClr val="0F283E"/>
            </a:solidFill>
            <a:ln>
              <a:solidFill>
                <a:srgbClr val="0F283E"/>
              </a:solidFill>
            </a:ln>
          </c:spPr>
          <c:invertIfNegative val="0"/>
          <c:dLbls>
            <c:dLbl>
              <c:idx val="0"/>
              <c:delete val="1"/>
              <c:txPr>
                <a:bodyPr/>
                <a:p>
                  <a:pPr>
                    <a:defRPr smtId="4294967295">
                      <a:noFill/>
                    </a:defRPr>
                  </a:pPr>
                  <a:endParaRPr smtId="4294967295">
                    <a:noFill/>
                  </a:endParaRPr>
                </a:p>
              </c:txPr>
              <c:extLst/>
            </c:dLbl>
            <c:dLbl>
              <c:idx val="1"/>
              <c:delete val="1"/>
              <c:txPr>
                <a:bodyPr/>
                <a:p>
                  <a:pPr>
                    <a:defRPr smtId="4294967295">
                      <a:noFill/>
                    </a:defRPr>
                  </a:pPr>
                  <a:endParaRPr smtId="4294967295">
                    <a:noFill/>
                  </a:endParaRPr>
                </a:p>
              </c:txPr>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Sheet1!$A$2:$A$10</c:f>
              <c:strCache>
                <c:ptCount val="9"/>
                <c:pt idx="0">
                  <c:v>Q3 2020</c:v>
                </c:pt>
                <c:pt idx="1">
                  <c:v>Q4 2020</c:v>
                </c:pt>
                <c:pt idx="2">
                  <c:v>Q1 2021</c:v>
                </c:pt>
                <c:pt idx="3">
                  <c:v>Q2 2021</c:v>
                </c:pt>
                <c:pt idx="4">
                  <c:v>Q3 2021</c:v>
                </c:pt>
                <c:pt idx="5">
                  <c:v>Q4 2021</c:v>
                </c:pt>
                <c:pt idx="6">
                  <c:v>Q1 2022</c:v>
                </c:pt>
                <c:pt idx="7">
                  <c:v>Q2 2022</c:v>
                </c:pt>
                <c:pt idx="8">
                  <c:v>Q3 2022</c:v>
                </c:pt>
              </c:strCache>
            </c:strRef>
          </c:cat>
          <c:val>
            <c:numRef>
              <c:f>Sheet1!$C$2:$C$10</c:f>
              <c:numCache>
                <c:ptCount val="9"/>
                <c:pt idx="2">
                  <c:v>2409163</c:v>
                </c:pt>
                <c:pt idx="3">
                  <c:v>1653892</c:v>
                </c:pt>
                <c:pt idx="4">
                  <c:v>1728621</c:v>
                </c:pt>
                <c:pt idx="5">
                  <c:v>6077046</c:v>
                </c:pt>
                <c:pt idx="6">
                  <c:v>20890519</c:v>
                </c:pt>
                <c:pt idx="7">
                  <c:v>33632058</c:v>
                </c:pt>
                <c:pt idx="8">
                  <c:v>50963108</c:v>
                </c:pt>
              </c:numCache>
            </c:numRef>
          </c:val>
        </c:ser>
        <c:ser>
          <c:idx val="2"/>
          <c:order val="2"/>
          <c:tx>
            <c:strRef>
              <c:f>Sheet1!$D$1</c:f>
              <c:strCache>
                <c:ptCount val="1"/>
                <c:pt idx="0">
                  <c:v>Other accounts</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strRef>
              <c:f>Sheet1!$A$2:$A$10</c:f>
              <c:strCache>
                <c:ptCount val="9"/>
                <c:pt idx="0">
                  <c:v>Q3 2020</c:v>
                </c:pt>
                <c:pt idx="1">
                  <c:v>Q4 2020</c:v>
                </c:pt>
                <c:pt idx="2">
                  <c:v>Q1 2021</c:v>
                </c:pt>
                <c:pt idx="3">
                  <c:v>Q2 2021</c:v>
                </c:pt>
                <c:pt idx="4">
                  <c:v>Q3 2021</c:v>
                </c:pt>
                <c:pt idx="5">
                  <c:v>Q4 2021</c:v>
                </c:pt>
                <c:pt idx="6">
                  <c:v>Q1 2022</c:v>
                </c:pt>
                <c:pt idx="7">
                  <c:v>Q2 2022</c:v>
                </c:pt>
                <c:pt idx="8">
                  <c:v>Q3 2022</c:v>
                </c:pt>
              </c:strCache>
            </c:strRef>
          </c:cat>
          <c:val>
            <c:numRef>
              <c:f>Sheet1!$D$2:$D$10</c:f>
              <c:numCache>
                <c:ptCount val="9"/>
                <c:pt idx="0">
                  <c:v>704023</c:v>
                </c:pt>
                <c:pt idx="1">
                  <c:v>974454</c:v>
                </c:pt>
                <c:pt idx="2">
                  <c:v>1476399</c:v>
                </c:pt>
                <c:pt idx="3">
                  <c:v>2093045</c:v>
                </c:pt>
                <c:pt idx="4">
                  <c:v>2763376</c:v>
                </c:pt>
                <c:pt idx="5">
                  <c:v>2647105</c:v>
                </c:pt>
                <c:pt idx="6">
                  <c:v>3328993</c:v>
                </c:pt>
                <c:pt idx="7">
                  <c:v>5222968</c:v>
                </c:pt>
                <c:pt idx="8">
                  <c:v>5782574</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accounts removed</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drawings/_rels/vmlDrawing1.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9.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10.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11.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12.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13.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14.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15.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16.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title=""/>
        <p:cNvGrpSpPr/>
        <p:nvPr/>
      </p:nvGrpSpPr>
      <p:grpSpPr>
        <a:xfrm>
          <a:off x="0" y="0"/>
          <a:ext cx="0" cy="0"/>
        </a:xfrm>
      </p:grpSpPr>
      <p:sp>
        <p:nvSpPr>
          <p:cNvPr id="2" name="Title 1" title=""/>
          <p:cNvSpPr>
            <a:spLocks noGrp="1"/>
          </p:cNvSpPr>
          <p:nvPr>
            <p:ph type="ctrTitle"/>
          </p:nvPr>
        </p:nvSpPr>
        <p:spPr/>
        <p:txBody>
          <a:bodyPr/>
          <a:lstStyle/>
          <a:p>
            <a:r>
              <a:rPr lang="en-US" smtClean="0"/>
              <a:t>Click to edit Master title style</a:t>
            </a:r>
            <a:endParaRPr lang="en-US"/>
          </a:p>
        </p:txBody>
      </p:sp>
      <p:sp>
        <p:nvSpPr>
          <p:cNvPr id="3" name="Subtitle 2" title=""/>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title=""/>
          <p:cNvSpPr>
            <a:spLocks noGrp="1"/>
          </p:cNvSpPr>
          <p:nvPr>
            <p:ph type="dt" sz="half" idx="2"/>
          </p:nvPr>
        </p:nvSpPr>
        <p:spPr/>
        <p:txBody>
          <a:bodyPr/>
          <a:lstStyle/>
          <a:p>
            <a:fld id="{67CF05E5-BDA8-431F-8F5D-FCE7101482FC}"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782F43B2-9EF6-4512-AAC3-09524197F9CE}"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title=""/>
        <p:cNvGrpSpPr/>
        <p:nvPr/>
      </p:nvGrpSpPr>
      <p:grpSpPr>
        <a:xfrm>
          <a:off x="0" y="0"/>
          <a:ext cx="0" cy="0"/>
        </a:xfrm>
      </p:grpSpPr>
      <p:sp>
        <p:nvSpPr>
          <p:cNvPr id="2" name="Title 1" title=""/>
          <p:cNvSpPr>
            <a:spLocks noGrp="1"/>
          </p:cNvSpPr>
          <p:nvPr>
            <p:ph type="title"/>
          </p:nvPr>
        </p:nvSpPr>
        <p:spPr/>
        <p:txBody>
          <a:bodyPr anchor="t"/>
          <a:lstStyle>
            <a:lvl1pPr algn="l">
              <a:defRPr sz="4000" b="1" cap="all"/>
            </a:lvl1p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smtClean="0"/>
              <a:t>Click to edit Master text styles</a:t>
            </a:r>
          </a:p>
        </p:txBody>
      </p:sp>
      <p:sp>
        <p:nvSpPr>
          <p:cNvPr id="4" name="Date Placeholder 3" title=""/>
          <p:cNvSpPr>
            <a:spLocks noGrp="1"/>
          </p:cNvSpPr>
          <p:nvPr>
            <p:ph type="dt" sz="half" idx="2"/>
          </p:nvPr>
        </p:nvSpPr>
        <p:spPr/>
        <p:txBody>
          <a:bodyPr/>
          <a:lstStyle/>
          <a:p>
            <a:fld id="{C2ED27FC-1084-4788-ADCB-EE0EEBB4893F}"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title=""/>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title=""/>
          <p:cNvSpPr>
            <a:spLocks noGrp="1"/>
          </p:cNvSpPr>
          <p:nvPr>
            <p:ph type="dt" sz="half" idx="3"/>
          </p:nvPr>
        </p:nvSpPr>
        <p:spPr/>
        <p:txBody>
          <a:bodyPr/>
          <a:lstStyle/>
          <a:p>
            <a:fld id="{899A882F-3A94-4822-ADE1-0CC0C861B29A}"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4" name="Content Placeholder 3" title=""/>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title=""/>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6" name="Content Placeholder 5" title=""/>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title=""/>
          <p:cNvSpPr>
            <a:spLocks noGrp="1"/>
          </p:cNvSpPr>
          <p:nvPr>
            <p:ph type="dt" sz="half" idx="5"/>
          </p:nvPr>
        </p:nvSpPr>
        <p:spPr/>
        <p:txBody>
          <a:bodyPr/>
          <a:lstStyle/>
          <a:p>
            <a:fld id="{365543F8-D072-41EC-89DB-509B6860E30B}" type="datetimeFigureOut">
              <a:rPr lang="en-US" smtClean="0"/>
              <a:t>11/7/2009</a:t>
            </a:fld>
            <a:endParaRPr lang="en-US"/>
          </a:p>
        </p:txBody>
      </p:sp>
      <p:sp>
        <p:nvSpPr>
          <p:cNvPr id="8" name="Footer Placeholder 7" title=""/>
          <p:cNvSpPr>
            <a:spLocks noGrp="1"/>
          </p:cNvSpPr>
          <p:nvPr>
            <p:ph type="ftr" sz="quarter" idx="6"/>
          </p:nvPr>
        </p:nvSpPr>
        <p:spPr/>
        <p:txBody>
          <a:bodyPr/>
          <a:lstStyle/>
          <a:p>
            <a:endParaRPr lang="en-US"/>
          </a:p>
        </p:txBody>
      </p:sp>
      <p:sp>
        <p:nvSpPr>
          <p:cNvPr id="9" name="Slide Number Placeholder 8" title=""/>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Date Placeholder 2" title=""/>
          <p:cNvSpPr>
            <a:spLocks noGrp="1"/>
          </p:cNvSpPr>
          <p:nvPr>
            <p:ph type="dt" sz="half" idx="1"/>
          </p:nvPr>
        </p:nvSpPr>
        <p:spPr/>
        <p:txBody>
          <a:bodyPr/>
          <a:lstStyle/>
          <a:p>
            <a:fld id="{AA143AD7-6453-46B7-965B-5CC3D3007BAD}" type="datetimeFigureOut">
              <a:rPr lang="en-US" smtClean="0"/>
              <a:t>11/7/2009</a:t>
            </a:fld>
            <a:endParaRPr lang="en-US"/>
          </a:p>
        </p:txBody>
      </p:sp>
      <p:sp>
        <p:nvSpPr>
          <p:cNvPr id="4" name="Footer Placeholder 3" title=""/>
          <p:cNvSpPr>
            <a:spLocks noGrp="1"/>
          </p:cNvSpPr>
          <p:nvPr>
            <p:ph type="ftr" sz="quarter" idx="2"/>
          </p:nvPr>
        </p:nvSpPr>
        <p:spPr/>
        <p:txBody>
          <a:bodyPr/>
          <a:lstStyle/>
          <a:p>
            <a:endParaRPr lang="en-US"/>
          </a:p>
        </p:txBody>
      </p:sp>
      <p:sp>
        <p:nvSpPr>
          <p:cNvPr id="5" name="Slide Number Placeholder 4" title=""/>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title=""/>
        <p:cNvGrpSpPr/>
        <p:nvPr/>
      </p:nvGrpSpPr>
      <p:grpSpPr>
        <a:xfrm>
          <a:off x="0" y="0"/>
          <a:ext cx="0" cy="0"/>
        </a:xfrm>
      </p:grpSpPr>
      <p:sp>
        <p:nvSpPr>
          <p:cNvPr id="2" name="Date Placeholder 1" title=""/>
          <p:cNvSpPr>
            <a:spLocks noGrp="1"/>
          </p:cNvSpPr>
          <p:nvPr>
            <p:ph type="dt" sz="half"/>
          </p:nvPr>
        </p:nvSpPr>
        <p:spPr/>
        <p:txBody>
          <a:bodyPr/>
          <a:lstStyle/>
          <a:p>
            <a:fld id="{9A972D8D-6006-4E9C-8FC0-7C7966221A2C}" type="datetimeFigureOut">
              <a:rPr lang="en-US" smtClean="0"/>
              <a:t>11/7/2009</a:t>
            </a:fld>
            <a:endParaRPr lang="en-US"/>
          </a:p>
        </p:txBody>
      </p:sp>
      <p:sp>
        <p:nvSpPr>
          <p:cNvPr id="3" name="Footer Placeholder 2" title=""/>
          <p:cNvSpPr>
            <a:spLocks noGrp="1"/>
          </p:cNvSpPr>
          <p:nvPr>
            <p:ph type="ftr" sz="quarter" idx="1"/>
          </p:nvPr>
        </p:nvSpPr>
        <p:spPr/>
        <p:txBody>
          <a:bodyPr/>
          <a:lstStyle/>
          <a:p>
            <a:endParaRPr lang="en-US"/>
          </a:p>
        </p:txBody>
      </p:sp>
      <p:sp>
        <p:nvSpPr>
          <p:cNvPr id="4" name="Slide Number Placeholder 3" title=""/>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Content Placeholder 2" title=""/>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7F0E3209-2F09-4575-A4A0-DE5E41225E4F}"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Picture Placeholder 2" title=""/>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337D3683-5EB0-41B1-AB27-F28DDD9B31C5}"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EAEE6A5A-B69C-4F96-B78F-6C099966747E}"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title=""/>
        <p:cNvGrpSpPr/>
        <p:nvPr/>
      </p:nvGrpSpPr>
      <p:grpSpPr>
        <a:xfrm>
          <a:off x="0" y="0"/>
          <a:ext cx="0" cy="0"/>
        </a:xfrm>
      </p:grpSpPr>
      <p:sp>
        <p:nvSpPr>
          <p:cNvPr id="2" name="Vertical Title 1" title=""/>
          <p:cNvSpPr>
            <a:spLocks noGrp="1"/>
          </p:cNvSpPr>
          <p:nvPr>
            <p:ph type="title" orient="vert"/>
          </p:nvPr>
        </p:nvSpPr>
        <p:spPr/>
        <p:txBody>
          <a:bodyPr vert="eaVert"/>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51554094-33A7-42EB-94E7-1F420779582A}"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title=""/>
        <p:cNvGrpSpPr/>
        <p:nvPr/>
      </p:nvGrpSpPr>
      <p:grpSpPr>
        <a:xfrm>
          <a:off x="0" y="0"/>
          <a:ext cx="0" cy="0"/>
        </a:xfrm>
      </p:grpSpPr>
      <p:sp>
        <p:nvSpPr>
          <p:cNvPr id="2" name="Title Placeholder 1" title=""/>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title=""/>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11/7/2009</a:t>
            </a:fld>
            <a:endParaRPr lang="en-US"/>
          </a:p>
        </p:txBody>
      </p:sp>
      <p:sp>
        <p:nvSpPr>
          <p:cNvPr id="5" name="Footer Placeholder 4" title=""/>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title=""/>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emf" /><Relationship Id="rId3" Type="http://schemas.openxmlformats.org/officeDocument/2006/relationships/image" Target="../media/image2.emf"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slide" Target="slide11.xml" TargetMode="Internal" /><Relationship Id="rId11" Type="http://schemas.openxmlformats.org/officeDocument/2006/relationships/slide" Target="slide12.xml" TargetMode="Internal" /><Relationship Id="rId12" Type="http://schemas.openxmlformats.org/officeDocument/2006/relationships/slide" Target="slide13.xml" TargetMode="Internal" /><Relationship Id="rId13" Type="http://schemas.openxmlformats.org/officeDocument/2006/relationships/slide" Target="slide14.xml" TargetMode="Internal" /><Relationship Id="rId14" Type="http://schemas.openxmlformats.org/officeDocument/2006/relationships/slide" Target="slide16.xml" TargetMode="Internal" /><Relationship Id="rId15" Type="http://schemas.openxmlformats.org/officeDocument/2006/relationships/slide" Target="slide17.xml" TargetMode="Internal" /><Relationship Id="rId16" Type="http://schemas.openxmlformats.org/officeDocument/2006/relationships/slide" Target="slide18.xml" TargetMode="Internal" /><Relationship Id="rId17" Type="http://schemas.openxmlformats.org/officeDocument/2006/relationships/slide" Target="slide19.xml" TargetMode="Internal" /><Relationship Id="rId18" Type="http://schemas.openxmlformats.org/officeDocument/2006/relationships/slide" Target="slide20.xml" TargetMode="Internal" /><Relationship Id="rId19" Type="http://schemas.openxmlformats.org/officeDocument/2006/relationships/slide" Target="slide21.xml" TargetMode="Internal" /><Relationship Id="rId2" Type="http://schemas.openxmlformats.org/officeDocument/2006/relationships/image" Target="../media/image3.emf" /><Relationship Id="rId20" Type="http://schemas.openxmlformats.org/officeDocument/2006/relationships/slide" Target="slide22.xml" TargetMode="Internal" /><Relationship Id="rId21" Type="http://schemas.openxmlformats.org/officeDocument/2006/relationships/slide" Target="slide24.xml" TargetMode="Internal" /><Relationship Id="rId22" Type="http://schemas.openxmlformats.org/officeDocument/2006/relationships/slide" Target="slide25.xml" TargetMode="Internal" /><Relationship Id="rId23" Type="http://schemas.openxmlformats.org/officeDocument/2006/relationships/slide" Target="slide26.xml" TargetMode="Internal" /><Relationship Id="rId24" Type="http://schemas.openxmlformats.org/officeDocument/2006/relationships/slide" Target="slide27.xml" TargetMode="Internal" /><Relationship Id="rId25" Type="http://schemas.openxmlformats.org/officeDocument/2006/relationships/slide" Target="slide28.xml" TargetMode="Internal" /><Relationship Id="rId26" Type="http://schemas.openxmlformats.org/officeDocument/2006/relationships/slide" Target="slide29.xml" TargetMode="Internal" /><Relationship Id="rId27" Type="http://schemas.openxmlformats.org/officeDocument/2006/relationships/slide" Target="slide31.xml" TargetMode="Internal" /><Relationship Id="rId28" Type="http://schemas.openxmlformats.org/officeDocument/2006/relationships/slide" Target="slide32.xml" TargetMode="Internal" /><Relationship Id="rId29" Type="http://schemas.openxmlformats.org/officeDocument/2006/relationships/slide" Target="slide33.xml" TargetMode="Internal" /><Relationship Id="rId3" Type="http://schemas.openxmlformats.org/officeDocument/2006/relationships/image" Target="../media/image4.emf" /><Relationship Id="rId30" Type="http://schemas.openxmlformats.org/officeDocument/2006/relationships/slide" Target="slide34.xml" TargetMode="Internal" /><Relationship Id="rId31" Type="http://schemas.openxmlformats.org/officeDocument/2006/relationships/slide" Target="slide35.xml" TargetMode="Internal" /><Relationship Id="rId32" Type="http://schemas.openxmlformats.org/officeDocument/2006/relationships/slide" Target="slide36.xml" TargetMode="Internal" /><Relationship Id="rId33" Type="http://schemas.openxmlformats.org/officeDocument/2006/relationships/slide" Target="slide37.xml" TargetMode="Internal" /><Relationship Id="rId34" Type="http://schemas.openxmlformats.org/officeDocument/2006/relationships/slide" Target="slide38.xml" TargetMode="Internal" /><Relationship Id="rId35" Type="http://schemas.openxmlformats.org/officeDocument/2006/relationships/slide" Target="slide39.xml" TargetMode="Internal" /><Relationship Id="rId36" Type="http://schemas.openxmlformats.org/officeDocument/2006/relationships/slide" Target="slide41.xml" TargetMode="Internal" /><Relationship Id="rId4" Type="http://schemas.openxmlformats.org/officeDocument/2006/relationships/image" Target="../media/image5.emf" /><Relationship Id="rId5" Type="http://schemas.openxmlformats.org/officeDocument/2006/relationships/slide" Target="slide5.xml" TargetMode="Internal" /><Relationship Id="rId6" Type="http://schemas.openxmlformats.org/officeDocument/2006/relationships/slide" Target="slide6.xml" TargetMode="Internal" /><Relationship Id="rId7" Type="http://schemas.openxmlformats.org/officeDocument/2006/relationships/slide" Target="slide7.xml" TargetMode="Internal" /><Relationship Id="rId8" Type="http://schemas.openxmlformats.org/officeDocument/2006/relationships/slide" Target="slide8.xml" TargetMode="Internal" /><Relationship Id="rId9" Type="http://schemas.openxmlformats.org/officeDocument/2006/relationships/slide" Target="slide10.xml" TargetMode="Interna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slide" Target="slide47.xml" TargetMode="Internal" /><Relationship Id="rId11" Type="http://schemas.openxmlformats.org/officeDocument/2006/relationships/slide" Target="slide49.xml" TargetMode="Internal" /><Relationship Id="rId12" Type="http://schemas.openxmlformats.org/officeDocument/2006/relationships/slide" Target="slide50.xml" TargetMode="Internal" /><Relationship Id="rId13" Type="http://schemas.openxmlformats.org/officeDocument/2006/relationships/slide" Target="slide51.xml" TargetMode="Internal" /><Relationship Id="rId14" Type="http://schemas.openxmlformats.org/officeDocument/2006/relationships/slide" Target="slide52.xml" TargetMode="Internal" /><Relationship Id="rId15" Type="http://schemas.openxmlformats.org/officeDocument/2006/relationships/slide" Target="slide53.xml" TargetMode="Internal" /><Relationship Id="rId16" Type="http://schemas.openxmlformats.org/officeDocument/2006/relationships/slide" Target="slide54.xml" TargetMode="Internal" /><Relationship Id="rId17" Type="http://schemas.openxmlformats.org/officeDocument/2006/relationships/slide" Target="slide55.xml" TargetMode="Internal" /><Relationship Id="rId18" Type="http://schemas.openxmlformats.org/officeDocument/2006/relationships/slide" Target="slide56.xml" TargetMode="Internal" /><Relationship Id="rId19" Type="http://schemas.openxmlformats.org/officeDocument/2006/relationships/slide" Target="slide57.xml" TargetMode="Internal" /><Relationship Id="rId2" Type="http://schemas.openxmlformats.org/officeDocument/2006/relationships/image" Target="../media/image3.emf" /><Relationship Id="rId20" Type="http://schemas.openxmlformats.org/officeDocument/2006/relationships/slide" Target="slide58.xml" TargetMode="Internal" /><Relationship Id="rId21" Type="http://schemas.openxmlformats.org/officeDocument/2006/relationships/slide" Target="slide60.xml" TargetMode="Internal" /><Relationship Id="rId22" Type="http://schemas.openxmlformats.org/officeDocument/2006/relationships/slide" Target="slide61.xml" TargetMode="Internal" /><Relationship Id="rId23" Type="http://schemas.openxmlformats.org/officeDocument/2006/relationships/slide" Target="slide62.xml" TargetMode="Internal" /><Relationship Id="rId24" Type="http://schemas.openxmlformats.org/officeDocument/2006/relationships/slide" Target="slide63.xml" TargetMode="Internal" /><Relationship Id="rId25" Type="http://schemas.openxmlformats.org/officeDocument/2006/relationships/slide" Target="slide64.xml" TargetMode="Internal" /><Relationship Id="rId26" Type="http://schemas.openxmlformats.org/officeDocument/2006/relationships/slide" Target="slide65.xml" TargetMode="Internal" /><Relationship Id="rId27" Type="http://schemas.openxmlformats.org/officeDocument/2006/relationships/slide" Target="slide66.xml" TargetMode="Internal" /><Relationship Id="rId28" Type="http://schemas.openxmlformats.org/officeDocument/2006/relationships/slide" Target="slide67.xml" TargetMode="Internal" /><Relationship Id="rId29" Type="http://schemas.openxmlformats.org/officeDocument/2006/relationships/slide" Target="slide68.xml" TargetMode="Internal" /><Relationship Id="rId3" Type="http://schemas.openxmlformats.org/officeDocument/2006/relationships/image" Target="../media/image4.emf" /><Relationship Id="rId30" Type="http://schemas.openxmlformats.org/officeDocument/2006/relationships/slide" Target="slide69.xml" TargetMode="Internal" /><Relationship Id="rId31" Type="http://schemas.openxmlformats.org/officeDocument/2006/relationships/slide" Target="slide71.xml" TargetMode="Internal" /><Relationship Id="rId32" Type="http://schemas.openxmlformats.org/officeDocument/2006/relationships/slide" Target="slide72.xml" TargetMode="Internal" /><Relationship Id="rId33" Type="http://schemas.openxmlformats.org/officeDocument/2006/relationships/slide" Target="slide73.xml" TargetMode="Internal" /><Relationship Id="rId34" Type="http://schemas.openxmlformats.org/officeDocument/2006/relationships/slide" Target="slide74.xml" TargetMode="Internal" /><Relationship Id="rId35" Type="http://schemas.openxmlformats.org/officeDocument/2006/relationships/slide" Target="slide75.xml" TargetMode="Internal" /><Relationship Id="rId36" Type="http://schemas.openxmlformats.org/officeDocument/2006/relationships/slide" Target="slide76.xml" TargetMode="Internal" /><Relationship Id="rId37" Type="http://schemas.openxmlformats.org/officeDocument/2006/relationships/slide" Target="slide77.xml" TargetMode="Internal" /><Relationship Id="rId4" Type="http://schemas.openxmlformats.org/officeDocument/2006/relationships/image" Target="../media/image5.emf" /><Relationship Id="rId5" Type="http://schemas.openxmlformats.org/officeDocument/2006/relationships/slide" Target="slide42.xml" TargetMode="Internal" /><Relationship Id="rId6" Type="http://schemas.openxmlformats.org/officeDocument/2006/relationships/slide" Target="slide43.xml" TargetMode="Internal" /><Relationship Id="rId7" Type="http://schemas.openxmlformats.org/officeDocument/2006/relationships/slide" Target="slide44.xml" TargetMode="Internal" /><Relationship Id="rId8" Type="http://schemas.openxmlformats.org/officeDocument/2006/relationships/slide" Target="slide45.xml" TargetMode="Internal" /><Relationship Id="rId9" Type="http://schemas.openxmlformats.org/officeDocument/2006/relationships/slide" Target="slide46.xml" TargetMode="Interna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17136/digital-population-worldwide" TargetMode="External" /><Relationship Id="rId6" Type="http://schemas.openxmlformats.org/officeDocument/2006/relationships/chart" Target="../charts/chart1.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8414/number-of-worldwide-social-network-users" TargetMode="External" /><Relationship Id="rId6" Type="http://schemas.openxmlformats.org/officeDocument/2006/relationships/chart" Target="../charts/chart2.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60811/social-network-penetration-worldwide" TargetMode="External" /><Relationship Id="rId6" Type="http://schemas.openxmlformats.org/officeDocument/2006/relationships/chart" Target="../charts/chart3.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1582/revenue-of-selected-social-media-companies" TargetMode="External" /><Relationship Id="rId6" Type="http://schemas.openxmlformats.org/officeDocument/2006/relationships/chart" Target="../charts/chart4.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1.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8341/number-of-social-network-users-in-selected-countries" TargetMode="External" /><Relationship Id="rId6" Type="http://schemas.openxmlformats.org/officeDocument/2006/relationships/chart" Target="../charts/chart5.xml" /><Relationship Id="rId7" Type="http://schemas.openxmlformats.org/officeDocument/2006/relationships/image" Target="../media/image7.png" /><Relationship Id="rId8" Type="http://schemas.openxmlformats.org/officeDocument/2006/relationships/oleObject" Target="../embeddings/oleObject6.bin" TargetMode="Internal" /><Relationship Id="rId9" Type="http://schemas.openxmlformats.org/officeDocument/2006/relationships/image" Target="../media/image8.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2.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95619/regional-distribution-of-social-media-users-worldwide" TargetMode="External" /><Relationship Id="rId6" Type="http://schemas.openxmlformats.org/officeDocument/2006/relationships/chart" Target="../charts/chart6.xml" /><Relationship Id="rId7" Type="http://schemas.openxmlformats.org/officeDocument/2006/relationships/image" Target="../media/image7.png" /><Relationship Id="rId8" Type="http://schemas.openxmlformats.org/officeDocument/2006/relationships/oleObject" Target="../embeddings/oleObject8.bin" TargetMode="Internal" /><Relationship Id="rId9" Type="http://schemas.openxmlformats.org/officeDocument/2006/relationships/image" Target="../media/image8.png"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3.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69615/social-network-penetration-by-region" TargetMode="External" /><Relationship Id="rId6" Type="http://schemas.openxmlformats.org/officeDocument/2006/relationships/chart" Target="../charts/chart7.xml" /><Relationship Id="rId7" Type="http://schemas.openxmlformats.org/officeDocument/2006/relationships/image" Target="../media/image7.png" /><Relationship Id="rId8" Type="http://schemas.openxmlformats.org/officeDocument/2006/relationships/oleObject" Target="../embeddings/oleObject10.bin" TargetMode="Internal" /><Relationship Id="rId9" Type="http://schemas.openxmlformats.org/officeDocument/2006/relationships/image" Target="../media/image8.pn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4.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454772/number-social-media-user-worldwide-region" TargetMode="External" /><Relationship Id="rId6" Type="http://schemas.openxmlformats.org/officeDocument/2006/relationships/chart" Target="../charts/chart8.xml" /><Relationship Id="rId7" Type="http://schemas.openxmlformats.org/officeDocument/2006/relationships/image" Target="../media/image7.png" /><Relationship Id="rId8" Type="http://schemas.openxmlformats.org/officeDocument/2006/relationships/oleObject" Target="../embeddings/oleObject12.bin" TargetMode="Internal" /><Relationship Id="rId9" Type="http://schemas.openxmlformats.org/officeDocument/2006/relationships/image" Target="../media/image8.pn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5.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82846/regular-social-networking-usage-penetration-worldwide-by-country" TargetMode="External" /><Relationship Id="rId6" Type="http://schemas.openxmlformats.org/officeDocument/2006/relationships/chart" Target="../charts/chart9.xml" /><Relationship Id="rId7" Type="http://schemas.openxmlformats.org/officeDocument/2006/relationships/image" Target="../media/image7.png" /><Relationship Id="rId8" Type="http://schemas.openxmlformats.org/officeDocument/2006/relationships/oleObject" Target="../embeddings/oleObject14.bin" TargetMode="Internal" /><Relationship Id="rId9" Type="http://schemas.openxmlformats.org/officeDocument/2006/relationships/image" Target="../media/image8.png"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2014/global-social-networks-ranked-by-number-of-users" TargetMode="External" /><Relationship Id="rId6" Type="http://schemas.openxmlformats.org/officeDocument/2006/relationships/chart" Target="../charts/chart10.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84900/top-social-media-apps-worldwide-by-downloads" TargetMode="External" /><Relationship Id="rId6" Type="http://schemas.openxmlformats.org/officeDocument/2006/relationships/chart" Target="../charts/chart11.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4773/global-penetration-of-selected-social-media-sites" TargetMode="External" /><Relationship Id="rId6" Type="http://schemas.openxmlformats.org/officeDocument/2006/relationships/chart" Target="../charts/chart12.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96167/top-iphone-social-networking-apps-worldwide-by-number-of-downloads" TargetMode="External" /><Relationship Id="rId6" Type="http://schemas.openxmlformats.org/officeDocument/2006/relationships/chart" Target="../charts/chart13.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96209/top-iphone-social-networking-apps-worldwide-by-revenue" TargetMode="External" /><Relationship Id="rId6" Type="http://schemas.openxmlformats.org/officeDocument/2006/relationships/chart" Target="../charts/chart14.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90864/leading-google-play-communication-apps-worldwide-downloads" TargetMode="External" /><Relationship Id="rId6" Type="http://schemas.openxmlformats.org/officeDocument/2006/relationships/chart" Target="../charts/chart15.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93959/leading-google-play-communication-apps-worldwide-by-revenue" TargetMode="External" /><Relationship Id="rId6" Type="http://schemas.openxmlformats.org/officeDocument/2006/relationships/chart" Target="../charts/chart16.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6.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715449/social-media-usage-reasons-worldwide" TargetMode="External" /><Relationship Id="rId6" Type="http://schemas.openxmlformats.org/officeDocument/2006/relationships/chart" Target="../charts/chart17.xml" /><Relationship Id="rId7" Type="http://schemas.openxmlformats.org/officeDocument/2006/relationships/image" Target="../media/image7.png" /><Relationship Id="rId8" Type="http://schemas.openxmlformats.org/officeDocument/2006/relationships/oleObject" Target="../embeddings/oleObject23.bin" TargetMode="Internal" /><Relationship Id="rId9" Type="http://schemas.openxmlformats.org/officeDocument/2006/relationships/image" Target="../media/image8.png"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433871/daily-social-media-usage-worldwide" TargetMode="External" /><Relationship Id="rId6" Type="http://schemas.openxmlformats.org/officeDocument/2006/relationships/chart" Target="../charts/chart18.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72876/worldwide-social-apps-time-spent-daily-gender" TargetMode="External" /><Relationship Id="rId6" Type="http://schemas.openxmlformats.org/officeDocument/2006/relationships/chart" Target="../charts/chart19.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72883/worldwide-social-apps-time-spent-daily-age" TargetMode="External" /><Relationship Id="rId6" Type="http://schemas.openxmlformats.org/officeDocument/2006/relationships/chart" Target="../charts/chart20.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vmlDrawing" Target="../drawings/vmlDrawing7.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95140/new-user-generated-content-uploaded-by-users-per-minute" TargetMode="External" /><Relationship Id="rId6" Type="http://schemas.openxmlformats.org/officeDocument/2006/relationships/image" Target="../media/image7.png" /><Relationship Id="rId7" Type="http://schemas.openxmlformats.org/officeDocument/2006/relationships/oleObject" Target="../embeddings/oleObject27.bin" TargetMode="Internal" /><Relationship Id="rId8" Type="http://schemas.openxmlformats.org/officeDocument/2006/relationships/image" Target="../media/image8.png" /><Relationship Id="rId9" Type="http://schemas.openxmlformats.org/officeDocument/2006/relationships/image" Target="../media/image9.png"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8.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718019/social-media-news-source" TargetMode="External" /><Relationship Id="rId6" Type="http://schemas.openxmlformats.org/officeDocument/2006/relationships/chart" Target="../charts/chart21.xml" /><Relationship Id="rId7" Type="http://schemas.openxmlformats.org/officeDocument/2006/relationships/image" Target="../media/image7.png" /><Relationship Id="rId8" Type="http://schemas.openxmlformats.org/officeDocument/2006/relationships/oleObject" Target="../embeddings/oleObject29.bin" TargetMode="Internal" /><Relationship Id="rId9" Type="http://schemas.openxmlformats.org/officeDocument/2006/relationships/image" Target="../media/image8.png"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3067/current-coverage-of-facebook-by-world-region" TargetMode="External" /><Relationship Id="rId6" Type="http://schemas.openxmlformats.org/officeDocument/2006/relationships/chart" Target="../charts/chart22.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9.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68136/top-15-countries-based-on-number-of-facebook-users" TargetMode="External" /><Relationship Id="rId6" Type="http://schemas.openxmlformats.org/officeDocument/2006/relationships/chart" Target="../charts/chart23.xml" /><Relationship Id="rId7" Type="http://schemas.openxmlformats.org/officeDocument/2006/relationships/image" Target="../media/image7.png" /><Relationship Id="rId8" Type="http://schemas.openxmlformats.org/officeDocument/2006/relationships/oleObject" Target="../embeddings/oleObject32.bin" TargetMode="Internal" /><Relationship Id="rId9" Type="http://schemas.openxmlformats.org/officeDocument/2006/relationships/image" Target="../media/image8.png"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10.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8435/percentage-of-selected-countries-internet-users-on-facebook" TargetMode="External" /><Relationship Id="rId6" Type="http://schemas.openxmlformats.org/officeDocument/2006/relationships/chart" Target="../charts/chart24.xml" /><Relationship Id="rId7" Type="http://schemas.openxmlformats.org/officeDocument/2006/relationships/image" Target="../media/image7.png" /><Relationship Id="rId8" Type="http://schemas.openxmlformats.org/officeDocument/2006/relationships/oleObject" Target="../embeddings/oleObject34.bin" TargetMode="Internal" /><Relationship Id="rId9" Type="http://schemas.openxmlformats.org/officeDocument/2006/relationships/image" Target="../media/image8.png"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377808/distribution-of-facebook-users-by-device" TargetMode="External" /><Relationship Id="rId6" Type="http://schemas.openxmlformats.org/officeDocument/2006/relationships/chart" Target="../charts/chart25.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64810/number-of-monthly-active-facebook-users-worldwide" TargetMode="External" /><Relationship Id="rId6" Type="http://schemas.openxmlformats.org/officeDocument/2006/relationships/chart" Target="../charts/chart26.xml"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346167/facebook-global-dau" TargetMode="External" /><Relationship Id="rId6" Type="http://schemas.openxmlformats.org/officeDocument/2006/relationships/chart" Target="../charts/chart27.xml"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11.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69304/international-brands-on-facebook-by-number-of-fans" TargetMode="External" /><Relationship Id="rId6" Type="http://schemas.openxmlformats.org/officeDocument/2006/relationships/chart" Target="../charts/chart28.xml" /><Relationship Id="rId7" Type="http://schemas.openxmlformats.org/officeDocument/2006/relationships/image" Target="../media/image7.png" /><Relationship Id="rId8" Type="http://schemas.openxmlformats.org/officeDocument/2006/relationships/oleObject" Target="../embeddings/oleObject39.bin" TargetMode="Internal" /><Relationship Id="rId9" Type="http://schemas.openxmlformats.org/officeDocument/2006/relationships/image" Target="../media/image8.png"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444419/facebook-leading-news-publishers-by-interactions-us" TargetMode="External" /><Relationship Id="rId6" Type="http://schemas.openxmlformats.org/officeDocument/2006/relationships/chart" Target="../charts/chart29.xml"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04067/daily-facebook-content-net-page-likes-by-vertical" TargetMode="External" /><Relationship Id="rId6" Type="http://schemas.openxmlformats.org/officeDocument/2006/relationships/chart" Target="../charts/chart30.xml"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12.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325567/instagram-penetration-regions" TargetMode="External" /><Relationship Id="rId6" Type="http://schemas.openxmlformats.org/officeDocument/2006/relationships/chart" Target="../charts/chart31.xml" /><Relationship Id="rId7" Type="http://schemas.openxmlformats.org/officeDocument/2006/relationships/image" Target="../media/image7.png" /><Relationship Id="rId8" Type="http://schemas.openxmlformats.org/officeDocument/2006/relationships/oleObject" Target="../embeddings/oleObject43.bin" TargetMode="Internal" /><Relationship Id="rId9" Type="http://schemas.openxmlformats.org/officeDocument/2006/relationships/image" Target="../media/image8.png" /></Relationships>
</file>

<file path=ppt/slides/_rels/slide4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53577/number-of-monthly-active-instagram-users" TargetMode="External" /><Relationship Id="rId6" Type="http://schemas.openxmlformats.org/officeDocument/2006/relationships/chart" Target="../charts/chart32.xml" /></Relationships>
</file>

<file path=ppt/slides/_rels/slide4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325587/instagram-global-age-group" TargetMode="External" /><Relationship Id="rId6" Type="http://schemas.openxmlformats.org/officeDocument/2006/relationships/chart" Target="../charts/chart33.xml" /></Relationships>
</file>

<file path=ppt/slides/_rels/slide4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48769/age-distribution-of-worldwide-instagram-users" TargetMode="External" /><Relationship Id="rId6" Type="http://schemas.openxmlformats.org/officeDocument/2006/relationships/chart" Target="../charts/chart34.xml" /></Relationships>
</file>

<file path=ppt/slides/_rels/slide45.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13.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421169/most-followers-instagram" TargetMode="External" /><Relationship Id="rId6" Type="http://schemas.openxmlformats.org/officeDocument/2006/relationships/chart" Target="../charts/chart35.xml" /><Relationship Id="rId7" Type="http://schemas.openxmlformats.org/officeDocument/2006/relationships/image" Target="../media/image7.png" /><Relationship Id="rId8" Type="http://schemas.openxmlformats.org/officeDocument/2006/relationships/oleObject" Target="../embeddings/oleObject48.bin" TargetMode="Internal" /><Relationship Id="rId9" Type="http://schemas.openxmlformats.org/officeDocument/2006/relationships/image" Target="../media/image8.png" /></Relationships>
</file>

<file path=ppt/slides/_rels/slide4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10997/instagram-most-liked-type-of-content-worldwide" TargetMode="External" /><Relationship Id="rId6" Type="http://schemas.openxmlformats.org/officeDocument/2006/relationships/chart" Target="../charts/chart36.xml" /></Relationships>
</file>

<file path=ppt/slides/_rels/slide4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73810/instagram-posts-most-likes" TargetMode="External" /><Relationship Id="rId6" Type="http://schemas.openxmlformats.org/officeDocument/2006/relationships/chart" Target="../charts/chart37.xml" /></Relationships>
</file>

<file path=ppt/slides/_rels/slide4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4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99785/distribution-tiktok-users-gender" TargetMode="External" /><Relationship Id="rId6" Type="http://schemas.openxmlformats.org/officeDocument/2006/relationships/chart" Target="../charts/chart38.xml" /></Relationships>
</file>

<file path=ppt/slides/_rels/slide5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99771/tiktok-global-user-age-distribution" TargetMode="External" /><Relationship Id="rId6" Type="http://schemas.openxmlformats.org/officeDocument/2006/relationships/chart" Target="../charts/chart39.xml" /></Relationships>
</file>

<file path=ppt/slides/_rels/slide5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49419/average-weekly-time-spent-on-tiktok-worldwide" TargetMode="External" /><Relationship Id="rId6" Type="http://schemas.openxmlformats.org/officeDocument/2006/relationships/chart" Target="../charts/chart40.xml" /></Relationships>
</file>

<file path=ppt/slides/_rels/slide5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0767/tiktok-mau-worldwide-ios" TargetMode="External" /><Relationship Id="rId6" Type="http://schemas.openxmlformats.org/officeDocument/2006/relationships/chart" Target="../charts/chart41.xml" /></Relationships>
</file>

<file path=ppt/slides/_rels/slide5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0764/tiktok-dau-worldwide-ios" TargetMode="External" /><Relationship Id="rId6" Type="http://schemas.openxmlformats.org/officeDocument/2006/relationships/chart" Target="../charts/chart42.xml" /></Relationships>
</file>

<file path=ppt/slides/_rels/slide5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0669/tiktok-mau-worldwide-android" TargetMode="External" /><Relationship Id="rId6" Type="http://schemas.openxmlformats.org/officeDocument/2006/relationships/chart" Target="../charts/chart43.xml" /></Relationships>
</file>

<file path=ppt/slides/_rels/slide5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0659/tiktok-dau-worldwide-android" TargetMode="External" /><Relationship Id="rId6" Type="http://schemas.openxmlformats.org/officeDocument/2006/relationships/chart" Target="../charts/chart44.xml" /></Relationships>
</file>

<file path=ppt/slides/_rels/slide5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78692/china-tiktok-worldwide-downloads-quarterly" TargetMode="External" /><Relationship Id="rId6" Type="http://schemas.openxmlformats.org/officeDocument/2006/relationships/chart" Target="../charts/chart45.xml" /></Relationships>
</file>

<file path=ppt/slides/_rels/slide5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89420/tiktok-annual-first-time-installs" TargetMode="External" /><Relationship Id="rId6" Type="http://schemas.openxmlformats.org/officeDocument/2006/relationships/chart" Target="../charts/chart46.xml" /></Relationships>
</file>

<file path=ppt/slides/_rels/slide5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78315/most-followers-tiktok-global" TargetMode="External" /><Relationship Id="rId6" Type="http://schemas.openxmlformats.org/officeDocument/2006/relationships/chart" Target="../charts/chart47.xml" /></Relationships>
</file>

<file path=ppt/slides/_rels/slide5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60.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14.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459813/social-media-advertising-revenue-countries-digital-market-outlook" TargetMode="External" /><Relationship Id="rId6" Type="http://schemas.openxmlformats.org/officeDocument/2006/relationships/chart" Target="../charts/chart48.xml" /><Relationship Id="rId7" Type="http://schemas.openxmlformats.org/officeDocument/2006/relationships/image" Target="../media/image7.png" /><Relationship Id="rId8" Type="http://schemas.openxmlformats.org/officeDocument/2006/relationships/oleObject" Target="../embeddings/oleObject62.bin" TargetMode="Internal" /><Relationship Id="rId9" Type="http://schemas.openxmlformats.org/officeDocument/2006/relationships/image" Target="../media/image8.png" /></Relationships>
</file>

<file path=ppt/slides/_rels/slide6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325160/social-media-ad-spend-user" TargetMode="External" /><Relationship Id="rId6" Type="http://schemas.openxmlformats.org/officeDocument/2006/relationships/chart" Target="../charts/chart49.xml" /></Relationships>
</file>

<file path=ppt/slides/_rels/slide6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59379/social-media-platforms-used-by-marketers-worldwide" TargetMode="External" /><Relationship Id="rId6" Type="http://schemas.openxmlformats.org/officeDocument/2006/relationships/chart" Target="../charts/chart50.xml" /></Relationships>
</file>

<file path=ppt/slides/_rels/slide6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88447/influence-of-global-social-media-marketing-usage-on-businesses" TargetMode="External" /><Relationship Id="rId6" Type="http://schemas.openxmlformats.org/officeDocument/2006/relationships/chart" Target="../charts/chart51.xml" /></Relationships>
</file>

<file path=ppt/slides/_rels/slide6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58974/future-use-of-social-media-among-marketers-worldwide-by-platform" TargetMode="External" /><Relationship Id="rId6" Type="http://schemas.openxmlformats.org/officeDocument/2006/relationships/chart" Target="../charts/chart52.xml" /></Relationships>
</file>

<file path=ppt/slides/_rels/slide6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49231/social-media-used-by-b2c-marketers-north-america" TargetMode="External" /><Relationship Id="rId6" Type="http://schemas.openxmlformats.org/officeDocument/2006/relationships/chart" Target="../charts/chart53.xml" /></Relationships>
</file>

<file path=ppt/slides/_rels/slide6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45131/social-media-used-by-b2b-marketers-in-north-america" TargetMode="External" /><Relationship Id="rId6" Type="http://schemas.openxmlformats.org/officeDocument/2006/relationships/chart" Target="../charts/chart54.xml" /></Relationships>
</file>

<file path=ppt/slides/_rels/slide6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84484/social-media-platforms-highest-return-on-investment" TargetMode="External" /><Relationship Id="rId6" Type="http://schemas.openxmlformats.org/officeDocument/2006/relationships/chart" Target="../charts/chart55.xml" /></Relationships>
</file>

<file path=ppt/slides/_rels/slide6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84858/social-media-platforms-highest-b2b-return-on-investment" TargetMode="External" /><Relationship Id="rId6" Type="http://schemas.openxmlformats.org/officeDocument/2006/relationships/chart" Target="../charts/chart56.xml" /></Relationships>
</file>

<file path=ppt/slides/_rels/slide6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311524/effectiveness-of-b2b-social-media-content-marketing" TargetMode="External" /><Relationship Id="rId6" Type="http://schemas.openxmlformats.org/officeDocument/2006/relationships/chart" Target="../charts/chart57.xml" /></Relationships>
</file>

<file path=ppt/slides/_rels/slide7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71.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15.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87845/global-data-requests-from-facebook-by-federal-agencies-and-governments" TargetMode="External" /><Relationship Id="rId6" Type="http://schemas.openxmlformats.org/officeDocument/2006/relationships/chart" Target="../charts/chart58.xml" /><Relationship Id="rId7" Type="http://schemas.openxmlformats.org/officeDocument/2006/relationships/image" Target="../media/image7.png" /><Relationship Id="rId8" Type="http://schemas.openxmlformats.org/officeDocument/2006/relationships/oleObject" Target="../embeddings/oleObject73.bin" TargetMode="Internal" /><Relationship Id="rId9" Type="http://schemas.openxmlformats.org/officeDocument/2006/relationships/image" Target="../media/image8.png" /></Relationships>
</file>

<file path=ppt/slides/_rels/slide7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879006/us-data-requests-facebook-federal-agencies-and-governments" TargetMode="External" /><Relationship Id="rId6" Type="http://schemas.openxmlformats.org/officeDocument/2006/relationships/chart" Target="../charts/chart59.xml" /></Relationships>
</file>

<file path=ppt/slides/_rels/slide7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34867/government-requests-for-user-data-from-twitter" TargetMode="External" /><Relationship Id="rId6" Type="http://schemas.openxmlformats.org/officeDocument/2006/relationships/chart" Target="../charts/chart60.xml" /></Relationships>
</file>

<file path=ppt/slides/_rels/slide7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315147/total-number-of-requests-for-data-removal-twitter" TargetMode="External" /><Relationship Id="rId6" Type="http://schemas.openxmlformats.org/officeDocument/2006/relationships/chart" Target="../charts/chart61.xml" /></Relationships>
</file>

<file path=ppt/slides/_rels/slide75.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vmlDrawing" Target="../drawings/vmlDrawing16.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34858/number-of-requests-for-data-removal-from-twitter" TargetMode="External" /><Relationship Id="rId6" Type="http://schemas.openxmlformats.org/officeDocument/2006/relationships/image" Target="../media/image7.png" /><Relationship Id="rId7" Type="http://schemas.openxmlformats.org/officeDocument/2006/relationships/oleObject" Target="../embeddings/oleObject77.bin" TargetMode="Internal" /><Relationship Id="rId8" Type="http://schemas.openxmlformats.org/officeDocument/2006/relationships/image" Target="../media/image8.png" /><Relationship Id="rId9" Type="http://schemas.openxmlformats.org/officeDocument/2006/relationships/image" Target="../media/image9.png" /></Relationships>
</file>

<file path=ppt/slides/_rels/slide7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535374/snapchat-us-government-user-data-requests" TargetMode="External" /><Relationship Id="rId6" Type="http://schemas.openxmlformats.org/officeDocument/2006/relationships/chart" Target="../charts/chart62.xml" /></Relationships>
</file>

<file path=ppt/slides/_rels/slide7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08893/tiktok-accounts-removed-by-reason" TargetMode="External" /><Relationship Id="rId6" Type="http://schemas.openxmlformats.org/officeDocument/2006/relationships/chart" Target="../charts/chart63.xml" /></Relationships>
</file>

<file path=ppt/slides/_rels/slide7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5" name="New shape" title=""/>
          <p:cNvSpPr/>
          <p:nvPr/>
        </p:nvSpPr>
        <p:spPr>
          <a:xfrm>
            <a:off x="74196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583200" y="6231600"/>
            <a:ext cx="1461600" cy="28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DIGITAL &amp; TRENDS</a:t>
            </a:r>
          </a:p>
        </p:txBody>
      </p:sp>
      <p:sp>
        <p:nvSpPr>
          <p:cNvPr id="3"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Social media usage worldwide</a:t>
            </a: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a:t>
            </a:r>
          </a:p>
        </p:txBody>
      </p:sp>
      <p:sp>
        <p:nvSpPr>
          <p:cNvPr id="7" name="New shape" title=""/>
          <p:cNvSpPr/>
          <p:nvPr/>
        </p:nvSpPr>
        <p:spPr>
          <a:xfrm>
            <a:off x="586800" y="188280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01 Overview</a:t>
            </a:r>
          </a:p>
        </p:txBody>
      </p:sp>
      <p:sp>
        <p:nvSpPr>
          <p:cNvPr id="8" name="New shape" title=""/>
          <p:cNvSpPr/>
          <p:nvPr/>
        </p:nvSpPr>
        <p:spPr>
          <a:xfrm>
            <a:off x="5544000" y="211624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5" action="ppaction://hlinksldjump">
                  <a:extLst>
                    <a:ext uri="{A12FA001-AC4F-418D-AE19-62706E023703}">
                      <ahyp:hlinkClr xmlns:ahyp="http://schemas.microsoft.com/office/drawing/2018/hyperlinkcolor" val="tx"/>
                    </a:ext>
                  </a:extLst>
                </a:hlinkClick>
              </a:rPr>
              <a:t>04</a:t>
            </a:r>
          </a:p>
        </p:txBody>
      </p:sp>
      <p:sp>
        <p:nvSpPr>
          <p:cNvPr id="9" name="New shape" title=""/>
          <p:cNvSpPr/>
          <p:nvPr/>
        </p:nvSpPr>
        <p:spPr>
          <a:xfrm>
            <a:off x="586800" y="211624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Worldwide digital population 2023</a:t>
            </a:r>
          </a:p>
        </p:txBody>
      </p:sp>
      <p:sp>
        <p:nvSpPr>
          <p:cNvPr id="10" name="New shape" title=""/>
          <p:cNvSpPr/>
          <p:nvPr/>
        </p:nvSpPr>
        <p:spPr>
          <a:xfrm>
            <a:off x="5544000" y="22865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6" action="ppaction://hlinksldjump">
                  <a:extLst>
                    <a:ext uri="{A12FA001-AC4F-418D-AE19-62706E023703}">
                      <ahyp:hlinkClr xmlns:ahyp="http://schemas.microsoft.com/office/drawing/2018/hyperlinkcolor" val="tx"/>
                    </a:ext>
                  </a:extLst>
                </a:hlinkClick>
              </a:rPr>
              <a:t>05</a:t>
            </a:r>
          </a:p>
        </p:txBody>
      </p:sp>
      <p:sp>
        <p:nvSpPr>
          <p:cNvPr id="11" name="New shape" title=""/>
          <p:cNvSpPr/>
          <p:nvPr/>
        </p:nvSpPr>
        <p:spPr>
          <a:xfrm>
            <a:off x="586800" y="22865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global social network users 2017-2027</a:t>
            </a:r>
          </a:p>
        </p:txBody>
      </p:sp>
      <p:sp>
        <p:nvSpPr>
          <p:cNvPr id="12" name="New shape" title=""/>
          <p:cNvSpPr/>
          <p:nvPr/>
        </p:nvSpPr>
        <p:spPr>
          <a:xfrm>
            <a:off x="5544000" y="24567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7" action="ppaction://hlinksldjump">
                  <a:extLst>
                    <a:ext uri="{A12FA001-AC4F-418D-AE19-62706E023703}">
                      <ahyp:hlinkClr xmlns:ahyp="http://schemas.microsoft.com/office/drawing/2018/hyperlinkcolor" val="tx"/>
                    </a:ext>
                  </a:extLst>
                </a:hlinkClick>
              </a:rPr>
              <a:t>06</a:t>
            </a:r>
          </a:p>
        </p:txBody>
      </p:sp>
      <p:sp>
        <p:nvSpPr>
          <p:cNvPr id="13" name="New shape" title=""/>
          <p:cNvSpPr/>
          <p:nvPr/>
        </p:nvSpPr>
        <p:spPr>
          <a:xfrm>
            <a:off x="586800" y="24567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social network penetration 2018-2027</a:t>
            </a:r>
          </a:p>
        </p:txBody>
      </p:sp>
      <p:sp>
        <p:nvSpPr>
          <p:cNvPr id="14" name="New shape" title=""/>
          <p:cNvSpPr/>
          <p:nvPr/>
        </p:nvSpPr>
        <p:spPr>
          <a:xfrm>
            <a:off x="5544000" y="2627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8" action="ppaction://hlinksldjump">
                  <a:extLst>
                    <a:ext uri="{A12FA001-AC4F-418D-AE19-62706E023703}">
                      <ahyp:hlinkClr xmlns:ahyp="http://schemas.microsoft.com/office/drawing/2018/hyperlinkcolor" val="tx"/>
                    </a:ext>
                  </a:extLst>
                </a:hlinkClick>
              </a:rPr>
              <a:t>07</a:t>
            </a:r>
          </a:p>
        </p:txBody>
      </p:sp>
      <p:sp>
        <p:nvSpPr>
          <p:cNvPr id="15" name="New shape" title=""/>
          <p:cNvSpPr/>
          <p:nvPr/>
        </p:nvSpPr>
        <p:spPr>
          <a:xfrm>
            <a:off x="586800" y="2627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revenue of selected companies 2021</a:t>
            </a:r>
          </a:p>
        </p:txBody>
      </p:sp>
      <p:sp>
        <p:nvSpPr>
          <p:cNvPr id="16" name="New shape" title=""/>
          <p:cNvSpPr/>
          <p:nvPr/>
        </p:nvSpPr>
        <p:spPr>
          <a:xfrm>
            <a:off x="586800" y="2924355"/>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02 Regional overview</a:t>
            </a:r>
          </a:p>
        </p:txBody>
      </p:sp>
      <p:sp>
        <p:nvSpPr>
          <p:cNvPr id="17" name="New shape" title=""/>
          <p:cNvSpPr/>
          <p:nvPr/>
        </p:nvSpPr>
        <p:spPr>
          <a:xfrm>
            <a:off x="5544000" y="315779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9" action="ppaction://hlinksldjump">
                  <a:extLst>
                    <a:ext uri="{A12FA001-AC4F-418D-AE19-62706E023703}">
                      <ahyp:hlinkClr xmlns:ahyp="http://schemas.microsoft.com/office/drawing/2018/hyperlinkcolor" val="tx"/>
                    </a:ext>
                  </a:extLst>
                </a:hlinkClick>
              </a:rPr>
              <a:t>09</a:t>
            </a:r>
          </a:p>
        </p:txBody>
      </p:sp>
      <p:sp>
        <p:nvSpPr>
          <p:cNvPr id="18" name="New shape" title=""/>
          <p:cNvSpPr/>
          <p:nvPr/>
        </p:nvSpPr>
        <p:spPr>
          <a:xfrm>
            <a:off x="586800" y="315779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network users in selected countries in 2022 and 2027</a:t>
            </a:r>
          </a:p>
        </p:txBody>
      </p:sp>
      <p:sp>
        <p:nvSpPr>
          <p:cNvPr id="19" name="New shape" title=""/>
          <p:cNvSpPr/>
          <p:nvPr/>
        </p:nvSpPr>
        <p:spPr>
          <a:xfrm>
            <a:off x="5544000" y="332807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0" action="ppaction://hlinksldjump">
                  <a:extLst>
                    <a:ext uri="{A12FA001-AC4F-418D-AE19-62706E023703}">
                      <ahyp:hlinkClr xmlns:ahyp="http://schemas.microsoft.com/office/drawing/2018/hyperlinkcolor" val="tx"/>
                    </a:ext>
                  </a:extLst>
                </a:hlinkClick>
              </a:rPr>
              <a:t>10</a:t>
            </a:r>
          </a:p>
        </p:txBody>
      </p:sp>
      <p:sp>
        <p:nvSpPr>
          <p:cNvPr id="20" name="New shape" title=""/>
          <p:cNvSpPr/>
          <p:nvPr/>
        </p:nvSpPr>
        <p:spPr>
          <a:xfrm>
            <a:off x="586800" y="332807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Distribution of global social media users 2022, by region</a:t>
            </a:r>
          </a:p>
        </p:txBody>
      </p:sp>
      <p:sp>
        <p:nvSpPr>
          <p:cNvPr id="21" name="New shape" title=""/>
          <p:cNvSpPr/>
          <p:nvPr/>
        </p:nvSpPr>
        <p:spPr>
          <a:xfrm>
            <a:off x="5544000" y="349835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1" action="ppaction://hlinksldjump">
                  <a:extLst>
                    <a:ext uri="{A12FA001-AC4F-418D-AE19-62706E023703}">
                      <ahyp:hlinkClr xmlns:ahyp="http://schemas.microsoft.com/office/drawing/2018/hyperlinkcolor" val="tx"/>
                    </a:ext>
                  </a:extLst>
                </a:hlinkClick>
              </a:rPr>
              <a:t>11</a:t>
            </a:r>
          </a:p>
        </p:txBody>
      </p:sp>
      <p:sp>
        <p:nvSpPr>
          <p:cNvPr id="22" name="New shape" title=""/>
          <p:cNvSpPr/>
          <p:nvPr/>
        </p:nvSpPr>
        <p:spPr>
          <a:xfrm>
            <a:off x="586800" y="349835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global penetration rate 2023, by region</a:t>
            </a:r>
          </a:p>
        </p:txBody>
      </p:sp>
      <p:sp>
        <p:nvSpPr>
          <p:cNvPr id="23" name="New shape" title=""/>
          <p:cNvSpPr/>
          <p:nvPr/>
        </p:nvSpPr>
        <p:spPr>
          <a:xfrm>
            <a:off x="5544000" y="366863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2" action="ppaction://hlinksldjump">
                  <a:extLst>
                    <a:ext uri="{A12FA001-AC4F-418D-AE19-62706E023703}">
                      <ahyp:hlinkClr xmlns:ahyp="http://schemas.microsoft.com/office/drawing/2018/hyperlinkcolor" val="tx"/>
                    </a:ext>
                  </a:extLst>
                </a:hlinkClick>
              </a:rPr>
              <a:t>12</a:t>
            </a:r>
          </a:p>
        </p:txBody>
      </p:sp>
      <p:sp>
        <p:nvSpPr>
          <p:cNvPr id="24" name="New shape" title=""/>
          <p:cNvSpPr/>
          <p:nvPr/>
        </p:nvSpPr>
        <p:spPr>
          <a:xfrm>
            <a:off x="586800" y="366863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worldwide social media users 2022, by region</a:t>
            </a:r>
          </a:p>
        </p:txBody>
      </p:sp>
      <p:sp>
        <p:nvSpPr>
          <p:cNvPr id="25" name="New shape" title=""/>
          <p:cNvSpPr/>
          <p:nvPr/>
        </p:nvSpPr>
        <p:spPr>
          <a:xfrm>
            <a:off x="5544000" y="383891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3" action="ppaction://hlinksldjump">
                  <a:extLst>
                    <a:ext uri="{A12FA001-AC4F-418D-AE19-62706E023703}">
                      <ahyp:hlinkClr xmlns:ahyp="http://schemas.microsoft.com/office/drawing/2018/hyperlinkcolor" val="tx"/>
                    </a:ext>
                  </a:extLst>
                </a:hlinkClick>
              </a:rPr>
              <a:t>13</a:t>
            </a:r>
          </a:p>
        </p:txBody>
      </p:sp>
      <p:sp>
        <p:nvSpPr>
          <p:cNvPr id="26" name="New shape" title=""/>
          <p:cNvSpPr/>
          <p:nvPr/>
        </p:nvSpPr>
        <p:spPr>
          <a:xfrm>
            <a:off x="586800" y="383891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active usage penetration in selected countries and territories 2023</a:t>
            </a:r>
          </a:p>
        </p:txBody>
      </p:sp>
      <p:sp>
        <p:nvSpPr>
          <p:cNvPr id="27" name="New shape" title=""/>
          <p:cNvSpPr/>
          <p:nvPr/>
        </p:nvSpPr>
        <p:spPr>
          <a:xfrm>
            <a:off x="586800" y="4136188"/>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03 Leading social media</a:t>
            </a:r>
          </a:p>
        </p:txBody>
      </p:sp>
      <p:sp>
        <p:nvSpPr>
          <p:cNvPr id="28" name="New shape" title=""/>
          <p:cNvSpPr/>
          <p:nvPr/>
        </p:nvSpPr>
        <p:spPr>
          <a:xfrm>
            <a:off x="5544000" y="436963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4" action="ppaction://hlinksldjump">
                  <a:extLst>
                    <a:ext uri="{A12FA001-AC4F-418D-AE19-62706E023703}">
                      <ahyp:hlinkClr xmlns:ahyp="http://schemas.microsoft.com/office/drawing/2018/hyperlinkcolor" val="tx"/>
                    </a:ext>
                  </a:extLst>
                </a:hlinkClick>
              </a:rPr>
              <a:t>15</a:t>
            </a:r>
          </a:p>
        </p:txBody>
      </p:sp>
      <p:sp>
        <p:nvSpPr>
          <p:cNvPr id="29" name="New shape" title=""/>
          <p:cNvSpPr/>
          <p:nvPr/>
        </p:nvSpPr>
        <p:spPr>
          <a:xfrm>
            <a:off x="586800" y="436963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social networks ranked by number of users 2023</a:t>
            </a:r>
          </a:p>
        </p:txBody>
      </p:sp>
      <p:sp>
        <p:nvSpPr>
          <p:cNvPr id="30" name="New shape" title=""/>
          <p:cNvSpPr/>
          <p:nvPr/>
        </p:nvSpPr>
        <p:spPr>
          <a:xfrm>
            <a:off x="5544000" y="453990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5" action="ppaction://hlinksldjump">
                  <a:extLst>
                    <a:ext uri="{A12FA001-AC4F-418D-AE19-62706E023703}">
                      <ahyp:hlinkClr xmlns:ahyp="http://schemas.microsoft.com/office/drawing/2018/hyperlinkcolor" val="tx"/>
                    </a:ext>
                  </a:extLst>
                </a:hlinkClick>
              </a:rPr>
              <a:t>16</a:t>
            </a:r>
          </a:p>
        </p:txBody>
      </p:sp>
      <p:sp>
        <p:nvSpPr>
          <p:cNvPr id="31" name="New shape" title=""/>
          <p:cNvSpPr/>
          <p:nvPr/>
        </p:nvSpPr>
        <p:spPr>
          <a:xfrm>
            <a:off x="586800" y="453990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downloaded social media apps worldwide 2022</a:t>
            </a:r>
          </a:p>
        </p:txBody>
      </p:sp>
      <p:sp>
        <p:nvSpPr>
          <p:cNvPr id="32" name="New shape" title=""/>
          <p:cNvSpPr/>
          <p:nvPr/>
        </p:nvSpPr>
        <p:spPr>
          <a:xfrm>
            <a:off x="5544000" y="471018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6" action="ppaction://hlinksldjump">
                  <a:extLst>
                    <a:ext uri="{A12FA001-AC4F-418D-AE19-62706E023703}">
                      <ahyp:hlinkClr xmlns:ahyp="http://schemas.microsoft.com/office/drawing/2018/hyperlinkcolor" val="tx"/>
                    </a:ext>
                  </a:extLst>
                </a:hlinkClick>
              </a:rPr>
              <a:t>17</a:t>
            </a:r>
          </a:p>
        </p:txBody>
      </p:sp>
      <p:sp>
        <p:nvSpPr>
          <p:cNvPr id="33" name="New shape" title=""/>
          <p:cNvSpPr/>
          <p:nvPr/>
        </p:nvSpPr>
        <p:spPr>
          <a:xfrm>
            <a:off x="586800" y="471018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popular social networks worldwide 2021, by reach</a:t>
            </a:r>
          </a:p>
        </p:txBody>
      </p:sp>
      <p:sp>
        <p:nvSpPr>
          <p:cNvPr id="34" name="New shape" title=""/>
          <p:cNvSpPr/>
          <p:nvPr/>
        </p:nvSpPr>
        <p:spPr>
          <a:xfrm>
            <a:off x="5544000" y="488046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7" action="ppaction://hlinksldjump">
                  <a:extLst>
                    <a:ext uri="{A12FA001-AC4F-418D-AE19-62706E023703}">
                      <ahyp:hlinkClr xmlns:ahyp="http://schemas.microsoft.com/office/drawing/2018/hyperlinkcolor" val="tx"/>
                    </a:ext>
                  </a:extLst>
                </a:hlinkClick>
              </a:rPr>
              <a:t>18</a:t>
            </a:r>
          </a:p>
        </p:txBody>
      </p:sp>
      <p:sp>
        <p:nvSpPr>
          <p:cNvPr id="35" name="New shape" title=""/>
          <p:cNvSpPr/>
          <p:nvPr/>
        </p:nvSpPr>
        <p:spPr>
          <a:xfrm>
            <a:off x="586800" y="488046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iPhone social media apps worldwide 2022, by downloads</a:t>
            </a:r>
          </a:p>
        </p:txBody>
      </p:sp>
      <p:sp>
        <p:nvSpPr>
          <p:cNvPr id="36" name="New shape" title=""/>
          <p:cNvSpPr/>
          <p:nvPr/>
        </p:nvSpPr>
        <p:spPr>
          <a:xfrm>
            <a:off x="5544000" y="505074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8" action="ppaction://hlinksldjump">
                  <a:extLst>
                    <a:ext uri="{A12FA001-AC4F-418D-AE19-62706E023703}">
                      <ahyp:hlinkClr xmlns:ahyp="http://schemas.microsoft.com/office/drawing/2018/hyperlinkcolor" val="tx"/>
                    </a:ext>
                  </a:extLst>
                </a:hlinkClick>
              </a:rPr>
              <a:t>19</a:t>
            </a:r>
          </a:p>
        </p:txBody>
      </p:sp>
      <p:sp>
        <p:nvSpPr>
          <p:cNvPr id="37" name="New shape" title=""/>
          <p:cNvSpPr/>
          <p:nvPr/>
        </p:nvSpPr>
        <p:spPr>
          <a:xfrm>
            <a:off x="586800" y="505074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iPhone social media apps worldwide 2022, by revenue</a:t>
            </a:r>
          </a:p>
        </p:txBody>
      </p:sp>
      <p:sp>
        <p:nvSpPr>
          <p:cNvPr id="38" name="New shape" title=""/>
          <p:cNvSpPr/>
          <p:nvPr/>
        </p:nvSpPr>
        <p:spPr>
          <a:xfrm>
            <a:off x="5544000" y="52210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9" action="ppaction://hlinksldjump">
                  <a:extLst>
                    <a:ext uri="{A12FA001-AC4F-418D-AE19-62706E023703}">
                      <ahyp:hlinkClr xmlns:ahyp="http://schemas.microsoft.com/office/drawing/2018/hyperlinkcolor" val="tx"/>
                    </a:ext>
                  </a:extLst>
                </a:hlinkClick>
              </a:rPr>
              <a:t>20</a:t>
            </a:r>
          </a:p>
        </p:txBody>
      </p:sp>
      <p:sp>
        <p:nvSpPr>
          <p:cNvPr id="39" name="New shape" title=""/>
          <p:cNvSpPr/>
          <p:nvPr/>
        </p:nvSpPr>
        <p:spPr>
          <a:xfrm>
            <a:off x="586800" y="52210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Android communication apps worldwide 2022, by downloads</a:t>
            </a:r>
          </a:p>
        </p:txBody>
      </p:sp>
      <p:sp>
        <p:nvSpPr>
          <p:cNvPr id="40" name="New shape" title=""/>
          <p:cNvSpPr/>
          <p:nvPr/>
        </p:nvSpPr>
        <p:spPr>
          <a:xfrm>
            <a:off x="5544000" y="53912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0" action="ppaction://hlinksldjump">
                  <a:extLst>
                    <a:ext uri="{A12FA001-AC4F-418D-AE19-62706E023703}">
                      <ahyp:hlinkClr xmlns:ahyp="http://schemas.microsoft.com/office/drawing/2018/hyperlinkcolor" val="tx"/>
                    </a:ext>
                  </a:extLst>
                </a:hlinkClick>
              </a:rPr>
              <a:t>21</a:t>
            </a:r>
          </a:p>
        </p:txBody>
      </p:sp>
      <p:sp>
        <p:nvSpPr>
          <p:cNvPr id="41" name="New shape" title=""/>
          <p:cNvSpPr/>
          <p:nvPr/>
        </p:nvSpPr>
        <p:spPr>
          <a:xfrm>
            <a:off x="586800" y="53912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Android communication apps worldwide 2022, by revenue</a:t>
            </a:r>
          </a:p>
        </p:txBody>
      </p:sp>
      <p:sp>
        <p:nvSpPr>
          <p:cNvPr id="42" name="New shape" title=""/>
          <p:cNvSpPr/>
          <p:nvPr/>
        </p:nvSpPr>
        <p:spPr>
          <a:xfrm>
            <a:off x="5958000" y="188280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04 Usage</a:t>
            </a:r>
          </a:p>
        </p:txBody>
      </p:sp>
      <p:sp>
        <p:nvSpPr>
          <p:cNvPr id="43" name="New shape" title=""/>
          <p:cNvSpPr/>
          <p:nvPr/>
        </p:nvSpPr>
        <p:spPr>
          <a:xfrm>
            <a:off x="10915200" y="211624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1" action="ppaction://hlinksldjump">
                  <a:extLst>
                    <a:ext uri="{A12FA001-AC4F-418D-AE19-62706E023703}">
                      <ahyp:hlinkClr xmlns:ahyp="http://schemas.microsoft.com/office/drawing/2018/hyperlinkcolor" val="tx"/>
                    </a:ext>
                  </a:extLst>
                </a:hlinkClick>
              </a:rPr>
              <a:t>23</a:t>
            </a:r>
          </a:p>
        </p:txBody>
      </p:sp>
      <p:sp>
        <p:nvSpPr>
          <p:cNvPr id="44" name="New shape" title=""/>
          <p:cNvSpPr/>
          <p:nvPr/>
        </p:nvSpPr>
        <p:spPr>
          <a:xfrm>
            <a:off x="5958000" y="211624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social media usage reasons worldwide 2022</a:t>
            </a:r>
          </a:p>
        </p:txBody>
      </p:sp>
      <p:sp>
        <p:nvSpPr>
          <p:cNvPr id="45" name="New shape" title=""/>
          <p:cNvSpPr/>
          <p:nvPr/>
        </p:nvSpPr>
        <p:spPr>
          <a:xfrm>
            <a:off x="10915200" y="22865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2" action="ppaction://hlinksldjump">
                  <a:extLst>
                    <a:ext uri="{A12FA001-AC4F-418D-AE19-62706E023703}">
                      <ahyp:hlinkClr xmlns:ahyp="http://schemas.microsoft.com/office/drawing/2018/hyperlinkcolor" val="tx"/>
                    </a:ext>
                  </a:extLst>
                </a:hlinkClick>
              </a:rPr>
              <a:t>24</a:t>
            </a:r>
          </a:p>
        </p:txBody>
      </p:sp>
      <p:sp>
        <p:nvSpPr>
          <p:cNvPr id="46" name="New shape" title=""/>
          <p:cNvSpPr/>
          <p:nvPr/>
        </p:nvSpPr>
        <p:spPr>
          <a:xfrm>
            <a:off x="5958000" y="22865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Average daily time spent on social media worldwide 2012-2022</a:t>
            </a:r>
          </a:p>
        </p:txBody>
      </p:sp>
      <p:sp>
        <p:nvSpPr>
          <p:cNvPr id="47" name="New shape" title=""/>
          <p:cNvSpPr/>
          <p:nvPr/>
        </p:nvSpPr>
        <p:spPr>
          <a:xfrm>
            <a:off x="10915200" y="24567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3" action="ppaction://hlinksldjump">
                  <a:extLst>
                    <a:ext uri="{A12FA001-AC4F-418D-AE19-62706E023703}">
                      <ahyp:hlinkClr xmlns:ahyp="http://schemas.microsoft.com/office/drawing/2018/hyperlinkcolor" val="tx"/>
                    </a:ext>
                  </a:extLst>
                </a:hlinkClick>
              </a:rPr>
              <a:t>25</a:t>
            </a:r>
          </a:p>
        </p:txBody>
      </p:sp>
      <p:sp>
        <p:nvSpPr>
          <p:cNvPr id="48" name="New shape" title=""/>
          <p:cNvSpPr/>
          <p:nvPr/>
        </p:nvSpPr>
        <p:spPr>
          <a:xfrm>
            <a:off x="5958000" y="24567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users daily time on social media apps 2020-2021, by gender</a:t>
            </a:r>
          </a:p>
        </p:txBody>
      </p:sp>
      <p:sp>
        <p:nvSpPr>
          <p:cNvPr id="49" name="New shape" title=""/>
          <p:cNvSpPr/>
          <p:nvPr/>
        </p:nvSpPr>
        <p:spPr>
          <a:xfrm>
            <a:off x="10915200" y="2627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4" action="ppaction://hlinksldjump">
                  <a:extLst>
                    <a:ext uri="{A12FA001-AC4F-418D-AE19-62706E023703}">
                      <ahyp:hlinkClr xmlns:ahyp="http://schemas.microsoft.com/office/drawing/2018/hyperlinkcolor" val="tx"/>
                    </a:ext>
                  </a:extLst>
                </a:hlinkClick>
              </a:rPr>
              <a:t>26</a:t>
            </a:r>
          </a:p>
        </p:txBody>
      </p:sp>
      <p:sp>
        <p:nvSpPr>
          <p:cNvPr id="50" name="New shape" title=""/>
          <p:cNvSpPr/>
          <p:nvPr/>
        </p:nvSpPr>
        <p:spPr>
          <a:xfrm>
            <a:off x="5958000" y="2627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users daily time on social media apps 2020-2021, by age group</a:t>
            </a:r>
          </a:p>
        </p:txBody>
      </p:sp>
      <p:sp>
        <p:nvSpPr>
          <p:cNvPr id="51" name="New shape" title=""/>
          <p:cNvSpPr/>
          <p:nvPr/>
        </p:nvSpPr>
        <p:spPr>
          <a:xfrm>
            <a:off x="10915200" y="2797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5" action="ppaction://hlinksldjump">
                  <a:extLst>
                    <a:ext uri="{A12FA001-AC4F-418D-AE19-62706E023703}">
                      <ahyp:hlinkClr xmlns:ahyp="http://schemas.microsoft.com/office/drawing/2018/hyperlinkcolor" val="tx"/>
                    </a:ext>
                  </a:extLst>
                </a:hlinkClick>
              </a:rPr>
              <a:t>27</a:t>
            </a:r>
          </a:p>
        </p:txBody>
      </p:sp>
      <p:sp>
        <p:nvSpPr>
          <p:cNvPr id="52" name="New shape" title=""/>
          <p:cNvSpPr/>
          <p:nvPr/>
        </p:nvSpPr>
        <p:spPr>
          <a:xfrm>
            <a:off x="5958000" y="2797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Media usage in an online minute 2022</a:t>
            </a:r>
          </a:p>
        </p:txBody>
      </p:sp>
      <p:sp>
        <p:nvSpPr>
          <p:cNvPr id="53" name="New shape" title=""/>
          <p:cNvSpPr/>
          <p:nvPr/>
        </p:nvSpPr>
        <p:spPr>
          <a:xfrm>
            <a:off x="10915200" y="2967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6" action="ppaction://hlinksldjump">
                  <a:extLst>
                    <a:ext uri="{A12FA001-AC4F-418D-AE19-62706E023703}">
                      <ahyp:hlinkClr xmlns:ahyp="http://schemas.microsoft.com/office/drawing/2018/hyperlinkcolor" val="tx"/>
                    </a:ext>
                  </a:extLst>
                </a:hlinkClick>
              </a:rPr>
              <a:t>28</a:t>
            </a:r>
          </a:p>
        </p:txBody>
      </p:sp>
      <p:sp>
        <p:nvSpPr>
          <p:cNvPr id="54" name="New shape" title=""/>
          <p:cNvSpPr/>
          <p:nvPr/>
        </p:nvSpPr>
        <p:spPr>
          <a:xfrm>
            <a:off x="5958000" y="2967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as a news source worldwide 2022</a:t>
            </a:r>
          </a:p>
        </p:txBody>
      </p:sp>
      <p:sp>
        <p:nvSpPr>
          <p:cNvPr id="55" name="New shape" title=""/>
          <p:cNvSpPr/>
          <p:nvPr/>
        </p:nvSpPr>
        <p:spPr>
          <a:xfrm>
            <a:off x="5958000" y="3264911"/>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05 Facebook</a:t>
            </a:r>
          </a:p>
        </p:txBody>
      </p:sp>
      <p:sp>
        <p:nvSpPr>
          <p:cNvPr id="56" name="New shape" title=""/>
          <p:cNvSpPr/>
          <p:nvPr/>
        </p:nvSpPr>
        <p:spPr>
          <a:xfrm>
            <a:off x="10915200" y="349835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7" action="ppaction://hlinksldjump">
                  <a:extLst>
                    <a:ext uri="{A12FA001-AC4F-418D-AE19-62706E023703}">
                      <ahyp:hlinkClr xmlns:ahyp="http://schemas.microsoft.com/office/drawing/2018/hyperlinkcolor" val="tx"/>
                    </a:ext>
                  </a:extLst>
                </a:hlinkClick>
              </a:rPr>
              <a:t>30</a:t>
            </a:r>
          </a:p>
        </p:txBody>
      </p:sp>
      <p:sp>
        <p:nvSpPr>
          <p:cNvPr id="57" name="New shape" title=""/>
          <p:cNvSpPr/>
          <p:nvPr/>
        </p:nvSpPr>
        <p:spPr>
          <a:xfrm>
            <a:off x="5958000" y="349835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users worldwide 2017-2027</a:t>
            </a:r>
          </a:p>
        </p:txBody>
      </p:sp>
      <p:sp>
        <p:nvSpPr>
          <p:cNvPr id="58" name="New shape" title=""/>
          <p:cNvSpPr/>
          <p:nvPr/>
        </p:nvSpPr>
        <p:spPr>
          <a:xfrm>
            <a:off x="10915200" y="366863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8" action="ppaction://hlinksldjump">
                  <a:extLst>
                    <a:ext uri="{A12FA001-AC4F-418D-AE19-62706E023703}">
                      <ahyp:hlinkClr xmlns:ahyp="http://schemas.microsoft.com/office/drawing/2018/hyperlinkcolor" val="tx"/>
                    </a:ext>
                  </a:extLst>
                </a:hlinkClick>
              </a:rPr>
              <a:t>31</a:t>
            </a:r>
          </a:p>
        </p:txBody>
      </p:sp>
      <p:sp>
        <p:nvSpPr>
          <p:cNvPr id="59" name="New shape" title=""/>
          <p:cNvSpPr/>
          <p:nvPr/>
        </p:nvSpPr>
        <p:spPr>
          <a:xfrm>
            <a:off x="5958000" y="366863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Countries with the most Facebook users 2023</a:t>
            </a:r>
          </a:p>
        </p:txBody>
      </p:sp>
      <p:sp>
        <p:nvSpPr>
          <p:cNvPr id="60" name="New shape" title=""/>
          <p:cNvSpPr/>
          <p:nvPr/>
        </p:nvSpPr>
        <p:spPr>
          <a:xfrm>
            <a:off x="10915200" y="383891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9" action="ppaction://hlinksldjump">
                  <a:extLst>
                    <a:ext uri="{A12FA001-AC4F-418D-AE19-62706E023703}">
                      <ahyp:hlinkClr xmlns:ahyp="http://schemas.microsoft.com/office/drawing/2018/hyperlinkcolor" val="tx"/>
                    </a:ext>
                  </a:extLst>
                </a:hlinkClick>
              </a:rPr>
              <a:t>32</a:t>
            </a:r>
          </a:p>
        </p:txBody>
      </p:sp>
      <p:sp>
        <p:nvSpPr>
          <p:cNvPr id="61" name="New shape" title=""/>
          <p:cNvSpPr/>
          <p:nvPr/>
        </p:nvSpPr>
        <p:spPr>
          <a:xfrm>
            <a:off x="5958000" y="383891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Countries with biggest Facebook reach 2023</a:t>
            </a:r>
          </a:p>
        </p:txBody>
      </p:sp>
      <p:sp>
        <p:nvSpPr>
          <p:cNvPr id="62" name="New shape" title=""/>
          <p:cNvSpPr/>
          <p:nvPr/>
        </p:nvSpPr>
        <p:spPr>
          <a:xfrm>
            <a:off x="10915200" y="400918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0" action="ppaction://hlinksldjump">
                  <a:extLst>
                    <a:ext uri="{A12FA001-AC4F-418D-AE19-62706E023703}">
                      <ahyp:hlinkClr xmlns:ahyp="http://schemas.microsoft.com/office/drawing/2018/hyperlinkcolor" val="tx"/>
                    </a:ext>
                  </a:extLst>
                </a:hlinkClick>
              </a:rPr>
              <a:t>33</a:t>
            </a:r>
          </a:p>
        </p:txBody>
      </p:sp>
      <p:sp>
        <p:nvSpPr>
          <p:cNvPr id="63" name="New shape" title=""/>
          <p:cNvSpPr/>
          <p:nvPr/>
        </p:nvSpPr>
        <p:spPr>
          <a:xfrm>
            <a:off x="5958000" y="400918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access penetration 2022, by device</a:t>
            </a:r>
          </a:p>
        </p:txBody>
      </p:sp>
      <p:sp>
        <p:nvSpPr>
          <p:cNvPr id="64" name="New shape" title=""/>
          <p:cNvSpPr/>
          <p:nvPr/>
        </p:nvSpPr>
        <p:spPr>
          <a:xfrm>
            <a:off x="10915200" y="417946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1" action="ppaction://hlinksldjump">
                  <a:extLst>
                    <a:ext uri="{A12FA001-AC4F-418D-AE19-62706E023703}">
                      <ahyp:hlinkClr xmlns:ahyp="http://schemas.microsoft.com/office/drawing/2018/hyperlinkcolor" val="tx"/>
                    </a:ext>
                  </a:extLst>
                </a:hlinkClick>
              </a:rPr>
              <a:t>34</a:t>
            </a:r>
          </a:p>
        </p:txBody>
      </p:sp>
      <p:sp>
        <p:nvSpPr>
          <p:cNvPr id="65" name="New shape" title=""/>
          <p:cNvSpPr/>
          <p:nvPr/>
        </p:nvSpPr>
        <p:spPr>
          <a:xfrm>
            <a:off x="5958000" y="417946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quarterly number of MAU (monthly active users) worldwide 2008-2022</a:t>
            </a:r>
          </a:p>
        </p:txBody>
      </p:sp>
      <p:sp>
        <p:nvSpPr>
          <p:cNvPr id="66" name="New shape" title=""/>
          <p:cNvSpPr/>
          <p:nvPr/>
        </p:nvSpPr>
        <p:spPr>
          <a:xfrm>
            <a:off x="10915200" y="434974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2" action="ppaction://hlinksldjump">
                  <a:extLst>
                    <a:ext uri="{A12FA001-AC4F-418D-AE19-62706E023703}">
                      <ahyp:hlinkClr xmlns:ahyp="http://schemas.microsoft.com/office/drawing/2018/hyperlinkcolor" val="tx"/>
                    </a:ext>
                  </a:extLst>
                </a:hlinkClick>
              </a:rPr>
              <a:t>35</a:t>
            </a:r>
          </a:p>
        </p:txBody>
      </p:sp>
      <p:sp>
        <p:nvSpPr>
          <p:cNvPr id="67" name="New shape" title=""/>
          <p:cNvSpPr/>
          <p:nvPr/>
        </p:nvSpPr>
        <p:spPr>
          <a:xfrm>
            <a:off x="5958000" y="434974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number of daily active users worldwide 2011-2022</a:t>
            </a:r>
          </a:p>
        </p:txBody>
      </p:sp>
      <p:sp>
        <p:nvSpPr>
          <p:cNvPr id="68" name="New shape" title=""/>
          <p:cNvSpPr/>
          <p:nvPr/>
        </p:nvSpPr>
        <p:spPr>
          <a:xfrm>
            <a:off x="10915200" y="452002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3" action="ppaction://hlinksldjump">
                  <a:extLst>
                    <a:ext uri="{A12FA001-AC4F-418D-AE19-62706E023703}">
                      <ahyp:hlinkClr xmlns:ahyp="http://schemas.microsoft.com/office/drawing/2018/hyperlinkcolor" val="tx"/>
                    </a:ext>
                  </a:extLst>
                </a:hlinkClick>
              </a:rPr>
              <a:t>36</a:t>
            </a:r>
          </a:p>
        </p:txBody>
      </p:sp>
      <p:sp>
        <p:nvSpPr>
          <p:cNvPr id="69" name="New shape" title=""/>
          <p:cNvSpPr/>
          <p:nvPr/>
        </p:nvSpPr>
        <p:spPr>
          <a:xfrm>
            <a:off x="5958000" y="452002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popular Facebook fan pages 2022</a:t>
            </a:r>
          </a:p>
        </p:txBody>
      </p:sp>
      <p:sp>
        <p:nvSpPr>
          <p:cNvPr id="70" name="New shape" title=""/>
          <p:cNvSpPr/>
          <p:nvPr/>
        </p:nvSpPr>
        <p:spPr>
          <a:xfrm>
            <a:off x="10915200" y="46903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4" action="ppaction://hlinksldjump">
                  <a:extLst>
                    <a:ext uri="{A12FA001-AC4F-418D-AE19-62706E023703}">
                      <ahyp:hlinkClr xmlns:ahyp="http://schemas.microsoft.com/office/drawing/2018/hyperlinkcolor" val="tx"/>
                    </a:ext>
                  </a:extLst>
                </a:hlinkClick>
              </a:rPr>
              <a:t>37</a:t>
            </a:r>
          </a:p>
        </p:txBody>
      </p:sp>
      <p:sp>
        <p:nvSpPr>
          <p:cNvPr id="71" name="New shape" title=""/>
          <p:cNvSpPr/>
          <p:nvPr/>
        </p:nvSpPr>
        <p:spPr>
          <a:xfrm>
            <a:off x="5958000" y="46903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user engagement of leading U.S. and UK publishers 2023</a:t>
            </a:r>
          </a:p>
        </p:txBody>
      </p:sp>
      <p:sp>
        <p:nvSpPr>
          <p:cNvPr id="72" name="New shape" title=""/>
          <p:cNvSpPr/>
          <p:nvPr/>
        </p:nvSpPr>
        <p:spPr>
          <a:xfrm>
            <a:off x="10915200" y="48605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5" action="ppaction://hlinksldjump">
                  <a:extLst>
                    <a:ext uri="{A12FA001-AC4F-418D-AE19-62706E023703}">
                      <ahyp:hlinkClr xmlns:ahyp="http://schemas.microsoft.com/office/drawing/2018/hyperlinkcolor" val="tx"/>
                    </a:ext>
                  </a:extLst>
                </a:hlinkClick>
              </a:rPr>
              <a:t>38</a:t>
            </a:r>
          </a:p>
        </p:txBody>
      </p:sp>
      <p:sp>
        <p:nvSpPr>
          <p:cNvPr id="73" name="New shape" title=""/>
          <p:cNvSpPr/>
          <p:nvPr/>
        </p:nvSpPr>
        <p:spPr>
          <a:xfrm>
            <a:off x="5958000" y="48605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brand post engagement 2022, by vertical</a:t>
            </a:r>
          </a:p>
        </p:txBody>
      </p:sp>
      <p:sp>
        <p:nvSpPr>
          <p:cNvPr id="74" name="New shape" title=""/>
          <p:cNvSpPr/>
          <p:nvPr/>
        </p:nvSpPr>
        <p:spPr>
          <a:xfrm>
            <a:off x="5958000" y="5157856"/>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06 Instagram</a:t>
            </a:r>
          </a:p>
        </p:txBody>
      </p:sp>
      <p:sp>
        <p:nvSpPr>
          <p:cNvPr id="75" name="New shape" title=""/>
          <p:cNvSpPr/>
          <p:nvPr/>
        </p:nvSpPr>
        <p:spPr>
          <a:xfrm>
            <a:off x="10915200" y="53912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6" action="ppaction://hlinksldjump">
                  <a:extLst>
                    <a:ext uri="{A12FA001-AC4F-418D-AE19-62706E023703}">
                      <ahyp:hlinkClr xmlns:ahyp="http://schemas.microsoft.com/office/drawing/2018/hyperlinkcolor" val="tx"/>
                    </a:ext>
                  </a:extLst>
                </a:hlinkClick>
              </a:rPr>
              <a:t>40</a:t>
            </a:r>
          </a:p>
        </p:txBody>
      </p:sp>
      <p:sp>
        <p:nvSpPr>
          <p:cNvPr id="76" name="New shape" title=""/>
          <p:cNvSpPr/>
          <p:nvPr/>
        </p:nvSpPr>
        <p:spPr>
          <a:xfrm>
            <a:off x="5958000" y="53912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Countries with biggest Instagram reach 2023</a:t>
            </a: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a:t>
            </a:r>
          </a:p>
        </p:txBody>
      </p:sp>
      <p:sp>
        <p:nvSpPr>
          <p:cNvPr id="7" name="New shape" title=""/>
          <p:cNvSpPr/>
          <p:nvPr/>
        </p:nvSpPr>
        <p:spPr>
          <a:xfrm>
            <a:off x="55440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5" action="ppaction://hlinksldjump">
                  <a:extLst>
                    <a:ext uri="{A12FA001-AC4F-418D-AE19-62706E023703}">
                      <ahyp:hlinkClr xmlns:ahyp="http://schemas.microsoft.com/office/drawing/2018/hyperlinkcolor" val="tx"/>
                    </a:ext>
                  </a:extLst>
                </a:hlinkClick>
              </a:rPr>
              <a:t>41</a:t>
            </a:r>
          </a:p>
        </p:txBody>
      </p:sp>
      <p:sp>
        <p:nvSpPr>
          <p:cNvPr id="8" name="New shape" title=""/>
          <p:cNvSpPr/>
          <p:nvPr/>
        </p:nvSpPr>
        <p:spPr>
          <a:xfrm>
            <a:off x="5868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monthly active Instagram users 2013-2021</a:t>
            </a:r>
          </a:p>
        </p:txBody>
      </p:sp>
      <p:sp>
        <p:nvSpPr>
          <p:cNvPr id="9" name="New shape" title=""/>
          <p:cNvSpPr/>
          <p:nvPr/>
        </p:nvSpPr>
        <p:spPr>
          <a:xfrm>
            <a:off x="55440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6" action="ppaction://hlinksldjump">
                  <a:extLst>
                    <a:ext uri="{A12FA001-AC4F-418D-AE19-62706E023703}">
                      <ahyp:hlinkClr xmlns:ahyp="http://schemas.microsoft.com/office/drawing/2018/hyperlinkcolor" val="tx"/>
                    </a:ext>
                  </a:extLst>
                </a:hlinkClick>
              </a:rPr>
              <a:t>42</a:t>
            </a:r>
          </a:p>
        </p:txBody>
      </p:sp>
      <p:sp>
        <p:nvSpPr>
          <p:cNvPr id="10" name="New shape" title=""/>
          <p:cNvSpPr/>
          <p:nvPr/>
        </p:nvSpPr>
        <p:spPr>
          <a:xfrm>
            <a:off x="5868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distribution of global audiences 2023, by age group</a:t>
            </a:r>
          </a:p>
        </p:txBody>
      </p:sp>
      <p:sp>
        <p:nvSpPr>
          <p:cNvPr id="11" name="New shape" title=""/>
          <p:cNvSpPr/>
          <p:nvPr/>
        </p:nvSpPr>
        <p:spPr>
          <a:xfrm>
            <a:off x="55440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7" action="ppaction://hlinksldjump">
                  <a:extLst>
                    <a:ext uri="{A12FA001-AC4F-418D-AE19-62706E023703}">
                      <ahyp:hlinkClr xmlns:ahyp="http://schemas.microsoft.com/office/drawing/2018/hyperlinkcolor" val="tx"/>
                    </a:ext>
                  </a:extLst>
                </a:hlinkClick>
              </a:rPr>
              <a:t>43</a:t>
            </a:r>
          </a:p>
        </p:txBody>
      </p:sp>
      <p:sp>
        <p:nvSpPr>
          <p:cNvPr id="12" name="New shape" title=""/>
          <p:cNvSpPr/>
          <p:nvPr/>
        </p:nvSpPr>
        <p:spPr>
          <a:xfrm>
            <a:off x="5868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distribution of global audiences 2023, by age and gender</a:t>
            </a:r>
          </a:p>
        </p:txBody>
      </p:sp>
      <p:sp>
        <p:nvSpPr>
          <p:cNvPr id="13" name="New shape" title=""/>
          <p:cNvSpPr/>
          <p:nvPr/>
        </p:nvSpPr>
        <p:spPr>
          <a:xfrm>
            <a:off x="5544000" y="23936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8" action="ppaction://hlinksldjump">
                  <a:extLst>
                    <a:ext uri="{A12FA001-AC4F-418D-AE19-62706E023703}">
                      <ahyp:hlinkClr xmlns:ahyp="http://schemas.microsoft.com/office/drawing/2018/hyperlinkcolor" val="tx"/>
                    </a:ext>
                  </a:extLst>
                </a:hlinkClick>
              </a:rPr>
              <a:t>44</a:t>
            </a:r>
          </a:p>
        </p:txBody>
      </p:sp>
      <p:sp>
        <p:nvSpPr>
          <p:cNvPr id="14" name="New shape" title=""/>
          <p:cNvSpPr/>
          <p:nvPr/>
        </p:nvSpPr>
        <p:spPr>
          <a:xfrm>
            <a:off x="586800" y="23936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accounts with the most followers worldwide 2023</a:t>
            </a:r>
          </a:p>
        </p:txBody>
      </p:sp>
      <p:sp>
        <p:nvSpPr>
          <p:cNvPr id="15" name="New shape" title=""/>
          <p:cNvSpPr/>
          <p:nvPr/>
        </p:nvSpPr>
        <p:spPr>
          <a:xfrm>
            <a:off x="5544000" y="256391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9" action="ppaction://hlinksldjump">
                  <a:extLst>
                    <a:ext uri="{A12FA001-AC4F-418D-AE19-62706E023703}">
                      <ahyp:hlinkClr xmlns:ahyp="http://schemas.microsoft.com/office/drawing/2018/hyperlinkcolor" val="tx"/>
                    </a:ext>
                  </a:extLst>
                </a:hlinkClick>
              </a:rPr>
              <a:t>45</a:t>
            </a:r>
          </a:p>
        </p:txBody>
      </p:sp>
      <p:sp>
        <p:nvSpPr>
          <p:cNvPr id="16" name="New shape" title=""/>
          <p:cNvSpPr/>
          <p:nvPr/>
        </p:nvSpPr>
        <p:spPr>
          <a:xfrm>
            <a:off x="586800" y="256391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favorite types of posts for global users 2022</a:t>
            </a:r>
          </a:p>
        </p:txBody>
      </p:sp>
      <p:sp>
        <p:nvSpPr>
          <p:cNvPr id="17" name="New shape" title=""/>
          <p:cNvSpPr/>
          <p:nvPr/>
        </p:nvSpPr>
        <p:spPr>
          <a:xfrm>
            <a:off x="5544000" y="273419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0" action="ppaction://hlinksldjump">
                  <a:extLst>
                    <a:ext uri="{A12FA001-AC4F-418D-AE19-62706E023703}">
                      <ahyp:hlinkClr xmlns:ahyp="http://schemas.microsoft.com/office/drawing/2018/hyperlinkcolor" val="tx"/>
                    </a:ext>
                  </a:extLst>
                </a:hlinkClick>
              </a:rPr>
              <a:t>46</a:t>
            </a:r>
          </a:p>
        </p:txBody>
      </p:sp>
      <p:sp>
        <p:nvSpPr>
          <p:cNvPr id="18" name="New shape" title=""/>
          <p:cNvSpPr/>
          <p:nvPr/>
        </p:nvSpPr>
        <p:spPr>
          <a:xfrm>
            <a:off x="586800" y="273419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most popular posts as of 2022</a:t>
            </a:r>
          </a:p>
        </p:txBody>
      </p:sp>
      <p:sp>
        <p:nvSpPr>
          <p:cNvPr id="19" name="New shape" title=""/>
          <p:cNvSpPr/>
          <p:nvPr/>
        </p:nvSpPr>
        <p:spPr>
          <a:xfrm>
            <a:off x="586800" y="3031468"/>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07 TikTok</a:t>
            </a:r>
          </a:p>
        </p:txBody>
      </p:sp>
      <p:sp>
        <p:nvSpPr>
          <p:cNvPr id="20" name="New shape" title=""/>
          <p:cNvSpPr/>
          <p:nvPr/>
        </p:nvSpPr>
        <p:spPr>
          <a:xfrm>
            <a:off x="55440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1" action="ppaction://hlinksldjump">
                  <a:extLst>
                    <a:ext uri="{A12FA001-AC4F-418D-AE19-62706E023703}">
                      <ahyp:hlinkClr xmlns:ahyp="http://schemas.microsoft.com/office/drawing/2018/hyperlinkcolor" val="tx"/>
                    </a:ext>
                  </a:extLst>
                </a:hlinkClick>
              </a:rPr>
              <a:t>48</a:t>
            </a:r>
          </a:p>
        </p:txBody>
      </p:sp>
      <p:sp>
        <p:nvSpPr>
          <p:cNvPr id="21" name="New shape" title=""/>
          <p:cNvSpPr/>
          <p:nvPr/>
        </p:nvSpPr>
        <p:spPr>
          <a:xfrm>
            <a:off x="5868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TikTok: distribution of global audiences 2023 by gender</a:t>
            </a:r>
          </a:p>
        </p:txBody>
      </p:sp>
      <p:sp>
        <p:nvSpPr>
          <p:cNvPr id="22" name="New shape" title=""/>
          <p:cNvSpPr/>
          <p:nvPr/>
        </p:nvSpPr>
        <p:spPr>
          <a:xfrm>
            <a:off x="5544000" y="3435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2" action="ppaction://hlinksldjump">
                  <a:extLst>
                    <a:ext uri="{A12FA001-AC4F-418D-AE19-62706E023703}">
                      <ahyp:hlinkClr xmlns:ahyp="http://schemas.microsoft.com/office/drawing/2018/hyperlinkcolor" val="tx"/>
                    </a:ext>
                  </a:extLst>
                </a:hlinkClick>
              </a:rPr>
              <a:t>49</a:t>
            </a:r>
          </a:p>
        </p:txBody>
      </p:sp>
      <p:sp>
        <p:nvSpPr>
          <p:cNvPr id="23" name="New shape" title=""/>
          <p:cNvSpPr/>
          <p:nvPr/>
        </p:nvSpPr>
        <p:spPr>
          <a:xfrm>
            <a:off x="586800" y="3435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TikTok: distribution of global audiences 2023, by age and gender</a:t>
            </a:r>
          </a:p>
        </p:txBody>
      </p:sp>
      <p:sp>
        <p:nvSpPr>
          <p:cNvPr id="24" name="New shape" title=""/>
          <p:cNvSpPr/>
          <p:nvPr/>
        </p:nvSpPr>
        <p:spPr>
          <a:xfrm>
            <a:off x="5544000" y="3605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3" action="ppaction://hlinksldjump">
                  <a:extLst>
                    <a:ext uri="{A12FA001-AC4F-418D-AE19-62706E023703}">
                      <ahyp:hlinkClr xmlns:ahyp="http://schemas.microsoft.com/office/drawing/2018/hyperlinkcolor" val="tx"/>
                    </a:ext>
                  </a:extLst>
                </a:hlinkClick>
              </a:rPr>
              <a:t>50</a:t>
            </a:r>
          </a:p>
        </p:txBody>
      </p:sp>
      <p:sp>
        <p:nvSpPr>
          <p:cNvPr id="25" name="New shape" title=""/>
          <p:cNvSpPr/>
          <p:nvPr/>
        </p:nvSpPr>
        <p:spPr>
          <a:xfrm>
            <a:off x="586800" y="3605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Average weekly time spent on TikTok worldwide 2021</a:t>
            </a:r>
          </a:p>
        </p:txBody>
      </p:sp>
      <p:sp>
        <p:nvSpPr>
          <p:cNvPr id="26" name="New shape" title=""/>
          <p:cNvSpPr/>
          <p:nvPr/>
        </p:nvSpPr>
        <p:spPr>
          <a:xfrm>
            <a:off x="5544000" y="377574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4" action="ppaction://hlinksldjump">
                  <a:extLst>
                    <a:ext uri="{A12FA001-AC4F-418D-AE19-62706E023703}">
                      <ahyp:hlinkClr xmlns:ahyp="http://schemas.microsoft.com/office/drawing/2018/hyperlinkcolor" val="tx"/>
                    </a:ext>
                  </a:extLst>
                </a:hlinkClick>
              </a:rPr>
              <a:t>51</a:t>
            </a:r>
          </a:p>
        </p:txBody>
      </p:sp>
      <p:sp>
        <p:nvSpPr>
          <p:cNvPr id="27" name="New shape" title=""/>
          <p:cNvSpPr/>
          <p:nvPr/>
        </p:nvSpPr>
        <p:spPr>
          <a:xfrm>
            <a:off x="586800" y="377574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TikTok iOS MAU 2019-2022</a:t>
            </a:r>
          </a:p>
        </p:txBody>
      </p:sp>
      <p:sp>
        <p:nvSpPr>
          <p:cNvPr id="28" name="New shape" title=""/>
          <p:cNvSpPr/>
          <p:nvPr/>
        </p:nvSpPr>
        <p:spPr>
          <a:xfrm>
            <a:off x="5544000" y="394602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5" action="ppaction://hlinksldjump">
                  <a:extLst>
                    <a:ext uri="{A12FA001-AC4F-418D-AE19-62706E023703}">
                      <ahyp:hlinkClr xmlns:ahyp="http://schemas.microsoft.com/office/drawing/2018/hyperlinkcolor" val="tx"/>
                    </a:ext>
                  </a:extLst>
                </a:hlinkClick>
              </a:rPr>
              <a:t>52</a:t>
            </a:r>
          </a:p>
        </p:txBody>
      </p:sp>
      <p:sp>
        <p:nvSpPr>
          <p:cNvPr id="29" name="New shape" title=""/>
          <p:cNvSpPr/>
          <p:nvPr/>
        </p:nvSpPr>
        <p:spPr>
          <a:xfrm>
            <a:off x="586800" y="394602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TikTok iOS DAU 2019-2022</a:t>
            </a:r>
          </a:p>
        </p:txBody>
      </p:sp>
      <p:sp>
        <p:nvSpPr>
          <p:cNvPr id="30" name="New shape" title=""/>
          <p:cNvSpPr/>
          <p:nvPr/>
        </p:nvSpPr>
        <p:spPr>
          <a:xfrm>
            <a:off x="5544000" y="411630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6" action="ppaction://hlinksldjump">
                  <a:extLst>
                    <a:ext uri="{A12FA001-AC4F-418D-AE19-62706E023703}">
                      <ahyp:hlinkClr xmlns:ahyp="http://schemas.microsoft.com/office/drawing/2018/hyperlinkcolor" val="tx"/>
                    </a:ext>
                  </a:extLst>
                </a:hlinkClick>
              </a:rPr>
              <a:t>53</a:t>
            </a:r>
          </a:p>
        </p:txBody>
      </p:sp>
      <p:sp>
        <p:nvSpPr>
          <p:cNvPr id="31" name="New shape" title=""/>
          <p:cNvSpPr/>
          <p:nvPr/>
        </p:nvSpPr>
        <p:spPr>
          <a:xfrm>
            <a:off x="586800" y="411630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TikTok Android MAU 2019-2022</a:t>
            </a:r>
          </a:p>
        </p:txBody>
      </p:sp>
      <p:sp>
        <p:nvSpPr>
          <p:cNvPr id="32" name="New shape" title=""/>
          <p:cNvSpPr/>
          <p:nvPr/>
        </p:nvSpPr>
        <p:spPr>
          <a:xfrm>
            <a:off x="5544000" y="428657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7" action="ppaction://hlinksldjump">
                  <a:extLst>
                    <a:ext uri="{A12FA001-AC4F-418D-AE19-62706E023703}">
                      <ahyp:hlinkClr xmlns:ahyp="http://schemas.microsoft.com/office/drawing/2018/hyperlinkcolor" val="tx"/>
                    </a:ext>
                  </a:extLst>
                </a:hlinkClick>
              </a:rPr>
              <a:t>54</a:t>
            </a:r>
          </a:p>
        </p:txBody>
      </p:sp>
      <p:sp>
        <p:nvSpPr>
          <p:cNvPr id="33" name="New shape" title=""/>
          <p:cNvSpPr/>
          <p:nvPr/>
        </p:nvSpPr>
        <p:spPr>
          <a:xfrm>
            <a:off x="586800" y="428657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TikTok Android DAU 2019-2022</a:t>
            </a:r>
          </a:p>
        </p:txBody>
      </p:sp>
      <p:sp>
        <p:nvSpPr>
          <p:cNvPr id="34" name="New shape" title=""/>
          <p:cNvSpPr/>
          <p:nvPr/>
        </p:nvSpPr>
        <p:spPr>
          <a:xfrm>
            <a:off x="5544000" y="445685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8" action="ppaction://hlinksldjump">
                  <a:extLst>
                    <a:ext uri="{A12FA001-AC4F-418D-AE19-62706E023703}">
                      <ahyp:hlinkClr xmlns:ahyp="http://schemas.microsoft.com/office/drawing/2018/hyperlinkcolor" val="tx"/>
                    </a:ext>
                  </a:extLst>
                </a:hlinkClick>
              </a:rPr>
              <a:t>55</a:t>
            </a:r>
          </a:p>
        </p:txBody>
      </p:sp>
      <p:sp>
        <p:nvSpPr>
          <p:cNvPr id="35" name="New shape" title=""/>
          <p:cNvSpPr/>
          <p:nvPr/>
        </p:nvSpPr>
        <p:spPr>
          <a:xfrm>
            <a:off x="586800" y="445685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TikTok first-time installs per quarter 2016-2021</a:t>
            </a:r>
          </a:p>
        </p:txBody>
      </p:sp>
      <p:sp>
        <p:nvSpPr>
          <p:cNvPr id="36" name="New shape" title=""/>
          <p:cNvSpPr/>
          <p:nvPr/>
        </p:nvSpPr>
        <p:spPr>
          <a:xfrm>
            <a:off x="5544000" y="462713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9" action="ppaction://hlinksldjump">
                  <a:extLst>
                    <a:ext uri="{A12FA001-AC4F-418D-AE19-62706E023703}">
                      <ahyp:hlinkClr xmlns:ahyp="http://schemas.microsoft.com/office/drawing/2018/hyperlinkcolor" val="tx"/>
                    </a:ext>
                  </a:extLst>
                </a:hlinkClick>
              </a:rPr>
              <a:t>56</a:t>
            </a:r>
          </a:p>
        </p:txBody>
      </p:sp>
      <p:sp>
        <p:nvSpPr>
          <p:cNvPr id="37" name="New shape" title=""/>
          <p:cNvSpPr/>
          <p:nvPr/>
        </p:nvSpPr>
        <p:spPr>
          <a:xfrm>
            <a:off x="586800" y="462713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TikTok annual installs 2017-2021</a:t>
            </a:r>
          </a:p>
        </p:txBody>
      </p:sp>
      <p:sp>
        <p:nvSpPr>
          <p:cNvPr id="38" name="New shape" title=""/>
          <p:cNvSpPr/>
          <p:nvPr/>
        </p:nvSpPr>
        <p:spPr>
          <a:xfrm>
            <a:off x="5544000" y="479741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0" action="ppaction://hlinksldjump">
                  <a:extLst>
                    <a:ext uri="{A12FA001-AC4F-418D-AE19-62706E023703}">
                      <ahyp:hlinkClr xmlns:ahyp="http://schemas.microsoft.com/office/drawing/2018/hyperlinkcolor" val="tx"/>
                    </a:ext>
                  </a:extLst>
                </a:hlinkClick>
              </a:rPr>
              <a:t>57</a:t>
            </a:r>
          </a:p>
        </p:txBody>
      </p:sp>
      <p:sp>
        <p:nvSpPr>
          <p:cNvPr id="39" name="New shape" title=""/>
          <p:cNvSpPr/>
          <p:nvPr/>
        </p:nvSpPr>
        <p:spPr>
          <a:xfrm>
            <a:off x="586800" y="479741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popular TikTok users worldwide 2023</a:t>
            </a:r>
          </a:p>
        </p:txBody>
      </p:sp>
      <p:sp>
        <p:nvSpPr>
          <p:cNvPr id="40" name="New shape" title=""/>
          <p:cNvSpPr/>
          <p:nvPr/>
        </p:nvSpPr>
        <p:spPr>
          <a:xfrm>
            <a:off x="586800" y="5094691"/>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08 Social media marketing and advertising</a:t>
            </a:r>
          </a:p>
        </p:txBody>
      </p:sp>
      <p:sp>
        <p:nvSpPr>
          <p:cNvPr id="41" name="New shape" title=""/>
          <p:cNvSpPr/>
          <p:nvPr/>
        </p:nvSpPr>
        <p:spPr>
          <a:xfrm>
            <a:off x="5544000" y="53281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1" action="ppaction://hlinksldjump">
                  <a:extLst>
                    <a:ext uri="{A12FA001-AC4F-418D-AE19-62706E023703}">
                      <ahyp:hlinkClr xmlns:ahyp="http://schemas.microsoft.com/office/drawing/2018/hyperlinkcolor" val="tx"/>
                    </a:ext>
                  </a:extLst>
                </a:hlinkClick>
              </a:rPr>
              <a:t>59</a:t>
            </a:r>
          </a:p>
        </p:txBody>
      </p:sp>
      <p:sp>
        <p:nvSpPr>
          <p:cNvPr id="42" name="New shape" title=""/>
          <p:cNvSpPr/>
          <p:nvPr/>
        </p:nvSpPr>
        <p:spPr>
          <a:xfrm>
            <a:off x="586800" y="53281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largest social media ad markets worldwide 2022</a:t>
            </a:r>
          </a:p>
        </p:txBody>
      </p:sp>
      <p:sp>
        <p:nvSpPr>
          <p:cNvPr id="43" name="New shape" title=""/>
          <p:cNvSpPr/>
          <p:nvPr/>
        </p:nvSpPr>
        <p:spPr>
          <a:xfrm>
            <a:off x="109152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2" action="ppaction://hlinksldjump">
                  <a:extLst>
                    <a:ext uri="{A12FA001-AC4F-418D-AE19-62706E023703}">
                      <ahyp:hlinkClr xmlns:ahyp="http://schemas.microsoft.com/office/drawing/2018/hyperlinkcolor" val="tx"/>
                    </a:ext>
                  </a:extLst>
                </a:hlinkClick>
              </a:rPr>
              <a:t>60</a:t>
            </a:r>
          </a:p>
        </p:txBody>
      </p:sp>
      <p:sp>
        <p:nvSpPr>
          <p:cNvPr id="44" name="New shape" title=""/>
          <p:cNvSpPr/>
          <p:nvPr/>
        </p:nvSpPr>
        <p:spPr>
          <a:xfrm>
            <a:off x="59580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network ad spending per user worldwide 2017-2025</a:t>
            </a:r>
          </a:p>
        </p:txBody>
      </p:sp>
      <p:sp>
        <p:nvSpPr>
          <p:cNvPr id="45" name="New shape" title=""/>
          <p:cNvSpPr/>
          <p:nvPr/>
        </p:nvSpPr>
        <p:spPr>
          <a:xfrm>
            <a:off x="109152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3" action="ppaction://hlinksldjump">
                  <a:extLst>
                    <a:ext uri="{A12FA001-AC4F-418D-AE19-62706E023703}">
                      <ahyp:hlinkClr xmlns:ahyp="http://schemas.microsoft.com/office/drawing/2018/hyperlinkcolor" val="tx"/>
                    </a:ext>
                  </a:extLst>
                </a:hlinkClick>
              </a:rPr>
              <a:t>61</a:t>
            </a:r>
          </a:p>
        </p:txBody>
      </p:sp>
      <p:sp>
        <p:nvSpPr>
          <p:cNvPr id="46" name="New shape" title=""/>
          <p:cNvSpPr/>
          <p:nvPr/>
        </p:nvSpPr>
        <p:spPr>
          <a:xfrm>
            <a:off x="59580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platforms used by marketers worldwide 2022</a:t>
            </a:r>
          </a:p>
        </p:txBody>
      </p:sp>
      <p:sp>
        <p:nvSpPr>
          <p:cNvPr id="47" name="New shape" title=""/>
          <p:cNvSpPr/>
          <p:nvPr/>
        </p:nvSpPr>
        <p:spPr>
          <a:xfrm>
            <a:off x="109152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4" action="ppaction://hlinksldjump">
                  <a:extLst>
                    <a:ext uri="{A12FA001-AC4F-418D-AE19-62706E023703}">
                      <ahyp:hlinkClr xmlns:ahyp="http://schemas.microsoft.com/office/drawing/2018/hyperlinkcolor" val="tx"/>
                    </a:ext>
                  </a:extLst>
                </a:hlinkClick>
              </a:rPr>
              <a:t>62</a:t>
            </a:r>
          </a:p>
        </p:txBody>
      </p:sp>
      <p:sp>
        <p:nvSpPr>
          <p:cNvPr id="48" name="New shape" title=""/>
          <p:cNvSpPr/>
          <p:nvPr/>
        </p:nvSpPr>
        <p:spPr>
          <a:xfrm>
            <a:off x="59580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Benefits of social media marketing worldwide 2022</a:t>
            </a:r>
          </a:p>
        </p:txBody>
      </p:sp>
      <p:sp>
        <p:nvSpPr>
          <p:cNvPr id="49" name="New shape" title=""/>
          <p:cNvSpPr/>
          <p:nvPr/>
        </p:nvSpPr>
        <p:spPr>
          <a:xfrm>
            <a:off x="10915200" y="23936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5" action="ppaction://hlinksldjump">
                  <a:extLst>
                    <a:ext uri="{A12FA001-AC4F-418D-AE19-62706E023703}">
                      <ahyp:hlinkClr xmlns:ahyp="http://schemas.microsoft.com/office/drawing/2018/hyperlinkcolor" val="tx"/>
                    </a:ext>
                  </a:extLst>
                </a:hlinkClick>
              </a:rPr>
              <a:t>63</a:t>
            </a:r>
          </a:p>
        </p:txBody>
      </p:sp>
      <p:sp>
        <p:nvSpPr>
          <p:cNvPr id="50" name="New shape" title=""/>
          <p:cNvSpPr/>
          <p:nvPr/>
        </p:nvSpPr>
        <p:spPr>
          <a:xfrm>
            <a:off x="5958000" y="23936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Future use of social media among marketers worldwide 2022, by platform</a:t>
            </a:r>
          </a:p>
        </p:txBody>
      </p:sp>
      <p:sp>
        <p:nvSpPr>
          <p:cNvPr id="51" name="New shape" title=""/>
          <p:cNvSpPr/>
          <p:nvPr/>
        </p:nvSpPr>
        <p:spPr>
          <a:xfrm>
            <a:off x="10915200" y="256391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6" action="ppaction://hlinksldjump">
                  <a:extLst>
                    <a:ext uri="{A12FA001-AC4F-418D-AE19-62706E023703}">
                      <ahyp:hlinkClr xmlns:ahyp="http://schemas.microsoft.com/office/drawing/2018/hyperlinkcolor" val="tx"/>
                    </a:ext>
                  </a:extLst>
                </a:hlinkClick>
              </a:rPr>
              <a:t>64</a:t>
            </a:r>
          </a:p>
        </p:txBody>
      </p:sp>
      <p:sp>
        <p:nvSpPr>
          <p:cNvPr id="52" name="New shape" title=""/>
          <p:cNvSpPr/>
          <p:nvPr/>
        </p:nvSpPr>
        <p:spPr>
          <a:xfrm>
            <a:off x="5958000" y="256391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Organic vs. paid social media used by B2C marketers worldwide 2021</a:t>
            </a:r>
          </a:p>
        </p:txBody>
      </p:sp>
      <p:sp>
        <p:nvSpPr>
          <p:cNvPr id="53" name="New shape" title=""/>
          <p:cNvSpPr/>
          <p:nvPr/>
        </p:nvSpPr>
        <p:spPr>
          <a:xfrm>
            <a:off x="10915200" y="273419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7" action="ppaction://hlinksldjump">
                  <a:extLst>
                    <a:ext uri="{A12FA001-AC4F-418D-AE19-62706E023703}">
                      <ahyp:hlinkClr xmlns:ahyp="http://schemas.microsoft.com/office/drawing/2018/hyperlinkcolor" val="tx"/>
                    </a:ext>
                  </a:extLst>
                </a:hlinkClick>
              </a:rPr>
              <a:t>65</a:t>
            </a:r>
          </a:p>
        </p:txBody>
      </p:sp>
      <p:sp>
        <p:nvSpPr>
          <p:cNvPr id="54" name="New shape" title=""/>
          <p:cNvSpPr/>
          <p:nvPr/>
        </p:nvSpPr>
        <p:spPr>
          <a:xfrm>
            <a:off x="5958000" y="273419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types used by B2B marketers worldwide 2022</a:t>
            </a:r>
          </a:p>
        </p:txBody>
      </p:sp>
      <p:sp>
        <p:nvSpPr>
          <p:cNvPr id="55" name="New shape" title=""/>
          <p:cNvSpPr/>
          <p:nvPr/>
        </p:nvSpPr>
        <p:spPr>
          <a:xfrm>
            <a:off x="10915200" y="290446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8" action="ppaction://hlinksldjump">
                  <a:extLst>
                    <a:ext uri="{A12FA001-AC4F-418D-AE19-62706E023703}">
                      <ahyp:hlinkClr xmlns:ahyp="http://schemas.microsoft.com/office/drawing/2018/hyperlinkcolor" val="tx"/>
                    </a:ext>
                  </a:extLst>
                </a:hlinkClick>
              </a:rPr>
              <a:t>66</a:t>
            </a:r>
          </a:p>
        </p:txBody>
      </p:sp>
      <p:sp>
        <p:nvSpPr>
          <p:cNvPr id="56" name="New shape" title=""/>
          <p:cNvSpPr/>
          <p:nvPr/>
        </p:nvSpPr>
        <p:spPr>
          <a:xfrm>
            <a:off x="5958000" y="290446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platforms with highest ROI worldwide 2022</a:t>
            </a:r>
          </a:p>
        </p:txBody>
      </p:sp>
      <p:sp>
        <p:nvSpPr>
          <p:cNvPr id="57" name="New shape" title=""/>
          <p:cNvSpPr/>
          <p:nvPr/>
        </p:nvSpPr>
        <p:spPr>
          <a:xfrm>
            <a:off x="10915200" y="307474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9" action="ppaction://hlinksldjump">
                  <a:extLst>
                    <a:ext uri="{A12FA001-AC4F-418D-AE19-62706E023703}">
                      <ahyp:hlinkClr xmlns:ahyp="http://schemas.microsoft.com/office/drawing/2018/hyperlinkcolor" val="tx"/>
                    </a:ext>
                  </a:extLst>
                </a:hlinkClick>
              </a:rPr>
              <a:t>67</a:t>
            </a:r>
          </a:p>
        </p:txBody>
      </p:sp>
      <p:sp>
        <p:nvSpPr>
          <p:cNvPr id="58" name="New shape" title=""/>
          <p:cNvSpPr/>
          <p:nvPr/>
        </p:nvSpPr>
        <p:spPr>
          <a:xfrm>
            <a:off x="5958000" y="307474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platforms with highest ROI for B2B marketers worldwide 2021</a:t>
            </a:r>
          </a:p>
        </p:txBody>
      </p:sp>
      <p:sp>
        <p:nvSpPr>
          <p:cNvPr id="59" name="New shape" title=""/>
          <p:cNvSpPr/>
          <p:nvPr/>
        </p:nvSpPr>
        <p:spPr>
          <a:xfrm>
            <a:off x="10915200" y="324502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0" action="ppaction://hlinksldjump">
                  <a:extLst>
                    <a:ext uri="{A12FA001-AC4F-418D-AE19-62706E023703}">
                      <ahyp:hlinkClr xmlns:ahyp="http://schemas.microsoft.com/office/drawing/2018/hyperlinkcolor" val="tx"/>
                    </a:ext>
                  </a:extLst>
                </a:hlinkClick>
              </a:rPr>
              <a:t>68</a:t>
            </a:r>
          </a:p>
        </p:txBody>
      </p:sp>
      <p:sp>
        <p:nvSpPr>
          <p:cNvPr id="60" name="New shape" title=""/>
          <p:cNvSpPr/>
          <p:nvPr/>
        </p:nvSpPr>
        <p:spPr>
          <a:xfrm>
            <a:off x="5958000" y="324502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effective social media platforms for B2B marketers worldwide 2022</a:t>
            </a:r>
          </a:p>
        </p:txBody>
      </p:sp>
      <p:sp>
        <p:nvSpPr>
          <p:cNvPr id="61" name="New shape" title=""/>
          <p:cNvSpPr/>
          <p:nvPr/>
        </p:nvSpPr>
        <p:spPr>
          <a:xfrm>
            <a:off x="5958000" y="3542302"/>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09 Data requests</a:t>
            </a:r>
          </a:p>
        </p:txBody>
      </p:sp>
      <p:sp>
        <p:nvSpPr>
          <p:cNvPr id="62" name="New shape" title=""/>
          <p:cNvSpPr/>
          <p:nvPr/>
        </p:nvSpPr>
        <p:spPr>
          <a:xfrm>
            <a:off x="10915200" y="377574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1" action="ppaction://hlinksldjump">
                  <a:extLst>
                    <a:ext uri="{A12FA001-AC4F-418D-AE19-62706E023703}">
                      <ahyp:hlinkClr xmlns:ahyp="http://schemas.microsoft.com/office/drawing/2018/hyperlinkcolor" val="tx"/>
                    </a:ext>
                  </a:extLst>
                </a:hlinkClick>
              </a:rPr>
              <a:t>70</a:t>
            </a:r>
          </a:p>
        </p:txBody>
      </p:sp>
      <p:sp>
        <p:nvSpPr>
          <p:cNvPr id="63" name="New shape" title=""/>
          <p:cNvSpPr/>
          <p:nvPr/>
        </p:nvSpPr>
        <p:spPr>
          <a:xfrm>
            <a:off x="5958000" y="377574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user data requests from federal agencies &amp; governments H1 2022, by country</a:t>
            </a:r>
          </a:p>
        </p:txBody>
      </p:sp>
      <p:sp>
        <p:nvSpPr>
          <p:cNvPr id="64" name="New shape" title=""/>
          <p:cNvSpPr/>
          <p:nvPr/>
        </p:nvSpPr>
        <p:spPr>
          <a:xfrm>
            <a:off x="10915200" y="394602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2" action="ppaction://hlinksldjump">
                  <a:extLst>
                    <a:ext uri="{A12FA001-AC4F-418D-AE19-62706E023703}">
                      <ahyp:hlinkClr xmlns:ahyp="http://schemas.microsoft.com/office/drawing/2018/hyperlinkcolor" val="tx"/>
                    </a:ext>
                  </a:extLst>
                </a:hlinkClick>
              </a:rPr>
              <a:t>71</a:t>
            </a:r>
          </a:p>
        </p:txBody>
      </p:sp>
      <p:sp>
        <p:nvSpPr>
          <p:cNvPr id="65" name="New shape" title=""/>
          <p:cNvSpPr/>
          <p:nvPr/>
        </p:nvSpPr>
        <p:spPr>
          <a:xfrm>
            <a:off x="5958000" y="394602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Facebook data requests from government agencies 2013-2022</a:t>
            </a:r>
          </a:p>
        </p:txBody>
      </p:sp>
      <p:sp>
        <p:nvSpPr>
          <p:cNvPr id="66" name="New shape" title=""/>
          <p:cNvSpPr/>
          <p:nvPr/>
        </p:nvSpPr>
        <p:spPr>
          <a:xfrm>
            <a:off x="10915200" y="411630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3" action="ppaction://hlinksldjump">
                  <a:extLst>
                    <a:ext uri="{A12FA001-AC4F-418D-AE19-62706E023703}">
                      <ahyp:hlinkClr xmlns:ahyp="http://schemas.microsoft.com/office/drawing/2018/hyperlinkcolor" val="tx"/>
                    </a:ext>
                  </a:extLst>
                </a:hlinkClick>
              </a:rPr>
              <a:t>72</a:t>
            </a:r>
          </a:p>
        </p:txBody>
      </p:sp>
      <p:sp>
        <p:nvSpPr>
          <p:cNvPr id="67" name="New shape" title=""/>
          <p:cNvSpPr/>
          <p:nvPr/>
        </p:nvSpPr>
        <p:spPr>
          <a:xfrm>
            <a:off x="5958000" y="411630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Twitter: user data requests from federal agencies and governments H2 2021</a:t>
            </a:r>
          </a:p>
        </p:txBody>
      </p:sp>
      <p:sp>
        <p:nvSpPr>
          <p:cNvPr id="68" name="New shape" title=""/>
          <p:cNvSpPr/>
          <p:nvPr/>
        </p:nvSpPr>
        <p:spPr>
          <a:xfrm>
            <a:off x="10915200" y="428657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4" action="ppaction://hlinksldjump">
                  <a:extLst>
                    <a:ext uri="{A12FA001-AC4F-418D-AE19-62706E023703}">
                      <ahyp:hlinkClr xmlns:ahyp="http://schemas.microsoft.com/office/drawing/2018/hyperlinkcolor" val="tx"/>
                    </a:ext>
                  </a:extLst>
                </a:hlinkClick>
              </a:rPr>
              <a:t>73</a:t>
            </a:r>
          </a:p>
        </p:txBody>
      </p:sp>
      <p:sp>
        <p:nvSpPr>
          <p:cNvPr id="69" name="New shape" title=""/>
          <p:cNvSpPr/>
          <p:nvPr/>
        </p:nvSpPr>
        <p:spPr>
          <a:xfrm>
            <a:off x="5958000" y="428657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Twitter: total number of data removal requests as of H1 2021</a:t>
            </a:r>
          </a:p>
        </p:txBody>
      </p:sp>
      <p:sp>
        <p:nvSpPr>
          <p:cNvPr id="70" name="New shape" title=""/>
          <p:cNvSpPr/>
          <p:nvPr/>
        </p:nvSpPr>
        <p:spPr>
          <a:xfrm>
            <a:off x="10915200" y="445685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5" action="ppaction://hlinksldjump">
                  <a:extLst>
                    <a:ext uri="{A12FA001-AC4F-418D-AE19-62706E023703}">
                      <ahyp:hlinkClr xmlns:ahyp="http://schemas.microsoft.com/office/drawing/2018/hyperlinkcolor" val="tx"/>
                    </a:ext>
                  </a:extLst>
                </a:hlinkClick>
              </a:rPr>
              <a:t>74</a:t>
            </a:r>
          </a:p>
        </p:txBody>
      </p:sp>
      <p:sp>
        <p:nvSpPr>
          <p:cNvPr id="71" name="New shape" title=""/>
          <p:cNvSpPr/>
          <p:nvPr/>
        </p:nvSpPr>
        <p:spPr>
          <a:xfrm>
            <a:off x="5958000" y="445685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Twitter: data removal requests from countries and institutions H2 2021</a:t>
            </a:r>
          </a:p>
        </p:txBody>
      </p:sp>
      <p:sp>
        <p:nvSpPr>
          <p:cNvPr id="72" name="New shape" title=""/>
          <p:cNvSpPr/>
          <p:nvPr/>
        </p:nvSpPr>
        <p:spPr>
          <a:xfrm>
            <a:off x="10915200" y="462713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6" action="ppaction://hlinksldjump">
                  <a:extLst>
                    <a:ext uri="{A12FA001-AC4F-418D-AE19-62706E023703}">
                      <ahyp:hlinkClr xmlns:ahyp="http://schemas.microsoft.com/office/drawing/2018/hyperlinkcolor" val="tx"/>
                    </a:ext>
                  </a:extLst>
                </a:hlinkClick>
              </a:rPr>
              <a:t>75</a:t>
            </a:r>
          </a:p>
        </p:txBody>
      </p:sp>
      <p:sp>
        <p:nvSpPr>
          <p:cNvPr id="73" name="New shape" title=""/>
          <p:cNvSpPr/>
          <p:nvPr/>
        </p:nvSpPr>
        <p:spPr>
          <a:xfrm>
            <a:off x="5958000" y="462713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Snapchat: user data requests by U.S. federal authorities 2014-2021</a:t>
            </a:r>
          </a:p>
        </p:txBody>
      </p:sp>
      <p:sp>
        <p:nvSpPr>
          <p:cNvPr id="74" name="New shape" title=""/>
          <p:cNvSpPr/>
          <p:nvPr/>
        </p:nvSpPr>
        <p:spPr>
          <a:xfrm>
            <a:off x="10915200" y="479741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7" action="ppaction://hlinksldjump">
                  <a:extLst>
                    <a:ext uri="{A12FA001-AC4F-418D-AE19-62706E023703}">
                      <ahyp:hlinkClr xmlns:ahyp="http://schemas.microsoft.com/office/drawing/2018/hyperlinkcolor" val="tx"/>
                    </a:ext>
                  </a:extLst>
                </a:hlinkClick>
              </a:rPr>
              <a:t>76</a:t>
            </a:r>
          </a:p>
        </p:txBody>
      </p:sp>
      <p:sp>
        <p:nvSpPr>
          <p:cNvPr id="75" name="New shape" title=""/>
          <p:cNvSpPr/>
          <p:nvPr/>
        </p:nvSpPr>
        <p:spPr>
          <a:xfrm>
            <a:off x="5958000" y="479741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TikTok: account removed 2020-2022, by reason</a:t>
            </a: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Overview</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01</a:t>
            </a: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there were 5.16 billion internet users worldwide, which is 64.4 percent of the global population. Of this total, 4.76 billion, or 59.4 percent of the world's population, were social media users.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social media users may not represent unique individuals</a:t>
            </a:r>
          </a:p>
          <a:p>
            <a:r>
              <a:rPr sz="600" b="1">
                <a:solidFill>
                  <a:srgbClr val="0F2741"/>
                </a:solidFill>
                <a:latin typeface="Open Sans"/>
              </a:rPr>
              <a:t>Source(s): </a:t>
            </a:r>
            <a:r>
              <a:rPr sz="600" b="0">
                <a:solidFill>
                  <a:srgbClr val="0F2741"/>
                </a:solidFill>
                <a:latin typeface="Open Sans"/>
              </a:rPr>
              <a:t>DataReportal;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internet and social media users worldwide as of January 2023 (in billions)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Worldwide digital population 2023</a:t>
            </a: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Social media usage is one of the most popular online activities. In 2021, over 4.26 billion people were using social media worldwide, a number projected to increase to almost six billion in 2027.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2017 to 2022; *Forecast Internet users who use a social network site via any device at least once per month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Number of social media users worldwide from 2017 to 2027 (in billions)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global social network users 2017-2027</a:t>
            </a: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2021, approximately 56 percent of the global population were social media users. This share is projected to increase to 74 percent of the global population by 2026. Social networking is one of the most popular online activities worldwide - as of 2022, global social media audiences amounted to 4.59 billion users.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2018 to 2022; * Forecast. Internet users who use a social network site via any device at least once per month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Social network penetration worldwide from 2018 to 2027</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social network penetration 2018-2027</a:t>
            </a: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2021, Meta Platforms, formerly Facebook Inc., had a total annual revenue of over 117 billion U.S. dollars, up from 85.96 in 2020. Additionally, for 2021, Twitter reported a revenue of 5.07 billion U.S. dollars, an increase of over 1.3 billion U.S. dollars from the previous year.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2014 to 2021; *In December 2016, Microsoft finalized its $26 billion acquisition of LinkedIn. LinkedIn results are now part of Microsoft's Product Revenue and Service and Other Revenue segment. **In 2021 Facebook Inc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Facebook; LinkedIn; Snap Inc.; Twitter; Yelp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Revenue of selected social media companies from 2014 to 2021 (in million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revenue of selected companies 2021</a:t>
            </a: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Regional overview</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02</a:t>
            </a: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recent projections, the number of social media users in China reached 1.02 billion in 2022, and is expected to reach 1.21 billion by 2027. India, ranking second in terms of user numbers, reached 755 million social media users in 2022, and is estimated to reach 1.17 billion by 2027. Overall, the United States has the third largest social network audience, followed by Indonesia and Brazil.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2022; internet users who use a social network site at least once a month; * Forecast China data excludes Hong Kong Internet users who use a social network site via any device at least once per month.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38"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621600" y="1882800"/>
            <a:ext cx="29464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Social network users in millions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9</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social network users in selected countries in 2022 and 2027 (in millions)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network users in selected countries in 2022 and 2027</a:t>
            </a: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2022, 26 percent of worldwide social media users were located in Eastern Asia, followed by 18.44 percent of using being located in Southern Asia. Overall, Northern America accounted for almost 9.5 percent of all social media users, whilst Central Africa made up just 0.46 percent.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2022</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39"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761300" y="1882800"/>
            <a:ext cx="26670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social media users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10</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Distribution of worldwide social media users in 2022, by region</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Distribution of global social media users 2022, by region</a:t>
            </a: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Northern Europe was the region with the highest social network penetration rate, with a reach of 83.6 percent. Western Europe followed closely with 83.3 percent, and Southern Europe ranked third with a penetration rate of 76.7 percent. In Eastern and Middle Africa, social media penetration stood at 8.4 percent and 7.4 percent, respectively. Globally, approximately six out of every ten people use social media.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social media users as a share of total population</a:t>
            </a:r>
          </a:p>
          <a:p>
            <a:r>
              <a:rPr sz="600" b="1">
                <a:solidFill>
                  <a:srgbClr val="0F2741"/>
                </a:solidFill>
                <a:latin typeface="Open Sans"/>
              </a:rPr>
              <a:t>Source(s): </a:t>
            </a:r>
            <a:r>
              <a:rPr sz="600" b="0">
                <a:solidFill>
                  <a:srgbClr val="0F2741"/>
                </a:solidFill>
                <a:latin typeface="Open Sans"/>
              </a:rPr>
              <a:t>DataReportal;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0"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123250" y="1882800"/>
            <a:ext cx="1943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population</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11</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Global social network penetration rate as of January 2023, by region</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global penetration rate 2023, by region</a:t>
            </a: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2022, Eastern Asia accounted for over 1.1 billion social media users, the majority of which were located in China. Additionally, Southern Asia had a total of 847 million social media users, whilst central Africa was home to just over 21 million users.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2022</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1"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3980250" y="1882800"/>
            <a:ext cx="4229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active social media users in millions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12</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Number of social network users worldwide in 2022, by region (in millions)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worldwide social media users 2022, by region</a:t>
            </a: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the UAE had the highest social media penetration rate of the selected countries and territories. Bahrain and Qatar followed, with 98.7 percent and 96.8 percent social media reach, respectively. The worldwide social media penetration rate stood at 59.4 percent as of early 2023. Nigeria, Kenya, and Ghana saw much lower social media reach than the global average.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Active social media users as percentage of the total population</a:t>
            </a:r>
          </a:p>
          <a:p>
            <a:r>
              <a:rPr sz="600" b="1">
                <a:solidFill>
                  <a:srgbClr val="0F2741"/>
                </a:solidFill>
                <a:latin typeface="Open Sans"/>
              </a:rPr>
              <a:t>Source(s): </a:t>
            </a:r>
            <a:r>
              <a:rPr sz="600" b="0">
                <a:solidFill>
                  <a:srgbClr val="0F2741"/>
                </a:solidFill>
                <a:latin typeface="Open Sans"/>
              </a:rPr>
              <a:t>DataReportal;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2"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123250" y="1882800"/>
            <a:ext cx="1943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population</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13</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Active social network penetration in selected countries and territories as of January 2023</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active usage penetration in selected countries and territories 2023</a:t>
            </a:r>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Leading social media</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03</a:t>
            </a:r>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Market leader Facebook was the first social network to surpass one billion registered accounts and currently sits at more than 2.9 billion monthly active users. Meta Platforms owns four of the biggest social media platforms, all with over one billion monthly active users each: Facebook (core platform), WhatsApp, Facebook Messenger, and Instagram. In the final quarter of 2022, Facebook reported over 3.7 billion monthly core Family product users.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social networks and messenger/chat app/voip included; figures for TikTok does not include Douyin; *Platforms have not published updated user figures in the past 12 months, figures may be out of date and less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DataReportal;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526350" y="1882800"/>
            <a:ext cx="31369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active users in millions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15</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social networks worldwide as of January 2023, ranked by number of monthly active users (in millions)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social networks ranked by number of users 2023</a:t>
            </a:r>
          </a:p>
        </p:txBody>
      </p:sp>
    </p:spTree>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2022, Instagram was the world's leading social media app, with 547 million downloads WhatsApp ranked second with 424 million downloads, while Telegram surpassed the remaining mobile versions of Meta-owned social media platforms Facebook and Messenger. Newcomer BeReal, a photo-sharing social media app launched in 2020, entered the ranking in tenth position with over 90 million global downloads during the examined year.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2022</a:t>
            </a:r>
          </a:p>
          <a:p>
            <a:r>
              <a:rPr sz="600" b="1">
                <a:solidFill>
                  <a:srgbClr val="0F2741"/>
                </a:solidFill>
                <a:latin typeface="Open Sans"/>
              </a:rPr>
              <a:t>Source(s): </a:t>
            </a:r>
            <a:r>
              <a:rPr sz="600" b="0">
                <a:solidFill>
                  <a:srgbClr val="0F2741"/>
                </a:solidFill>
                <a:latin typeface="Open Sans"/>
              </a:rPr>
              <a:t>Apptopia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583500" y="1882800"/>
            <a:ext cx="3022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downloads in millions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16</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Leading social media apps worldwide in 2022, by downloads (in millions)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downloaded social media apps worldwide 2022</a:t>
            </a:r>
          </a:p>
        </p:txBody>
      </p:sp>
    </p:spTree>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February 2021, YouTube had a global penetration rate of 62 percent, followed closely by Meta's Facebook, with 61 percent. Overall, instant messaging service WhatsApp had a global penetration rate of 52 percent. Additionally, 12 percent of people used TikTok, and one in ten people around the world use messaging service Telegram.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to February 2021; 24,000 respondents; used for any purpose last week</a:t>
            </a:r>
          </a:p>
          <a:p>
            <a:r>
              <a:rPr sz="600" b="1">
                <a:solidFill>
                  <a:srgbClr val="0F2741"/>
                </a:solidFill>
                <a:latin typeface="Open Sans"/>
              </a:rPr>
              <a:t>Source(s): </a:t>
            </a:r>
            <a:r>
              <a:rPr sz="600" b="0">
                <a:solidFill>
                  <a:srgbClr val="0F2741"/>
                </a:solidFill>
                <a:latin typeface="Open Sans"/>
              </a:rPr>
              <a:t>Reuters Institute for the Study of Journalism; YouGov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17</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Global active usage penetration of leading social networks as of February 2021</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popular social networks worldwide 2021, by reach</a:t>
            </a:r>
          </a:p>
        </p:txBody>
      </p:sp>
    </p:spTree>
  </p:cSld>
  <p:clrMapOvr>
    <a:masterClrMapping/>
  </p:clrMapOvr>
  <p:transition/>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September 2022, BeReal was the most-downloaded social networking app for iPhone in the Apple App Store worldwide, with the photo-sharing social app reporting almost 14 million downloads from iPhone users worldwide. Meta-owned WhatsApp was the second most downloaded iPhone app, with the social app generating approximately seven million downloads from iPhone users. Telegram was the third most popular social media app with roughly four million downloads from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September 2022; iPhone apps only, excluding iPad apps</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583500" y="1882800"/>
            <a:ext cx="3022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downloads in millions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18</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iPhone social media apps in the Apple App Store worldwide in June 2022, by number of downloads (in millions)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iPhone social media apps worldwide 2022, by downloads</a:t>
            </a:r>
          </a:p>
        </p:txBody>
      </p:sp>
    </p:spTree>
  </p:cSld>
  <p:clrMapOvr>
    <a:masterClrMapping/>
  </p:clrMapOvr>
  <p:transition/>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September 2022, LINE was the top-grossing iPhone social networking app app in the Apple App Store worldwide. The service generated almost five million U.S. dollars in revenues from iOS users. Live streaming platform BIGO Live was the second-most successful social networking app with 4.5 million U.S. dollars in revenues from global users, while Chinese micro-blogging and social media app QQ amassed more than four million U.S. dollars in revenues from users worldwide.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September 2022; iPhone apps only, excluding iPad apps</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666050" y="1882800"/>
            <a:ext cx="28575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Revenue in million U.S. dollars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19</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iPhone social media apps in the Apple App Store worldwide in September 2022, by revenue (in million U.S. dollars)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iPhone social media apps worldwide 2022, by revenue</a:t>
            </a: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September 2022, WhatsApp was the most-downloaded communication app in the Google Play Store worldwide. The app generated around 20.7 million downloads from Android users. Snapchat immediately followed with approximately 15.3 million downloads from global users in the examined month.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September 2022; based on downloads to devices worldwide</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583500" y="1882800"/>
            <a:ext cx="3022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downloads in millions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20</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communication apps in the Google Play Store worldwide in September 2022, by number of downloads (in millions)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Android communication apps worldwide 2022, by downloads</a:t>
            </a:r>
          </a:p>
        </p:txBody>
      </p:sp>
    </p:spTree>
  </p:cSld>
  <p:clrMapOvr>
    <a:masterClrMapping/>
  </p:clrMapOvr>
  <p:transition/>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June 2022, voice-over-Internet and social platform Discord was the top-grossing communication app in the Google Play Store worldwide, with 1.7 million U.S. dollars in revenues. Azar was the second-most successful communication app, with 1.5 million U.S. dollars in revenues from global users.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September 2022; based on total revenue generated worldwide</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774000" y="1882800"/>
            <a:ext cx="2641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Total revenue in U.S. dollars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21</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communication apps in the Google Play Store worldwide in September 2022, by revenue (in U.S. dollars)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Android communication apps worldwide 2022, by revenue</a:t>
            </a:r>
          </a:p>
        </p:txBody>
      </p:sp>
    </p:spTree>
  </p:cSld>
  <p:clrMapOvr>
    <a:masterClrMapping/>
  </p:clrMapOvr>
  <p:transition/>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Usage</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04</a:t>
            </a:r>
          </a:p>
        </p:txBody>
      </p:sp>
    </p:spTree>
  </p:cSld>
  <p:clrMapOvr>
    <a:masterClrMapping/>
  </p:clrMapOvr>
  <p:transition/>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survey conducted in the third quarter of 2022 found that the main reason for using social media was to keep in touch with friends and family, with over 47 percent of social media users saying this was their main reason for using online networks. Overall, 36.2 percent of social media users said that filling spare time was their main reason for using social media platforms, whilst a similar share of respondents said they used it to read news stories. One in five users were on social platforms for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Q3 2022; 16 to 64 years; internet users</a:t>
            </a:r>
          </a:p>
          <a:p>
            <a:r>
              <a:rPr sz="600" b="1">
                <a:solidFill>
                  <a:srgbClr val="0F2741"/>
                </a:solidFill>
                <a:latin typeface="Open Sans"/>
              </a:rPr>
              <a:t>Source(s): </a:t>
            </a:r>
            <a:r>
              <a:rPr sz="600" b="0">
                <a:solidFill>
                  <a:srgbClr val="0F2741"/>
                </a:solidFill>
                <a:latin typeface="Open Sans"/>
              </a:rPr>
              <a:t>DataReportal; GWI;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3"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23</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reasons for internet users worldwide to use social media as of 3rd quarter 2022</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social media usage reasons worldwide 2022</a:t>
            </a:r>
          </a:p>
        </p:txBody>
      </p:sp>
    </p:spTree>
  </p:cSld>
  <p:clrMapOvr>
    <a:masterClrMapping/>
  </p:clrMapOvr>
  <p:transition/>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2022, the average daily social media usage of internet users worldwide amounted to 147 minutes per day, up from 145 minutes in the previous year. Currently, the country with the most time spent on social media per day is the Philippines, with online users spending an average of three hours and 53 minute on social media each day. In comparison, the daily time spent with social media in the U.S. was just two hours and three minutes.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2012 to 2022; 16-64 years; social media and messaging</a:t>
            </a:r>
          </a:p>
          <a:p>
            <a:r>
              <a:rPr sz="600" b="1">
                <a:solidFill>
                  <a:srgbClr val="0F2741"/>
                </a:solidFill>
                <a:latin typeface="Open Sans"/>
              </a:rPr>
              <a:t>Source(s): </a:t>
            </a:r>
            <a:r>
              <a:rPr sz="600" b="0">
                <a:solidFill>
                  <a:srgbClr val="0F2741"/>
                </a:solidFill>
                <a:latin typeface="Open Sans"/>
              </a:rPr>
              <a:t>DataReportal; GWI; Hootsuite;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Daily time spent on social networking by internet users worldwide from 2012 to 2022 (in minutes)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Average daily time spent on social media worldwide 2012-2022</a:t>
            </a:r>
          </a:p>
        </p:txBody>
      </p:sp>
    </p:spTree>
  </p:cSld>
  <p:clrMapOvr>
    <a:masterClrMapping/>
  </p:clrMapOvr>
  <p:transition/>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Between October 2020 and March 2021, female users spent approximately 62.59 minutes per day using social media apps on their smartphones and mobile devices. By comparison, male users spent approximately 49.53 minutes on social media apps daily.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October 2020 to March 2021</a:t>
            </a:r>
          </a:p>
          <a:p>
            <a:r>
              <a:rPr sz="600" b="1">
                <a:solidFill>
                  <a:srgbClr val="0F2741"/>
                </a:solidFill>
                <a:latin typeface="Open Sans"/>
              </a:rPr>
              <a:t>Source(s): </a:t>
            </a:r>
            <a:r>
              <a:rPr sz="600" b="0">
                <a:solidFill>
                  <a:srgbClr val="0F2741"/>
                </a:solidFill>
                <a:latin typeface="Open Sans"/>
              </a:rPr>
              <a:t>adjoe GmbH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Average daily time spent by users worldwide on social media apps from October 2020 to March 2021, by gender (in minutes)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users daily time on social media apps 2020-2021, by gender</a:t>
            </a:r>
          </a:p>
        </p:txBody>
      </p:sp>
    </p:spTree>
  </p:cSld>
  <p:clrMapOvr>
    <a:masterClrMapping/>
  </p:clrMapOvr>
  <p:transition/>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Between October 2020 and March 2021, users aged between 40 and 44 years were the demographic spending the largest amount of time engaging with social media apps, with an average of 59.85 minutes per day. Global users aged 19 or younger spent the least amount of time on social media apps, while users aged 50 years or older spent approximately 56.43 minutes per day on social media apps.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October 2020 to March 2021</a:t>
            </a:r>
          </a:p>
          <a:p>
            <a:r>
              <a:rPr sz="600" b="1">
                <a:solidFill>
                  <a:srgbClr val="0F2741"/>
                </a:solidFill>
                <a:latin typeface="Open Sans"/>
              </a:rPr>
              <a:t>Source(s): </a:t>
            </a:r>
            <a:r>
              <a:rPr sz="600" b="0">
                <a:solidFill>
                  <a:srgbClr val="0F2741"/>
                </a:solidFill>
                <a:latin typeface="Open Sans"/>
              </a:rPr>
              <a:t>adjoe GmbH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Average daily time spent by users worldwide on mobile social media apps from October 2020 to March 2021, by age group (in minutes)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users daily time on social media apps 2020-2021, by age group</a:t>
            </a:r>
          </a:p>
        </p:txBody>
      </p:sp>
    </p:spTree>
  </p:cSld>
  <p:clrMapOvr>
    <a:masterClrMapping/>
  </p:clrMapOvr>
  <p:transition/>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2"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lot of things happen in an internet minute - millions of messages, e-mails and texts are sent, scrolled and uploaded, and hundreds of thousands of hours of content are consumed. In a 2022 internet minute, one million hours of content were streamed by users worldwide.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April 2022</a:t>
            </a:r>
          </a:p>
          <a:p>
            <a:r>
              <a:rPr sz="600" b="1">
                <a:solidFill>
                  <a:srgbClr val="0F2741"/>
                </a:solidFill>
                <a:latin typeface="Open Sans"/>
              </a:rPr>
              <a:t>Source(s): </a:t>
            </a:r>
            <a:r>
              <a:rPr sz="600" b="0">
                <a:solidFill>
                  <a:srgbClr val="0F2741"/>
                </a:solidFill>
                <a:latin typeface="Open Sans"/>
              </a:rPr>
              <a:t>Domo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New Table" title=""/>
          <p:cNvGraphicFramePr>
            <a:graphicFrameLocks noGrp="1"/>
          </p:cNvGraphicFramePr>
          <p:nvPr/>
        </p:nvGraphicFramePr>
        <p:xfrm>
          <a:off x="586800" y="1882800"/>
          <a:ext cx="11016000" cy="3886200"/>
        </p:xfrm>
        <a:graphic>
          <a:graphicData uri="http://schemas.openxmlformats.org/drawingml/2006/table">
            <a:tbl>
              <a:tblPr firstRow="1" bandRow="1">
                <a:tableStyleId>{5C22544A-7EE6-4342-B048-85BDC9FD1C3A}</a:tableStyleId>
              </a:tblPr>
              <a:tblGrid>
                <a:gridCol w="6008700"/>
                <a:gridCol w="5007300"/>
              </a:tblGrid>
              <a:tr h="0">
                <a:tc>
                  <a:txBody>
                    <a:bodyPr/>
                    <a:lstStyle/>
                    <a:p>
                      <a:pPr algn="l"/>
                      <a:endParaRPr sz="1100" b="1">
                        <a:solidFill>
                          <a:srgbClr val="0F2741"/>
                        </a:solidFill>
                        <a:latin typeface="Open Sans"/>
                      </a:endParaRP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Amount per minute</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Emails sent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231400000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Cryptocurrency purchased (USD)</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90200000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Texts sent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16000000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Searches conducted on Google</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5900000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Snaps shared on Snapchat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2430000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Pieces of content shared on Facebook</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1700000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Swipes on Tinder</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1100000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Hours streamed</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1000000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USD spent on Amazon</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443000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USD sent on Venmo</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437600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Tweets shared on Twitter</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347200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Hours spent in Zoom meetings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104600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USD spent on DoorDash</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76400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Photos shared on Instagram</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66000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bl>
          </a:graphicData>
        </a:graphic>
      </p:graphicFrame>
      <p:sp>
        <p:nvSpPr>
          <p:cNvPr id="5" name="New shape" title=""/>
          <p:cNvSpPr/>
          <p:nvPr/>
        </p:nvSpPr>
        <p:spPr>
          <a:xfrm>
            <a:off x="523300" y="5339925"/>
            <a:ext cx="11143000" cy="691425"/>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4" r:id="rId7" imgW="2203200" imgH="629486" progId=".xls">
                  <p:embed/>
                </p:oleObj>
              </mc:Choice>
              <mc:Fallback>
                <p:oleObj r:id="rId7" imgW="2203200" imgH="629486" progId=".xls">
                  <p:embed/>
                  <p:pic>
                    <p:nvPicPr>
                      <p:cNvPr id="0" name="OLE substitute image"/>
                      <p:cNvPicPr/>
                      <p:nvPr/>
                    </p:nvPicPr>
                    <p:blipFill>
                      <a:blip r:embed="rId9"/>
                      <a:srcRect t="100000"/>
                      <a:tile tx="0" ty="0" sx="100000" sy="100000" flip="none" algn="tl"/>
                    </p:blipFill>
                    <p:spPr>
                      <a:xfrm>
                        <a:off x="9399600" y="5401865"/>
                        <a:ext cx="2203200" cy="629486"/>
                      </a:xfrm>
                      <a:prstGeom prst="rect">
                        <a:avLst/>
                      </a:prstGeom>
                      <a:blipFill>
                        <a:blip r:embed="rId8"/>
                        <a:stretch>
                          <a:fillRect/>
                        </a:stretch>
                      </a:blipFill>
                      <a:ln>
                        <a:noFill/>
                      </a:ln>
                    </p:spPr>
                  </p:pic>
                </p:oleObj>
              </mc:Fallback>
            </mc:AlternateContent>
          </a:graphicData>
        </a:graphic>
      </p:graphicFrame>
      <p:sp>
        <p:nvSpPr>
          <p:cNvPr id="7"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27</a:t>
            </a:r>
          </a:p>
        </p:txBody>
      </p:sp>
      <p:sp>
        <p:nvSpPr>
          <p:cNvPr id="8"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Media usage in an internet minute as of April 2022</a:t>
            </a:r>
          </a:p>
        </p:txBody>
      </p:sp>
      <p:sp>
        <p:nvSpPr>
          <p:cNvPr id="9"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Media usage in an online minute 2022</a:t>
            </a:r>
          </a:p>
        </p:txBody>
      </p:sp>
    </p:spTree>
  </p:cSld>
  <p:clrMapOvr>
    <a:masterClrMapping/>
  </p:clrMapOvr>
  <p:transition/>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a 2022 survey, 82 percent of respondents from Kenya stated that they used social media as a source of news. In comparison, 28 percent in Japan said the same. Large portions of social media users around the world admit that they do not trust social platforms either as media sources or as a way to get news, and yet they continue to access such networks on a daily basis.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to February 2022; 2,000*; 18 years and older; *Sample size per market was roughly 2,000.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Reuters Institute for the Study of Journalism; YouGov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5"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28</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adults who use social media as a source of news in selected countries worldwide as of February 2022</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as a news source worldwide 2022</a:t>
            </a:r>
          </a:p>
        </p:txBody>
      </p:sp>
    </p:spTree>
  </p:cSld>
  <p:clrMapOvr>
    <a:masterClrMapping/>
  </p:clrMapOvr>
  <p:transition/>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Facebook</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05</a:t>
            </a: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global number of Facebook users was forecast to continuously increase between 2023 and 2027 by in total 391 million users (+14.36 percent). After the fourth consecutive increasing year, the Facebook user base is estimated to reach 3.1 billion users and therefore a new peak in 2027. Notably, the number of Facebook users was continuously increasing over the past years.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2017 to 2027; internet users who access their facebook account via any device at least once per month; * Forecast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Number of Facebook users worldwide from 2017 to 2027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users worldwide 2017-2027</a:t>
            </a:r>
          </a:p>
        </p:txBody>
      </p:sp>
    </p:spTree>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There are nearly 315 million Facebook users in India alone, making it the leading country in terms of Facebook audience size. To put this into context, if India`s Facebook audience were a country then it would be ranked third in terms of largest population worldwide. Apart from India, there are several other markets with more than 100 million Facebook users each: The United States, Indonesia, and Brazil with 175 million, 119 million, and 109 million Facebook users respectively.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13 years and older; Based on addressable audience only</a:t>
            </a:r>
          </a:p>
          <a:p>
            <a:r>
              <a:rPr sz="600" b="1">
                <a:solidFill>
                  <a:srgbClr val="0F2741"/>
                </a:solidFill>
                <a:latin typeface="Open Sans"/>
              </a:rPr>
              <a:t>Source(s): </a:t>
            </a:r>
            <a:r>
              <a:rPr sz="600" b="0">
                <a:solidFill>
                  <a:srgbClr val="0F2741"/>
                </a:solidFill>
                <a:latin typeface="Open Sans"/>
              </a:rPr>
              <a:t>DataReportal; Facebook;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6"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361250" y="1882800"/>
            <a:ext cx="3467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Facebook users in millions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31</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countries based on Facebook audience size as of January 2023 (in millions)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Countries with the most Facebook users 2023</a:t>
            </a: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Facebook had an addressable ad audience reach 96.1 percent in Libya, followed by Mongolia with 94.1 percent and the Philippines with 93.5 percent. Additionally, Peru and Georgia had addressable ad audiences of 86 percent and 85.5 percent.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13 years and older; *According to the source: "Values should not technically exceed 100%, but data are shown 'as-is,' to enable readers to make their own judgments. Only includes countries and territories with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DataReportal; Facebook;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7"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275650" y="1882800"/>
            <a:ext cx="16383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Audience reach</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32</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Countries with the highest Facebook audience reach in January 2023</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Countries with biggest Facebook reach 2023</a:t>
            </a:r>
          </a:p>
        </p:txBody>
      </p:sp>
    </p:spTree>
  </p:cSld>
  <p:clrMapOvr>
    <a:masterClrMapping/>
  </p:clrMapOvr>
  <p:transition/>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Facebook is the leading social network worldwide, and its accessibility through multiple mobile apps as well as its mobile website. In January 2021, over 98 percent of active user accounts worldwide accessed the social network via any kind of mobile phone.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2022; 18 years and older</a:t>
            </a:r>
          </a:p>
          <a:p>
            <a:r>
              <a:rPr sz="600" b="1">
                <a:solidFill>
                  <a:srgbClr val="0F2741"/>
                </a:solidFill>
                <a:latin typeface="Open Sans"/>
              </a:rPr>
              <a:t>Source(s): </a:t>
            </a:r>
            <a:r>
              <a:rPr sz="600" b="0">
                <a:solidFill>
                  <a:srgbClr val="0F2741"/>
                </a:solidFill>
                <a:latin typeface="Open Sans"/>
              </a:rPr>
              <a:t>DataReportal; Facebook; Hootsuite;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Device usage of Facebook users worldwide as of January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access penetration 2022, by device</a:t>
            </a:r>
          </a:p>
        </p:txBody>
      </p:sp>
    </p:spTree>
  </p:cSld>
  <p:clrMapOvr>
    <a:masterClrMapping/>
  </p:clrMapOvr>
  <p:transition/>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With roughly 2.96 billion monthly active users as of the fourth quarter of 2022, Facebook is the most used online social network worldwide. The platform surpassed two billion active users in the second quarter of 2017, taking just over 13 years to reach this milestone. In comparison, Meta-owned Instagram took 11.2 years, and Google`s YouTube took just over 14 years to achieve this landmark.As of January 2022, Facebook`s leading audience base was in India, with almost 330 million users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Q3 2008 to Q4 2022</a:t>
            </a:r>
          </a:p>
          <a:p>
            <a:r>
              <a:rPr sz="600" b="1">
                <a:solidFill>
                  <a:srgbClr val="0F2741"/>
                </a:solidFill>
                <a:latin typeface="Open Sans"/>
              </a:rPr>
              <a:t>Source(s): </a:t>
            </a:r>
            <a:r>
              <a:rPr sz="600" b="0">
                <a:solidFill>
                  <a:srgbClr val="0F2741"/>
                </a:solidFill>
                <a:latin typeface="Open Sans"/>
              </a:rPr>
              <a:t>Meta Platforms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monthly active Facebook users worldwide as of 4th quarter 2022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quarterly number of MAU (monthly active users) worldwide 2008-2022</a:t>
            </a:r>
          </a:p>
        </p:txBody>
      </p:sp>
    </p:spTree>
  </p:cSld>
  <p:clrMapOvr>
    <a:masterClrMapping/>
  </p:clrMapOvr>
  <p:transition/>
  <p:timing/>
</p:sld>
</file>

<file path=ppt/slides/slide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the fourth quarter of 2022, the number of daily active users on Facebook reached two billion, a minor increase on the previous quarter. When compared with the number of daily active users in the fourth quarter of 2021, the platform has gained around 70 million users. Facebook`s penetration rate for the United States in 2022 was 71.43 percent, up from 70 percent in 2020. The social network`s audience reach is projected to be 75.79 percent by 2027.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Q1 2011 to Q4 2022</a:t>
            </a:r>
          </a:p>
          <a:p>
            <a:r>
              <a:rPr sz="600" b="1">
                <a:solidFill>
                  <a:srgbClr val="0F2741"/>
                </a:solidFill>
                <a:latin typeface="Open Sans"/>
              </a:rPr>
              <a:t>Source(s): </a:t>
            </a:r>
            <a:r>
              <a:rPr sz="600" b="0">
                <a:solidFill>
                  <a:srgbClr val="0F2741"/>
                </a:solidFill>
                <a:latin typeface="Open Sans"/>
              </a:rPr>
              <a:t>Meta Platforms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daily active Facebook users worldwide as of 4th quarter 2022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number of daily active users worldwide 2011-2022</a:t>
            </a:r>
          </a:p>
        </p:txBody>
      </p:sp>
    </p:spTree>
  </p:cSld>
  <p:clrMapOvr>
    <a:masterClrMapping/>
  </p:clrMapOvr>
  <p:transition/>
  <p:timing/>
</p:sld>
</file>

<file path=ppt/slides/slide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Apart from being the most-followed person on Instagram, Cristiano Ronaldo is also the most-followed person on Facebook with over 122 million subscribers to his Facebook page in January 2023. Only Facebook itself and tech conglomerate Samsung had more followers on the social network. Ronaldo`s position in the ranking is even more impressive given that the list of most popular fan pages on Facebook is dominated by global brands rather than individual celebrities.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a:t>
            </a:r>
          </a:p>
          <a:p>
            <a:r>
              <a:rPr sz="600" b="1">
                <a:solidFill>
                  <a:srgbClr val="0F2741"/>
                </a:solidFill>
                <a:latin typeface="Open Sans"/>
              </a:rPr>
              <a:t>Source(s): </a:t>
            </a:r>
            <a:r>
              <a:rPr sz="600" b="0">
                <a:solidFill>
                  <a:srgbClr val="0F2741"/>
                </a:solidFill>
                <a:latin typeface="Open Sans"/>
              </a:rPr>
              <a:t>Facebook; Trackalytics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8"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291400" y="1882800"/>
            <a:ext cx="36068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fans on Facebook in millions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36</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Facebook fan pages as of January 2023, based on number of fans (in millions)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popular Facebook fan pages 2022</a:t>
            </a:r>
          </a:p>
        </p:txBody>
      </p:sp>
    </p:spTree>
  </p:cSld>
  <p:clrMapOvr>
    <a:masterClrMapping/>
  </p:clrMapOvr>
  <p:transition/>
  <p:timing/>
</p:sld>
</file>

<file path=ppt/slides/slide3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dailymail.co.uk was the biggest web publisher on Facebook, gathering over 19 million Facebook interactions, including likes, shares and comments on content posted. Second on the list was mirror.co.uk with 14.8 million interactions.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English-language publications only</a:t>
            </a:r>
          </a:p>
          <a:p>
            <a:r>
              <a:rPr sz="600" b="1">
                <a:solidFill>
                  <a:srgbClr val="0F2741"/>
                </a:solidFill>
                <a:latin typeface="Open Sans"/>
              </a:rPr>
              <a:t>Source(s): </a:t>
            </a:r>
            <a:r>
              <a:rPr sz="600" b="0">
                <a:solidFill>
                  <a:srgbClr val="0F2741"/>
                </a:solidFill>
                <a:latin typeface="Open Sans"/>
              </a:rPr>
              <a:t>NewsWhip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602550" y="1882800"/>
            <a:ext cx="29845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interactions in million</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37</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97500" lnSpcReduction="20000"/>
          </a:bodyPr>
          <a:lstStyle/>
          <a:p>
            <a:pPr algn="l">
              <a:lnSpc>
                <a:spcPct val="100000"/>
              </a:lnSpc>
              <a:spcAft>
                <a:spcPct val="20000"/>
              </a:spcAft>
            </a:pPr>
            <a:r>
              <a:rPr sz="2500">
                <a:solidFill>
                  <a:srgbClr val="0F2741"/>
                </a:solidFill>
                <a:latin typeface="Open Sans Light"/>
              </a:rPr>
              <a:t>Leading publishers on Facebook from the United States and the United Kingdom (UK) as of January 2023, by total number of interactions (in millions)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user engagement of leading U.S. and UK publishers 2023</a:t>
            </a:r>
          </a:p>
        </p:txBody>
      </p:sp>
    </p:spTree>
  </p:cSld>
  <p:clrMapOvr>
    <a:masterClrMapping/>
  </p:clrMapOvr>
  <p:transition/>
  <p:timing/>
</p:sld>
</file>

<file path=ppt/slides/slide3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2022, the average engagement rate of posts by sports teams on Facebook was 0.24 percent, the highest engagement rate of all selected industries. Additionally, this figure is significantly higher than the overall average of 0.06 percent. Overall, Influencers achieved a Facebook post engagement rate of 0.2 percent. Verticals such as Tech and Software and Food and Beverage both encountered engagement rates of 0.04 percent. Brands on Twitter achieved an average engagement rate of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2022</a:t>
            </a:r>
          </a:p>
          <a:p>
            <a:r>
              <a:rPr sz="600" b="1">
                <a:solidFill>
                  <a:srgbClr val="0F2741"/>
                </a:solidFill>
                <a:latin typeface="Open Sans"/>
              </a:rPr>
              <a:t>Source(s): </a:t>
            </a:r>
            <a:r>
              <a:rPr sz="600" b="0">
                <a:solidFill>
                  <a:srgbClr val="0F2741"/>
                </a:solidFill>
                <a:latin typeface="Open Sans"/>
              </a:rPr>
              <a:t>Rival IQ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Average engagement rate with brand posts on Facebook in 2022, by vertical</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brand post engagement 2022, by vertical</a:t>
            </a:r>
          </a:p>
        </p:txBody>
      </p:sp>
    </p:spTree>
  </p:cSld>
  <p:clrMapOvr>
    <a:masterClrMapping/>
  </p:clrMapOvr>
  <p:transition/>
  <p:timing/>
</p:sld>
</file>

<file path=ppt/slides/slide4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Instagram</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06</a:t>
            </a:r>
          </a:p>
        </p:txBody>
      </p:sp>
    </p:spTree>
  </p:cSld>
  <p:clrMapOvr>
    <a:masterClrMapping/>
  </p:clrMapOvr>
  <p:transition/>
  <p:timing/>
</p:sld>
</file>

<file path=ppt/slides/slide4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Brunei was the country with the highest Instagram audience reach with 74 percent. Kazakhstan also had a high Instagram audience reach, with 72.5 percent of the population using the social network. Although Portugal and Kuwait saw a relatively lower audience reach, the photo and video sharing platform still reached more than half of the population in both countries.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13 years and older; based on addressable ad audience</a:t>
            </a:r>
          </a:p>
          <a:p>
            <a:r>
              <a:rPr sz="600" b="1">
                <a:solidFill>
                  <a:srgbClr val="0F2741"/>
                </a:solidFill>
                <a:latin typeface="Open Sans"/>
              </a:rPr>
              <a:t>Source(s): </a:t>
            </a:r>
            <a:r>
              <a:rPr sz="600" b="0">
                <a:solidFill>
                  <a:srgbClr val="0F2741"/>
                </a:solidFill>
                <a:latin typeface="Open Sans"/>
              </a:rPr>
              <a:t>DataReportal; Meltwater; Meta Platforms;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9"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123250" y="1882800"/>
            <a:ext cx="1943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population</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40</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Countries and territories with the highest Instagram audience reach as of January 2023</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Countries with biggest Instagram reach 2023</a:t>
            </a:r>
          </a:p>
        </p:txBody>
      </p:sp>
    </p:spTree>
  </p:cSld>
  <p:clrMapOvr>
    <a:masterClrMapping/>
  </p:clrMapOvr>
  <p:transition/>
  <p:timing/>
</p:sld>
</file>

<file path=ppt/slides/slide4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Instagram is a social media app which focuses on photo and video sharing. It is owned by Facebook, which recently rebranded as Meta, in a move towards the metaverse. As of December 2021, Instagram reached a new milestone of 2 billion active users worldwide. The platform previously reached 1 billion users in June 2018. Users aged 25 to 34 years made up the biggest Instagram user group by age worldwide, followed by 18 to 24 year olds. Overall, men accounted for 51.6 percent of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2013 to December 2021</a:t>
            </a:r>
          </a:p>
          <a:p>
            <a:r>
              <a:rPr sz="600" b="1">
                <a:solidFill>
                  <a:srgbClr val="0F2741"/>
                </a:solidFill>
                <a:latin typeface="Open Sans"/>
              </a:rPr>
              <a:t>Source(s): </a:t>
            </a:r>
            <a:r>
              <a:rPr sz="600" b="0">
                <a:solidFill>
                  <a:srgbClr val="0F2741"/>
                </a:solidFill>
                <a:latin typeface="Open Sans"/>
              </a:rPr>
              <a:t>CNBC; Instagram; TechCrunch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monthly active Instagram users from January 2013 to December 2021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monthly active Instagram users 2013-2021</a:t>
            </a:r>
          </a:p>
        </p:txBody>
      </p:sp>
    </p:spTree>
  </p:cSld>
  <p:clrMapOvr>
    <a:masterClrMapping/>
  </p:clrMapOvr>
  <p:transition/>
  <p:timing/>
</p:sld>
</file>

<file path=ppt/slides/slide4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almost 31 percent of global Instagram audiences were aged between 18 and 24 years, and 30.3 percent of users were aged between 25 and 34 years. Overall, 15.7 percent of users belonged to the 35 to 44 year age group.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13 years and older; based on addressable ad audience</a:t>
            </a:r>
          </a:p>
          <a:p>
            <a:r>
              <a:rPr sz="600" b="1">
                <a:solidFill>
                  <a:srgbClr val="0F2741"/>
                </a:solidFill>
                <a:latin typeface="Open Sans"/>
              </a:rPr>
              <a:t>Source(s): </a:t>
            </a:r>
            <a:r>
              <a:rPr sz="600" b="0">
                <a:solidFill>
                  <a:srgbClr val="0F2741"/>
                </a:solidFill>
                <a:latin typeface="Open Sans"/>
              </a:rPr>
              <a:t>DataReportal; Instagram; Meltwater; Meta Platforms;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Instagram users worldwide as of January 2023, by age group</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distribution of global audiences 2023, by age group</a:t>
            </a:r>
          </a:p>
        </p:txBody>
      </p:sp>
    </p:spTree>
  </p:cSld>
  <p:clrMapOvr>
    <a:masterClrMapping/>
  </p:clrMapOvr>
  <p:transition/>
  <p:timing/>
</p:sld>
</file>

<file path=ppt/slides/slide4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almost 17 percent of global active Instagram users were men between the ages of 18 and 24 years. More than half of the global Instagram population worldwide is aged 34 years or younger.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13 years and older; based on addressable ad audience</a:t>
            </a:r>
          </a:p>
          <a:p>
            <a:r>
              <a:rPr sz="600" b="1">
                <a:solidFill>
                  <a:srgbClr val="0F2741"/>
                </a:solidFill>
                <a:latin typeface="Open Sans"/>
              </a:rPr>
              <a:t>Source(s): </a:t>
            </a:r>
            <a:r>
              <a:rPr sz="600" b="0">
                <a:solidFill>
                  <a:srgbClr val="0F2741"/>
                </a:solidFill>
                <a:latin typeface="Open Sans"/>
              </a:rPr>
              <a:t>DataReportal; Instagram; Meltwater; Meta Platforms;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Instagram users worldwide as of January 2023, by age and gender</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distribution of global audiences 2023, by age and gender</a:t>
            </a:r>
          </a:p>
        </p:txBody>
      </p:sp>
    </p:spTree>
  </p:cSld>
  <p:clrMapOvr>
    <a:masterClrMapping/>
  </p:clrMapOvr>
  <p:transition/>
  <p:timing/>
</p:sld>
</file>

<file path=ppt/slides/slide4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Cristiano Ronaldo has one of the most popular Instagram accounts as of January 2023. The Portuguese footballer is the most-followed person on the photo sharing app platform with 539 million followers. Instagram's own account was ranked first with roughly 600 million followers.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January 2023; business / creator accounts</a:t>
            </a:r>
          </a:p>
          <a:p>
            <a:r>
              <a:rPr sz="600" b="1">
                <a:solidFill>
                  <a:srgbClr val="0F2741"/>
                </a:solidFill>
                <a:latin typeface="Open Sans"/>
              </a:rPr>
              <a:t>Source(s): </a:t>
            </a:r>
            <a:r>
              <a:rPr sz="600" b="0">
                <a:solidFill>
                  <a:srgbClr val="0F2741"/>
                </a:solidFill>
                <a:latin typeface="Open Sans"/>
              </a:rPr>
              <a:t>Social Blade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50"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659700" y="1882800"/>
            <a:ext cx="28702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followers in millions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44</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Instagram accounts with the most followers worldwide as of January 2023 (in millions)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accounts with the most followers worldwide 2023</a:t>
            </a:r>
          </a:p>
        </p:txBody>
      </p:sp>
    </p:spTree>
  </p:cSld>
  <p:clrMapOvr>
    <a:masterClrMapping/>
  </p:clrMapOvr>
  <p:transition/>
  <p:timing/>
</p:sld>
</file>

<file path=ppt/slides/slide4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global online survey conducted in 2022, 51 percent of weekly Instagram users said that they wanted to see funny content on the social media platform. Additionally, roughly half of all respondents said that they wanted to see creative content, whilst 43 percent said they wanted to see informative content on Instagram. Moreover, a third of users wanted to see engaging content on the photo and video sharing app.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February 2022; 5,747 respondents; 16-64 years; weekly Instagram users</a:t>
            </a:r>
          </a:p>
          <a:p>
            <a:r>
              <a:rPr sz="600" b="1">
                <a:solidFill>
                  <a:srgbClr val="0F2741"/>
                </a:solidFill>
                <a:latin typeface="Open Sans"/>
              </a:rPr>
              <a:t>Source(s): </a:t>
            </a:r>
            <a:r>
              <a:rPr sz="600" b="0">
                <a:solidFill>
                  <a:srgbClr val="0F2741"/>
                </a:solidFill>
                <a:latin typeface="Open Sans"/>
              </a:rPr>
              <a:t>GWI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Preferred types of content on Instagram according to users worldwide as of February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favorite types of posts for global users 2022</a:t>
            </a:r>
          </a:p>
        </p:txBody>
      </p:sp>
    </p:spTree>
  </p:cSld>
  <p:clrMapOvr>
    <a:masterClrMapping/>
  </p:clrMapOvr>
  <p:transition/>
  <p:timing/>
</p:sld>
</file>

<file path=ppt/slides/slide4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December 2022, the most popular post on Instagram was Lionel Messi and his teammates after winning the 2022 FIFA World Cup with Argentina, posted by the account @leomessi. Messi's post, which racked up over 61 million likes within a day, knocked off the reigning post, which was 'Photo of an Egg'. Originally posted in January 2021, Photo of an Egg surpassed the world`s most popular Instagram post at that time, which was a photo by Kylie Jenner`s daughter totaling 18 million likes.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December 20, 2022</a:t>
            </a:r>
          </a:p>
          <a:p>
            <a:r>
              <a:rPr sz="600" b="1">
                <a:solidFill>
                  <a:srgbClr val="0F2741"/>
                </a:solidFill>
                <a:latin typeface="Open Sans"/>
              </a:rPr>
              <a:t>Source(s): </a:t>
            </a:r>
            <a:r>
              <a:rPr sz="600" b="0">
                <a:solidFill>
                  <a:srgbClr val="0F2741"/>
                </a:solidFill>
                <a:latin typeface="Open Sans"/>
              </a:rPr>
              <a:t>Instagram; Wikipedia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843850" y="1882800"/>
            <a:ext cx="25019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likes in millions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46</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posts on Instagram as of December 2022, by number of likes (in millions)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most popular posts as of 2022</a:t>
            </a:r>
          </a:p>
        </p:txBody>
      </p:sp>
    </p:spTree>
  </p:cSld>
  <p:clrMapOvr>
    <a:masterClrMapping/>
  </p:clrMapOvr>
  <p:transition/>
  <p:timing/>
</p:sld>
</file>

<file path=ppt/slides/slide4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TikTok</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07</a:t>
            </a:r>
          </a:p>
        </p:txBody>
      </p:sp>
    </p:spTree>
  </p:cSld>
  <p:clrMapOvr>
    <a:masterClrMapping/>
  </p:clrMapOvr>
  <p:transition/>
  <p:timing/>
</p:sld>
</file>

<file path=ppt/slides/slide4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approximately 54 percent of TikTok global users were women. By comparison, male users on the popular social video platform were approximately 46 percent of the total. In 2022, TikTok was the most popular mobile app worldwide, with approximately 670 million downloads from global users during the year.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a:t>
            </a:r>
          </a:p>
          <a:p>
            <a:r>
              <a:rPr sz="600" b="1">
                <a:solidFill>
                  <a:srgbClr val="0F2741"/>
                </a:solidFill>
                <a:latin typeface="Open Sans"/>
              </a:rPr>
              <a:t>Source(s): </a:t>
            </a:r>
            <a:r>
              <a:rPr sz="600" b="0">
                <a:solidFill>
                  <a:srgbClr val="0F2741"/>
                </a:solidFill>
                <a:latin typeface="Open Sans"/>
              </a:rPr>
              <a:t>DataReportal; Kepios; Meltwater; TikTok;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307400" y="1882800"/>
            <a:ext cx="15748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users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48</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Distribution of TikTok users worldwide as of January 2023, by gender</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TikTok: distribution of global audiences 2023 by gender</a:t>
            </a:r>
          </a:p>
        </p:txBody>
      </p:sp>
    </p:spTree>
  </p:cSld>
  <p:clrMapOvr>
    <a:masterClrMapping/>
  </p:clrMapOvr>
  <p:transition/>
  <p:timing/>
</p:sld>
</file>

<file path=ppt/slides/slide5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it was found that 21.5 percent of TikTok's global audience were women between the ages of 18 and 24 years, while male users of the same age made up approximately 17 percent of the platform's audience. The online audience of the popular social video platform was further composed of 17 percent female users aged between 25 and 34 years, and 15 percent of male users in the same age group.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January 2023; 18 years and older; based on addressable ad audience</a:t>
            </a:r>
          </a:p>
          <a:p>
            <a:r>
              <a:rPr sz="600" b="1">
                <a:solidFill>
                  <a:srgbClr val="0F2741"/>
                </a:solidFill>
                <a:latin typeface="Open Sans"/>
              </a:rPr>
              <a:t>Source(s): </a:t>
            </a:r>
            <a:r>
              <a:rPr sz="600" b="0">
                <a:solidFill>
                  <a:srgbClr val="0F2741"/>
                </a:solidFill>
                <a:latin typeface="Open Sans"/>
              </a:rPr>
              <a:t>DataReportal; Kepios; Meltwater; TikTok;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49</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TikTok users worldwide as of January 2023, by age and gender</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TikTok: distribution of global audiences 2023, by age and gender</a:t>
            </a:r>
          </a:p>
        </p:txBody>
      </p:sp>
    </p:spTree>
  </p:cSld>
  <p:clrMapOvr>
    <a:masterClrMapping/>
  </p:clrMapOvr>
  <p:transition/>
  <p:timing/>
</p:sld>
</file>

<file path=ppt/slides/slide5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April 2021, six percent of TikTok users spend more than ten hours per week on the platform. Another 11 percent used the social video app for five to ten hours a week, whereas 30 percent of respondents spent less than one hour weekly on the platform.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2021; 18 years and older; TikTok users</a:t>
            </a:r>
          </a:p>
          <a:p>
            <a:r>
              <a:rPr sz="600" b="1">
                <a:solidFill>
                  <a:srgbClr val="0F2741"/>
                </a:solidFill>
                <a:latin typeface="Open Sans"/>
              </a:rPr>
              <a:t>Source(s): </a:t>
            </a:r>
            <a:r>
              <a:rPr sz="600" b="0">
                <a:solidFill>
                  <a:srgbClr val="0F2741"/>
                </a:solidFill>
                <a:latin typeface="Open Sans"/>
              </a:rPr>
              <a:t>Shareablee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Average weekly time users spend on TikTok worldwide in 2021 (in hours)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Average weekly time spent on TikTok worldwide 2021</a:t>
            </a:r>
          </a:p>
        </p:txBody>
      </p:sp>
    </p:spTree>
  </p:cSld>
  <p:clrMapOvr>
    <a:masterClrMapping/>
  </p:clrMapOvr>
  <p:transition/>
  <p:timing/>
</p:sld>
</file>

<file path=ppt/slides/slide5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January 2022, video sharing app TikTok had approximately 120.5 million monthly active users via iOS devices worldwide. TikTok is one of the most downloaded entertainment apps in the Apple App Store.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2019 to January 2022; iPhone and iPad combined</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TikTok monthly active users (MAU) via iOS worldwide from January 2019 to January 2022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TikTok iOS MAU 2019-2022</a:t>
            </a:r>
          </a:p>
        </p:txBody>
      </p:sp>
    </p:spTree>
  </p:cSld>
  <p:clrMapOvr>
    <a:masterClrMapping/>
  </p:clrMapOvr>
  <p:transition/>
  <p:timing/>
</p:sld>
</file>

<file path=ppt/slides/slide5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January 2022, video sharing app TikTok had approximately 29.7 million daily active users via iOS devices worldwide. TikTok is one of the most downloaded entertainment apps in the Apple App Store.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2019 to January 2022; iPhone and iPad combined</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daily active TikTok users via iOS worldwide from January 2019 to January 2022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TikTok iOS DAU 2019-2022</a:t>
            </a:r>
          </a:p>
        </p:txBody>
      </p:sp>
    </p:spTree>
  </p:cSld>
  <p:clrMapOvr>
    <a:masterClrMapping/>
  </p:clrMapOvr>
  <p:transition/>
  <p:timing/>
</p:sld>
</file>

<file path=ppt/slides/slide5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January 2022, video sharing app TikTok had over 30 million monthly active users via Android devices worldwide, down from an all-time high over 184 million monthly active users in May 2020. TikTok is one of the most downloaded apps in the Google Play store. In June 2020, TikTok was banned in India, one of the biggest Android mobile markets worldwide.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2019 to January 2022; Android only</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monthly active TikTok users via Android worldwide from January 2019 to January 2022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TikTok Android MAU 2019-2022</a:t>
            </a:r>
          </a:p>
        </p:txBody>
      </p:sp>
    </p:spTree>
  </p:cSld>
  <p:clrMapOvr>
    <a:masterClrMapping/>
  </p:clrMapOvr>
  <p:transition/>
  <p:timing/>
</p:sld>
</file>

<file path=ppt/slides/slide5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January 2022, video sharing app TikTok had over 15.54 million daily active users via Android devices worldwide, up from 13.47 million DAU in December 2021. TikTok is one of the most downloaded apps in the Google Play store.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2019 to January 2022; Android only</a:t>
            </a:r>
          </a:p>
          <a:p>
            <a:r>
              <a:rPr sz="600" b="1">
                <a:solidFill>
                  <a:srgbClr val="0F2741"/>
                </a:solidFill>
                <a:latin typeface="Open Sans"/>
              </a:rPr>
              <a:t>Source(s): </a:t>
            </a:r>
            <a:r>
              <a:rPr sz="600" b="0">
                <a:solidFill>
                  <a:srgbClr val="0F2741"/>
                </a:solidFill>
                <a:latin typeface="Open Sans"/>
              </a:rPr>
              <a:t>Airnow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daily active TikTok users via Android worldwide from January 2019 to January 2022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TikTok Android DAU 2019-2022</a:t>
            </a:r>
          </a:p>
        </p:txBody>
      </p:sp>
    </p:spTree>
  </p:cSld>
  <p:clrMapOvr>
    <a:masterClrMapping/>
  </p:clrMapOvr>
  <p:transition/>
  <p:timing/>
</p:sld>
</file>

<file path=ppt/slides/slide5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15-second video app TikTok, developed by the Beijing-based company Bytedance, has become one of the most downloaded non-gaming apps in the world between 2016 and 2021. In the fourth quarter of 2021, TikTok achieved approximately 173 million first-time installs. The social video platform generated more than 740 million downloads in 2020, down by 32.5 percent from 981 million first-time installs in 2020.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Q2 2016 to Q4 2021</a:t>
            </a:r>
          </a:p>
          <a:p>
            <a:r>
              <a:rPr sz="600" b="1">
                <a:solidFill>
                  <a:srgbClr val="0F2741"/>
                </a:solidFill>
                <a:latin typeface="Open Sans"/>
              </a:rPr>
              <a:t>Source(s): </a:t>
            </a:r>
            <a:r>
              <a:rPr sz="600" b="0">
                <a:solidFill>
                  <a:srgbClr val="0F2741"/>
                </a:solidFill>
                <a:latin typeface="Open Sans"/>
              </a:rPr>
              <a:t>Sensor Tower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first-time TikTok installs from 2nd quarter 2016 to 4th quarter 2021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TikTok first-time installs per quarter 2016-2021</a:t>
            </a:r>
          </a:p>
        </p:txBody>
      </p:sp>
    </p:spTree>
  </p:cSld>
  <p:clrMapOvr>
    <a:masterClrMapping/>
  </p:clrMapOvr>
  <p:transition/>
  <p:timing/>
</p:sld>
</file>

<file path=ppt/slides/slide5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2021, the global number of first-time installs of the video app TikTok reached 740 million, down by approximately 24.5 percent from the previous year. Between 2018 and the end of 2021, the social video platform's annual installs were up 13 percent from 655 million first-time installs in 2018.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2017 to 2021</a:t>
            </a:r>
          </a:p>
          <a:p>
            <a:r>
              <a:rPr sz="600" b="1">
                <a:solidFill>
                  <a:srgbClr val="0F2741"/>
                </a:solidFill>
                <a:latin typeface="Open Sans"/>
              </a:rPr>
              <a:t>Source(s): </a:t>
            </a:r>
            <a:r>
              <a:rPr sz="600" b="0">
                <a:solidFill>
                  <a:srgbClr val="0F2741"/>
                </a:solidFill>
                <a:latin typeface="Open Sans"/>
              </a:rPr>
              <a:t>DIW; Sensor Tower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Number of first-time TikTok installs from 2017 to 2021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TikTok annual installs 2017-2021</a:t>
            </a:r>
          </a:p>
        </p:txBody>
      </p:sp>
    </p:spTree>
  </p:cSld>
  <p:clrMapOvr>
    <a:masterClrMapping/>
  </p:clrMapOvr>
  <p:transition/>
  <p:timing/>
</p:sld>
</file>

<file path=ppt/slides/slide5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TikTok creator and comedian Khabane Lame officially surpassed dancer Charli D`Amelio as the most followed content creator on the platform in September 2022. Lame, who is based in Italy, reached 155 million subscribers in March 2023. Influencer Charlie D'Amelio followed closely in second position with 150 million followers and singer Bella Poarch ranked third, with a total of 93 million followers.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March 2023</a:t>
            </a:r>
          </a:p>
          <a:p>
            <a:r>
              <a:rPr sz="600" b="1">
                <a:solidFill>
                  <a:srgbClr val="0F2741"/>
                </a:solidFill>
                <a:latin typeface="Open Sans"/>
              </a:rPr>
              <a:t>Source(s): </a:t>
            </a:r>
            <a:r>
              <a:rPr sz="600" b="0">
                <a:solidFill>
                  <a:srgbClr val="0F2741"/>
                </a:solidFill>
                <a:latin typeface="Open Sans"/>
              </a:rPr>
              <a:t>Social Blade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659700" y="1882800"/>
            <a:ext cx="28702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followers in millions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57</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Most-followed creators on TikTok worldwide as of March 2023 (in millions)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popular TikTok users worldwide 2023</a:t>
            </a:r>
          </a:p>
        </p:txBody>
      </p:sp>
    </p:spTree>
  </p:cSld>
  <p:clrMapOvr>
    <a:masterClrMapping/>
  </p:clrMapOvr>
  <p:transition/>
  <p:timing/>
</p:sld>
</file>

<file path=ppt/slides/slide5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Social media marketing and advertising</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08</a:t>
            </a:r>
          </a:p>
        </p:txBody>
      </p:sp>
    </p:spTree>
  </p:cSld>
  <p:clrMapOvr>
    <a:masterClrMapping/>
  </p:clrMapOvr>
  <p:transition/>
  <p:timing/>
</p:sld>
</file>

<file path=ppt/slides/slide6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global estimate, China would have a total digital search advertising spend of 80.55 billion U.S. dollars, right behind the U.S. with 80.67 billion dollars by the end of 2022. An overview of all Digital Markets can be found here.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a:t>
            </a: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51"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647000" y="1882800"/>
            <a:ext cx="2895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Spending in million U.S. dollars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59</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markets worldwide in 2022, by social media advertising spending (in million U.S. dollars)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largest social media ad markets worldwide 2022</a:t>
            </a:r>
          </a:p>
        </p:txBody>
      </p:sp>
    </p:spTree>
  </p:cSld>
  <p:clrMapOvr>
    <a:masterClrMapping/>
  </p:clrMapOvr>
  <p:transition/>
  <p:timing/>
</p:sld>
</file>

<file path=ppt/slides/slide6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2020, the amount spend on advertisement per user worldwide increased around 3.5 U.S. dollars to 28.3 U.S dollars. According to the Statista Digital Market Outlook advertising spending per user in estimated to increase to almost 40 U.S dollars by 2025.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includes paid advertising appearing within social networks, social network games and social network applications; excludes spending by marketers that goes toward developing or maintaining a social network presence</a:t>
            </a: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network advertising spending per social network user worldwide from 2017 to 2025 (in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network ad spending per user worldwide 2017-2025</a:t>
            </a:r>
          </a:p>
        </p:txBody>
      </p:sp>
    </p:spTree>
  </p:cSld>
  <p:clrMapOvr>
    <a:masterClrMapping/>
  </p:clrMapOvr>
  <p:transition/>
  <p:timing/>
</p:sld>
</file>

<file path=ppt/slides/slide6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2022, Facebook was the most commonly used social media platform among marketers worldwide. According to a global survey, 90 percent of responding social media marketers used the network to promote their business, while another 79 percent did so via Instagram.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2022; 2,897 respondents</a:t>
            </a:r>
          </a:p>
          <a:p>
            <a:r>
              <a:rPr sz="600" b="1">
                <a:solidFill>
                  <a:srgbClr val="0F2741"/>
                </a:solidFill>
                <a:latin typeface="Open Sans"/>
              </a:rPr>
              <a:t>Source(s): </a:t>
            </a:r>
            <a:r>
              <a:rPr sz="600" b="0">
                <a:solidFill>
                  <a:srgbClr val="0F2741"/>
                </a:solidFill>
                <a:latin typeface="Open Sans"/>
              </a:rPr>
              <a:t>Frankwatching; Social Media Examiner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social media platforms used by marketers worldwide as of January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platforms used by marketers worldwide 2022</a:t>
            </a:r>
          </a:p>
        </p:txBody>
      </p:sp>
    </p:spTree>
  </p:cSld>
  <p:clrMapOvr>
    <a:masterClrMapping/>
  </p:clrMapOvr>
  <p:transition/>
  <p:timing/>
</p:sld>
</file>

<file path=ppt/slides/slide6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Increased exposure is the most commonly cited advantage of using social media for marketing purposes among global industry professionals. This is unsurprising given the huge appeal of having billions of active users as a potential advertising audience. Improved traffic, lead generation and growing fan loyalty are further reasons why marketers see value in employing social networks in their campaigns. Facebook, Instagram and LinkedIn are the top three most used social platforms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2022; 2,897 marketers</a:t>
            </a:r>
          </a:p>
          <a:p>
            <a:r>
              <a:rPr sz="600" b="1">
                <a:solidFill>
                  <a:srgbClr val="0F2741"/>
                </a:solidFill>
                <a:latin typeface="Open Sans"/>
              </a:rPr>
              <a:t>Source(s): </a:t>
            </a:r>
            <a:r>
              <a:rPr sz="600" b="0">
                <a:solidFill>
                  <a:srgbClr val="0F2741"/>
                </a:solidFill>
                <a:latin typeface="Open Sans"/>
              </a:rPr>
              <a:t>Frankwatching; Social Media Examiner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benefits of using social media for marketing purposes worldwide as of January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Benefits of social media marketing worldwide 2022</a:t>
            </a:r>
          </a:p>
        </p:txBody>
      </p:sp>
    </p:spTree>
  </p:cSld>
  <p:clrMapOvr>
    <a:masterClrMapping/>
  </p:clrMapOvr>
  <p:transition/>
  <p:timing/>
</p:sld>
</file>

<file path=ppt/slides/slide6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a global 2022 survey, 61 percent of responding marketers stated they would increase their usage of Instagram in the near future; 37 percent said they would increase the usage of TikTok advertising, but as many as 52 percent were not planning to use the mobile video sharing app for marketing purposes.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2022; 2,897 marketers</a:t>
            </a:r>
          </a:p>
          <a:p>
            <a:r>
              <a:rPr sz="600" b="1">
                <a:solidFill>
                  <a:srgbClr val="0F2741"/>
                </a:solidFill>
                <a:latin typeface="Open Sans"/>
              </a:rPr>
              <a:t>Source(s): </a:t>
            </a:r>
            <a:r>
              <a:rPr sz="600" b="0">
                <a:solidFill>
                  <a:srgbClr val="0F2741"/>
                </a:solidFill>
                <a:latin typeface="Open Sans"/>
              </a:rPr>
              <a:t>Social Media Examiner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Planned changes in use of selected social media for marketing purposes worldwide as of January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Future use of social media among marketers worldwide 2022, by platform</a:t>
            </a:r>
          </a:p>
        </p:txBody>
      </p:sp>
    </p:spTree>
  </p:cSld>
  <p:clrMapOvr>
    <a:masterClrMapping/>
  </p:clrMapOvr>
  <p:transition/>
  <p:timing/>
</p:sld>
</file>

<file path=ppt/slides/slide6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a survey of business-to-consumer marketers conducted in November 2021, it was found that 80 percent of respondents used Instagram for organic content distribution, while 47 percent used it for paid content distribution.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November 2021; 832 respondents; 70% of responding marketers were U.S.-based</a:t>
            </a:r>
          </a:p>
          <a:p>
            <a:r>
              <a:rPr sz="600" b="1">
                <a:solidFill>
                  <a:srgbClr val="0F2741"/>
                </a:solidFill>
                <a:latin typeface="Open Sans"/>
              </a:rPr>
              <a:t>Source(s): </a:t>
            </a:r>
            <a:r>
              <a:rPr sz="600" b="0">
                <a:solidFill>
                  <a:srgbClr val="0F2741"/>
                </a:solidFill>
                <a:latin typeface="Open Sans"/>
              </a:rPr>
              <a:t>DIW; Parse.ly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64</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Organic vs. paid social media used by B2C marketers worldwide as of November 2021</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Organic vs. paid social media used by B2C marketers worldwide 2021</a:t>
            </a:r>
          </a:p>
        </p:txBody>
      </p:sp>
    </p:spTree>
  </p:cSld>
  <p:clrMapOvr>
    <a:masterClrMapping/>
  </p:clrMapOvr>
  <p:transition/>
  <p:timing/>
</p:sld>
</file>

<file path=ppt/slides/slide6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a survey of business-to-business marketers conducted in November 2022, it was found that 22 percent of respondents used LinkedIn as their preferred type of social media for their content distribution, while 21 percent used Facebook for the same purpose.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November 2022; 1,554 respondents; 84% of responding marketers were U.S.-based</a:t>
            </a:r>
          </a:p>
          <a:p>
            <a:r>
              <a:rPr sz="600" b="1">
                <a:solidFill>
                  <a:srgbClr val="0F2741"/>
                </a:solidFill>
                <a:latin typeface="Open Sans"/>
              </a:rPr>
              <a:t>Source(s): </a:t>
            </a:r>
            <a:r>
              <a:rPr sz="600" b="0">
                <a:solidFill>
                  <a:srgbClr val="0F2741"/>
                </a:solidFill>
                <a:latin typeface="Open Sans"/>
              </a:rPr>
              <a:t>Parse.ly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Types of social media used by B2B marketers worldwide as of November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types used by B2B marketers worldwide 2022</a:t>
            </a:r>
          </a:p>
        </p:txBody>
      </p:sp>
    </p:spTree>
  </p:cSld>
  <p:clrMapOvr>
    <a:masterClrMapping/>
  </p:clrMapOvr>
  <p:transition/>
  <p:timing/>
</p:sld>
</file>

<file path=ppt/slides/slide6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survey released in October 2022 and conducted among B2B and B2C marketers worldwide 22 percent of respondents said that Facebook was the social media platform with the highest return on investment (ROI) that year. Interestingly, Instagram, YouTube and TikTok all ranked second with 16 percent of respondents, followed by LinkedIn with 7 percent.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as of October 2022; 1,200 respondents; among global marketers from across B2B and B2C companies</a:t>
            </a:r>
          </a:p>
          <a:p>
            <a:r>
              <a:rPr sz="600" b="1">
                <a:solidFill>
                  <a:srgbClr val="0F2741"/>
                </a:solidFill>
                <a:latin typeface="Open Sans"/>
              </a:rPr>
              <a:t>Source(s): </a:t>
            </a:r>
            <a:r>
              <a:rPr sz="600" b="0">
                <a:solidFill>
                  <a:srgbClr val="0F2741"/>
                </a:solidFill>
                <a:latin typeface="Open Sans"/>
              </a:rPr>
              <a:t>HubSpot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platforms with the largest return on investment (ROI) according to marketers worldwide as of October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platforms with highest ROI worldwide 2022</a:t>
            </a:r>
          </a:p>
        </p:txBody>
      </p:sp>
    </p:spTree>
  </p:cSld>
  <p:clrMapOvr>
    <a:masterClrMapping/>
  </p:clrMapOvr>
  <p:transition/>
  <p:timing/>
</p:sld>
</file>

<file path=ppt/slides/slide6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survey released in November 2021 and conducted among B2B and B2C marketers in the United States, Australia, Canada, Germany, United Kingdom, France, and Japan, 23 percent of B2B marketers said that LinkedIn was the social media platform with the highest return on investment (ROI) that year. Instagram and Facebook were both cited by 18 percent of respondents, while YouTube and TikTok completed the top five with 12 percent each.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as of November 2021; 1,067 respondents; among global marketers from across B2B and B2C companies</a:t>
            </a:r>
          </a:p>
          <a:p>
            <a:r>
              <a:rPr sz="600" b="1">
                <a:solidFill>
                  <a:srgbClr val="0F2741"/>
                </a:solidFill>
                <a:latin typeface="Open Sans"/>
              </a:rPr>
              <a:t>Source(s): </a:t>
            </a:r>
            <a:r>
              <a:rPr sz="600" b="0">
                <a:solidFill>
                  <a:srgbClr val="0F2741"/>
                </a:solidFill>
                <a:latin typeface="Open Sans"/>
              </a:rPr>
              <a:t>HubSpot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platforms with the largest return on investment (ROI) according to B2B marketers worldwide as of November 2021</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platforms with highest ROI for B2B marketers worldwide 2021</a:t>
            </a:r>
          </a:p>
        </p:txBody>
      </p:sp>
    </p:spTree>
  </p:cSld>
  <p:clrMapOvr>
    <a:masterClrMapping/>
  </p:clrMapOvr>
  <p:transition/>
  <p:timing/>
</p:sld>
</file>

<file path=ppt/slides/slide6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a July 2022 survey among B2B marketers who utilized social media platforms for paid content promotion worldwide, 49 percent of respondents stated that LinkedIn produced the best results over the previous 12 months. YouTube and Twitter followed both with 43 percent of respondents saying they gave them the best results when it came to advertising.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July 2022; 925 respondents; among B2B marketers using social media platforms for paid content promotion</a:t>
            </a:r>
          </a:p>
          <a:p>
            <a:r>
              <a:rPr sz="600" b="1">
                <a:solidFill>
                  <a:srgbClr val="0F2741"/>
                </a:solidFill>
                <a:latin typeface="Open Sans"/>
              </a:rPr>
              <a:t>Source(s): </a:t>
            </a:r>
            <a:r>
              <a:rPr sz="600" b="0">
                <a:solidFill>
                  <a:srgbClr val="0F2741"/>
                </a:solidFill>
                <a:latin typeface="Open Sans"/>
              </a:rPr>
              <a:t>Content Marketing Institute; MarketingProfs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effective social media platforms for B2B content marketers worldwide as of July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effective social media platforms for B2B marketers worldwide 2022</a:t>
            </a:r>
          </a:p>
        </p:txBody>
      </p:sp>
    </p:spTree>
  </p:cSld>
  <p:clrMapOvr>
    <a:masterClrMapping/>
  </p:clrMapOvr>
  <p:transition/>
  <p:timing/>
</p:sld>
</file>

<file path=ppt/slides/slide7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Data requests</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09</a:t>
            </a:r>
          </a:p>
        </p:txBody>
      </p:sp>
    </p:spTree>
  </p:cSld>
  <p:clrMapOvr>
    <a:masterClrMapping/>
  </p:clrMapOvr>
  <p:transition/>
  <p:timing/>
</p:sld>
</file>

<file path=ppt/slides/slide7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4"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first half of 2022, Facebook received 63,657 law enforcement agency requests for user information from the United States. India ranked second with 45,275 user data requests, followed by Germany with 15,554 requests. During the measured period, a total of 237,414 requests regarding 412,285 users or accounts were submitted to the social network.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H1 2022; Government and federal agency requests for data</a:t>
            </a:r>
          </a:p>
          <a:p>
            <a:r>
              <a:rPr sz="600" b="1">
                <a:solidFill>
                  <a:srgbClr val="0F2741"/>
                </a:solidFill>
                <a:latin typeface="Open Sans"/>
              </a:rPr>
              <a:t>Source(s): </a:t>
            </a:r>
            <a:r>
              <a:rPr sz="600" b="0">
                <a:solidFill>
                  <a:srgbClr val="0F2741"/>
                </a:solidFill>
                <a:latin typeface="Open Sans"/>
              </a:rPr>
              <a:t>Meta Platforms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802700" y="2098700"/>
          <a:ext cx="108001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52"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894650" y="1882800"/>
            <a:ext cx="24003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data requests</a:t>
            </a:r>
          </a:p>
        </p:txBody>
      </p:sp>
      <p:sp>
        <p:nvSpPr>
          <p:cNvPr id="8" name="New shape" title=""/>
          <p:cNvSpPr/>
          <p:nvPr/>
        </p:nvSpPr>
        <p:spPr>
          <a:xfrm>
            <a:off x="586800" y="3563375"/>
            <a:ext cx="215900" cy="10033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0170" tIns="46990" rIns="90170" bIns="46990" rtlCol="0" anchor="t"/>
          <a:lstStyle/>
          <a:p>
            <a:pPr algn="ctr">
              <a:spcAft>
                <a:spcPct val="20000"/>
              </a:spcAft>
            </a:pPr>
            <a:r>
              <a:rPr sz="1100">
                <a:solidFill>
                  <a:srgbClr val="0F2741"/>
                </a:solidFill>
                <a:latin typeface="Open Sans"/>
              </a:rPr>
              <a:t>Country</a:t>
            </a:r>
          </a:p>
        </p:txBody>
      </p:sp>
      <p:sp>
        <p:nvSpPr>
          <p:cNvPr id="9"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70</a:t>
            </a:r>
          </a:p>
        </p:txBody>
      </p:sp>
      <p:sp>
        <p:nvSpPr>
          <p:cNvPr id="10"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user data requests issued to Facebook by federal agencies and governments during 1st half 2022, by country</a:t>
            </a:r>
          </a:p>
        </p:txBody>
      </p:sp>
      <p:sp>
        <p:nvSpPr>
          <p:cNvPr id="11"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user data requests from federal agencies &amp; governments H1 2022, by country</a:t>
            </a:r>
          </a:p>
        </p:txBody>
      </p:sp>
    </p:spTree>
  </p:cSld>
  <p:clrMapOvr>
    <a:masterClrMapping/>
  </p:clrMapOvr>
  <p:transition/>
  <p:timing/>
</p:sld>
</file>

<file path=ppt/slides/slide7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Facebook received 69,363 user data requests from federal agencies and courts in the United States during the first half of 2022. The social network produced some user data in 87.97 percent of requests from U.S. federal authorities. The United States account for the largest share of Facebook user data requests worldwide.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H1 2013 to H1 2022</a:t>
            </a:r>
          </a:p>
          <a:p>
            <a:r>
              <a:rPr sz="600" b="1">
                <a:solidFill>
                  <a:srgbClr val="0F2741"/>
                </a:solidFill>
                <a:latin typeface="Open Sans"/>
              </a:rPr>
              <a:t>Source(s): </a:t>
            </a:r>
            <a:r>
              <a:rPr sz="600" b="0">
                <a:solidFill>
                  <a:srgbClr val="0F2741"/>
                </a:solidFill>
                <a:latin typeface="Open Sans"/>
              </a:rPr>
              <a:t>Meta Platforms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user data requests issued to Facebook by federal and government agencies in the United States as of 1st half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Facebook data requests from government agencies 2013-2022</a:t>
            </a:r>
          </a:p>
        </p:txBody>
      </p:sp>
    </p:spTree>
  </p:cSld>
  <p:clrMapOvr>
    <a:masterClrMapping/>
  </p:clrMapOvr>
  <p:transition/>
  <p:timing/>
</p:sld>
</file>

<file path=ppt/slides/slide7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Between July and December 2021, the government of the United States submitted a total of 1,762 routine user information requests to microblogging platform Twitter. Additionally, the Indian government submitted over 2,000 requests. Worldwide, governments submitted 9,811 user data information requests during the second half of 2021.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H2 2021</a:t>
            </a:r>
          </a:p>
          <a:p>
            <a:r>
              <a:rPr sz="600" b="1">
                <a:solidFill>
                  <a:srgbClr val="0F2741"/>
                </a:solidFill>
                <a:latin typeface="Open Sans"/>
              </a:rPr>
              <a:t>Source(s): </a:t>
            </a:r>
            <a:r>
              <a:rPr sz="600" b="0">
                <a:solidFill>
                  <a:srgbClr val="0F2741"/>
                </a:solidFill>
                <a:latin typeface="Open Sans"/>
              </a:rPr>
              <a:t>Twitter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850200" y="1882800"/>
            <a:ext cx="24892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User information requests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72</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Global number of user data requests issued to Twitter from federal agencies and governments during 2nd half 2021, by country</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Twitter: user data requests from federal agencies and governments H2 2021</a:t>
            </a:r>
          </a:p>
        </p:txBody>
      </p:sp>
    </p:spTree>
  </p:cSld>
  <p:clrMapOvr>
    <a:masterClrMapping/>
  </p:clrMapOvr>
  <p:transition/>
  <p:timing/>
</p:sld>
</file>

<file path=ppt/slides/slide7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Between July and December 2021, government agencies, police and courts of a multitude of countries submitted over 47 thousand content removal requests to the microblogging platform Twitter. Overall, This was the largest number of requests reported since the platform's first transparency report was released in 2012.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H1 2012 to H2 2021; combined number of requests from government agencies, police and courts</a:t>
            </a:r>
          </a:p>
          <a:p>
            <a:r>
              <a:rPr sz="600" b="1">
                <a:solidFill>
                  <a:srgbClr val="0F2741"/>
                </a:solidFill>
                <a:latin typeface="Open Sans"/>
              </a:rPr>
              <a:t>Source(s): </a:t>
            </a:r>
            <a:r>
              <a:rPr sz="600" b="0">
                <a:solidFill>
                  <a:srgbClr val="0F2741"/>
                </a:solidFill>
                <a:latin typeface="Open Sans"/>
              </a:rPr>
              <a:t>Twitter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data removal requests issued to Twitter from 1st half 2012 to 2nd half 2021</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Twitter: total number of data removal requests as of H1 2021</a:t>
            </a:r>
          </a:p>
        </p:txBody>
      </p:sp>
    </p:spTree>
  </p:cSld>
  <p:clrMapOvr>
    <a:masterClrMapping/>
  </p:clrMapOvr>
  <p:transition/>
  <p:timing/>
</p:sld>
</file>

<file path=ppt/slides/slide7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2"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Between July and December 2021, courts submitted 941 removal requests to Twitter worldwide. Another 46,631 removal requests were made from governments agencies, law enforcement, and other authorized reporters. Overall, Turkish courts requested 525 court orders, and Russia ordered 185 in total.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H2 2021; *Requests from government agencies, police and courts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Twitter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New Table" title=""/>
          <p:cNvGraphicFramePr>
            <a:graphicFrameLocks noGrp="1"/>
          </p:cNvGraphicFramePr>
          <p:nvPr/>
        </p:nvGraphicFramePr>
        <p:xfrm>
          <a:off x="586800" y="1882799"/>
          <a:ext cx="11016000" cy="3886200"/>
        </p:xfrm>
        <a:graphic>
          <a:graphicData uri="http://schemas.openxmlformats.org/drawingml/2006/table">
            <a:tbl>
              <a:tblPr firstRow="1" bandRow="1">
                <a:tableStyleId>{5C22544A-7EE6-4342-B048-85BDC9FD1C3A}</a:tableStyleId>
              </a:tblPr>
              <a:tblGrid>
                <a:gridCol w="4060200"/>
                <a:gridCol w="2550800"/>
                <a:gridCol w="4405000"/>
              </a:tblGrid>
              <a:tr h="0">
                <a:tc>
                  <a:txBody>
                    <a:bodyPr/>
                    <a:lstStyle/>
                    <a:p>
                      <a:pPr algn="l"/>
                      <a:endParaRPr sz="1100" b="1">
                        <a:solidFill>
                          <a:srgbClr val="0F2741"/>
                        </a:solidFill>
                        <a:latin typeface="Open Sans"/>
                      </a:endParaRP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Court Orders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Government Agency, Police, Other</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Worldwide</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941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46631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Turkey</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525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3759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Russia</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185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8185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Brazil</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112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South Korea</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5685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India</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3969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Germany</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Israel</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United Kingdom</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United States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Mexico</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Thailand</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Italy</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Netherlands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bl>
          </a:graphicData>
        </a:graphic>
      </p:graphicFrame>
      <p:sp>
        <p:nvSpPr>
          <p:cNvPr id="5" name="New shape" title=""/>
          <p:cNvSpPr/>
          <p:nvPr/>
        </p:nvSpPr>
        <p:spPr>
          <a:xfrm>
            <a:off x="523300" y="5339925"/>
            <a:ext cx="11143000" cy="691425"/>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53" r:id="rId7" imgW="2203200" imgH="629486" progId=".xls">
                  <p:embed/>
                </p:oleObj>
              </mc:Choice>
              <mc:Fallback>
                <p:oleObj r:id="rId7" imgW="2203200" imgH="629486" progId=".xls">
                  <p:embed/>
                  <p:pic>
                    <p:nvPicPr>
                      <p:cNvPr id="0" name="OLE substitute image"/>
                      <p:cNvPicPr/>
                      <p:nvPr/>
                    </p:nvPicPr>
                    <p:blipFill>
                      <a:blip r:embed="rId9"/>
                      <a:srcRect t="100000"/>
                      <a:tile tx="0" ty="0" sx="100000" sy="100000" flip="none" algn="tl"/>
                    </p:blipFill>
                    <p:spPr>
                      <a:xfrm>
                        <a:off x="9399600" y="5401865"/>
                        <a:ext cx="2203200" cy="629486"/>
                      </a:xfrm>
                      <a:prstGeom prst="rect">
                        <a:avLst/>
                      </a:prstGeom>
                      <a:blipFill>
                        <a:blip r:embed="rId8"/>
                        <a:stretch>
                          <a:fillRect/>
                        </a:stretch>
                      </a:blipFill>
                      <a:ln>
                        <a:noFill/>
                      </a:ln>
                    </p:spPr>
                  </p:pic>
                </p:oleObj>
              </mc:Fallback>
            </mc:AlternateContent>
          </a:graphicData>
        </a:graphic>
      </p:graphicFrame>
      <p:sp>
        <p:nvSpPr>
          <p:cNvPr id="7"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74</a:t>
            </a:r>
          </a:p>
        </p:txBody>
      </p:sp>
      <p:sp>
        <p:nvSpPr>
          <p:cNvPr id="8"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data removal requests issued to Twitter from June to December 2021, by country and institution</a:t>
            </a:r>
          </a:p>
        </p:txBody>
      </p:sp>
      <p:sp>
        <p:nvSpPr>
          <p:cNvPr id="9"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Twitter: data removal requests from countries and institutions H2 2021</a:t>
            </a:r>
          </a:p>
        </p:txBody>
      </p:sp>
    </p:spTree>
  </p:cSld>
  <p:clrMapOvr>
    <a:masterClrMapping/>
  </p:clrMapOvr>
  <p:transition/>
  <p:timing/>
</p:sld>
</file>

<file path=ppt/slides/slide7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the first half of 2021, photo sharing and chat app Snapchat received 18,742 user data requests from the federal agencies and courts in the United States, up from 16,509 requests in the preceding six month period.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H2 2014 to H1 2021; Government and federal agency requests for data</a:t>
            </a:r>
          </a:p>
          <a:p>
            <a:r>
              <a:rPr sz="600" b="1">
                <a:solidFill>
                  <a:srgbClr val="0F2741"/>
                </a:solidFill>
                <a:latin typeface="Open Sans"/>
              </a:rPr>
              <a:t>Source(s): </a:t>
            </a:r>
            <a:r>
              <a:rPr sz="600" b="0">
                <a:solidFill>
                  <a:srgbClr val="0F2741"/>
                </a:solidFill>
                <a:latin typeface="Open Sans"/>
              </a:rPr>
              <a:t>Snap Inc.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user data requests made to Snapchat from U.S. federal agencies and courts from 2nd half 2014 to 1st half 2021</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Snapchat: user data requests by U.S. federal authorities 2014-2021</a:t>
            </a:r>
          </a:p>
        </p:txBody>
      </p:sp>
    </p:spTree>
  </p:cSld>
  <p:clrMapOvr>
    <a:masterClrMapping/>
  </p:clrMapOvr>
  <p:transition/>
  <p:timing/>
</p:sld>
</file>

<file path=ppt/slides/slide7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the third quarter of 2022, approximately 20 million TikTok accounts were removed from the platform due to suspicion of being operated by users under the age of 13. During the last measured quarter, there was a staggering 51 percent increase in the number of fake accounts removed from the platform, with 51 million fake accounts removed from TikTok in the third quarter of 2022.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Q3 2020 to Q3 2022</a:t>
            </a:r>
          </a:p>
          <a:p>
            <a:r>
              <a:rPr sz="600" b="1">
                <a:solidFill>
                  <a:srgbClr val="0F2741"/>
                </a:solidFill>
                <a:latin typeface="Open Sans"/>
              </a:rPr>
              <a:t>Source(s): </a:t>
            </a:r>
            <a:r>
              <a:rPr sz="600" b="0">
                <a:solidFill>
                  <a:srgbClr val="0F2741"/>
                </a:solidFill>
                <a:latin typeface="Open Sans"/>
              </a:rPr>
              <a:t>TikTok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TikTok accounts removed from the platform from 3rd quarter 2020 to 3rd quarter 2022, by reason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TikTok: account removed 2020-2022, by reason</a:t>
            </a:r>
          </a:p>
        </p:txBody>
      </p:sp>
    </p:spTree>
  </p:cSld>
  <p:clrMapOvr>
    <a:masterClrMapping/>
  </p:clrMapOvr>
  <p:transition/>
  <p:timing/>
</p:sld>
</file>

<file path=ppt/slides/slide7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Sources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77</a:t>
            </a:r>
          </a:p>
        </p:txBody>
      </p:sp>
      <p:sp>
        <p:nvSpPr>
          <p:cNvPr id="7" name="New shape" title=""/>
          <p:cNvSpPr/>
          <p:nvPr/>
        </p:nvSpPr>
        <p:spPr>
          <a:xfrm>
            <a:off x="496800" y="188280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adjoe GmbH</a:t>
            </a:r>
          </a:p>
        </p:txBody>
      </p:sp>
      <p:sp>
        <p:nvSpPr>
          <p:cNvPr id="8" name="New shape" title=""/>
          <p:cNvSpPr/>
          <p:nvPr/>
        </p:nvSpPr>
        <p:spPr>
          <a:xfrm>
            <a:off x="496800" y="205274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Airnow</a:t>
            </a:r>
          </a:p>
        </p:txBody>
      </p:sp>
      <p:sp>
        <p:nvSpPr>
          <p:cNvPr id="9" name="New shape" title=""/>
          <p:cNvSpPr/>
          <p:nvPr/>
        </p:nvSpPr>
        <p:spPr>
          <a:xfrm>
            <a:off x="496800" y="222268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Apptopia</a:t>
            </a:r>
          </a:p>
        </p:txBody>
      </p:sp>
      <p:sp>
        <p:nvSpPr>
          <p:cNvPr id="10" name="New shape" title=""/>
          <p:cNvSpPr/>
          <p:nvPr/>
        </p:nvSpPr>
        <p:spPr>
          <a:xfrm>
            <a:off x="496800" y="239262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CNBC</a:t>
            </a:r>
          </a:p>
        </p:txBody>
      </p:sp>
      <p:sp>
        <p:nvSpPr>
          <p:cNvPr id="11" name="New shape" title=""/>
          <p:cNvSpPr/>
          <p:nvPr/>
        </p:nvSpPr>
        <p:spPr>
          <a:xfrm>
            <a:off x="496800" y="256257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Content Marketing Institute</a:t>
            </a:r>
          </a:p>
        </p:txBody>
      </p:sp>
      <p:sp>
        <p:nvSpPr>
          <p:cNvPr id="12" name="New shape" title=""/>
          <p:cNvSpPr/>
          <p:nvPr/>
        </p:nvSpPr>
        <p:spPr>
          <a:xfrm>
            <a:off x="496800" y="273251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DataReportal</a:t>
            </a:r>
          </a:p>
        </p:txBody>
      </p:sp>
      <p:sp>
        <p:nvSpPr>
          <p:cNvPr id="13" name="New shape" title=""/>
          <p:cNvSpPr/>
          <p:nvPr/>
        </p:nvSpPr>
        <p:spPr>
          <a:xfrm>
            <a:off x="496800" y="290245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DIW</a:t>
            </a:r>
          </a:p>
        </p:txBody>
      </p:sp>
      <p:sp>
        <p:nvSpPr>
          <p:cNvPr id="14" name="New shape" title=""/>
          <p:cNvSpPr/>
          <p:nvPr/>
        </p:nvSpPr>
        <p:spPr>
          <a:xfrm>
            <a:off x="496800" y="307240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Domo</a:t>
            </a:r>
          </a:p>
        </p:txBody>
      </p:sp>
      <p:sp>
        <p:nvSpPr>
          <p:cNvPr id="15" name="New shape" title=""/>
          <p:cNvSpPr/>
          <p:nvPr/>
        </p:nvSpPr>
        <p:spPr>
          <a:xfrm>
            <a:off x="496800" y="324234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Facebook</a:t>
            </a:r>
          </a:p>
        </p:txBody>
      </p:sp>
      <p:sp>
        <p:nvSpPr>
          <p:cNvPr id="16" name="New shape" title=""/>
          <p:cNvSpPr/>
          <p:nvPr/>
        </p:nvSpPr>
        <p:spPr>
          <a:xfrm>
            <a:off x="496800" y="3412288"/>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Frankwatching</a:t>
            </a:r>
          </a:p>
        </p:txBody>
      </p:sp>
      <p:sp>
        <p:nvSpPr>
          <p:cNvPr id="17" name="New shape" title=""/>
          <p:cNvSpPr/>
          <p:nvPr/>
        </p:nvSpPr>
        <p:spPr>
          <a:xfrm>
            <a:off x="496800" y="3582231"/>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GWI</a:t>
            </a:r>
          </a:p>
        </p:txBody>
      </p:sp>
      <p:sp>
        <p:nvSpPr>
          <p:cNvPr id="18" name="New shape" title=""/>
          <p:cNvSpPr/>
          <p:nvPr/>
        </p:nvSpPr>
        <p:spPr>
          <a:xfrm>
            <a:off x="496800" y="3752174"/>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Hootsuite</a:t>
            </a:r>
          </a:p>
        </p:txBody>
      </p:sp>
      <p:sp>
        <p:nvSpPr>
          <p:cNvPr id="19" name="New shape" title=""/>
          <p:cNvSpPr/>
          <p:nvPr/>
        </p:nvSpPr>
        <p:spPr>
          <a:xfrm>
            <a:off x="496800" y="392211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HubSpot</a:t>
            </a:r>
          </a:p>
        </p:txBody>
      </p:sp>
      <p:sp>
        <p:nvSpPr>
          <p:cNvPr id="20" name="New shape" title=""/>
          <p:cNvSpPr/>
          <p:nvPr/>
        </p:nvSpPr>
        <p:spPr>
          <a:xfrm>
            <a:off x="496800" y="409206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Instagram</a:t>
            </a:r>
          </a:p>
        </p:txBody>
      </p:sp>
      <p:sp>
        <p:nvSpPr>
          <p:cNvPr id="21" name="New shape" title=""/>
          <p:cNvSpPr/>
          <p:nvPr/>
        </p:nvSpPr>
        <p:spPr>
          <a:xfrm>
            <a:off x="496800" y="426200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Kepios</a:t>
            </a:r>
          </a:p>
        </p:txBody>
      </p:sp>
      <p:sp>
        <p:nvSpPr>
          <p:cNvPr id="22" name="New shape" title=""/>
          <p:cNvSpPr/>
          <p:nvPr/>
        </p:nvSpPr>
        <p:spPr>
          <a:xfrm>
            <a:off x="496800" y="443194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LinkedIn</a:t>
            </a:r>
          </a:p>
        </p:txBody>
      </p:sp>
      <p:sp>
        <p:nvSpPr>
          <p:cNvPr id="23" name="New shape" title=""/>
          <p:cNvSpPr/>
          <p:nvPr/>
        </p:nvSpPr>
        <p:spPr>
          <a:xfrm>
            <a:off x="496800" y="460189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MarketingProfs</a:t>
            </a:r>
          </a:p>
        </p:txBody>
      </p:sp>
      <p:sp>
        <p:nvSpPr>
          <p:cNvPr id="24" name="New shape" title=""/>
          <p:cNvSpPr/>
          <p:nvPr/>
        </p:nvSpPr>
        <p:spPr>
          <a:xfrm>
            <a:off x="496800" y="477183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Meltwater</a:t>
            </a:r>
          </a:p>
        </p:txBody>
      </p:sp>
      <p:sp>
        <p:nvSpPr>
          <p:cNvPr id="25" name="New shape" title=""/>
          <p:cNvSpPr/>
          <p:nvPr/>
        </p:nvSpPr>
        <p:spPr>
          <a:xfrm>
            <a:off x="496800" y="494177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Meta Platforms</a:t>
            </a:r>
          </a:p>
        </p:txBody>
      </p:sp>
      <p:sp>
        <p:nvSpPr>
          <p:cNvPr id="26" name="New shape" title=""/>
          <p:cNvSpPr/>
          <p:nvPr/>
        </p:nvSpPr>
        <p:spPr>
          <a:xfrm>
            <a:off x="496800" y="511171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NewsWhip</a:t>
            </a:r>
          </a:p>
        </p:txBody>
      </p:sp>
      <p:sp>
        <p:nvSpPr>
          <p:cNvPr id="27" name="New shape" title=""/>
          <p:cNvSpPr/>
          <p:nvPr/>
        </p:nvSpPr>
        <p:spPr>
          <a:xfrm>
            <a:off x="496800" y="528166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Parse.ly</a:t>
            </a:r>
          </a:p>
        </p:txBody>
      </p:sp>
      <p:sp>
        <p:nvSpPr>
          <p:cNvPr id="28" name="New shape" title=""/>
          <p:cNvSpPr/>
          <p:nvPr/>
        </p:nvSpPr>
        <p:spPr>
          <a:xfrm>
            <a:off x="496800" y="545160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Reuters Institute for the Study of Journalism</a:t>
            </a:r>
          </a:p>
        </p:txBody>
      </p:sp>
      <p:sp>
        <p:nvSpPr>
          <p:cNvPr id="29" name="New shape" title=""/>
          <p:cNvSpPr/>
          <p:nvPr/>
        </p:nvSpPr>
        <p:spPr>
          <a:xfrm>
            <a:off x="6094800" y="188280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Rival IQ</a:t>
            </a:r>
          </a:p>
        </p:txBody>
      </p:sp>
      <p:sp>
        <p:nvSpPr>
          <p:cNvPr id="30" name="New shape" title=""/>
          <p:cNvSpPr/>
          <p:nvPr/>
        </p:nvSpPr>
        <p:spPr>
          <a:xfrm>
            <a:off x="6094800" y="205274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Sensor Tower</a:t>
            </a:r>
          </a:p>
        </p:txBody>
      </p:sp>
      <p:sp>
        <p:nvSpPr>
          <p:cNvPr id="31" name="New shape" title=""/>
          <p:cNvSpPr/>
          <p:nvPr/>
        </p:nvSpPr>
        <p:spPr>
          <a:xfrm>
            <a:off x="6094800" y="222268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Shareablee</a:t>
            </a:r>
          </a:p>
        </p:txBody>
      </p:sp>
      <p:sp>
        <p:nvSpPr>
          <p:cNvPr id="32" name="New shape" title=""/>
          <p:cNvSpPr/>
          <p:nvPr/>
        </p:nvSpPr>
        <p:spPr>
          <a:xfrm>
            <a:off x="6094800" y="239262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Snap Inc.</a:t>
            </a:r>
          </a:p>
        </p:txBody>
      </p:sp>
      <p:sp>
        <p:nvSpPr>
          <p:cNvPr id="33" name="New shape" title=""/>
          <p:cNvSpPr/>
          <p:nvPr/>
        </p:nvSpPr>
        <p:spPr>
          <a:xfrm>
            <a:off x="6094800" y="256257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Social Blade</a:t>
            </a:r>
          </a:p>
        </p:txBody>
      </p:sp>
      <p:sp>
        <p:nvSpPr>
          <p:cNvPr id="34" name="New shape" title=""/>
          <p:cNvSpPr/>
          <p:nvPr/>
        </p:nvSpPr>
        <p:spPr>
          <a:xfrm>
            <a:off x="6094800" y="273251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Social Media Examiner</a:t>
            </a:r>
          </a:p>
        </p:txBody>
      </p:sp>
      <p:sp>
        <p:nvSpPr>
          <p:cNvPr id="35" name="New shape" title=""/>
          <p:cNvSpPr/>
          <p:nvPr/>
        </p:nvSpPr>
        <p:spPr>
          <a:xfrm>
            <a:off x="6094800" y="290245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Statista</a:t>
            </a:r>
          </a:p>
        </p:txBody>
      </p:sp>
      <p:sp>
        <p:nvSpPr>
          <p:cNvPr id="36" name="New shape" title=""/>
          <p:cNvSpPr/>
          <p:nvPr/>
        </p:nvSpPr>
        <p:spPr>
          <a:xfrm>
            <a:off x="6094800" y="307240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Statista Digital Market Insights</a:t>
            </a:r>
          </a:p>
        </p:txBody>
      </p:sp>
      <p:sp>
        <p:nvSpPr>
          <p:cNvPr id="37" name="New shape" title=""/>
          <p:cNvSpPr/>
          <p:nvPr/>
        </p:nvSpPr>
        <p:spPr>
          <a:xfrm>
            <a:off x="6094800" y="324234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TechCrunch</a:t>
            </a:r>
          </a:p>
        </p:txBody>
      </p:sp>
      <p:sp>
        <p:nvSpPr>
          <p:cNvPr id="38" name="New shape" title=""/>
          <p:cNvSpPr/>
          <p:nvPr/>
        </p:nvSpPr>
        <p:spPr>
          <a:xfrm>
            <a:off x="6094800" y="3412288"/>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TikTok</a:t>
            </a:r>
          </a:p>
        </p:txBody>
      </p:sp>
      <p:sp>
        <p:nvSpPr>
          <p:cNvPr id="39" name="New shape" title=""/>
          <p:cNvSpPr/>
          <p:nvPr/>
        </p:nvSpPr>
        <p:spPr>
          <a:xfrm>
            <a:off x="6094800" y="3582231"/>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Trackalytics</a:t>
            </a:r>
          </a:p>
        </p:txBody>
      </p:sp>
      <p:sp>
        <p:nvSpPr>
          <p:cNvPr id="40" name="New shape" title=""/>
          <p:cNvSpPr/>
          <p:nvPr/>
        </p:nvSpPr>
        <p:spPr>
          <a:xfrm>
            <a:off x="6094800" y="3752174"/>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Twitter</a:t>
            </a:r>
          </a:p>
        </p:txBody>
      </p:sp>
      <p:sp>
        <p:nvSpPr>
          <p:cNvPr id="41" name="New shape" title=""/>
          <p:cNvSpPr/>
          <p:nvPr/>
        </p:nvSpPr>
        <p:spPr>
          <a:xfrm>
            <a:off x="6094800" y="392211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We Are Social</a:t>
            </a:r>
          </a:p>
        </p:txBody>
      </p:sp>
      <p:sp>
        <p:nvSpPr>
          <p:cNvPr id="42" name="New shape" title=""/>
          <p:cNvSpPr/>
          <p:nvPr/>
        </p:nvSpPr>
        <p:spPr>
          <a:xfrm>
            <a:off x="6094800" y="409206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Wikipedia</a:t>
            </a:r>
          </a:p>
        </p:txBody>
      </p:sp>
      <p:sp>
        <p:nvSpPr>
          <p:cNvPr id="43" name="New shape" title=""/>
          <p:cNvSpPr/>
          <p:nvPr/>
        </p:nvSpPr>
        <p:spPr>
          <a:xfrm>
            <a:off x="6094800" y="426200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Yelp</a:t>
            </a:r>
          </a:p>
        </p:txBody>
      </p:sp>
      <p:sp>
        <p:nvSpPr>
          <p:cNvPr id="44" name="New shape" title=""/>
          <p:cNvSpPr/>
          <p:nvPr/>
        </p:nvSpPr>
        <p:spPr>
          <a:xfrm>
            <a:off x="6094800" y="443194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YouGov</a:t>
            </a:r>
          </a:p>
        </p:txBody>
      </p:sp>
    </p:spTree>
  </p:cSld>
  <p:clrMapOvr>
    <a:masterClrMapping/>
  </p:clrMapOvr>
  <p:transition/>
  <p:timing/>
</p:sld>
</file>

<file path=ppt/tags/tag1.xml><?xml version="1.0" encoding="utf-8"?>
<p:tagLst xmlns:p="http://schemas.openxmlformats.org/presentationml/2006/main">
  <p:tag name="AS_NET" val="4.0.30319.42000"/>
  <p:tag name="AS_OS" val="Microsoft Windows NT 6.2.9200.0"/>
  <p:tag name="AS_RELEASE_DATE" val="2022.07.14"/>
  <p:tag name="AS_TITLE" val="Aspose.Slides for .NET 4.0 Client Profile"/>
  <p:tag name="AS_VERSION" val="22.7"/>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621</Paragraphs>
  <Slides>78</Slides>
  <Notes>0</Notes>
  <TotalTime>1</TotalTime>
  <HiddenSlides>0</HiddenSlides>
  <MMClips>0</MMClips>
  <ScaleCrop>0</ScaleCrop>
  <HeadingPairs>
    <vt:vector baseType="variant" size="6">
      <vt:variant>
        <vt:lpstr>Fonts used</vt:lpstr>
      </vt:variant>
      <vt:variant>
        <vt:i4>4</vt:i4>
      </vt:variant>
      <vt:variant>
        <vt:lpstr>Theme</vt:lpstr>
      </vt:variant>
      <vt:variant>
        <vt:i4>1</vt:i4>
      </vt:variant>
      <vt:variant>
        <vt:lpstr>Slide Titles</vt:lpstr>
      </vt:variant>
      <vt:variant>
        <vt:i4>78</vt:i4>
      </vt:variant>
    </vt:vector>
  </HeadingPairs>
  <TitlesOfParts>
    <vt:vector baseType="lpstr" size="83">
      <vt:lpstr>Arial</vt:lpstr>
      <vt:lpstr>Calibri</vt:lpstr>
      <vt:lpstr>Open Sans</vt:lpstr>
      <vt:lpstr>Open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22.0700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2023-03-21T22:12:03.721</cp:lastPrinted>
  <dcterms:created xsi:type="dcterms:W3CDTF">2023-03-21T21:12:03Z</dcterms:created>
  <dcterms:modified xsi:type="dcterms:W3CDTF">2023-03-21T21:12:05Z</dcterms:modified>
</cp:coreProperties>
</file>