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3"/>
  </p:notesMasterIdLst>
  <p:handoutMasterIdLst>
    <p:handoutMasterId r:id="rId4"/>
  </p:handoutMasterIdLst>
  <p:sldIdLst>
    <p:sldId id="812" r:id="rId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>
          <p15:clr>
            <a:srgbClr val="A4A3A4"/>
          </p15:clr>
        </p15:guide>
        <p15:guide id="3" orient="horz" pos="1570" userDrawn="1">
          <p15:clr>
            <a:srgbClr val="A4A3A4"/>
          </p15:clr>
        </p15:guide>
        <p15:guide id="4" pos="217" userDrawn="1">
          <p15:clr>
            <a:srgbClr val="A4A3A4"/>
          </p15:clr>
        </p15:guide>
        <p15:guide id="5" pos="6023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orient="horz" pos="867">
          <p15:clr>
            <a:srgbClr val="A4A3A4"/>
          </p15:clr>
        </p15:guide>
        <p15:guide id="8" orient="horz" pos="2636" userDrawn="1">
          <p15:clr>
            <a:srgbClr val="A4A3A4"/>
          </p15:clr>
        </p15:guide>
        <p15:guide id="9" pos="3029" userDrawn="1">
          <p15:clr>
            <a:srgbClr val="A4A3A4"/>
          </p15:clr>
        </p15:guide>
        <p15:guide id="10" pos="3120" userDrawn="1">
          <p15:clr>
            <a:srgbClr val="A4A3A4"/>
          </p15:clr>
        </p15:guide>
        <p15:guide id="11" orient="horz" pos="4042">
          <p15:clr>
            <a:srgbClr val="A4A3A4"/>
          </p15:clr>
        </p15:guide>
        <p15:guide id="12" orient="horz" pos="663">
          <p15:clr>
            <a:srgbClr val="A4A3A4"/>
          </p15:clr>
        </p15:guide>
        <p15:guide id="13" orient="horz" pos="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37B2C"/>
    <a:srgbClr val="FFFFFF"/>
    <a:srgbClr val="0068AF"/>
    <a:srgbClr val="398BCF"/>
    <a:srgbClr val="FDFDFD"/>
    <a:srgbClr val="2C82C9"/>
    <a:srgbClr val="FFE5FF"/>
    <a:srgbClr val="9DB0BD"/>
    <a:srgbClr val="4E6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850B88-ACE1-4E1E-BA73-E38BAE8C27A6}" v="62" dt="2021-07-22T13:12:55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4" autoAdjust="0"/>
    <p:restoredTop sz="95883" autoAdjust="0"/>
  </p:normalViewPr>
  <p:slideViewPr>
    <p:cSldViewPr snapToObjects="1" showGuides="1">
      <p:cViewPr varScale="1">
        <p:scale>
          <a:sx n="114" d="100"/>
          <a:sy n="114" d="100"/>
        </p:scale>
        <p:origin x="677" y="82"/>
      </p:cViewPr>
      <p:guideLst>
        <p:guide orient="horz"/>
        <p:guide orient="horz" pos="1570"/>
        <p:guide pos="217"/>
        <p:guide pos="6023"/>
        <p:guide orient="horz" pos="3997"/>
        <p:guide orient="horz" pos="867"/>
        <p:guide orient="horz" pos="2636"/>
        <p:guide pos="3029"/>
        <p:guide pos="3120"/>
        <p:guide orient="horz" pos="4042"/>
        <p:guide orient="horz" pos="663"/>
        <p:guide orient="horz" pos="5"/>
      </p:guideLst>
    </p:cSldViewPr>
  </p:slideViewPr>
  <p:outlineViewPr>
    <p:cViewPr>
      <p:scale>
        <a:sx n="33" d="100"/>
        <a:sy n="33" d="100"/>
      </p:scale>
      <p:origin x="0" y="-1239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2928"/>
    </p:cViewPr>
  </p:sorterViewPr>
  <p:notesViewPr>
    <p:cSldViewPr snapToObjects="1" showGuides="1">
      <p:cViewPr varScale="1">
        <p:scale>
          <a:sx n="86" d="100"/>
          <a:sy n="86" d="100"/>
        </p:scale>
        <p:origin x="3786" y="72"/>
      </p:cViewPr>
      <p:guideLst>
        <p:guide orient="horz" pos="3127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 Jaehoon" userId="966c597570e402b5" providerId="LiveId" clId="{C0850B88-ACE1-4E1E-BA73-E38BAE8C27A6}"/>
    <pc:docChg chg="custSel delSld modSld">
      <pc:chgData name="Jang Jaehoon" userId="966c597570e402b5" providerId="LiveId" clId="{C0850B88-ACE1-4E1E-BA73-E38BAE8C27A6}" dt="2021-07-22T13:12:55.086" v="1305"/>
      <pc:docMkLst>
        <pc:docMk/>
      </pc:docMkLst>
      <pc:sldChg chg="modSp del mod">
        <pc:chgData name="Jang Jaehoon" userId="966c597570e402b5" providerId="LiveId" clId="{C0850B88-ACE1-4E1E-BA73-E38BAE8C27A6}" dt="2021-07-22T13:12:41.348" v="1285" actId="2696"/>
        <pc:sldMkLst>
          <pc:docMk/>
          <pc:sldMk cId="1550031355" sldId="713"/>
        </pc:sldMkLst>
        <pc:graphicFrameChg chg="mod modGraphic">
          <ac:chgData name="Jang Jaehoon" userId="966c597570e402b5" providerId="LiveId" clId="{C0850B88-ACE1-4E1E-BA73-E38BAE8C27A6}" dt="2021-07-22T12:57:18.395" v="118"/>
          <ac:graphicFrameMkLst>
            <pc:docMk/>
            <pc:sldMk cId="1550031355" sldId="713"/>
            <ac:graphicFrameMk id="25" creationId="{18D0465B-F286-457B-B4F6-2A40E9E1D208}"/>
          </ac:graphicFrameMkLst>
        </pc:graphicFrameChg>
      </pc:sldChg>
      <pc:sldChg chg="modSp mod">
        <pc:chgData name="Jang Jaehoon" userId="966c597570e402b5" providerId="LiveId" clId="{C0850B88-ACE1-4E1E-BA73-E38BAE8C27A6}" dt="2021-07-22T13:12:55.086" v="1305"/>
        <pc:sldMkLst>
          <pc:docMk/>
          <pc:sldMk cId="2298919407" sldId="812"/>
        </pc:sldMkLst>
        <pc:graphicFrameChg chg="mod modGraphic">
          <ac:chgData name="Jang Jaehoon" userId="966c597570e402b5" providerId="LiveId" clId="{C0850B88-ACE1-4E1E-BA73-E38BAE8C27A6}" dt="2021-07-22T13:12:20.731" v="1284" actId="20577"/>
          <ac:graphicFrameMkLst>
            <pc:docMk/>
            <pc:sldMk cId="2298919407" sldId="812"/>
            <ac:graphicFrameMk id="26" creationId="{97AE7609-B0AB-4A8E-955D-6DE9BEEABC8D}"/>
          </ac:graphicFrameMkLst>
        </pc:graphicFrameChg>
        <pc:graphicFrameChg chg="mod modGraphic">
          <ac:chgData name="Jang Jaehoon" userId="966c597570e402b5" providerId="LiveId" clId="{C0850B88-ACE1-4E1E-BA73-E38BAE8C27A6}" dt="2021-07-22T13:12:55.086" v="1305"/>
          <ac:graphicFrameMkLst>
            <pc:docMk/>
            <pc:sldMk cId="2298919407" sldId="812"/>
            <ac:graphicFrameMk id="44" creationId="{E33150DB-78B1-4E99-89BA-89CBC66BA0A4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2" y="0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35E3DD83-96BF-4035-B51F-4866463D9B4B}" type="datetimeFigureOut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2" y="9428583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CAF6A0BF-0746-40AC-BCCB-12FB8CC613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37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8C49CD1D-A0A5-402E-91B8-3AE15D7CD05E}" type="datetimeFigureOut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28583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18277ACC-A718-493A-BD6C-CC5684BC3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15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31C54-001E-4127-B8B6-2F4A5B7298A2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43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투입인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242826" y="6604162"/>
            <a:ext cx="1764206" cy="180959"/>
            <a:chOff x="242826" y="6619660"/>
            <a:chExt cx="1764206" cy="180959"/>
          </a:xfrm>
        </p:grpSpPr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826" y="6619660"/>
              <a:ext cx="709673" cy="180959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566" y="6640519"/>
              <a:ext cx="940466" cy="129837"/>
            </a:xfrm>
            <a:prstGeom prst="rect">
              <a:avLst/>
            </a:prstGeom>
          </p:spPr>
        </p:pic>
      </p:grpSp>
      <p:cxnSp>
        <p:nvCxnSpPr>
          <p:cNvPr id="17" name="직선 연결선 16"/>
          <p:cNvCxnSpPr/>
          <p:nvPr userDrawn="1"/>
        </p:nvCxnSpPr>
        <p:spPr>
          <a:xfrm>
            <a:off x="768743" y="264873"/>
            <a:ext cx="9137257" cy="0"/>
          </a:xfrm>
          <a:prstGeom prst="line">
            <a:avLst/>
          </a:prstGeom>
          <a:ln w="19050">
            <a:solidFill>
              <a:srgbClr val="DBB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8"/>
          <p:cNvSpPr>
            <a:spLocks noChangeArrowheads="1"/>
          </p:cNvSpPr>
          <p:nvPr userDrawn="1"/>
        </p:nvSpPr>
        <p:spPr bwMode="auto">
          <a:xfrm>
            <a:off x="4707755" y="6627392"/>
            <a:ext cx="48731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001435"/>
            <a:r>
              <a:rPr lang="ko-KR" altLang="en-US" sz="900">
                <a:solidFill>
                  <a:prstClr val="black">
                    <a:lumMod val="50000"/>
                    <a:lumOff val="50000"/>
                  </a:prstClr>
                </a:solidFill>
                <a:latin typeface="KoPub바탕체 Light" pitchFamily="18" charset="-127"/>
                <a:ea typeface="KoPub바탕체 Light" pitchFamily="18" charset="-127"/>
                <a:cs typeface="Yoon 윤고딕 530_TT"/>
              </a:rPr>
              <a:t>별첨</a:t>
            </a:r>
            <a:r>
              <a:rPr lang="en-US" altLang="ko-KR" sz="900" dirty="0">
                <a:solidFill>
                  <a:prstClr val="black">
                    <a:lumMod val="50000"/>
                    <a:lumOff val="50000"/>
                  </a:prstClr>
                </a:solidFill>
                <a:latin typeface="KoPub바탕체 Light" pitchFamily="18" charset="-127"/>
                <a:ea typeface="KoPub바탕체 Light" pitchFamily="18" charset="-127"/>
                <a:cs typeface="Yoon 윤고딕 530_TT"/>
              </a:rPr>
              <a:t> - </a:t>
            </a:r>
            <a:fld id="{BD2905B3-168A-4870-A4E0-901A15FC7C8A}" type="slidenum">
              <a:rPr lang="en-US" altLang="ko-KR" sz="900" smtClean="0">
                <a:solidFill>
                  <a:prstClr val="black">
                    <a:lumMod val="50000"/>
                    <a:lumOff val="50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Yoon 윤고딕 530_TT"/>
              </a:rPr>
              <a:pPr algn="ctr" defTabSz="1001435"/>
              <a:t>‹#›</a:t>
            </a:fld>
            <a:endParaRPr lang="en-US" altLang="ko-KR" sz="900" dirty="0">
              <a:solidFill>
                <a:prstClr val="black">
                  <a:lumMod val="50000"/>
                  <a:lumOff val="50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Yoon 윤고딕 530_TT"/>
            </a:endParaRPr>
          </a:p>
        </p:txBody>
      </p:sp>
    </p:spTree>
    <p:extLst>
      <p:ext uri="{BB962C8B-B14F-4D97-AF65-F5344CB8AC3E}">
        <p14:creationId xmlns:p14="http://schemas.microsoft.com/office/powerpoint/2010/main" val="266337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가이드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58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57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8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7AE7609-B0AB-4A8E-955D-6DE9BEEAB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902506"/>
              </p:ext>
            </p:extLst>
          </p:nvPr>
        </p:nvGraphicFramePr>
        <p:xfrm>
          <a:off x="344486" y="1390966"/>
          <a:ext cx="9212263" cy="1072080"/>
        </p:xfrm>
        <a:graphic>
          <a:graphicData uri="http://schemas.openxmlformats.org/drawingml/2006/table">
            <a:tbl>
              <a:tblPr/>
              <a:tblGrid>
                <a:gridCol w="1009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0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27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8020"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성명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장재훈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소속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데이터진㈜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직책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53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0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전문분야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아키텍쳐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해당분야근무경력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기술등급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고급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자격증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R&amp;D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연구지원전문가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0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본 사업 참여임무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아키텍쳐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목표투입공수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9 M/M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Rectangle 385">
            <a:extLst>
              <a:ext uri="{FF2B5EF4-FFF2-40B4-BE49-F238E27FC236}">
                <a16:creationId xmlns:a16="http://schemas.microsoft.com/office/drawing/2014/main" id="{D2219CD2-15DA-4849-91BB-A2E2DE36B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84" y="159206"/>
            <a:ext cx="329381" cy="211334"/>
          </a:xfrm>
          <a:prstGeom prst="snip1Rect">
            <a:avLst/>
          </a:prstGeom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latinLnBrk="0">
              <a:lnSpc>
                <a:spcPct val="90000"/>
              </a:lnSpc>
            </a:pPr>
            <a:r>
              <a:rPr lang="ko-KR" altLang="en-US" sz="1400" dirty="0">
                <a:solidFill>
                  <a:srgbClr val="00478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별지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6F91AA-01AE-44D5-AA58-D69802B6293B}"/>
              </a:ext>
            </a:extLst>
          </p:cNvPr>
          <p:cNvSpPr txBox="1"/>
          <p:nvPr/>
        </p:nvSpPr>
        <p:spPr>
          <a:xfrm>
            <a:off x="648704" y="203318"/>
            <a:ext cx="203157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7200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ko-KR"/>
            </a:defPPr>
            <a:lvl1pPr>
              <a:defRPr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수행 및 관리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 4.4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투입 인력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B5C30AA-D4A1-40D3-8B3B-EF1F6B717AFD}"/>
              </a:ext>
            </a:extLst>
          </p:cNvPr>
          <p:cNvGrpSpPr/>
          <p:nvPr/>
        </p:nvGrpSpPr>
        <p:grpSpPr>
          <a:xfrm>
            <a:off x="340745" y="1043930"/>
            <a:ext cx="9222523" cy="184666"/>
            <a:chOff x="340745" y="2897818"/>
            <a:chExt cx="9222523" cy="18466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51D6BA0-DD65-42FE-A725-08BEF761F743}"/>
                </a:ext>
              </a:extLst>
            </p:cNvPr>
            <p:cNvGrpSpPr/>
            <p:nvPr/>
          </p:nvGrpSpPr>
          <p:grpSpPr>
            <a:xfrm>
              <a:off x="340745" y="2921321"/>
              <a:ext cx="154555" cy="137658"/>
              <a:chOff x="340745" y="2924348"/>
              <a:chExt cx="147759" cy="131605"/>
            </a:xfrm>
          </p:grpSpPr>
          <p:sp>
            <p:nvSpPr>
              <p:cNvPr id="38" name="Freeform 28">
                <a:extLst>
                  <a:ext uri="{FF2B5EF4-FFF2-40B4-BE49-F238E27FC236}">
                    <a16:creationId xmlns:a16="http://schemas.microsoft.com/office/drawing/2014/main" id="{EA3FB779-CF9A-4C17-AD2A-FD3301EC0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745" y="2924348"/>
                <a:ext cx="138019" cy="131605"/>
              </a:xfrm>
              <a:custGeom>
                <a:avLst/>
                <a:gdLst>
                  <a:gd name="T0" fmla="*/ 193 w 243"/>
                  <a:gd name="T1" fmla="*/ 232 h 232"/>
                  <a:gd name="T2" fmla="*/ 144 w 243"/>
                  <a:gd name="T3" fmla="*/ 182 h 232"/>
                  <a:gd name="T4" fmla="*/ 144 w 243"/>
                  <a:gd name="T5" fmla="*/ 86 h 232"/>
                  <a:gd name="T6" fmla="*/ 86 w 243"/>
                  <a:gd name="T7" fmla="*/ 29 h 232"/>
                  <a:gd name="T8" fmla="*/ 28 w 243"/>
                  <a:gd name="T9" fmla="*/ 86 h 232"/>
                  <a:gd name="T10" fmla="*/ 28 w 243"/>
                  <a:gd name="T11" fmla="*/ 232 h 232"/>
                  <a:gd name="T12" fmla="*/ 0 w 243"/>
                  <a:gd name="T13" fmla="*/ 232 h 232"/>
                  <a:gd name="T14" fmla="*/ 0 w 243"/>
                  <a:gd name="T15" fmla="*/ 86 h 232"/>
                  <a:gd name="T16" fmla="*/ 86 w 243"/>
                  <a:gd name="T17" fmla="*/ 0 h 232"/>
                  <a:gd name="T18" fmla="*/ 172 w 243"/>
                  <a:gd name="T19" fmla="*/ 86 h 232"/>
                  <a:gd name="T20" fmla="*/ 172 w 243"/>
                  <a:gd name="T21" fmla="*/ 182 h 232"/>
                  <a:gd name="T22" fmla="*/ 193 w 243"/>
                  <a:gd name="T23" fmla="*/ 203 h 232"/>
                  <a:gd name="T24" fmla="*/ 215 w 243"/>
                  <a:gd name="T25" fmla="*/ 182 h 232"/>
                  <a:gd name="T26" fmla="*/ 215 w 243"/>
                  <a:gd name="T27" fmla="*/ 91 h 232"/>
                  <a:gd name="T28" fmla="*/ 243 w 243"/>
                  <a:gd name="T29" fmla="*/ 91 h 232"/>
                  <a:gd name="T30" fmla="*/ 243 w 243"/>
                  <a:gd name="T31" fmla="*/ 182 h 232"/>
                  <a:gd name="T32" fmla="*/ 193 w 243"/>
                  <a:gd name="T33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3" h="232">
                    <a:moveTo>
                      <a:pt x="193" y="232"/>
                    </a:moveTo>
                    <a:cubicBezTo>
                      <a:pt x="166" y="232"/>
                      <a:pt x="144" y="210"/>
                      <a:pt x="144" y="182"/>
                    </a:cubicBezTo>
                    <a:cubicBezTo>
                      <a:pt x="144" y="86"/>
                      <a:pt x="144" y="86"/>
                      <a:pt x="144" y="86"/>
                    </a:cubicBezTo>
                    <a:cubicBezTo>
                      <a:pt x="144" y="54"/>
                      <a:pt x="118" y="29"/>
                      <a:pt x="86" y="29"/>
                    </a:cubicBezTo>
                    <a:cubicBezTo>
                      <a:pt x="54" y="29"/>
                      <a:pt x="28" y="54"/>
                      <a:pt x="28" y="86"/>
                    </a:cubicBezTo>
                    <a:cubicBezTo>
                      <a:pt x="28" y="232"/>
                      <a:pt x="28" y="232"/>
                      <a:pt x="28" y="232"/>
                    </a:cubicBezTo>
                    <a:cubicBezTo>
                      <a:pt x="0" y="232"/>
                      <a:pt x="0" y="232"/>
                      <a:pt x="0" y="232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39"/>
                      <a:pt x="39" y="0"/>
                      <a:pt x="86" y="0"/>
                    </a:cubicBezTo>
                    <a:cubicBezTo>
                      <a:pt x="134" y="0"/>
                      <a:pt x="172" y="39"/>
                      <a:pt x="172" y="86"/>
                    </a:cubicBezTo>
                    <a:cubicBezTo>
                      <a:pt x="172" y="182"/>
                      <a:pt x="172" y="182"/>
                      <a:pt x="172" y="182"/>
                    </a:cubicBezTo>
                    <a:cubicBezTo>
                      <a:pt x="172" y="194"/>
                      <a:pt x="182" y="203"/>
                      <a:pt x="193" y="203"/>
                    </a:cubicBezTo>
                    <a:cubicBezTo>
                      <a:pt x="205" y="203"/>
                      <a:pt x="215" y="194"/>
                      <a:pt x="215" y="182"/>
                    </a:cubicBezTo>
                    <a:cubicBezTo>
                      <a:pt x="215" y="91"/>
                      <a:pt x="215" y="91"/>
                      <a:pt x="215" y="91"/>
                    </a:cubicBezTo>
                    <a:cubicBezTo>
                      <a:pt x="243" y="91"/>
                      <a:pt x="243" y="91"/>
                      <a:pt x="243" y="91"/>
                    </a:cubicBezTo>
                    <a:cubicBezTo>
                      <a:pt x="243" y="182"/>
                      <a:pt x="243" y="182"/>
                      <a:pt x="243" y="182"/>
                    </a:cubicBezTo>
                    <a:cubicBezTo>
                      <a:pt x="243" y="210"/>
                      <a:pt x="221" y="232"/>
                      <a:pt x="193" y="232"/>
                    </a:cubicBezTo>
                    <a:close/>
                  </a:path>
                </a:pathLst>
              </a:custGeom>
              <a:solidFill>
                <a:srgbClr val="92959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9" name="Oval 29">
                <a:extLst>
                  <a:ext uri="{FF2B5EF4-FFF2-40B4-BE49-F238E27FC236}">
                    <a16:creationId xmlns:a16="http://schemas.microsoft.com/office/drawing/2014/main" id="{A82D2109-3329-4B28-AA41-637F9730A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865" y="2978273"/>
                <a:ext cx="35396" cy="35158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/>
              <a:p>
                <a:pPr algn="ctr" defTabSz="1019190" latinLnBrk="0"/>
                <a:endParaRPr lang="ko-KR" altLang="en-US" b="1" kern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0" name="Oval 30">
                <a:extLst>
                  <a:ext uri="{FF2B5EF4-FFF2-40B4-BE49-F238E27FC236}">
                    <a16:creationId xmlns:a16="http://schemas.microsoft.com/office/drawing/2014/main" id="{2C517AA6-4E8E-466A-B6C8-17BD774EF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108" y="2924348"/>
                <a:ext cx="35396" cy="35158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/>
              <a:p>
                <a:pPr algn="ctr" defTabSz="1019190" latinLnBrk="0"/>
                <a:endParaRPr lang="ko-KR" altLang="en-US" b="1" kern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1" name="Freeform 31">
                <a:extLst>
                  <a:ext uri="{FF2B5EF4-FFF2-40B4-BE49-F238E27FC236}">
                    <a16:creationId xmlns:a16="http://schemas.microsoft.com/office/drawing/2014/main" id="{C4507A2F-414E-4EA2-8715-84C3904D4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745" y="2924348"/>
                <a:ext cx="138019" cy="131605"/>
              </a:xfrm>
              <a:custGeom>
                <a:avLst/>
                <a:gdLst>
                  <a:gd name="T0" fmla="*/ 193 w 243"/>
                  <a:gd name="T1" fmla="*/ 232 h 232"/>
                  <a:gd name="T2" fmla="*/ 144 w 243"/>
                  <a:gd name="T3" fmla="*/ 182 h 232"/>
                  <a:gd name="T4" fmla="*/ 144 w 243"/>
                  <a:gd name="T5" fmla="*/ 86 h 232"/>
                  <a:gd name="T6" fmla="*/ 86 w 243"/>
                  <a:gd name="T7" fmla="*/ 29 h 232"/>
                  <a:gd name="T8" fmla="*/ 28 w 243"/>
                  <a:gd name="T9" fmla="*/ 86 h 232"/>
                  <a:gd name="T10" fmla="*/ 28 w 243"/>
                  <a:gd name="T11" fmla="*/ 232 h 232"/>
                  <a:gd name="T12" fmla="*/ 0 w 243"/>
                  <a:gd name="T13" fmla="*/ 232 h 232"/>
                  <a:gd name="T14" fmla="*/ 0 w 243"/>
                  <a:gd name="T15" fmla="*/ 86 h 232"/>
                  <a:gd name="T16" fmla="*/ 86 w 243"/>
                  <a:gd name="T17" fmla="*/ 0 h 232"/>
                  <a:gd name="T18" fmla="*/ 172 w 243"/>
                  <a:gd name="T19" fmla="*/ 86 h 232"/>
                  <a:gd name="T20" fmla="*/ 172 w 243"/>
                  <a:gd name="T21" fmla="*/ 182 h 232"/>
                  <a:gd name="T22" fmla="*/ 193 w 243"/>
                  <a:gd name="T23" fmla="*/ 203 h 232"/>
                  <a:gd name="T24" fmla="*/ 215 w 243"/>
                  <a:gd name="T25" fmla="*/ 182 h 232"/>
                  <a:gd name="T26" fmla="*/ 215 w 243"/>
                  <a:gd name="T27" fmla="*/ 91 h 232"/>
                  <a:gd name="T28" fmla="*/ 243 w 243"/>
                  <a:gd name="T29" fmla="*/ 91 h 232"/>
                  <a:gd name="T30" fmla="*/ 243 w 243"/>
                  <a:gd name="T31" fmla="*/ 182 h 232"/>
                  <a:gd name="T32" fmla="*/ 193 w 243"/>
                  <a:gd name="T33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3" h="232">
                    <a:moveTo>
                      <a:pt x="193" y="232"/>
                    </a:moveTo>
                    <a:cubicBezTo>
                      <a:pt x="166" y="232"/>
                      <a:pt x="144" y="210"/>
                      <a:pt x="144" y="182"/>
                    </a:cubicBezTo>
                    <a:cubicBezTo>
                      <a:pt x="144" y="86"/>
                      <a:pt x="144" y="86"/>
                      <a:pt x="144" y="86"/>
                    </a:cubicBezTo>
                    <a:cubicBezTo>
                      <a:pt x="144" y="54"/>
                      <a:pt x="118" y="29"/>
                      <a:pt x="86" y="29"/>
                    </a:cubicBezTo>
                    <a:cubicBezTo>
                      <a:pt x="54" y="29"/>
                      <a:pt x="28" y="54"/>
                      <a:pt x="28" y="86"/>
                    </a:cubicBezTo>
                    <a:cubicBezTo>
                      <a:pt x="28" y="232"/>
                      <a:pt x="28" y="232"/>
                      <a:pt x="28" y="232"/>
                    </a:cubicBezTo>
                    <a:cubicBezTo>
                      <a:pt x="0" y="232"/>
                      <a:pt x="0" y="232"/>
                      <a:pt x="0" y="232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39"/>
                      <a:pt x="39" y="0"/>
                      <a:pt x="86" y="0"/>
                    </a:cubicBezTo>
                    <a:cubicBezTo>
                      <a:pt x="134" y="0"/>
                      <a:pt x="172" y="39"/>
                      <a:pt x="172" y="86"/>
                    </a:cubicBezTo>
                    <a:cubicBezTo>
                      <a:pt x="172" y="182"/>
                      <a:pt x="172" y="182"/>
                      <a:pt x="172" y="182"/>
                    </a:cubicBezTo>
                    <a:cubicBezTo>
                      <a:pt x="172" y="194"/>
                      <a:pt x="182" y="203"/>
                      <a:pt x="193" y="203"/>
                    </a:cubicBezTo>
                    <a:cubicBezTo>
                      <a:pt x="205" y="203"/>
                      <a:pt x="215" y="194"/>
                      <a:pt x="215" y="182"/>
                    </a:cubicBezTo>
                    <a:cubicBezTo>
                      <a:pt x="215" y="91"/>
                      <a:pt x="215" y="91"/>
                      <a:pt x="215" y="91"/>
                    </a:cubicBezTo>
                    <a:cubicBezTo>
                      <a:pt x="243" y="91"/>
                      <a:pt x="243" y="91"/>
                      <a:pt x="243" y="91"/>
                    </a:cubicBezTo>
                    <a:cubicBezTo>
                      <a:pt x="243" y="182"/>
                      <a:pt x="243" y="182"/>
                      <a:pt x="243" y="182"/>
                    </a:cubicBezTo>
                    <a:cubicBezTo>
                      <a:pt x="243" y="210"/>
                      <a:pt x="221" y="232"/>
                      <a:pt x="193" y="23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/>
              <a:p>
                <a:pPr algn="ctr" defTabSz="1019190" latinLnBrk="0"/>
                <a:endParaRPr lang="ko-KR" altLang="en-US" b="1" kern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2" name="Oval 32">
                <a:extLst>
                  <a:ext uri="{FF2B5EF4-FFF2-40B4-BE49-F238E27FC236}">
                    <a16:creationId xmlns:a16="http://schemas.microsoft.com/office/drawing/2014/main" id="{1E726D46-4543-44EF-A959-50EB5F7BD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865" y="2978273"/>
                <a:ext cx="35396" cy="35158"/>
              </a:xfrm>
              <a:prstGeom prst="ellipse">
                <a:avLst/>
              </a:prstGeom>
              <a:solidFill>
                <a:srgbClr val="074B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3" name="Oval 33">
                <a:extLst>
                  <a:ext uri="{FF2B5EF4-FFF2-40B4-BE49-F238E27FC236}">
                    <a16:creationId xmlns:a16="http://schemas.microsoft.com/office/drawing/2014/main" id="{656B744D-C878-4F71-837A-F8C4B4036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108" y="2924348"/>
                <a:ext cx="35396" cy="35158"/>
              </a:xfrm>
              <a:prstGeom prst="ellipse">
                <a:avLst/>
              </a:prstGeom>
              <a:solidFill>
                <a:srgbClr val="92959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B6E5CEA-F807-4190-9212-A0E0BBCD53FF}"/>
                </a:ext>
              </a:extLst>
            </p:cNvPr>
            <p:cNvGrpSpPr/>
            <p:nvPr/>
          </p:nvGrpSpPr>
          <p:grpSpPr>
            <a:xfrm>
              <a:off x="540824" y="2897818"/>
              <a:ext cx="9022444" cy="184666"/>
              <a:chOff x="597125" y="1970577"/>
              <a:chExt cx="9022444" cy="184666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86B39969-4BCA-4CC7-8478-52E5CD7185C8}"/>
                  </a:ext>
                </a:extLst>
              </p:cNvPr>
              <p:cNvSpPr/>
              <p:nvPr/>
            </p:nvSpPr>
            <p:spPr>
              <a:xfrm>
                <a:off x="777969" y="2040050"/>
                <a:ext cx="8841600" cy="45719"/>
              </a:xfrm>
              <a:prstGeom prst="rect">
                <a:avLst/>
              </a:prstGeom>
              <a:pattFill prst="dkVert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/>
              <a:p>
                <a:pPr algn="ctr" defTabSz="957874"/>
                <a:endParaRPr lang="ko-KR" altLang="en-US" sz="1900" b="1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4B27B5-DF64-4AEE-9C6C-192EFE9F068E}"/>
                  </a:ext>
                </a:extLst>
              </p:cNvPr>
              <p:cNvSpPr txBox="1"/>
              <p:nvPr/>
            </p:nvSpPr>
            <p:spPr>
              <a:xfrm>
                <a:off x="597125" y="1970577"/>
                <a:ext cx="1957835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72000" bIns="0" rtlCol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  <a:bevelB w="0" h="0"/>
                </a:sp3d>
              </a:bodyPr>
              <a:lstStyle>
                <a:defPPr>
                  <a:defRPr lang="ko-KR"/>
                </a:defPPr>
                <a:lvl1pPr defTabSz="957874">
                  <a:defRPr sz="110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KoPubWorld돋움체_Pro Light" panose="00000300000000000000" pitchFamily="50" charset="-127"/>
                  </a:defRPr>
                </a:lvl1pPr>
              </a:lstStyle>
              <a:p>
                <a:r>
                  <a:rPr lang="ko-KR" altLang="en-US" sz="1200" dirty="0"/>
                  <a:t>투입인력 이력사항 및 경력사항</a:t>
                </a:r>
              </a:p>
            </p:txBody>
          </p:sp>
        </p:grpSp>
      </p:grp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E33150DB-78B1-4E99-89BA-89CBC66BA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764626"/>
              </p:ext>
            </p:extLst>
          </p:nvPr>
        </p:nvGraphicFramePr>
        <p:xfrm>
          <a:off x="344923" y="2794077"/>
          <a:ext cx="9216588" cy="3623252"/>
        </p:xfrm>
        <a:graphic>
          <a:graphicData uri="http://schemas.openxmlformats.org/drawingml/2006/table">
            <a:tbl>
              <a:tblPr/>
              <a:tblGrid>
                <a:gridCol w="3601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71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경력</a:t>
                      </a:r>
                    </a:p>
                  </a:txBody>
                  <a:tcPr marL="0" marR="0" marT="54000" marB="54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사업명</a:t>
                      </a:r>
                      <a:endParaRPr kumimoji="1" lang="ko-KR" altLang="en-US" sz="11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54000" marB="54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참여기간</a:t>
                      </a:r>
                      <a:endParaRPr kumimoji="1" lang="en-US" altLang="ko-KR" sz="11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년월</a:t>
                      </a: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~ </a:t>
                      </a:r>
                      <a:r>
                        <a:rPr kumimoji="1" lang="ko-KR" altLang="en-US" sz="11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년월</a:t>
                      </a:r>
                      <a:r>
                        <a:rPr kumimoji="1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11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담당 업무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발주처</a:t>
                      </a:r>
                      <a:endParaRPr kumimoji="1" lang="ko-KR" altLang="en-US" sz="11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  <a:endParaRPr kumimoji="1" lang="en-US" altLang="ko-KR" sz="11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원소속</a:t>
                      </a: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 등</a:t>
                      </a:r>
                      <a:r>
                        <a:rPr kumimoji="1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11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41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모바일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SCI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진단시스템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2021.04 ~2021.07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PM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삼성전자㈜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커머스아이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㈜</a:t>
                      </a:r>
                      <a:endParaRPr kumimoji="1" 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41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전자책솔루션교체 프로젝트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2019.03~2019.08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PM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삼성증권㈜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I&amp;T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시스템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41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LH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한국토지주택공사 토지보상법령정보시스템 구축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2020.09~2020.12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PM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LH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한국주택토지공사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I&amp;T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시스템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641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국민건강관리공단 </a:t>
                      </a:r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통합앱구축시스템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2018.06~2020.09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PM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국민건강관리공단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I&amp;T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시스템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641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국가일자리정보플랫폼기반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AI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고용서비스구축사업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바로원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2019.02~2019.05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기획자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설계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한국고용정보원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에이앤디스타일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주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641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공공정책연구원 반응형 웹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모바일 구축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2019.03~2019.04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기획자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웹개발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공공정책연구원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재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이미지셀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641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소개령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비상체계 영상구현 시스템 개발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2018.10~2019.01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기획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설계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한국수력원자력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주</a:t>
                      </a:r>
                      <a:r>
                        <a:rPr kumimoji="1" lang="en-US" altLang="ko-KR" sz="1000" b="0" i="0" u="none" strike="noStrike" kern="1200" cap="none" spc="-3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30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이미지셀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C9667F1F-762D-41BF-8ECA-788BE6249010}"/>
              </a:ext>
            </a:extLst>
          </p:cNvPr>
          <p:cNvSpPr txBox="1"/>
          <p:nvPr/>
        </p:nvSpPr>
        <p:spPr>
          <a:xfrm>
            <a:off x="330063" y="440668"/>
            <a:ext cx="8416235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ko-KR"/>
            </a:defPPr>
            <a:lvl1pPr>
              <a:defRPr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lvl="0"/>
            <a:r>
              <a:rPr lang="en-US" altLang="ko-KR" sz="1400" b="1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</a:t>
            </a:r>
            <a:r>
              <a:rPr lang="ko-KR" altLang="en-US" sz="1400" b="1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별지</a:t>
            </a:r>
            <a:r>
              <a:rPr lang="en-US" altLang="ko-KR" sz="1400" b="1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 </a:t>
            </a:r>
            <a:r>
              <a:rPr lang="ko-KR" altLang="en-US" sz="1400" b="1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투입인력 이력사항</a:t>
            </a:r>
          </a:p>
        </p:txBody>
      </p:sp>
    </p:spTree>
    <p:extLst>
      <p:ext uri="{BB962C8B-B14F-4D97-AF65-F5344CB8AC3E}">
        <p14:creationId xmlns:p14="http://schemas.microsoft.com/office/powerpoint/2010/main" val="2298919407"/>
      </p:ext>
    </p:extLst>
  </p:cSld>
  <p:clrMapOvr>
    <a:masterClrMapping/>
  </p:clrMapOvr>
</p:sld>
</file>

<file path=ppt/theme/theme1.xml><?xml version="1.0" encoding="utf-8"?>
<a:theme xmlns:a="http://schemas.openxmlformats.org/drawingml/2006/main" name="신한생명 제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17710</TotalTime>
  <Words>155</Words>
  <Application>Microsoft Office PowerPoint</Application>
  <PresentationFormat>A4 용지(210x297mm)</PresentationFormat>
  <Paragraphs>68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KoPub돋움체 Bold</vt:lpstr>
      <vt:lpstr>KoPub돋움체 Light</vt:lpstr>
      <vt:lpstr>KoPub돋움체 Medium</vt:lpstr>
      <vt:lpstr>KoPub바탕체 Light</vt:lpstr>
      <vt:lpstr>맑은 고딕</vt:lpstr>
      <vt:lpstr>Arial</vt:lpstr>
      <vt:lpstr>신한생명 제안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</dc:creator>
  <cp:lastModifiedBy>Jaehoon Jang</cp:lastModifiedBy>
  <cp:revision>1602</cp:revision>
  <cp:lastPrinted>2021-05-20T09:03:15Z</cp:lastPrinted>
  <dcterms:created xsi:type="dcterms:W3CDTF">2018-06-19T07:24:57Z</dcterms:created>
  <dcterms:modified xsi:type="dcterms:W3CDTF">2021-07-22T13:12:56Z</dcterms:modified>
</cp:coreProperties>
</file>